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97BC6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AF8F0"/>
                </a:solidFill>
              </a:defRPr>
            </a:pPr>
            <a:r>
              <a:t>图像滤波与增强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97BC62"/>
                </a:solidFill>
              </a:defRPr>
            </a:pPr>
            <a:r>
              <a:t>Image Filtering and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4A843"/>
                </a:solidFill>
              </a:defRPr>
            </a:pPr>
            <a:r>
              <a:t>Day 4 | 计算机视觉100天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7BC62"/>
                </a:solidFill>
              </a:defRPr>
            </a:pPr>
            <a:r>
              <a:t>CV Learning 100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什么是卷积？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A1A1A"/>
                </a:solidFill>
              </a:defRPr>
            </a:pPr>
            <a:r>
              <a:t>• 通过卷积核(Kernel)在图像上滑动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A1A1A"/>
                </a:solidFill>
              </a:defRPr>
            </a:pPr>
            <a:r>
              <a:t>• 对每个像素及其邻域进行加权求和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A1A1A"/>
                </a:solidFill>
              </a:defRPr>
            </a:pPr>
            <a:r>
              <a:t>• 实现图像滤波、边缘检测等效果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EBF5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</a:defRPr>
            </a:pPr>
            <a:r>
              <a:t>G(i,j) = ΣΣ K(u,v) · I(i-u, j-v)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515600" cy="137160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关键洞察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</a:defRPr>
            </a:pPr>
            <a:r>
              <a:t>卷积是CNN的数学基础，理解传统滤波有助于理解深度学习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均值滤波 Mean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用邻域像素的平均值替代中心像素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最简单的线性滤波器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74320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74320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347472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47472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420624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206240"/>
            <a:ext cx="73152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011680"/>
            <a:ext cx="5943600" cy="109728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blurred = cv2.blur(image, (5, 5))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474720"/>
            <a:ext cx="2743200" cy="22860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7BC62"/>
                </a:solidFill>
              </a:defRPr>
            </a:pPr>
            <a:r>
              <a:t>优点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实现简单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计算快速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74720"/>
            <a:ext cx="2743200" cy="228600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4444"/>
                </a:solidFill>
              </a:defRPr>
            </a:pPr>
            <a:r>
              <a:t>缺点 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边缘模糊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椒盐噪声效果差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高斯滤波 Gaussian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使用高斯函数作为权重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距离中心越近，权重越大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7432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7432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33832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3832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40233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0233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011680"/>
            <a:ext cx="5943600" cy="18288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blurred = cv2.GaussianBlur(</a:t>
            </a:r>
            <a:br/>
            <a:r>
              <a:t>    image, </a:t>
            </a:r>
            <a:br/>
            <a:r>
              <a:t>    (5, 5),      # 核大小</a:t>
            </a:r>
            <a:br/>
            <a:r>
              <a:t>    sigmaX=1.5   # 标准差</a:t>
            </a:r>
            <a:br/>
            <a: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023360"/>
            <a:ext cx="5943600" cy="1371600"/>
          </a:xfrm>
          <a:prstGeom prst="roundRect">
            <a:avLst/>
          </a:prstGeom>
          <a:solidFill>
            <a:srgbClr val="FCF3DC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应用场景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Canny边缘检测预处理 | 图像去噪 | 尺度空间分析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中值滤波 Median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非线性滤波器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用邻域像素值的中值替代中心像素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算法步骤: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1. 选取邻域窗口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2. 窗口内像素值排序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3. 取中间值作为输出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029200" cy="109728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median = cv2.medianBlur(image,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029200" cy="1097280"/>
          </a:xfrm>
          <a:prstGeom prst="roundRect">
            <a:avLst/>
          </a:prstGeom>
          <a:solidFill>
            <a:srgbClr val="FCF3DC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最佳应用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椒盐噪声去除效果最佳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双边滤波 Bilateral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边缘保持的平滑滤波器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同时考虑两个因素: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• 空间距离 - 像素间物理距离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• 像素值相似度 - 颜色/灰度差异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029200" cy="201168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bilateral = cv2.bilateralFilter(</a:t>
            </a:r>
            <a:br/>
            <a:r>
              <a:t>    image,</a:t>
            </a:r>
            <a:br/>
            <a:r>
              <a:t>    9,   # 滤波直径</a:t>
            </a:r>
            <a:br/>
            <a:r>
              <a:t>    75,  # 颜色空间sigma</a:t>
            </a:r>
            <a:br/>
            <a:r>
              <a:t>    75   # 坐标空间sigma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206240"/>
            <a:ext cx="5029200" cy="1371600"/>
          </a:xfrm>
          <a:prstGeom prst="roundRect">
            <a:avLst/>
          </a:prstGeom>
          <a:solidFill>
            <a:srgbClr val="FCF3DC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典型应用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663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美颜磨皮 | 图像去噪 | 风格迁移预处理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滤波器对比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滤波器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最佳应用场景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边缘保持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计算速度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均值滤波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快速去噪，不要求边缘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⚡ 极快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高斯滤波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自然平滑，预处理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△ 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⚡ 快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中值滤波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非线性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椒盐噪声去除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 较好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○ 中等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双边滤波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非线性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边缘保持的平滑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✓✓ 优秀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✕ 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10972800" cy="1097280"/>
          </a:xfrm>
          <a:prstGeom prst="roundRect">
            <a:avLst/>
          </a:prstGeom>
          <a:solidFill>
            <a:srgbClr val="FCF3DC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选择建议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椒盐噪声 → 中值滤波 | 自然平滑 → 高斯滤波 | 美颜磨皮 → 双边滤波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图像锐化 Image Sharpening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增强图像的高频成分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突出边缘和细节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0292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Sharpened = Original + α × (Original - Blurred)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拉普拉斯锐化核: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41148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41148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4754880"/>
            <a:ext cx="731520" cy="5486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7548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949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53949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53949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011680"/>
            <a:ext cx="5029200" cy="32004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10312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r>
              <a:t>import numpy as np</a:t>
            </a:r>
            <a:br/>
            <a:br/>
            <a:r>
              <a:t># 方法1: 拉普拉斯锐化</a:t>
            </a:r>
            <a:br/>
            <a:r>
              <a:t>kernel = np.array([[0, -1, 0],</a:t>
            </a:r>
            <a:br/>
            <a:r>
              <a:t>                   [-1, 5, -1],</a:t>
            </a:r>
            <a:br/>
            <a:r>
              <a:t>                   [0, -1, 0]])</a:t>
            </a:r>
            <a:br/>
            <a:r>
              <a:t>sharpened = cv2.filter2D(image, -1, kernel)</a:t>
            </a:r>
            <a:br/>
            <a:br/>
            <a:r>
              <a:t># 方法2: Unsharp Masking</a:t>
            </a:r>
            <a:br/>
            <a:r>
              <a:t>gaussian = cv2.GaussianBlur(image, (0, 0), 3)</a:t>
            </a:r>
            <a:br/>
            <a:r>
              <a:t>unsharp = cv2.addWeighted(</a:t>
            </a:r>
            <a:br/>
            <a:r>
              <a:t>    image, 1.5, gaussian, -0.5,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8F0"/>
                </a:solidFill>
              </a:defRPr>
            </a:pPr>
            <a:r>
              <a:t>科学家：高斯 Gauss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7BC62"/>
                </a:solidFill>
              </a:defRPr>
            </a:pPr>
            <a:r>
              <a:t>人物简介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德国数学家、物理学家、天文学家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"数学王子"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1777-1855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与图像处理: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高斯分布是自然界最常见的分布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高斯滤波器模拟人类视觉系统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7BC62"/>
                </a:solidFill>
              </a:defRPr>
            </a:pPr>
            <a:r>
              <a:t>趣闻轶事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3岁时纠正父亲账本错误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19岁用尺规作图画出正17边形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解决了2000年的数学难题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高斯分布曾出现在德国10马克纸币上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8F0"/>
                </a:solidFill>
              </a:defRPr>
            </a:pPr>
            <a:r>
              <a:t>科学家：John Canny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7BC62"/>
                </a:solidFill>
              </a:defRPr>
            </a:pPr>
            <a:r>
              <a:t>人物简介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澳大利亚计算机科学家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加州大学伯克利分校教授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1958年出生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主要贡献: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1986年提出Canny边缘检测算法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至今仍是边缘检测的标准方法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7BC62"/>
                </a:solidFill>
              </a:defRPr>
            </a:pPr>
            <a:r>
              <a:t>Canny三准则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1. 信噪比准则 - 减少漏检和误检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2. 定位精度准则 - 接近真实边缘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AF8F0"/>
                </a:solidFill>
              </a:defRPr>
            </a:pPr>
            <a:r>
              <a:t>• 3. 单边缘响应准则 - 一个边缘一个响应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重要文献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0972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Canny Edge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A Computational Approach to Edge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</a:defRPr>
            </a:pPr>
            <a:r>
              <a:t>John Canny | IEEE TPAMI, 1986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0972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Bilateral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Bilateral Filtering for Gray and Color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</a:defRPr>
            </a:pPr>
            <a:r>
              <a:t>Tomasi &amp; Manduchi | ICCV 1998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0972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Laplacian Pyramid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The Laplacian Pyramid as a Compact Image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</a:defRPr>
            </a:pPr>
            <a:r>
              <a:t>Burt &amp; Adelson | IEEE TCOM, 1983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经典实验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5F2D"/>
                </a:solidFill>
              </a:defRPr>
            </a:pPr>
            <a:r>
              <a:t>滤波器效果对比实验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2743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8F2"/>
                </a:solidFill>
              </a:defRPr>
            </a:pPr>
            <a:r>
              <a:t>import cv2</a:t>
            </a:r>
            <a:br/>
            <a:r>
              <a:t>import numpy as np</a:t>
            </a:r>
            <a:br/>
            <a:br/>
            <a:r>
              <a:t># 读取图像并添加噪声</a:t>
            </a:r>
            <a:br/>
            <a:r>
              <a:t>img = cv2.imread('image.jpg')</a:t>
            </a:r>
            <a:br/>
            <a:r>
              <a:t>noise = np.random.normal(0, 25, img.shape).astype(np.uint8)</a:t>
            </a:r>
            <a:br/>
            <a:r>
              <a:t>noisy_img = cv2.add(img, noise)</a:t>
            </a:r>
            <a:br/>
            <a:br/>
            <a:r>
              <a:t># 应用不同滤波器</a:t>
            </a:r>
            <a:br/>
            <a:r>
              <a:t>mean_blur = cv2.blur(noisy_img, (5, 5))</a:t>
            </a:r>
            <a:br/>
            <a:r>
              <a:t>gaussian_blur = cv2.GaussianBlur(noisy_img, (5, 5), 0)</a:t>
            </a:r>
            <a:br/>
            <a:r>
              <a:t>median_blur = cv2.medianBlur(noisy_img, 5)</a:t>
            </a:r>
            <a:br/>
            <a:r>
              <a:t>bilateral = cv2.bilateralFilter(noisy_img, 9, 75, 75)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515600" cy="1097280"/>
          </a:xfrm>
          <a:prstGeom prst="roundRect">
            <a:avLst/>
          </a:prstGeom>
          <a:solidFill>
            <a:srgbClr val="FCF3DC"/>
          </a:solidFill>
          <a:ln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预期结果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均值滤波：整体模糊 | 高斯滤波：自然平滑 | 中值滤波：去椒盐噪声 | 双边滤波：边缘保持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趣味知识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Photoshop的高斯模糊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利用可分离性优化</a:t>
            </a:r>
            <a:br/>
            <a:r>
              <a:t>• 2D → 两个1D滤波</a:t>
            </a:r>
            <a:br/>
            <a:r>
              <a:t>• 复杂度O(n²) → O(n)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美颜相机的秘密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核心技术：双边滤波</a:t>
            </a:r>
            <a:br/>
            <a:r>
              <a:t>• 平滑皮肤 + 保持五官</a:t>
            </a:r>
            <a:br/>
            <a:r>
              <a:t>• 演进：高斯 → 双边 → 深度学习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医学影像滤波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CT/MRI图像去噪</a:t>
            </a:r>
            <a:br/>
            <a:r>
              <a:t>• 不能丢失病灶信息</a:t>
            </a:r>
            <a:br/>
            <a:r>
              <a:t>• 需要实时计算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CNN的数学基础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97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卷积是CNN的核心</a:t>
            </a:r>
            <a:br/>
            <a:r>
              <a:t>• 滤波器 = 可学习卷积核</a:t>
            </a:r>
            <a:br/>
            <a:r>
              <a:t>• 理解传统滤波 → 理解CNN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思考题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5F2D"/>
                </a:solidFill>
              </a:defRPr>
            </a:pPr>
            <a:r>
              <a:t>基础问题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1. 为什么卷积核的大小通常为奇数（如3×3、5×5）？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2. 比较均值滤波和高斯滤波的优缺点，分别适用于什么场景？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3. 中值滤波为什么对椒盐噪声特别有效？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5F2D"/>
                </a:solidFill>
              </a:defRPr>
            </a:pPr>
            <a:r>
              <a:t>进阶问题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4. 双边滤波为什么能保持边缘？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5. 如何设计一个检测45度方向边缘的卷积核？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下节预告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C5F2D"/>
                </a:solidFill>
              </a:defRPr>
            </a:pPr>
            <a:r>
              <a:t>Day 5: 边缘检测算法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7BC62"/>
                </a:solidFill>
              </a:defRPr>
            </a:pPr>
            <a:r>
              <a:t>Edge Detection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</a:defRPr>
            </a:pPr>
            <a:r>
              <a:t>Sobel算子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</a:defRPr>
            </a:pPr>
            <a:r>
              <a:t>一阶导数边缘检测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57200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</a:defRPr>
            </a:pPr>
            <a:r>
              <a:t>Laplacian算子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</a:defRPr>
            </a:pPr>
            <a:r>
              <a:t>二阶导数边缘检测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</a:defRPr>
            </a:pPr>
            <a:r>
              <a:t>Canny边缘检测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</a:defRPr>
            </a:pPr>
            <a:r>
              <a:t>最优边缘检测算法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57200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5F2D"/>
                </a:solidFill>
              </a:defRPr>
            </a:pPr>
            <a:r>
              <a:t>实战应用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</a:defRPr>
            </a:pPr>
            <a:r>
              <a:t>边缘检测综合案例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97BC6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AF8F0"/>
                </a:solidFill>
              </a:defRPr>
            </a:pPr>
            <a:r>
              <a:t>感谢学习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97BC62"/>
                </a:solidFill>
              </a:defRPr>
            </a:pPr>
            <a:r>
              <a:t>Day 4: 图像滤波与增强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4A843"/>
                </a:solidFill>
              </a:defRPr>
            </a:pPr>
            <a:r>
              <a:t>计算机视觉100天学习计划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</a:defRPr>
            </a:pPr>
            <a:r>
              <a:t>参考资料：OpenCV官方文档 | Wikipedia | 《数字图像处理》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7BC62"/>
                </a:solidFill>
              </a:defRPr>
            </a:pPr>
            <a:r>
              <a:t>CV Learning 100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