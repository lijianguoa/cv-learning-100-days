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欢迎来到Day 80！今天我们学习工业检测应用，这是计算机视觉在工业领域最重要的应用之一。我们将覆盖工业视觉概述、缺陷检测、尺寸测量和PCB缺陷检测实战。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今天的内容分为四个部分：工业视觉概述、缺陷检测、尺寸测量和PCB缺陷检测实战。每个部分都包含理论与实践。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工业视觉是计算机视觉最有价值的应用领域之一。它的核心价值在于高精度、高效率和自动化，能够在复杂工业环境中替代人工检测。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工业视觉经历了五十多年的发展。从最早的光学成像，到8年代的图像处理卡，再到今天的AI驱动检测，每一步都推动了工业自动化的进程。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机器视觉系统由硬件层和软件层组成。硬件包括照明、成像、采集三个环节；软件包括处理和决策两个环节。每个环节的质量都直接影响最终检测结果。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硬件是工业视觉系统的基础。相机决定图像质量，镜头决定视野和分辨率，光源决定照明质量。三者的合理选型和匹配是系统设计的关键。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软件处理流程是从原始图像到决策结果的完整链路。预处理提升图像质量，特征提取获取关键信息，检测实现具体任务，最后输出可操作的结果。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缺陷检测方法分为三大类：传统方法基于人工设计特征，深度学习方法基于数据驱动，异常检测方法适用于只有正常样本的场景。每种方法都有其适用场景和局限性。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传统方法依赖人工设计的特征和规则，在简单场景中仍然有很强的竞争力。但它们对环境变化敏感，难以应对复杂缺陷类型。在实际工业应用中，常与深度学习方法结合使用。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深度学习方法在工业检测中越来越流行。目标检测适合定位元件，语义分割适合像素级缺陷检测，分类适合整体判定，实例分割适合重叠目标场景。选择哪种方法取决于具体任务。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异常检测是工业场景中非常重要的方法，因为缺陷样本通常很少。PaDiM和PatchCore都是基于预训练特征提取的方法，只需正常样本即可训练。PatchCore性能更强但需更多内存。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相机标定是尺寸测量的基础。通过标定板（如棋盘格），可以估算相机的内参数（焦距、主点）和外参数（位姿），以及镜头畸变系数。标定精度直接决定测量精度。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亚像素边缘检测是提高测量精度的关键技术。通过在像素级梯度之间进行数学插值，可以将边缘定位精度从整像素提升到 0.1 像素。Zernike矩和箱型拟合是最常用的两种方法。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远心镜头是高精度测量的核心器件。普通镜头对不同高度的物体成像大小不同，导致测量误差。远心镜头通过平行光路设计，使不同高度物体成像大小一致，消除了这一误差。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PCB缺陷类型多样，主要包括短路、断路、缺损、毛刺、孔洞和污染。每种缺陷的检测方法不同，需要根据缺陷特征选择合适的算法。例如短路检测可用连通域分析，缺损检测可用模板匹配。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PCB检测流程包括采集、预处理、对齐、检测、分类和报告六个步骤。其中图像对齐是关键，对齐精度决定了后续缺陷检测的上限。差分法是最基本的缺陷检测方法，但对位置误差敏感。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模板匹配是PCB检测中最基本的方法。通过OpenCV的matchTemplate函数，可以快速定位PCB上的元件和缺陷。使用高斯金字塔可以加速匹配过程，NMS可以消除重复检测。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U-Net是缺陷分割的经典网络。它的编码器-解码器对称结构和跳跃连接使其能够精确分割缺陷边界。使用Dice+BCE联合损失函数可以很好地处理类别不平衡问题。在PCB缺陷检测中，U-Net可以实现像素级的缺陷定位。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YOLOv8是当前最先进的目标检测模型之一。其Anchor-Free设计和解耦头架构使其在工业场景中表现优异。在PCB检测中，YOLOv8可以快速定位和识别各种元件，同时检测缺料和错位缺陷。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感谢聊听！今天我们从工业视觉概述到PCB缺陷检测实战，覆盖了传统方法与深度学习方法。下节课我们将进入医疗图像分析领域，探订CT/MRI分割和病灶检测。继续学习，实践出真知。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0" y="0"/>
            <a:ext cx="1828800" cy="182880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40480"/>
            <a:ext cx="1097280" cy="109728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45720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工业检测应用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Inspection Applications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0" y="2606040"/>
            <a:ext cx="219456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工业视觉概述  ·  缺陷检测  ·  尺寸测量  ·  PCB缺陷检测实战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Learning Journey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/ Agenda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工业视觉概述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Vision Overview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P3–P4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105156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74920" y="1325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0644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0644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064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P5–P7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7889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73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尺寸测量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Measurement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1732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P8–P10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46320" y="27889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74920" y="30632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5074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8064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PCB缺陷检测实战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80644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Detection Practice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0644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P11–P14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工业视觉概述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Vision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什么是工业视觉？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Industrial Vision?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工业视觉是计算机视觉在工业生产中的应用，通过相机采集产品图像，利用算法进行检测、测量和定位。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它结合了光学、机械、电子和软件技术，实现自动化品质控制。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广泛应用于半导体、汽车、电子、医疗等行业。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3212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高精度  High Precision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微米级测量精度，超越人眼极限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22402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468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3212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高效率  High Efficiency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321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毫毫级处理速度，24小时不间断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7033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32120" y="3639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  Automation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321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无人值守，实时反馈与控制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工业视觉发展历史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History Timeline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212848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1960s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755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萃芽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首台视觉系统问世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32888" y="2212848"/>
            <a:ext cx="237744" cy="23774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224028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40280" y="1755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起步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9456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4884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图像处理卡商用化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087368" y="2212848"/>
            <a:ext cx="237744" cy="23774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379476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94760" y="1755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4904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嵌入式系统普及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41848" y="2212848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534924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2015+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49240" y="1755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5780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CNN驱动检测变革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196328" y="2212848"/>
            <a:ext cx="237744" cy="23774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6"/>
          <p:cNvSpPr/>
          <p:nvPr/>
        </p:nvSpPr>
        <p:spPr>
          <a:xfrm>
            <a:off x="69037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2020+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03720" y="1755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智能化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5800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1228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AI+边缘计算融合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580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发展趋势  ·  Trends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" y="39502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从光学成像 → 数字图像处理 → 嵌入式系统 → 深度学习 → AI融合应用，工业视觉正朝智能化、实时化、边缘化方向发展。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机器视觉系统架构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Vision System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照明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56232" y="1760220"/>
            <a:ext cx="219456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572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光源选型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03120" y="14630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210312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成像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3120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502152" y="1760220"/>
            <a:ext cx="219456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210312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镜头选型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749040" y="14630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37490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采集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49040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48072" y="1760220"/>
            <a:ext cx="219456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74904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图像采集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394960" y="14630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539496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处理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93992" y="1760220"/>
            <a:ext cx="219456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39496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算法处理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040880" y="14630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97BC62"/>
          </a:solidFill>
          <a:ln/>
        </p:spPr>
      </p:sp>
      <p:sp>
        <p:nvSpPr>
          <p:cNvPr id="28" name="Text 25"/>
          <p:cNvSpPr/>
          <p:nvPr/>
        </p:nvSpPr>
        <p:spPr>
          <a:xfrm>
            <a:off x="70408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决策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40880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408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结果输出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硬件层  Hardware Layer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工业相机（CCD/CMOS）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镜头（定焦/远心）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光源（环光/同轴/结构）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采集卡与丠输接口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9834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软件层  Software Layer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8348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图像预处理与增强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特征提取与分析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深度学习检测算法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结果反馈与通信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硬件组件：相机、镜头、光源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Camera, Lens, Light Source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工业相机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CCD vs CMOS 传感器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面陣尺寸与分辨率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帧率与曝光控制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vs Rolling Shutter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0058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05840"/>
            <a:ext cx="2560320" cy="594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镜头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2900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0" y="17373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焦距与视场角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定焦、远心、微距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F值与景深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失真与焦距误差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10058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1005840"/>
            <a:ext cx="256032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Source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17373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环光 / 同轴光 / 结构光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前照 / 背照 / 侧照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色温与波长选择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频闪与亮度控制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软件处理流程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Processing Flow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005840" y="1051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0" y="1005840"/>
            <a:ext cx="5486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图像预处理  Preprocessing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1307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去噪 · 增强 · 标定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252728" y="1618488"/>
            <a:ext cx="0" cy="192024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05840" y="1874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28800" y="1828800"/>
            <a:ext cx="5486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011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特征提取  Feature Extraction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011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 · 轮廓 · 纹理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252728" y="2441448"/>
            <a:ext cx="0" cy="192024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28800" y="2651760"/>
            <a:ext cx="5486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11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 / 测量  Detection / Measurement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011680" y="2953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 · 尺寸 · 位置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252728" y="3264408"/>
            <a:ext cx="0" cy="192024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005840" y="352044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3"/>
          <p:cNvSpPr/>
          <p:nvPr/>
        </p:nvSpPr>
        <p:spPr>
          <a:xfrm>
            <a:off x="10058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828800" y="3474720"/>
            <a:ext cx="5486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0116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结果输出  Result Output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011680" y="3776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 · 报告 · 控制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589520" y="1005840"/>
            <a:ext cx="1280160" cy="3291840"/>
          </a:xfrm>
          <a:prstGeom prst="roundRect">
            <a:avLst>
              <a:gd name="adj" fmla="val 5714"/>
            </a:avLst>
          </a:prstGeom>
          <a:solidFill>
            <a:srgbClr val="E8F0DC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68096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680960" y="1463040"/>
            <a:ext cx="1097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从原始图像到决策结果，每一步都需严格验证。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缺陷检测：分类体系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Detection: Classification System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429000" y="100584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3520440" y="1078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  Defect Detection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传统方法  Traditional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2788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模板匹配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形态学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阈值分割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边缘检测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19659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  Deep Learning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29000" y="26517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11880" y="2788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目标检测 (YOLO)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语义分割 (U-Net)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图像分类 (CNN)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实例分割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异常检测  Anomaly Detection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26517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2788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PaDiM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PatchCore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AutoEncoder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GAN方法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传统检测方法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Detection Methods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15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模板匹配  Template Matching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优点: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实现简单，速度快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缺点: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对位置敏感，不抗旋转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1115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形态学  Morphology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优点: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去噪效果好，连接断裂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缺点: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结构元素需调参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2807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阈值分割  Thresholding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优点: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计算极快，适合高对比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缺点: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对光照敏感，不稳定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69748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74920" y="2807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边缘检测  Edge Detection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优点: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定位精确，适合测量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缺点: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对噪声敏感，参数多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深度学习检测方法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Detection Methods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代表模型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/ SSD / Faster R-CNN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436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9436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定位+分类，速度快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" y="3200400"/>
            <a:ext cx="1645920" cy="27432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适用: 元件定位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60320" y="10058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0" y="1005840"/>
            <a:ext cx="1920240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26060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语义分割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0604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69748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代表模型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974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U-Net / DeepLab / FCN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69748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6974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像素级分割，精度高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697480" y="3200400"/>
            <a:ext cx="1645920" cy="27432"/>
          </a:xfrm>
          <a:prstGeom prst="rect">
            <a:avLst/>
          </a:prstGeom>
          <a:solidFill>
            <a:srgbClr val="97BC62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269748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适用: 缺陷分割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10058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6"/>
          <p:cNvSpPr/>
          <p:nvPr/>
        </p:nvSpPr>
        <p:spPr>
          <a:xfrm>
            <a:off x="470916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图像分类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0916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0060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代表模型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006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 / EfficientNet / ViT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80060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060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整图判定，基础任务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00600" y="3200400"/>
            <a:ext cx="1645920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80060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适用: 良品判定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766560" y="100584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6"/>
          <p:cNvSpPr/>
          <p:nvPr/>
        </p:nvSpPr>
        <p:spPr>
          <a:xfrm>
            <a:off x="681228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实例分割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1228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0372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代表模型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9037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R-CNN / SOLOv2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90372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0372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区分重叠目标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903720" y="3200400"/>
            <a:ext cx="1645920" cy="27432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90372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适用: 重叠目标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异常检测方法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PaDiM &amp; PatchCore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05840"/>
            <a:ext cx="39319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PaDiM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Distribution Modeling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对预训练CNN的每个Patch特征建模多元高斯分布，检测时计算马氏距离。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关键步骤  Key Steps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预训练ResNet提取特征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每个Patch建模高斯分布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马氏距离计算异常分数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适合小样本场景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005840"/>
            <a:ext cx="393192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PatchCore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3776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Core-set Sampling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8348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从正常样本的Patch特征中采样核心子集，检测时用最近邻距离判定异常。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8348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关键步骤  Key Steps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8348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提取特征并构建记忆库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Core-set采样减少冗余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k-NN检索最近邻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性能强，速度快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尺寸测量：相机标定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Measurement: Camera Calibration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标定板  Calibration 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600200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62456" y="160020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10512" y="1600200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58568" y="160020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06624" y="1600200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048256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62456" y="2048256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10512" y="2048256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58568" y="2048256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06624" y="2048256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2496312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62456" y="2496312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10512" y="2496312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58568" y="2496312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06624" y="2496312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" y="2944368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62456" y="2944368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10512" y="2944368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58568" y="2944368"/>
            <a:ext cx="411480" cy="411480"/>
          </a:xfrm>
          <a:prstGeom prst="rect">
            <a:avLst/>
          </a:prstGeom>
          <a:solidFill>
            <a:srgbClr val="2C5F2D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06624" y="2944368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棋盘格 · Checkerboard Pattern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已知格子尺寸，通过角点检测估算内外参数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1005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标定参数  Parameters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54880" y="160020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1"/>
          <p:cNvSpPr/>
          <p:nvPr/>
        </p:nvSpPr>
        <p:spPr>
          <a:xfrm>
            <a:off x="4937760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内参数  Intrinsic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37760" y="1810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fx, fy, cx, cy, 畸变系数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54880" y="2286000"/>
            <a:ext cx="54864" cy="502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Text 34"/>
          <p:cNvSpPr/>
          <p:nvPr/>
        </p:nvSpPr>
        <p:spPr>
          <a:xfrm>
            <a:off x="493776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外参数  Extrinsic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937760" y="2496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旋转矩阵 R, 平移向量 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54880" y="29718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7"/>
          <p:cNvSpPr/>
          <p:nvPr/>
        </p:nvSpPr>
        <p:spPr>
          <a:xfrm>
            <a:off x="493776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畸变校正  Distortion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93776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径向 + 切向畸变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54880" y="365760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0"/>
          <p:cNvSpPr/>
          <p:nvPr/>
        </p:nvSpPr>
        <p:spPr>
          <a:xfrm>
            <a:off x="493776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投影模型  Model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937760" y="3867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针孔 / 正交投影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8006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像素 → 世界坐标  s·[X,Y,Z,1]ᵀ = K·[R|t]·[X,Y,Z,1]ᵀ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亚像素边缘检测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Edge Detection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边缘梯度  Edge Gradient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1645920"/>
            <a:ext cx="384048" cy="182880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0" name="Shape 7"/>
          <p:cNvSpPr/>
          <p:nvPr/>
        </p:nvSpPr>
        <p:spPr>
          <a:xfrm>
            <a:off x="1307592" y="1645920"/>
            <a:ext cx="384048" cy="1828800"/>
          </a:xfrm>
          <a:prstGeom prst="rect">
            <a:avLst/>
          </a:prstGeom>
          <a:solidFill>
            <a:srgbClr val="D7D0BF"/>
          </a:solidFill>
          <a:ln/>
        </p:spPr>
      </p:sp>
      <p:sp>
        <p:nvSpPr>
          <p:cNvPr id="11" name="Shape 8"/>
          <p:cNvSpPr/>
          <p:nvPr/>
        </p:nvSpPr>
        <p:spPr>
          <a:xfrm>
            <a:off x="1746504" y="1645920"/>
            <a:ext cx="384048" cy="1828800"/>
          </a:xfrm>
          <a:prstGeom prst="rect">
            <a:avLst/>
          </a:prstGeom>
          <a:solidFill>
            <a:srgbClr val="B8AE96"/>
          </a:solidFill>
          <a:ln/>
        </p:spPr>
      </p:sp>
      <p:sp>
        <p:nvSpPr>
          <p:cNvPr id="12" name="Shape 9"/>
          <p:cNvSpPr/>
          <p:nvPr/>
        </p:nvSpPr>
        <p:spPr>
          <a:xfrm>
            <a:off x="2185416" y="1645920"/>
            <a:ext cx="384048" cy="1828800"/>
          </a:xfrm>
          <a:prstGeom prst="rect">
            <a:avLst/>
          </a:prstGeom>
          <a:solidFill>
            <a:srgbClr val="8E8163"/>
          </a:solidFill>
          <a:ln/>
        </p:spPr>
      </p:sp>
      <p:sp>
        <p:nvSpPr>
          <p:cNvPr id="13" name="Shape 10"/>
          <p:cNvSpPr/>
          <p:nvPr/>
        </p:nvSpPr>
        <p:spPr>
          <a:xfrm>
            <a:off x="2624328" y="1645920"/>
            <a:ext cx="384048" cy="1828800"/>
          </a:xfrm>
          <a:prstGeom prst="rect">
            <a:avLst/>
          </a:prstGeom>
          <a:solidFill>
            <a:srgbClr val="5F5436"/>
          </a:solidFill>
          <a:ln/>
        </p:spPr>
      </p:sp>
      <p:sp>
        <p:nvSpPr>
          <p:cNvPr id="14" name="Shape 11"/>
          <p:cNvSpPr/>
          <p:nvPr/>
        </p:nvSpPr>
        <p:spPr>
          <a:xfrm>
            <a:off x="3063240" y="1645920"/>
            <a:ext cx="384048" cy="1828800"/>
          </a:xfrm>
          <a:prstGeom prst="rect">
            <a:avLst/>
          </a:prstGeom>
          <a:solidFill>
            <a:srgbClr val="3A332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亚像素边缘位置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在像素级梯度之间插值，定位精度达到 0.1 像素级别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1005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常用方法  Methods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157276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578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Zernike 矩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5780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正交矩分解，圆形边缘拟合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23042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5780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箱型拟合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沿梯度方向三点拟合抛物线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03580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3017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Sobel + 插值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25780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梯度极值处线性插值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376732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29"/>
          <p:cNvSpPr/>
          <p:nvPr/>
        </p:nvSpPr>
        <p:spPr>
          <a:xfrm>
            <a:off x="47548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578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形态学骨架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5780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细化边缘，连续位置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远心成像技术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Telecentric Imaging Technology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普通镜头  Normal Lens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20240" y="1645920"/>
            <a:ext cx="914400" cy="274320"/>
          </a:xfrm>
          <a:prstGeom prst="ellipse">
            <a:avLst/>
          </a:prstGeom>
          <a:solidFill>
            <a:srgbClr val="E8F0DC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1325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镜头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37360" y="3566160"/>
            <a:ext cx="4572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1463040" y="39776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物体A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3383280"/>
            <a:ext cx="45720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3794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物体B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874520" y="1965960"/>
            <a:ext cx="0" cy="15544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80360" y="1783080"/>
            <a:ext cx="0" cy="15544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858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不同高度物体成像大小不同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导致测量误差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0" y="1005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远心镜头  Telecentric Lens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1645920"/>
            <a:ext cx="1097280" cy="274320"/>
          </a:xfrm>
          <a:prstGeom prst="ellipse">
            <a:avLst/>
          </a:prstGeom>
          <a:solidFill>
            <a:srgbClr val="E8F0DC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远心镜头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035040" y="3566160"/>
            <a:ext cx="4572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39776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物体A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949440" y="3383280"/>
            <a:ext cx="45720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3794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物体B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72200" y="1965960"/>
            <a:ext cx="0" cy="15544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178040" y="1965960"/>
            <a:ext cx="0" cy="137160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48006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平行光轴，不同高度成像大小一致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测量精度极高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PCB缺陷类型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Defect Types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短路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1444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Circuit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1920240"/>
            <a:ext cx="2194560" cy="36576"/>
          </a:xfrm>
          <a:prstGeom prst="rect">
            <a:avLst/>
          </a:prstGeom>
          <a:solidFill>
            <a:srgbClr val="B85042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线连异常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91840" y="10058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123444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6052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断路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60520" y="1444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Circuit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74720" y="1920240"/>
            <a:ext cx="2194560" cy="36576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线断裂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26480" y="10058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1234440"/>
            <a:ext cx="548640" cy="548640"/>
          </a:xfrm>
          <a:prstGeom prst="ellipse">
            <a:avLst/>
          </a:prstGeom>
          <a:solidFill>
            <a:srgbClr val="8E8163"/>
          </a:solidFill>
          <a:ln/>
        </p:spPr>
      </p:sp>
      <p:sp>
        <p:nvSpPr>
          <p:cNvPr id="23" name="Text 20"/>
          <p:cNvSpPr/>
          <p:nvPr/>
        </p:nvSpPr>
        <p:spPr>
          <a:xfrm>
            <a:off x="63093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9516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缺损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95160" y="1444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09360" y="1920240"/>
            <a:ext cx="2194560" cy="36576"/>
          </a:xfrm>
          <a:prstGeom prst="rect">
            <a:avLst/>
          </a:prstGeom>
          <a:solidFill>
            <a:srgbClr val="8E8163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元件缺失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26974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2588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毛刺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325880" y="3136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3611880"/>
            <a:ext cx="2194560" cy="36576"/>
          </a:xfrm>
          <a:prstGeom prst="rect">
            <a:avLst/>
          </a:prstGeom>
          <a:solidFill>
            <a:srgbClr val="97BC62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边缘毛刺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91840" y="26974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474720" y="2926080"/>
            <a:ext cx="548640" cy="548640"/>
          </a:xfrm>
          <a:prstGeom prst="ellipse">
            <a:avLst/>
          </a:prstGeom>
          <a:solidFill>
            <a:srgbClr val="4A90A4"/>
          </a:solidFill>
          <a:ln/>
        </p:spPr>
      </p:sp>
      <p:sp>
        <p:nvSpPr>
          <p:cNvPr id="37" name="Text 34"/>
          <p:cNvSpPr/>
          <p:nvPr/>
        </p:nvSpPr>
        <p:spPr>
          <a:xfrm>
            <a:off x="34747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416052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孔洞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160520" y="3136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474720" y="3611880"/>
            <a:ext cx="2194560" cy="36576"/>
          </a:xfrm>
          <a:prstGeom prst="rect">
            <a:avLst/>
          </a:prstGeom>
          <a:solidFill>
            <a:srgbClr val="4A90A4">
              <a:alpha val="6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347472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孔位异常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126480" y="26974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309360" y="2926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4" name="Text 41"/>
          <p:cNvSpPr/>
          <p:nvPr/>
        </p:nvSpPr>
        <p:spPr>
          <a:xfrm>
            <a:off x="63093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99516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污染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995160" y="3136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309360" y="3611880"/>
            <a:ext cx="2194560" cy="36576"/>
          </a:xfrm>
          <a:prstGeom prst="rect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30936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表面异物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PCB检测流程设计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Detection Flow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图像采集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00784" y="1645920"/>
            <a:ext cx="14630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856232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1901952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预处理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01952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099816" y="1645920"/>
            <a:ext cx="14630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255264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3300984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图像对齐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00984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498848" y="1645920"/>
            <a:ext cx="14630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654296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4700016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00016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97880" y="1645920"/>
            <a:ext cx="14630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053328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97BC62"/>
          </a:solidFill>
          <a:ln/>
        </p:spPr>
      </p:sp>
      <p:sp>
        <p:nvSpPr>
          <p:cNvPr id="24" name="Text 21"/>
          <p:cNvSpPr/>
          <p:nvPr/>
        </p:nvSpPr>
        <p:spPr>
          <a:xfrm>
            <a:off x="6099048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缺陷分类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99048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296912" y="1645920"/>
            <a:ext cx="14630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52360" y="1371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D4A843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0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报告输出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0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22860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8580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关键步骤详解  Key Steps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5800" y="27432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高分辨采集 + 均匀光照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去噪 + 增强 + 二值化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模板匹配实现精准对齐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差分图 + 连通域分析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特征提取 + 分类器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缺陷位置 + 类型 + 严重级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54880" y="22860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0DC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9834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设计要点  Design Points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83480" y="27432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对齐精度决定检测上限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差分法对同位置缺陷敏感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深度学习提升鲁棒性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多尺度融合提高准确率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实时性要求 ≤ 100ms/帧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实战：OpenCV模板匹配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OpenCV Template Matching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1A332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代码示例  Code Example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371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template and target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= cv2.imread('template.png', 0)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cv2.imread('pcb.png', 0)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Template matching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cv2.matchTemplate(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target, template,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cv2.TM_CCOEFF_NORMED)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and locate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0.8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 = np.where(result &gt;= threshold)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pt in zip(*loc[::-1]):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cv2.rectangle(target, pt,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(pt[0]+w, pt[1]+h), 255, 2)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0" y="1005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实现步骤  Implementation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15270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8932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加载模板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读取标准PCB图像作为模板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0" y="224028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89320" y="2221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多尺度匹配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8932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构建高斯金字塔加速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295351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89320" y="2935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阈值筛选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8932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过滤低置信仴的匹配点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86400" y="3666744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89320" y="3648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NMS去重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89320" y="3877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非极大值抑制重叠框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532120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优点: 快速、无需训练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缺点: 对旋转、光照敏感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实战：U-Net缺陷分割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U-Net Defect Segmentation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78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架构 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14630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编码器 Encoder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ResNet34 下采样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提取多尺度特征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08960" y="1851660"/>
            <a:ext cx="594360" cy="0"/>
          </a:xfrm>
          <a:prstGeom prst="line">
            <a:avLst/>
          </a:prstGeom>
          <a:noFill/>
          <a:ln w="2286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57600" y="14630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瓶颈 Bottleneck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49040" y="1810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最深语义层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最小分辨率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40680" y="1851660"/>
            <a:ext cx="594360" cy="0"/>
          </a:xfrm>
          <a:prstGeom prst="line">
            <a:avLst/>
          </a:prstGeom>
          <a:noFill/>
          <a:ln w="2286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989320" y="14630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解码器 Decoder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上采样恢复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输出像素级mask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 Skip Connection: 编码器特征直连解码器，保留细节信息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训练要点  Training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Loss: Dice + BCE 联合损失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数据增强: 翻转/旋转/弹性</a:t>
            </a:r>
            <a:endParaRPr lang="en-US" sz="9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学习率: 1e-4, Adam 优化器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Size: 8, Epochs: 100+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8F0DC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8348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性能指标  Metrics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669280" y="3502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交并比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675120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06640" y="3502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F1分数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37760" y="3913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66928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精确率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5120" y="3913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40664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召回率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实战：YOLOv8元件检测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YOLOv8 Component Detection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234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数据采集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21408" y="1463040"/>
            <a:ext cx="23774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377440" y="1188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2423160" y="1234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标注与增强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23160" y="1481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41648" y="1463040"/>
            <a:ext cx="23774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97680" y="1188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1234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43400" y="1481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61888" y="1463040"/>
            <a:ext cx="237744" cy="0"/>
          </a:xfrm>
          <a:prstGeom prst="line">
            <a:avLst/>
          </a:prstGeom>
          <a:noFill/>
          <a:ln w="19050">
            <a:solidFill>
              <a:srgbClr val="4A5A4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17920" y="1188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1234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推理部署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63640" y="1481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0116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 核心特性  Features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" y="24688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Anchor-Free 设计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C2f 模块替代C3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Decoupled Head 解耦头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mAP50 达 0.91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ONNX/TensorRT 导出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速度: 3ms/帠 (RTX3060)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54880" y="20116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E8F0DC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8348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工业应用  Applications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83480" y="24688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元件定位与识别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缺料/错位检测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型号分类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放置检查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实时质检分拾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总结与下节预告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Preview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Industrial Inspection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143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  Key Takeaways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1527048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工业视觉 = 硬件(相机/镜头/光源) + 软件(算法)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093976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2075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缺陷检测三大路线: 传统 / 深度学习 / 异常检测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660904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2642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尺寸测量核心: 标定 + 亚像素 + 远心镜头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227832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3209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PCB检测: 对齐是关键，深度学习提升鲁棒性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5156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实战工具: OpenCV + U-Net + YOLOv8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0" y="10058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2C5F2D"/>
          </a:solidFill>
          <a:ln w="9525">
            <a:solidFill>
              <a:srgbClr val="E8F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150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下一课  Next Lesson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7150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81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7150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医疗图像分析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71500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15000" y="2743200"/>
            <a:ext cx="182880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0" y="2971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医学图像特点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CT/MRI 分割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病灶检测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医疗AI应用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80: Industrial Inspection Applications</dc:title>
  <dc:subject>PptxGenJS Presentation</dc:subject>
  <dc:creator>CV Learning Journey</dc:creator>
  <cp:lastModifiedBy>CV Learning Journey</cp:lastModifiedBy>
  <cp:revision>1</cp:revision>
  <dcterms:created xsi:type="dcterms:W3CDTF">2026-08-13T05:39:17Z</dcterms:created>
  <dcterms:modified xsi:type="dcterms:W3CDTF">2026-08-13T05:39:17Z</dcterms:modified>
</cp:coreProperties>
</file>