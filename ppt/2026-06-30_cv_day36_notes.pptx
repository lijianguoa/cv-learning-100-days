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YOLO基础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spc="15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Only Look Once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计算机视觉100天学习计划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2026-06-30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 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2590800" cy="10363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50876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1584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213360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目标检测发展脉络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6600" y="1280160"/>
            <a:ext cx="2590800" cy="10363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05200" y="150876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350520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53840" y="1508760"/>
            <a:ext cx="1584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05200" y="1965960"/>
            <a:ext cx="213360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YOLO原理与机制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96000" y="1280160"/>
            <a:ext cx="2590800" cy="10363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24600" y="150876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60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73240" y="1508760"/>
            <a:ext cx="1584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24600" y="1965960"/>
            <a:ext cx="213360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Redmon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545080"/>
            <a:ext cx="2590800" cy="10363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277368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773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2773680"/>
            <a:ext cx="1584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重要文献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3230880"/>
            <a:ext cx="213360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经典论文推荐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76600" y="2545080"/>
            <a:ext cx="2590800" cy="10363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05200" y="277368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3505200" y="2773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053840" y="2773680"/>
            <a:ext cx="1584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05200" y="3230880"/>
            <a:ext cx="213360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vs Faster R-CNN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96000" y="2545080"/>
            <a:ext cx="2590800" cy="10363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24600" y="277368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2" name="Text 30"/>
          <p:cNvSpPr/>
          <p:nvPr/>
        </p:nvSpPr>
        <p:spPr>
          <a:xfrm>
            <a:off x="6324600" y="2773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73240" y="2773680"/>
            <a:ext cx="1584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小故事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24600" y="3230880"/>
            <a:ext cx="213360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YOLO命名与影响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810000"/>
            <a:ext cx="2590800" cy="10363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5800" y="403860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03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34440" y="4038600"/>
            <a:ext cx="1584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5800" y="4495800"/>
            <a:ext cx="213360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讨论与思考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76600" y="3810000"/>
            <a:ext cx="2590800" cy="10363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505200" y="403860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2" name="Text 40"/>
          <p:cNvSpPr/>
          <p:nvPr/>
        </p:nvSpPr>
        <p:spPr>
          <a:xfrm>
            <a:off x="3505200" y="403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053840" y="4038600"/>
            <a:ext cx="1584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术语表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505200" y="4495800"/>
            <a:ext cx="213360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关键术语总览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096000" y="3810000"/>
            <a:ext cx="2590800" cy="10363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324600" y="403860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7" name="Text 45"/>
          <p:cNvSpPr/>
          <p:nvPr/>
        </p:nvSpPr>
        <p:spPr>
          <a:xfrm>
            <a:off x="6324600" y="403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873240" y="4038600"/>
            <a:ext cx="1584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324600" y="4495800"/>
            <a:ext cx="213360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37: YOLOv3</a:t>
            </a:r>
            <a:endParaRPr lang="en-US" sz="1100" dirty="0"/>
          </a:p>
        </p:txBody>
      </p:sp>
      <p:sp>
        <p:nvSpPr>
          <p:cNvPr id="5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历史背景：目标检测发展脉络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Background: Object Detection Evolution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971800"/>
            <a:ext cx="6035040" cy="0"/>
          </a:xfrm>
          <a:prstGeom prst="line">
            <a:avLst/>
          </a:prstGeom>
          <a:noFill/>
          <a:ln w="38100">
            <a:solidFill>
              <a:srgbClr val="97BC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371600"/>
            <a:ext cx="1828800" cy="54864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08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R-CNN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194560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1945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2093976"/>
            <a:ext cx="182880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Shape 12"/>
          <p:cNvSpPr/>
          <p:nvPr/>
        </p:nvSpPr>
        <p:spPr>
          <a:xfrm>
            <a:off x="2651760" y="13716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51760" y="1371600"/>
            <a:ext cx="1828800" cy="54864"/>
          </a:xfrm>
          <a:prstGeom prst="rect">
            <a:avLst/>
          </a:prstGeom>
          <a:solidFill>
            <a:srgbClr val="A0926B"/>
          </a:solidFill>
          <a:ln/>
        </p:spPr>
      </p:sp>
      <p:sp>
        <p:nvSpPr>
          <p:cNvPr id="16" name="Text 14"/>
          <p:cNvSpPr/>
          <p:nvPr/>
        </p:nvSpPr>
        <p:spPr>
          <a:xfrm>
            <a:off x="2788920" y="1508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092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88920" y="1828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R-CNN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017520" y="2194560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3017520" y="21945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80560" y="2093976"/>
            <a:ext cx="182880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13716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371600"/>
            <a:ext cx="1828800" cy="54864"/>
          </a:xfrm>
          <a:prstGeom prst="rect">
            <a:avLst/>
          </a:prstGeom>
          <a:solidFill>
            <a:srgbClr val="B5A680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508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A6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00600" y="1828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0" y="2194560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1945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92240" y="2093976"/>
            <a:ext cx="182880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0" y="13716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75120" y="1371600"/>
            <a:ext cx="18288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1508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12280" y="1828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040880" y="2194560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97BC62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21945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One-stage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3832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8F5E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5800" y="3520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范式转变 Paradigm Shift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" y="3886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Two-stage方法：先生成候选区域再分类，精度高但速度慢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One-stage方法：将检测视为单次回归问题，速度快且泛化能力强</a:t>
            </a:r>
            <a:endParaRPr lang="en-US" sz="1200" dirty="0"/>
          </a:p>
        </p:txBody>
      </p:sp>
      <p:sp>
        <p:nvSpPr>
          <p:cNvPr id="3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YOLO的诞生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Birth of YOLO - CVPR 2016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384048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核心创新 Core Innovation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将目标检测统一为单次回归问题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4414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全局推理 - 看到整张图，减少误检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91693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端到端训练，无需复杂pipeline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39242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实时检测: 45 FPS (Titan X)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86791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强泛化能力 - 可迁移到新领域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1280160"/>
            <a:ext cx="4069080" cy="3291840"/>
          </a:xfrm>
          <a:prstGeom prst="roundRect">
            <a:avLst>
              <a:gd name="adj" fmla="val 2778"/>
            </a:avLst>
          </a:prstGeom>
          <a:solidFill>
            <a:srgbClr val="2C5F2D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 关键数据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CVPR 2016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240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论文发表 — 计算机视觉顶会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FPS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880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推理速度 — Titan X GPU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Joseph Redmon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520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作者 — University of Washington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Only Look Once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4160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 — 单次回归检测</a:t>
            </a:r>
            <a:endParaRPr lang="en-US" sz="10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YOLO系列演进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Series Evolution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97BC62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31520"/>
                <a:gridCol w="822960"/>
                <a:gridCol w="822960"/>
                <a:gridCol w="48463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版本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关键改进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开创单阶段检测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Norm, Anchor Boxes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Darknet-53, FPN多尺度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CSP, PANet, Mosaic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PyTorch, Ultralytics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RepVGG, Decoupled Head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E-ELAN, 模型缩放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Anchor-free, YOLACT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PGI, GELAN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NMS-free, CIB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C3k2, SPPF改进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数据来源: github.com/ultralytics/ultralytics  |  mAP基于COCO数据集</a:t>
            </a:r>
            <a:endParaRPr lang="en-US" sz="9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核心概念：网格划分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Partition - S x S Grid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41148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网格划分原理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输入图像被划分为 S x S 的网格 (S=7)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4780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共产生 7 x 7 = 49 个网格单元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9900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每个网格单元(grid cell)负责检测其中心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落在该单元内的目标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5021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每个网格最多预测一类目标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0142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网格划分将全局检测转化为局部回归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1280160"/>
            <a:ext cx="37947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14173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7x7 网格示意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70617" y="3050177"/>
            <a:ext cx="391886" cy="391886"/>
          </a:xfrm>
          <a:prstGeom prst="rect">
            <a:avLst/>
          </a:prstGeom>
          <a:solidFill>
            <a:srgbClr val="D4A843">
              <a:alpha val="60000"/>
            </a:srgbClr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70617" y="3050177"/>
            <a:ext cx="391886" cy="3918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394960" y="1874520"/>
            <a:ext cx="0" cy="274320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0" y="1874520"/>
            <a:ext cx="2743200" cy="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86846" y="1874520"/>
            <a:ext cx="0" cy="274320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94960" y="2266406"/>
            <a:ext cx="2743200" cy="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8731" y="1874520"/>
            <a:ext cx="0" cy="274320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0" y="2658291"/>
            <a:ext cx="2743200" cy="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70617" y="1874520"/>
            <a:ext cx="0" cy="274320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0" y="3050177"/>
            <a:ext cx="2743200" cy="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62503" y="1874520"/>
            <a:ext cx="0" cy="274320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0" y="3442063"/>
            <a:ext cx="2743200" cy="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54389" y="1874520"/>
            <a:ext cx="0" cy="274320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94960" y="3833949"/>
            <a:ext cx="2743200" cy="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46274" y="1874520"/>
            <a:ext cx="0" cy="274320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94960" y="4225834"/>
            <a:ext cx="2743200" cy="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1874520"/>
            <a:ext cx="0" cy="274320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94960" y="4617720"/>
            <a:ext cx="2743200" cy="0"/>
          </a:xfrm>
          <a:prstGeom prst="line">
            <a:avLst/>
          </a:prstGeom>
          <a:noFill/>
          <a:ln w="6350">
            <a:solidFill>
              <a:srgbClr val="97BC6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32566" y="2704011"/>
            <a:ext cx="587829" cy="705394"/>
          </a:xfrm>
          <a:prstGeom prst="ellipse">
            <a:avLst/>
          </a:prstGeom>
          <a:solidFill>
            <a:srgbClr val="2C5F2D">
              <a:alpha val="30000"/>
            </a:srgbClr>
          </a:solidFill>
          <a:ln w="19050">
            <a:solidFill>
              <a:srgbClr val="2C5F2D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5120640" y="47091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cells</a:t>
            </a:r>
            <a:endParaRPr lang="en-US" sz="11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核心概念：边界框预测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Prediction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2C5F2D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输出张量 Output Tensor: 7 x 7 x 30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B=2 bounding boxes x 5 values + 20 class probabilities = 10 + 20 = 30 per cell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2590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06040"/>
            <a:ext cx="25908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4320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边界框参数 (x5)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15468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y: 边界框中心坐标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538728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w, h: 边界框宽高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922776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置信度分数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306824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Pr(Object) x IoU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76600" y="2606040"/>
            <a:ext cx="2590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76600" y="2606040"/>
            <a:ext cx="25908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3505200" y="274320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类别概率 (x20)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05200" y="315468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20类条件概率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05200" y="3538728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Pr(Class_i | Object)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05200" y="3922776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每个cell预测一组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05200" y="4306824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仅在有目标时有效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96000" y="2606040"/>
            <a:ext cx="2590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96000" y="2606040"/>
            <a:ext cx="25908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6324600" y="274320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最终检测得分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24600" y="315468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得分 = 置信度 x 类别概率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4600" y="3538728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Pr(Class_i) x IoU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24600" y="3922776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过滤低分检测框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24600" y="4306824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NMS去重后输出</a:t>
            </a:r>
            <a:endParaRPr lang="en-US" sz="11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YOLOv1网络结构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 Network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3716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7B8CDE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448x448x3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7400" y="1783080"/>
            <a:ext cx="45720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14600" y="13716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371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Layers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layers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45720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00600" y="13716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371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Layers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layers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1783080"/>
            <a:ext cx="45720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86600" y="13716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86600" y="1371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7x7x30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50292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560320"/>
            <a:ext cx="50292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网络特点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31089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基于GoogLeNet/Inception架构改进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4015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24层卷积 + 2层全连接层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369417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交替使用3x3和1x1卷积核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9867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激活函数: Leaky ReLU (alpha=0.1)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4279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输入尺寸: 448 x 448 (非224x224)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06440" y="2560320"/>
            <a:ext cx="2880360" cy="2103120"/>
          </a:xfrm>
          <a:prstGeom prst="roundRect">
            <a:avLst>
              <a:gd name="adj" fmla="val 4348"/>
            </a:avLst>
          </a:prstGeom>
          <a:solidFill>
            <a:srgbClr val="E8F5E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89320" y="26974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特征图缩小过程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89320" y="3108960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448x448 → 224x224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89320" y="3355848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224x224 → 112x112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89320" y="3602736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112x112 → 56x56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89320" y="3849624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56x56 → 28x28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89320" y="4096512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28x28 → 14x14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89320" y="4343400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14x14 → 7x7</a:t>
            </a:r>
            <a:endParaRPr lang="en-US" sz="10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网络结构详解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 Details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41148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卷积层设计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3x3卷积: 提取空间特征 (降采样用stride=2)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3682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1x1卷积: 降维减少计算量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7706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交替使用: 3x3和1x1交替排列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172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前20层: 基于 GoogLeNet 预训练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5753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后4层: 随机初始化后微调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9776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最终Feature Map: 7 x 7 x 1024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1280160"/>
            <a:ext cx="37947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1280160"/>
            <a:ext cx="37947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4630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全连接层与正则化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19659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FC1: 7x7x1024 → 4096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24231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FC2: 4096 → 7x7x30 (S*S*(B*5+C))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28803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ReLU: f(x)=0.1x (x&lt;0)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33375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 rate=0.5, 防止过拟合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379476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输出reshape为 7x7x30</a:t>
            </a:r>
            <a:endParaRPr lang="en-US" sz="11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损失函数：三部分组成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Function: Three Components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25908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600200"/>
            <a:ext cx="15392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坐标误差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920240"/>
            <a:ext cx="1539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Loss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lambda_coord = 5 (权重)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92608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 使用平方误差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38328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w, h 使用sqrt变换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84048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仅计算含目标的grid cell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76600" y="1371600"/>
            <a:ext cx="25908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05200" y="160020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35052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99560" y="1600200"/>
            <a:ext cx="15392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置信度误差(有目标)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99560" y="1920240"/>
            <a:ext cx="1539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Loss (Obj)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05200" y="246888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有目标时的置信度误差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05200" y="292608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IoU_pred vs IoU_true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05200" y="338328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权重: 1.0 (默认)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05200" y="384048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鼓励准确预测IoU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96000" y="1371600"/>
            <a:ext cx="25908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24600" y="160020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63246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18960" y="1600200"/>
            <a:ext cx="15392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分类 + 无目标置信度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18960" y="1920240"/>
            <a:ext cx="15392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+ No-obj Loss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24600" y="246888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lambda_noobj = 0.5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24600" y="292608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分类: 条件类别概率SSE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24600" y="338328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无目标置信度误差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24600" y="384048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降低背景框影响</a:t>
            </a:r>
            <a:endParaRPr lang="en-US" sz="11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损失函数详解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in Detail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8F5E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417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lambda_coord * [Sum(x,y)^2 + Sum(sqrt(w)-sqrt(w_true))^2] + Sum(conf_obj)^2 + lambda_noobj * Sum(conf_noobj)^2 + Sum(class)^2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40005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468880"/>
            <a:ext cx="40005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651760"/>
            <a:ext cx="35433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为什么对w,h取sqrt?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35433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大框与小框的误差权重不同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456432"/>
            <a:ext cx="35433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同一像素误差对小框影响更大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803904"/>
            <a:ext cx="35433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sqrt变换平衡大小框的梯度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151376"/>
            <a:ext cx="35433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确保定位精度对所有尺度一致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86300" y="2468880"/>
            <a:ext cx="40005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86300" y="2468880"/>
            <a:ext cx="40005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4914900" y="2651760"/>
            <a:ext cx="35433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超参数设置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14900" y="3063240"/>
          <a:ext cx="35433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48640"/>
                <a:gridCol w="21945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参数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作用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lambda_coord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增加坐标误差权重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lambda_noobj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降低无目标置信度权重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(grid)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网格大小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(boxes)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每格预测框数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</a:tr>
            </a:tbl>
          </a:graphicData>
        </a:graphic>
      </p:graphicFrame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非极大值抑制 (NMS)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Non-Maximum Suppression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617220" y="137160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7220" y="14630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" y="1783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选择置信度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最高的框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54580" y="1965960"/>
            <a:ext cx="32004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74620" y="137160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74620" y="14630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74620" y="1783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计算该框与其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他框的IoU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11980" y="1965960"/>
            <a:ext cx="32004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32020" y="137160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32020" y="14630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32020" y="1783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移除IoU &gt; 阈值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的重叠框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69380" y="1965960"/>
            <a:ext cx="32004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89420" y="137160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89420" y="14630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89420" y="17830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重复直到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处理完所有框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40005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834640"/>
            <a:ext cx="40005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71800"/>
            <a:ext cx="35433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IoU (Intersection over Union)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383280"/>
            <a:ext cx="35433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= 交集面积 / 并集面积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典型阈值: 0.5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&gt; 0.5 表示高度重叠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2834640"/>
            <a:ext cx="40005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86300" y="2834640"/>
            <a:ext cx="40005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4914900" y="2971800"/>
            <a:ext cx="35433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NMS注意事项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14900" y="3383280"/>
            <a:ext cx="35433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YOLOv1每格预测B=2个框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NMS选择IoU最高的框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置信度低的框被抑制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最终输出: 每个目标一个框</a:t>
            </a:r>
            <a:endParaRPr lang="en-US" sz="12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科学家故事：Joseph Redmon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"YOLO之父" - The Father of YOLO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Joseph Redmon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Washington PhD Candidate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2015年(26岁): 创建YOLO, CVPR 2016发表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71576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YOLO开创了单阶段目标检测新范式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09981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连续发布YOLOv1/v2/v3三大经典版本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48386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开发了轻量级C框架: Darknet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86791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2020年: 因AI伦理担忧宣布退出CV领域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2519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名言: "I don't want my work to be used for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surveillance or military purposes."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280160"/>
            <a:ext cx="2423160" cy="3383280"/>
          </a:xfrm>
          <a:prstGeom prst="roundRect">
            <a:avLst>
              <a:gd name="adj" fmla="val 3774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14630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时间线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1920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86600" y="192024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创造YOLO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2176272"/>
            <a:ext cx="0" cy="256032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4505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245059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CVPR发表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0840" y="2706624"/>
            <a:ext cx="0" cy="256032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98094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86600" y="2980944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0840" y="3236976"/>
            <a:ext cx="0" cy="256032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51129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86600" y="3511296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20840" y="3767328"/>
            <a:ext cx="0" cy="256032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0416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86600" y="4041648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退出CV</a:t>
            </a:r>
            <a:endParaRPr lang="en-US" sz="11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AI伦理思考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 Reflection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463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don't want my work to be used for surveillance or military purposes."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Joseph Redmon, 2020年退出声明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0005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926080"/>
            <a:ext cx="40005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063240"/>
            <a:ext cx="35433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AI伦理核心问题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474720"/>
            <a:ext cx="35433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AI技术的双重用途困境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776472"/>
            <a:ext cx="35433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研究者对技术应用的道德责任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078224"/>
            <a:ext cx="35433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开源vs闭源的伦理权衡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379976"/>
            <a:ext cx="35433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监控技术对隐私权的威胁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86300" y="2926080"/>
            <a:ext cx="40005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6300" y="2926080"/>
            <a:ext cx="40005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4914900" y="3063240"/>
            <a:ext cx="35433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YOLO的延续发展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4900" y="3474720"/>
            <a:ext cx="35433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Ultralytics接棒继续YOLO开发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4900" y="3776472"/>
            <a:ext cx="35433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YOLOv5/v8等持续迭代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4900" y="4078224"/>
            <a:ext cx="35433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开源社区推动标准化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4900" y="4379976"/>
            <a:ext cx="35433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目标检测民主化进程</a:t>
            </a:r>
            <a:endParaRPr lang="en-US" sz="11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重要文献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 &amp; Papers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97BC62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2011680"/>
                <a:gridCol w="30175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论文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发表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作者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链接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CVPR 2016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Redmon et 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arxiv.org/abs/1506.02640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YOLOv2 (YOLO9000)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CVPR 2017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Redmon &amp; Farhadi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arxiv.org/abs/1612.08242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 2018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Redmon &amp; Farhadi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arxiv.org/abs/1804.02767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R-CNN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NIPS 2015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 et 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arxiv.org/abs/1506.01497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ECCV 2016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Liu et 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arxiv.org/abs/1512.02325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NMS参考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经典算法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文献综述参考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6576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E8F5E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3749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推荐阅读顺序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4069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建议按发表顺序阅读: R-CNN → Faster R-CNN → YOLOv1 → SSD → YOLOv2 → YOLOv3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理解Two-stage到One-stage的演进脉络，有助于深入掌握目标检测技术发展</a:t>
            </a:r>
            <a:endParaRPr lang="en-US" sz="1100" dirty="0"/>
          </a:p>
        </p:txBody>
      </p:sp>
      <p:sp>
        <p:nvSpPr>
          <p:cNvPr id="1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经典实验：YOLO vs Faster R-CNN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Experiment Comparison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97BC62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03120"/>
                <a:gridCol w="2103120"/>
                <a:gridCol w="23774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R-CNN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3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YOLO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(VOC2007)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背景误检率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较高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较低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定位误差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较低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较高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泛化能力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2918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3291840"/>
            <a:ext cx="82296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429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关键发现 Key Findings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37947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速度优势: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YOLO速度是Faster R-CNN的6倍以上，Fast YOLO更是快22倍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误检类型: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YOLO的错误更多来自定位不准，而非背景误检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泛化能力: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YOLO在艺术图像(Picasso, Van Gogh)上表现远优于Faster R-CNN</a:t>
            </a:r>
            <a:endParaRPr lang="en-US" sz="11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速度-精度权衡与泛化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Speed-Accuracy Trade-off &amp; Generalization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4754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475488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速度-精度对比 (COCO/VOC)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1828800"/>
            <a:ext cx="0" cy="256032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4389120"/>
            <a:ext cx="384048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44348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-&gt;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80360" y="4069080"/>
            <a:ext cx="457200" cy="45720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44805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YOLO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691640" y="2240280"/>
            <a:ext cx="457200" cy="45720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554480" y="26517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520440" y="1600200"/>
            <a:ext cx="457200" cy="457200"/>
          </a:xfrm>
          <a:prstGeom prst="ellipse">
            <a:avLst/>
          </a:prstGeom>
          <a:solidFill>
            <a:srgbClr val="8B7355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0" y="20116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R-CNN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160520" y="1874520"/>
            <a:ext cx="457200" cy="457200"/>
          </a:xfrm>
          <a:prstGeom prst="ellipse">
            <a:avLst/>
          </a:prstGeom>
          <a:solidFill>
            <a:srgbClr val="A0926B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023360" y="22860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R-CNN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532120" y="1280160"/>
            <a:ext cx="3154680" cy="329184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32120" y="1280160"/>
            <a:ext cx="315468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5715000" y="14173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泛化能力 Generalization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0" y="187452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YOLO在全图上下文中推理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15000" y="228600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对艺术图像表现更好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269748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社交网络图片泛化强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15000" y="310896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 positives in BG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15000" y="352044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错误多为定位不准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15000" y="393192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非背景误判</a:t>
            </a:r>
            <a:endParaRPr lang="en-US" sz="11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小故事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Facts &amp; Stories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2590800" cy="32918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25908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Shape 6"/>
          <p:cNvSpPr/>
          <p:nvPr/>
        </p:nvSpPr>
        <p:spPr>
          <a:xfrm>
            <a:off x="1432560" y="1600200"/>
            <a:ext cx="640080" cy="640080"/>
          </a:xfrm>
          <a:prstGeom prst="ellipse">
            <a:avLst/>
          </a:prstGeom>
          <a:solidFill>
            <a:srgbClr val="2C5F2D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43256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命名由来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2133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Origin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017520"/>
            <a:ext cx="2133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Only Look Once"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表达核心思想: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一次前向传播即可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完成目标检测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区别于需要多次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proposal的方法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76600" y="1371600"/>
            <a:ext cx="2590800" cy="32918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76600" y="1371600"/>
            <a:ext cx="25908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Shape 13"/>
          <p:cNvSpPr/>
          <p:nvPr/>
        </p:nvSpPr>
        <p:spPr>
          <a:xfrm>
            <a:off x="4251960" y="1600200"/>
            <a:ext cx="640080" cy="640080"/>
          </a:xfrm>
          <a:prstGeom prst="ellipse">
            <a:avLst/>
          </a:prstGeom>
          <a:solidFill>
            <a:srgbClr val="97BC62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05200" y="237744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Darknet框架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05200" y="2651760"/>
            <a:ext cx="2133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Framework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05200" y="3017520"/>
            <a:ext cx="2133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Redmon用C语言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编写的轻量级框架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无需依赖深度学习库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直接从零编译运行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体现了极简主义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工程哲学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96000" y="1371600"/>
            <a:ext cx="2590800" cy="32918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96000" y="1371600"/>
            <a:ext cx="25908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Shape 20"/>
          <p:cNvSpPr/>
          <p:nvPr/>
        </p:nvSpPr>
        <p:spPr>
          <a:xfrm>
            <a:off x="7071360" y="1600200"/>
            <a:ext cx="640080" cy="640080"/>
          </a:xfrm>
          <a:prstGeom prst="ellipse">
            <a:avLst/>
          </a:prstGeom>
          <a:solidFill>
            <a:srgbClr val="D4A843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07136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24600" y="237744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社区影响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24600" y="2651760"/>
            <a:ext cx="2133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Impact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24600" y="3017520"/>
            <a:ext cx="2133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YOLO系列累计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 GitHub Stars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目标检测领域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最受欢迎的模型家族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影响了整个检测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领域的发展方向</a:t>
            </a:r>
            <a:endParaRPr lang="en-US" sz="12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44168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441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2801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YOLOv1中B=2个边界框分别预测什么？为什么需要两个？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55448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B=2 boxes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5623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E8F5E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1965960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190195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损失函数中对w和h取平方根的意义是什么？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176272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sqrt for w/h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478024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587752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587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52374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NMS中IoU阈值设为0.5是否总是最优？如何调整？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798064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threshold tuning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099816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E8F5E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3209544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2095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14553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相比Faster R-CNN，YOLO的主要优势和劣势？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3419856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vs Faster R-CNN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721608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3831336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8313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37673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为什么YOLOv1使用448x448而非224x224输入？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4041648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resolution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34340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E8F5E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" y="4453128"/>
            <a:ext cx="320040" cy="3200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44531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" y="43891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如何改进YOLOv1的小目标检测能力？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" y="46634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object improvement</a:t>
            </a:r>
            <a:endParaRPr lang="en-US" sz="9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术语表与下节预告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&amp; Next Class Preview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97BC62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943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29260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术语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英文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Only Look Once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单阶段目标检测算法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网格单元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Cell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图像划分的基本单元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边界框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Bounding Box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目标的矩形包围框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置信度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框含目标的概率x IoU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交并比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检测框与真实框的重叠度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非极大值抑制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去除重叠检测框的算法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锚框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 Box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预定义的参考框形状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75120" y="1188720"/>
            <a:ext cx="2011680" cy="3383280"/>
          </a:xfrm>
          <a:prstGeom prst="roundRect">
            <a:avLst>
              <a:gd name="adj" fmla="val 4545"/>
            </a:avLst>
          </a:prstGeom>
          <a:solidFill>
            <a:srgbClr val="2C5F2D"/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12280" y="1371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37 预告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949440" y="1828800"/>
            <a:ext cx="1463040" cy="0"/>
          </a:xfrm>
          <a:prstGeom prst="line">
            <a:avLst/>
          </a:prstGeom>
          <a:noFill/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12280" y="1965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YOLOv3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12280" y="2468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Darknet-53骨干网络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12280" y="28529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特征金字塔网络FPN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12280" y="323697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多尺度预测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12280" y="36210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Box机制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12280" y="40050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Sigmoid多标签分类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8234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36: YOLO基础  |  计算机视觉100天  |  2026-06-30</a:t>
            </a:r>
            <a:endParaRPr lang="en-US" sz="10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36: YOLO Fundamentals</dc:title>
  <dc:subject>PptxGenJS Presentation</dc:subject>
  <dc:creator>CV Learning</dc:creator>
  <cp:lastModifiedBy>CV Learning</cp:lastModifiedBy>
  <cp:revision>1</cp:revision>
  <dcterms:created xsi:type="dcterms:W3CDTF">2026-06-30T05:07:22Z</dcterms:created>
  <dcterms:modified xsi:type="dcterms:W3CDTF">2026-06-30T05:07:22Z</dcterms:modified>
</cp:coreProperties>
</file>