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5F2D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2C5F2D"/>
                </a:solidFill>
                <a:latin typeface="Georgia"/>
              </a:rPr>
              <a:t>ImageNet 分类准确率提升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Accuracy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5F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+Geometric</c:v>
                  </c:pt>
                  <c:pt idx="2">
                    <c:v>+Color</c:v>
                  </c:pt>
                  <c:pt idx="3">
                    <c:v>+MixUp</c:v>
                  </c:pt>
                  <c:pt idx="4">
                    <c:v>+CutMix</c:v>
                  </c:pt>
                  <c:pt idx="5">
                    <c:v>+AutoAug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72.5</c:v>
                </c:pt>
                <c:pt idx="1">
                  <c:v>75.2</c:v>
                </c:pt>
                <c:pt idx="2">
                  <c:v>76.8</c:v>
                </c:pt>
                <c:pt idx="3">
                  <c:v>78.5</c:v>
                </c:pt>
                <c:pt idx="4">
                  <c:v>79.2</c:v>
                </c:pt>
                <c:pt idx="5">
                  <c:v>80.1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5F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46304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spc="1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数据增强  Data Augmentation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931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让有限的数据，产生无限的可能</a:t>
            </a:r>
            <a:endParaRPr lang="en-US" sz="13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基础概念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为什么需要数据增强？核心定义与传统方法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45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进阶技术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MixUp、CutMix 与 AutoAugment 智能增强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实践策略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任务导向选择、实验证据与实战黄金法则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383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4290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反思与总结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41148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科学家故事、常见陷阱与今日要点回顾</a:t>
            </a:r>
            <a:endParaRPr lang="en-US" sz="13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问题引入：数据不够怎么办？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数据困境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0" y="164592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标注成本高昂：人工标注一张图像需数分钟至数小时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领域数据稀缺：医学影像、工业缺陷等场景样本极少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模型易过拟合：小数据集上深度学习模型泛化能力差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分布偏移风险：测试集与训练集分布不一致导致性能下降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核心诉求：如何在有限数据下，训练出鲁棒的模型？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39776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977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答案：数据增强 —— 用算法"创造"新数据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核心概念：什么是数据增强？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13716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874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在不改变标签的前提下，通过对原始数据施加一系列随机变换，生成新训练样本的技术。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590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108960"/>
            <a:ext cx="25908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2900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扩充数据集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将N张图像扩展为kN张，缓解样本不足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76600" y="3108960"/>
            <a:ext cx="2590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6600" y="3108960"/>
            <a:ext cx="25908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505200" y="342900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引入不变性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5200" y="384048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让模型学习对旋转、缩放、光照等变换鲁棒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6000" y="3108960"/>
            <a:ext cx="2590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6000" y="3108960"/>
            <a:ext cx="25908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600" y="342900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正则化效果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4600" y="384048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相当于对训练过程施加隐式约束，降低过拟合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传统增强方法速览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00200"/>
            <a:ext cx="2994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几何变换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5433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翻转、旋转、缩放、裁剪、平移、透视变换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86300" y="13258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4900" y="155448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463540" y="1600200"/>
            <a:ext cx="2994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颜色变换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4900" y="2103120"/>
            <a:ext cx="35433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亮度、对比度、饱和度、色调、灰度化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3182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36042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406140"/>
            <a:ext cx="2994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噪声与模糊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909060"/>
            <a:ext cx="35433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高斯噪声、椒盐噪声、高斯模糊、运动模糊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6300" y="313182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4900" y="336042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5463540" y="3406140"/>
            <a:ext cx="2994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高级几何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4900" y="3909060"/>
            <a:ext cx="35433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弹性变形、网格扭曲、随机擦除 (Random Erasing)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MixUp：样本混合新范式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将两张图像按像素加权混合，标签也按比例混合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λ·x₁ + (1-λ)·x₂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λ·y₁ + (1-λ)·y₂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λ ~ Beta(α, α)，α 通常取 0.2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效果：平滑决策边界，提升泛化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F5F5F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8745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cat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23760" y="18745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B8D99A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dog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3703320"/>
            <a:ext cx="0" cy="475488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4178808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41788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Mixed: λ·cat + (1-λ)·dog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CutMix：区域级混合改进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从图像B裁剪一个区域，粘贴到图像A的对应位置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标签按区域面积比例混合：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λ·y₁ + (1-λ)·y₂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保留局部性，避免MixUp的模糊问题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让模型关注更丰富的局部特征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在目标检测中尤为有效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F5F5F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78308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2606040"/>
            <a:ext cx="228600" cy="22860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2606040"/>
            <a:ext cx="-228600" cy="22860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783080"/>
            <a:ext cx="1371600" cy="2011680"/>
          </a:xfrm>
          <a:prstGeom prst="roundRect">
            <a:avLst>
              <a:gd name="adj" fmla="val 5333"/>
            </a:avLst>
          </a:prstGeom>
          <a:solidFill>
            <a:srgbClr val="B8D99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0840" y="3794760"/>
            <a:ext cx="0" cy="41148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69280" y="42062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Result</a:t>
            </a:r>
            <a:endParaRPr lang="en-US" sz="11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混合方法对比：MixUp vs CutMix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维度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MixUp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CutMix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混合方式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像素级加权平均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区域级裁剪粘贴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图像外观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全局模糊、半透明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局部替换、清晰保留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标签混合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连续比例 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按裁剪面积比例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主要优势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平滑决策边界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保留局部特征与定位信息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适用任务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分类任务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分类、检测、分割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代表论文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ICLR 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Yun et al., ICCV 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97BC6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实践建议：分类任务两者皆可，检测/分割任务优先 CutMix</a:t>
            </a:r>
            <a:endParaRPr lang="en-US" sz="13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AutoAugment：智能增强时代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搜索空间定义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783080"/>
            <a:ext cx="457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4630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4A7C59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策略采样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457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14630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子模型训练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457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40880" y="14630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验证评估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使用强化学习（RNN控制器 + PPO）在巨大的增强策略空间中搜索最优组合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每个策略 = (变换操作, 概率, 幅度) 的序列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后续演进：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AutoAugment：基于密度匹配，无需额外训练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RandAugment：取消搜索，随机采样固定数量操作，效果接近且更简单</a:t>
            </a:r>
            <a:endParaRPr lang="en-US" sz="13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策略选择：不同任务用不同增强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图像分类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推荐方案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几何变换 + 颜色抖动 + MixUp/CutMix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目标检测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推荐方案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Mosaic、MixUp、随机裁剪、色彩空间变换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2560320" cy="4114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语义分割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推荐方案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同步几何变换、CutMix、光度失真</a:t>
            </a:r>
            <a:endParaRPr lang="en-US" sz="13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371600"/>
          <a:ext cx="5349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实验证据：增强能带来多大提升？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2"/>
          <p:cNvSpPr/>
          <p:nvPr/>
        </p:nvSpPr>
        <p:spPr>
          <a:xfrm>
            <a:off x="6217920" y="137160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600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关键结论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20116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组合使用 &gt; 单一方法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传统增强可提升 3-5%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MixUp/CutMix 再增 2-3%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AutoAugment 可达 SOTA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数据越少，增强收益越大</a:t>
            </a:r>
            <a:endParaRPr lang="en-US" sz="1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科学家故事：Alex Krizhevsky的关键决策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286000" cy="329184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Krizhevsky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2012 冠军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5577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2012年 ImageNet 竞赛中的数据增强策略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团队不仅设计了更深的网络，更在数据增强上做出了开创性选择：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随机裁剪 (256x256 -&gt; 224x224)：从每张图生成2048种不同视角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水平翻转：在不增加存储的情况下数据翻倍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颜色增强：对RGB通道施加主成分扰动，模拟自然光照变化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这些策略后来成为计算机视觉训练的标准配置，影响深远。</a:t>
            </a:r>
            <a:endParaRPr lang="en-US" sz="13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实战要点：3个黄金法则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94488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先基础后高级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7772400" cy="-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先确保几何/颜色变换正确，再引入 MixUp 等复杂方法。基础不牢，高级技巧反而有害。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45080"/>
            <a:ext cx="8229600" cy="94488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77368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73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651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验证集不加增强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505200"/>
            <a:ext cx="7772400" cy="-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训练时增强，验证和测试时必须使用原始图像。否则会得到虚假的高指标。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18560"/>
            <a:ext cx="8229600" cy="94488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4716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47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3860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可视化检查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678680"/>
            <a:ext cx="7772400" cy="-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增强后的图像务必人工抽检。如果人眼都无法辨认，模型也很难学到有效特征。</a:t>
            </a:r>
            <a:endParaRPr lang="en-US" sz="13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常见陷阱：增强过头怎么办？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000500" cy="153162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411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00200"/>
            <a:ext cx="2994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过度旋转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5433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文字、人脸、方向敏感物体被旋转后语义改变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86300" y="1371600"/>
            <a:ext cx="4000500" cy="153162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4900" y="1600200"/>
            <a:ext cx="411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463540" y="1600200"/>
            <a:ext cx="2994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极端裁剪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4900" y="2103120"/>
            <a:ext cx="35433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裁剪掉目标主体，只剩背景，标签失效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31820"/>
            <a:ext cx="4000500" cy="153162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360420"/>
            <a:ext cx="411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360420"/>
            <a:ext cx="2994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颜色失真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863340"/>
            <a:ext cx="35433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过度调整使图像脱离真实分布，模型学到伪特征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6300" y="3131820"/>
            <a:ext cx="4000500" cy="153162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4900" y="3360420"/>
            <a:ext cx="411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5463540" y="3360420"/>
            <a:ext cx="2994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标签泄漏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4900" y="3863340"/>
            <a:ext cx="35433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测试集信息通过增强间接泄露到训练过程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今日小结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数据增强是低成本提升模型性能的核心手段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传统几何/颜色变换是基石，必须掌握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和 CutMix 通过样本混合进一步提升泛化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AutoAugment 系列将增强策略搜索自动化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增强策略需匹配任务类型，避免过度增强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始终记得：验证集不加增强，增强后可视化检查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73152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下一讲预告：Day 87 — 迁移学习与预训练模型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0" y="2926080"/>
            <a:ext cx="14630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1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4023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86 数据增强 (Data Augmentation)</dc:title>
  <dc:subject>计算机视觉100天</dc:subject>
  <dc:creator>CV100Days</dc:creator>
  <cp:lastModifiedBy>CV100Days</cp:lastModifiedBy>
  <cp:revision>1</cp:revision>
  <dcterms:created xsi:type="dcterms:W3CDTF">2026-08-19T05:24:47Z</dcterms:created>
  <dcterms:modified xsi:type="dcterms:W3CDTF">2026-08-19T05:24:47Z</dcterms:modified>
</cp:coreProperties>
</file>