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今天是计算机视觉100天学习计划的第32天，我们将深入探讨两种经典的计算机视觉目标检测方法：HOG（方向梯度直方图）和DPM（可变形部件模型）。这两种方法代表了深度学习时代之前目标检测的巅峰水平，至今仍有重要的学习价值和启发意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今日学习路线总览。我们按照'历史背景 -&gt; HOG详解 -&gt; DPM详解 -&gt; 实战应用 -&gt; 人物文献 -&gt; 总结'的逻辑线来展开。先了解HOG和DPM的历史脉络，再深入技术细节，最后通过代码实战巩固理解。建议学习时间：2-3小时。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HOG由Navneet Dalal和Bill Triggs于2005年在CVPR上提出。他们的论文《Histograms of Oriented Gradients for Human Detection》成为了计算机视觉领域最具影响力的论文之一。HOG的核心思想是利用图像局部区域的梯度方向直方图来描述物体外观，特别适合检测具有固定形状但可能存在形变的物体（如行人）。该论文至今已被引用超过28000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DPM由Pedro Felzenszwalb团队开发，是传统目标检测方法的巅峰之作。DPM在PASCAL VOC竞赛中取得了多项冠军成绩，其核心创新在于将物体建模为'根滤波器+部件滤波器'的组合，并通过形变代价处理物体的姿态变化。2010年发表在PAMI上的论文是该领域的里程碑工作。虽然后来被深度学习方法超越，但DPM的思想（部件、形变、多尺度）深刻影响了后续的目标检测研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G（方向梯度直方图）的核心思想是：通过计算图像中局部区域的梯度方向分布来描述物体的外观特征。整个过程分为三个关键步骤：1）梯度计算——获取每个像素的梯度幅值和方向；2）Cell直方图——在小区域内统计梯度方向的分布；3）Block归一化——将相邻Cell组合并进行归一化，提高对光照变化的鲁棒性。HOG特别适合检测具有明确形状轮廓的物体，如行人、车辆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G特征提取分为5个关键步骤。第一步灰度化，将RGB图像转为灰度图以减少计算量。第二步梯度计算，使用简单的差分算子或Sobel算子计算每个像素的水平和垂直梯度。第三步Cell直方图，将图像划分为8x8像素的小Cell，在每个Cell内统计9个方向bin的梯度直方图。第四步Block归一化，将2x2个相邻Cell组成Block，对Block内的向量进行L2-Hys归一化处理。第五步特征拼接，将所有Block的特征向量串联起来，形成最终的HOG特征描述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HOG特征的关键参数包括：Cell大小(默认8x8像素)、Block大小(2x2个Cell)、Block步长(通常等于Cell大小)、方向bin数(通常9个，覆盖0-180度)、检测窗口大小(行人检测常用64x128)等。每个Block的特征维度为2x2 Cells x 9 bins = 36维。对于一个64x128的检测窗口，有(64-16)/8+1=7个水平Block和(128-16)/8+1=15个垂直Block，总共105个Block，特征维度为105 x 36 = 3780维。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代码展示了如何使用OpenCV计算和可视化HOG特征。首先初始化HOG描述子，设置默认的行人检测器。然后读取图像并转为灰度。使用cv2.HOGDescriptor配置参数后调用compute方法获取3780维的特征向量。为了可视化，使用skimage.feature.hog函数生成HOG特征图。可视化结果会显示图像中梯度方向的分布，可以帮助理解HOG如何描述物体外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M的核心思想是将物体建模为三个组件的协作：根滤波器负责捕捉物体的整体外观和轮廓信息，在HOG特征金字塔上进行粗粒度的滑动匹配；部件滤波器专注于物体关键部位（如行人头部、躯干等）的精细特征，在更高分辨率的特征图上进行匹配，提供局部细节信息；形变代价则约束部件相对于根的空间位置，允许一定程度的形变但惩罚过大的偏移。这三者共同协作，使DPM能够处理物体的姿态变化和局部遮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M的完整检测流程包含7个步骤：1）输入图像；2）构建HOG特征金字塔——通过不断缩小图像尺寸并计算HOG特征，得到多尺度的特征表示；3）根滤波器在金字塔各层上滑动匹配，得到粗糙的物体候选位置；4）部件滤波器在更高分辨率上对根位置的周围区域进行精细匹配；5）综合根和部件的匹配得分计算最终响应；6）非极大值抑制去除重叠检测框；7）输出最终的检测结果。这个流程的关键创新在于部件滤波器在双倍分辨率上匹配，以及形变代价对部件位置的约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M的评分函数由四个部分组成。第一项是根滤波器得分，计算根滤波器模板与位置z0处的HOG特征的内积。第二项是部件滤波器得分，对每个部件滤波器计算其与对应位置HOG特征的内积。第三项是形变代价，惩罚部件偏离锚点位置的距离，使用二次函数来建模。第四项是偏置项，控制各部件对总得分的贡献。形变代价的详细表达是一个二次函数，包含dx和dy的平方项和线性项，以及一个常数项，用于建模部件相对于锚点的空间偏移代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代码展示了完整的HOG+SVM行人检测流程。首先创建HOG描述子并设置默认的行人检测SVM模型（这是OpenCV预训练的，基于Dalal-Triggs原始方法训练）。然后使用detectMultiScale方法进行多尺度检测，其中winStride控制滑动步长，padding控制图像边界填充，scale控制金字塔的缩放因子。最后过滤低置信度检测结果并绘制检测框。注意参数调优：scale设为1.05可以提供较好的精度-速度平衡，winStride设为(8,8)是默认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Navneet Dalal是HOG特征的发明者。他在法国INRIA研究所攻读博士学位期间，在导师Bill Triggs的指导下，于2005年CVPR上发表了HOG论文。这篇论文当时提出了一个简单却极其有效的行人检测方法，被引用超过28000次。Dalal的伟大之处在于将生物视觉中关于方向选择性神经元的发现转化为工程化的特征描述子。毕业后他加入了Google，继续从事计算机视觉技术的工业化应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Pedro Felzenszwalb是DPM框架的创造者。他在MIT获得博士学位后，现为Brown大学计算机科学教授。2008-2010年间，他连续发表了系列DPM论文，在PASCAL VOC竞赛中取得多项冠军，是传统目标检测方法的巅峰。除了目标检测，他在图像分割领域也做出了杰出贡献（Felzenszwalb-Huttenlocher分割算法）。DPM中的多个核心思想——部件模型、多尺度特征、隐变量学习——对后来的深度学习方法产生了深远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推荐阅读的4篇核心论文。第一篇是Dalal &amp; Triggs 2005年的HOG原始论文，是必读中的必读。第二篇是Felzenszwalb等人2010年发表在PAMI上的DPM完整框架论文，被引用超过12000次。第三篇是2009年CVPR上的DPM初步框架。第四篇是2010年的级联加速版DPM。建议按照时间顺序阅读，先理解HOG再理解DPM。这些论文都可以在Google Scholar上免费获取。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个经典实验建议动手完成。实验一：使用skimage的hog函数对行人图像进行HOG特征可视化，观察不同物体的HOG特征分布。重点观察：行人的轮廓和边缘在HOG图像中清晰可见，头部和肩部有明显的方向分布聚集。实验二：使用OpenCV的HOG+SVM进行行人检测，重点实验不同scale和winStride参数对检测精度和速度的影响。建议在一个有多个行人的街景图上测试，感受HOG方法的实际效果和局限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个有趣的背景故事。第一个关于HOG的生物学灵感：Hubel和Wisel因发现视觉皮层中的方向选择性神经元获得诺贝尔奖，Dalal正是借鉴了这一发现设计了HOG特征。后来的CNN卷积核也表现出了类似的方向选择性。第二个关于PASCAL VOC竞赛：DPM在2010年达到传统方法巅峰(mAP 40.4%)，但仅两年后就被深度学习方法超越。PASCAL VOC数据集至今仍是评估基准。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道思考题帮助巩固今日所学。Q1考察HOG方向范围选择的原理（梯度方向的对称性，0-180度和180-360度表示同一条边缘）。Q2考察Block归一化的技术细节。Q3考察DPM多分辨率匹配的设计动机。Q4考察形变代价函数的设计选择。Q5是一个开放性问题，引导学生思考传统方法与深度学习的联系，如部件模型-&gt;Anchor、多尺度特征-&gt;FPN、隐变量-&gt;Attention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个核心术语快速参考。HOG是方向梯度直方图，DPM是可变形部件模型。Cell和Block是HOG特征的两个层级单元。根滤波器和部件滤波器是DPM的两个核心组件。形变代价约束部件的空间位置。隐变量SVM是DPM的训练算法。L2-Hys是HOG中Block归一化的标准方法。NMS是后处理的非极大值抑制。这些术语在后续学习和论文阅读中会频繁出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今日总结：我们学习了HOG和DPM两种经典的目标检测方法。HOG通过统计梯度方向分布来描述物体形状，DPM在此基础上引入部件模型和形变代价来处理物体的姿态变化。下节课Day 33将进入CNN（卷积神经网络）基础的学习，这标志着我们从传统特征方法向深度学习方法的过渡。理解HOG和DPM的思想对于后续理解CNN的特征学习机制非常重要。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C5F2D"/>
          </a:solidFill>
          <a:ln/>
        </p:spPr>
      </p:sp>
      <p:sp>
        <p:nvSpPr>
          <p:cNvPr id="3" name="Shape 1"/>
          <p:cNvSpPr/>
          <p:nvPr/>
        </p:nvSpPr>
        <p:spPr>
          <a:xfrm>
            <a:off x="4875581" y="0"/>
            <a:ext cx="7313371" cy="6858000"/>
          </a:xfrm>
          <a:prstGeom prst="rect">
            <a:avLst/>
          </a:prstGeom>
          <a:solidFill>
            <a:srgbClr val="FAF8F0"/>
          </a:solidFill>
          <a:ln/>
        </p:spPr>
      </p:sp>
      <p:sp>
        <p:nvSpPr>
          <p:cNvPr id="4" name="Shape 2"/>
          <p:cNvSpPr/>
          <p:nvPr/>
        </p:nvSpPr>
        <p:spPr>
          <a:xfrm>
            <a:off x="0" y="0"/>
            <a:ext cx="12188952" cy="73152"/>
          </a:xfrm>
          <a:prstGeom prst="rect">
            <a:avLst/>
          </a:prstGeom>
          <a:solidFill>
            <a:srgbClr val="D4A843"/>
          </a:solidFill>
          <a:ln/>
        </p:spPr>
      </p:sp>
      <p:sp>
        <p:nvSpPr>
          <p:cNvPr id="5" name="Shape 3"/>
          <p:cNvSpPr/>
          <p:nvPr/>
        </p:nvSpPr>
        <p:spPr>
          <a:xfrm>
            <a:off x="457200" y="914400"/>
            <a:ext cx="548640" cy="548640"/>
          </a:xfrm>
          <a:prstGeom prst="ellipse">
            <a:avLst/>
          </a:prstGeom>
          <a:solidFill>
            <a:srgbClr val="97BC62"/>
          </a:solidFill>
          <a:ln/>
        </p:spPr>
      </p:sp>
      <p:sp>
        <p:nvSpPr>
          <p:cNvPr id="6" name="Shape 4"/>
          <p:cNvSpPr/>
          <p:nvPr/>
        </p:nvSpPr>
        <p:spPr>
          <a:xfrm rot="1500000">
            <a:off x="1188720" y="2068562"/>
            <a:ext cx="548640" cy="548640"/>
          </a:xfrm>
          <a:prstGeom prst="ellipse">
            <a:avLst/>
          </a:prstGeom>
          <a:solidFill>
            <a:srgbClr val="97BC62"/>
          </a:solidFill>
          <a:ln/>
        </p:spPr>
      </p:sp>
      <p:sp>
        <p:nvSpPr>
          <p:cNvPr id="7" name="Shape 5"/>
          <p:cNvSpPr/>
          <p:nvPr/>
        </p:nvSpPr>
        <p:spPr>
          <a:xfrm rot="3000000">
            <a:off x="1920240" y="2161592"/>
            <a:ext cx="548640" cy="548640"/>
          </a:xfrm>
          <a:prstGeom prst="ellipse">
            <a:avLst/>
          </a:prstGeom>
          <a:solidFill>
            <a:srgbClr val="97BC62"/>
          </a:solidFill>
          <a:ln/>
        </p:spPr>
      </p:sp>
      <p:sp>
        <p:nvSpPr>
          <p:cNvPr id="8" name="Shape 6"/>
          <p:cNvSpPr/>
          <p:nvPr/>
        </p:nvSpPr>
        <p:spPr>
          <a:xfrm rot="4500000">
            <a:off x="2651760" y="1107960"/>
            <a:ext cx="548640" cy="548640"/>
          </a:xfrm>
          <a:prstGeom prst="ellipse">
            <a:avLst/>
          </a:prstGeom>
          <a:solidFill>
            <a:srgbClr val="97BC62"/>
          </a:solidFill>
          <a:ln/>
        </p:spPr>
      </p:sp>
      <p:sp>
        <p:nvSpPr>
          <p:cNvPr id="9" name="Shape 7"/>
          <p:cNvSpPr/>
          <p:nvPr/>
        </p:nvSpPr>
        <p:spPr>
          <a:xfrm rot="6000000">
            <a:off x="3383280" y="-123630"/>
            <a:ext cx="548640" cy="548640"/>
          </a:xfrm>
          <a:prstGeom prst="ellipse">
            <a:avLst/>
          </a:prstGeom>
          <a:solidFill>
            <a:srgbClr val="97BC62"/>
          </a:solidFill>
          <a:ln/>
        </p:spPr>
      </p:sp>
      <p:sp>
        <p:nvSpPr>
          <p:cNvPr id="10" name="Text 8"/>
          <p:cNvSpPr/>
          <p:nvPr/>
        </p:nvSpPr>
        <p:spPr>
          <a:xfrm>
            <a:off x="731520" y="1371600"/>
            <a:ext cx="4266133" cy="1097280"/>
          </a:xfrm>
          <a:prstGeom prst="rect">
            <a:avLst/>
          </a:prstGeom>
          <a:noFill/>
          <a:ln/>
        </p:spPr>
        <p:txBody>
          <a:bodyPr wrap="square" rtlCol="0" anchor="ctr"/>
          <a:lstStyle/>
          <a:p>
            <a:pPr algn="ctr" indent="0" marL="0">
              <a:buNone/>
            </a:pPr>
            <a:r>
              <a:rPr lang="en-US" sz="5200" b="1" dirty="0">
                <a:solidFill>
                  <a:srgbClr val="D4A843"/>
                </a:solidFill>
                <a:latin typeface="Georgia" pitchFamily="34" charset="0"/>
                <a:ea typeface="Georgia" pitchFamily="34" charset="-122"/>
                <a:cs typeface="Georgia" pitchFamily="34" charset="-120"/>
              </a:rPr>
              <a:t>DAY 32</a:t>
            </a:r>
            <a:endParaRPr lang="en-US" sz="5200" dirty="0"/>
          </a:p>
        </p:txBody>
      </p:sp>
      <p:sp>
        <p:nvSpPr>
          <p:cNvPr id="11" name="Text 9"/>
          <p:cNvSpPr/>
          <p:nvPr/>
        </p:nvSpPr>
        <p:spPr>
          <a:xfrm>
            <a:off x="5119360" y="1645920"/>
            <a:ext cx="6338255" cy="914400"/>
          </a:xfrm>
          <a:prstGeom prst="rect">
            <a:avLst/>
          </a:prstGeom>
          <a:noFill/>
          <a:ln/>
        </p:spPr>
        <p:txBody>
          <a:bodyPr wrap="square" rtlCol="0" anchor="ctr"/>
          <a:lstStyle/>
          <a:p>
            <a:pPr algn="l" indent="0" marL="0">
              <a:buNone/>
            </a:pPr>
            <a:r>
              <a:rPr lang="en-US" sz="3600" b="1" dirty="0">
                <a:solidFill>
                  <a:srgbClr val="2C5F2D"/>
                </a:solidFill>
                <a:latin typeface="Georgia" pitchFamily="34" charset="0"/>
                <a:ea typeface="Georgia" pitchFamily="34" charset="-122"/>
                <a:cs typeface="Georgia" pitchFamily="34" charset="-120"/>
              </a:rPr>
              <a:t>DPM与HOG检测</a:t>
            </a:r>
            <a:endParaRPr lang="en-US" sz="3600" dirty="0"/>
          </a:p>
        </p:txBody>
      </p:sp>
      <p:sp>
        <p:nvSpPr>
          <p:cNvPr id="12" name="Text 10"/>
          <p:cNvSpPr/>
          <p:nvPr/>
        </p:nvSpPr>
        <p:spPr>
          <a:xfrm>
            <a:off x="5119360" y="2560320"/>
            <a:ext cx="6338255" cy="731520"/>
          </a:xfrm>
          <a:prstGeom prst="rect">
            <a:avLst/>
          </a:prstGeom>
          <a:noFill/>
          <a:ln/>
        </p:spPr>
        <p:txBody>
          <a:bodyPr wrap="square" rtlCol="0" anchor="ctr"/>
          <a:lstStyle/>
          <a:p>
            <a:pPr algn="l" indent="0" marL="0">
              <a:buNone/>
            </a:pPr>
            <a:r>
              <a:rPr lang="en-US" sz="1600" i="1" dirty="0">
                <a:solidFill>
                  <a:srgbClr val="6B8F6B"/>
                </a:solidFill>
                <a:latin typeface="Calibri" pitchFamily="34" charset="0"/>
                <a:ea typeface="Calibri" pitchFamily="34" charset="-122"/>
                <a:cs typeface="Calibri" pitchFamily="34" charset="-120"/>
              </a:rPr>
              <a:t>Deformable Parts Model &amp;</a:t>
            </a:r>
            <a:endParaRPr lang="en-US" sz="1600" dirty="0"/>
          </a:p>
          <a:p>
            <a:pPr algn="l" indent="0" marL="0">
              <a:buNone/>
            </a:pPr>
            <a:r>
              <a:rPr lang="en-US" sz="1600" i="1" dirty="0">
                <a:solidFill>
                  <a:srgbClr val="6B8F6B"/>
                </a:solidFill>
                <a:latin typeface="Calibri" pitchFamily="34" charset="0"/>
                <a:ea typeface="Calibri" pitchFamily="34" charset="-122"/>
                <a:cs typeface="Calibri" pitchFamily="34" charset="-120"/>
              </a:rPr>
              <a:t>Histogram of Oriented Gradients</a:t>
            </a:r>
            <a:endParaRPr lang="en-US" sz="1600" dirty="0"/>
          </a:p>
        </p:txBody>
      </p:sp>
      <p:sp>
        <p:nvSpPr>
          <p:cNvPr id="13" name="Shape 11"/>
          <p:cNvSpPr/>
          <p:nvPr/>
        </p:nvSpPr>
        <p:spPr>
          <a:xfrm>
            <a:off x="5119360" y="3383280"/>
            <a:ext cx="2743200" cy="36576"/>
          </a:xfrm>
          <a:prstGeom prst="rect">
            <a:avLst/>
          </a:prstGeom>
          <a:solidFill>
            <a:srgbClr val="D4A843"/>
          </a:solidFill>
          <a:ln/>
        </p:spPr>
      </p:sp>
      <p:sp>
        <p:nvSpPr>
          <p:cNvPr id="14" name="Text 12"/>
          <p:cNvSpPr/>
          <p:nvPr/>
        </p:nvSpPr>
        <p:spPr>
          <a:xfrm>
            <a:off x="5119360" y="3657600"/>
            <a:ext cx="6338255" cy="365760"/>
          </a:xfrm>
          <a:prstGeom prst="rect">
            <a:avLst/>
          </a:prstGeom>
          <a:noFill/>
          <a:ln/>
        </p:spPr>
        <p:txBody>
          <a:bodyPr wrap="square" rtlCol="0" anchor="ctr"/>
          <a:lstStyle/>
          <a:p>
            <a:pPr algn="l" indent="0" marL="0">
              <a:buNone/>
            </a:pPr>
            <a:r>
              <a:rPr lang="en-US" sz="1400" dirty="0">
                <a:solidFill>
                  <a:srgbClr val="1A3A1A"/>
                </a:solidFill>
                <a:latin typeface="Calibri" pitchFamily="34" charset="0"/>
                <a:ea typeface="Calibri" pitchFamily="34" charset="-122"/>
                <a:cs typeface="Calibri" pitchFamily="34" charset="-120"/>
              </a:rPr>
              <a:t>计算机视觉100天学习计划</a:t>
            </a:r>
            <a:endParaRPr lang="en-US" sz="1400" dirty="0"/>
          </a:p>
        </p:txBody>
      </p:sp>
      <p:sp>
        <p:nvSpPr>
          <p:cNvPr id="15" name="Text 13"/>
          <p:cNvSpPr/>
          <p:nvPr/>
        </p:nvSpPr>
        <p:spPr>
          <a:xfrm>
            <a:off x="5119360" y="4114800"/>
            <a:ext cx="6338255" cy="320040"/>
          </a:xfrm>
          <a:prstGeom prst="rect">
            <a:avLst/>
          </a:prstGeom>
          <a:noFill/>
          <a:ln/>
        </p:spPr>
        <p:txBody>
          <a:bodyPr wrap="square" rtlCol="0" anchor="ctr"/>
          <a:lstStyle/>
          <a:p>
            <a:pPr algn="l" indent="0" marL="0">
              <a:buNone/>
            </a:pPr>
            <a:r>
              <a:rPr lang="en-US" sz="1200" dirty="0">
                <a:solidFill>
                  <a:srgbClr val="6B8F6B"/>
                </a:solidFill>
                <a:latin typeface="Calibri" pitchFamily="34" charset="0"/>
                <a:ea typeface="Calibri" pitchFamily="34" charset="-122"/>
                <a:cs typeface="Calibri" pitchFamily="34" charset="-120"/>
              </a:rPr>
              <a:t>目标检测专题  |  传统方法精讲</a:t>
            </a:r>
            <a:endParaRPr lang="en-US" sz="1200" dirty="0"/>
          </a:p>
        </p:txBody>
      </p:sp>
      <p:sp>
        <p:nvSpPr>
          <p:cNvPr id="16" name="Shape 14"/>
          <p:cNvSpPr/>
          <p:nvPr/>
        </p:nvSpPr>
        <p:spPr>
          <a:xfrm>
            <a:off x="5119360" y="4846320"/>
            <a:ext cx="822960" cy="274320"/>
          </a:xfrm>
          <a:prstGeom prst="roundRect">
            <a:avLst>
              <a:gd name="adj" fmla="val 16667"/>
            </a:avLst>
          </a:prstGeom>
          <a:solidFill>
            <a:srgbClr val="2C5F2D"/>
          </a:solidFill>
          <a:ln/>
        </p:spPr>
      </p:sp>
      <p:sp>
        <p:nvSpPr>
          <p:cNvPr id="17" name="Text 15"/>
          <p:cNvSpPr/>
          <p:nvPr/>
        </p:nvSpPr>
        <p:spPr>
          <a:xfrm>
            <a:off x="5119360" y="4846320"/>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HOG特征</a:t>
            </a:r>
            <a:endParaRPr lang="en-US" sz="800" dirty="0"/>
          </a:p>
        </p:txBody>
      </p:sp>
      <p:sp>
        <p:nvSpPr>
          <p:cNvPr id="18" name="Shape 16"/>
          <p:cNvSpPr/>
          <p:nvPr/>
        </p:nvSpPr>
        <p:spPr>
          <a:xfrm>
            <a:off x="6399520" y="4846320"/>
            <a:ext cx="822960" cy="274320"/>
          </a:xfrm>
          <a:prstGeom prst="roundRect">
            <a:avLst>
              <a:gd name="adj" fmla="val 16667"/>
            </a:avLst>
          </a:prstGeom>
          <a:solidFill>
            <a:srgbClr val="97BC62"/>
          </a:solidFill>
          <a:ln/>
        </p:spPr>
      </p:sp>
      <p:sp>
        <p:nvSpPr>
          <p:cNvPr id="19" name="Text 17"/>
          <p:cNvSpPr/>
          <p:nvPr/>
        </p:nvSpPr>
        <p:spPr>
          <a:xfrm>
            <a:off x="6399520" y="4846320"/>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DPM模型</a:t>
            </a:r>
            <a:endParaRPr lang="en-US" sz="800" dirty="0"/>
          </a:p>
        </p:txBody>
      </p:sp>
      <p:sp>
        <p:nvSpPr>
          <p:cNvPr id="20" name="Shape 18"/>
          <p:cNvSpPr/>
          <p:nvPr/>
        </p:nvSpPr>
        <p:spPr>
          <a:xfrm>
            <a:off x="7679680" y="4846320"/>
            <a:ext cx="713232" cy="274320"/>
          </a:xfrm>
          <a:prstGeom prst="roundRect">
            <a:avLst>
              <a:gd name="adj" fmla="val 16667"/>
            </a:avLst>
          </a:prstGeom>
          <a:solidFill>
            <a:srgbClr val="D4A843"/>
          </a:solidFill>
          <a:ln/>
        </p:spPr>
      </p:sp>
      <p:sp>
        <p:nvSpPr>
          <p:cNvPr id="21" name="Text 19"/>
          <p:cNvSpPr/>
          <p:nvPr/>
        </p:nvSpPr>
        <p:spPr>
          <a:xfrm>
            <a:off x="7679680" y="4846320"/>
            <a:ext cx="713232"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目标检测</a:t>
            </a:r>
            <a:endParaRPr lang="en-US" sz="800" dirty="0"/>
          </a:p>
        </p:txBody>
      </p:sp>
      <p:sp>
        <p:nvSpPr>
          <p:cNvPr id="22" name="Shape 20"/>
          <p:cNvSpPr/>
          <p:nvPr/>
        </p:nvSpPr>
        <p:spPr>
          <a:xfrm>
            <a:off x="0" y="6784848"/>
            <a:ext cx="12188952" cy="73152"/>
          </a:xfrm>
          <a:prstGeom prst="rect">
            <a:avLst/>
          </a:prstGeom>
          <a:solidFill>
            <a:srgbClr val="D4A843"/>
          </a:solidFill>
          <a:ln/>
        </p:spPr>
      </p:sp>
      <p:sp>
        <p:nvSpPr>
          <p:cNvPr id="23" name="Text 21"/>
          <p:cNvSpPr/>
          <p:nvPr/>
        </p:nvSpPr>
        <p:spPr>
          <a:xfrm>
            <a:off x="457200" y="6309360"/>
            <a:ext cx="11274552" cy="320040"/>
          </a:xfrm>
          <a:prstGeom prst="rect">
            <a:avLst/>
          </a:prstGeom>
          <a:noFill/>
          <a:ln/>
        </p:spPr>
        <p:txBody>
          <a:bodyPr wrap="square" rtlCol="0" anchor="ctr"/>
          <a:lstStyle/>
          <a:p>
            <a:pPr algn="ctr" indent="0" marL="0">
              <a:buNone/>
            </a:pPr>
            <a:r>
              <a:rPr lang="en-US" sz="1000" dirty="0">
                <a:solidFill>
                  <a:srgbClr val="A0C0A0"/>
                </a:solidFill>
                <a:latin typeface="Calibri" pitchFamily="34" charset="0"/>
                <a:ea typeface="Calibri" pitchFamily="34" charset="-122"/>
                <a:cs typeface="Calibri" pitchFamily="34" charset="-120"/>
              </a:rPr>
              <a:t>Computer Vision 100 Days Challenge</a:t>
            </a:r>
            <a:endParaRPr lang="en-US" sz="1000" dirty="0"/>
          </a:p>
        </p:txBody>
      </p:sp>
      <p:sp>
        <p:nvSpPr>
          <p:cNvPr id="24"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今日学习路线</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Learning Roadmap</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1005840" y="1143000"/>
            <a:ext cx="457200" cy="457200"/>
          </a:xfrm>
          <a:prstGeom prst="ellipse">
            <a:avLst/>
          </a:prstGeom>
          <a:solidFill>
            <a:srgbClr val="2C5F2D"/>
          </a:solidFill>
          <a:ln/>
        </p:spPr>
      </p:sp>
      <p:sp>
        <p:nvSpPr>
          <p:cNvPr id="9" name="Text 7"/>
          <p:cNvSpPr/>
          <p:nvPr/>
        </p:nvSpPr>
        <p:spPr>
          <a:xfrm>
            <a:off x="1005840" y="11430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1645920" y="109728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历史背景</a:t>
            </a:r>
            <a:endParaRPr lang="en-US" sz="1500" dirty="0"/>
          </a:p>
        </p:txBody>
      </p:sp>
      <p:sp>
        <p:nvSpPr>
          <p:cNvPr id="11" name="Text 9"/>
          <p:cNvSpPr/>
          <p:nvPr/>
        </p:nvSpPr>
        <p:spPr>
          <a:xfrm>
            <a:off x="1645920" y="138988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HOG的诞生与DPM的崛起</a:t>
            </a:r>
            <a:endParaRPr lang="en-US" sz="1100" dirty="0"/>
          </a:p>
        </p:txBody>
      </p:sp>
      <p:sp>
        <p:nvSpPr>
          <p:cNvPr id="12" name="Text 10"/>
          <p:cNvSpPr/>
          <p:nvPr/>
        </p:nvSpPr>
        <p:spPr>
          <a:xfrm>
            <a:off x="8503920" y="1143000"/>
            <a:ext cx="1828800" cy="457200"/>
          </a:xfrm>
          <a:prstGeom prst="rect">
            <a:avLst/>
          </a:prstGeom>
          <a:noFill/>
          <a:ln/>
        </p:spPr>
        <p:txBody>
          <a:bodyPr wrap="square" rtlCol="0" anchor="ctr"/>
          <a:lstStyle/>
          <a:p>
            <a:pPr algn="r" indent="0" marL="0">
              <a:buNone/>
            </a:pPr>
            <a:r>
              <a:rPr lang="en-US" sz="1200" dirty="0">
                <a:solidFill>
                  <a:srgbClr val="2C5F2D"/>
                </a:solidFill>
                <a:latin typeface="Calibri" pitchFamily="34" charset="0"/>
                <a:ea typeface="Calibri" pitchFamily="34" charset="-122"/>
                <a:cs typeface="Calibri" pitchFamily="34" charset="-120"/>
              </a:rPr>
              <a:t>P3-4</a:t>
            </a:r>
            <a:endParaRPr lang="en-US" sz="1200" dirty="0"/>
          </a:p>
        </p:txBody>
      </p:sp>
      <p:sp>
        <p:nvSpPr>
          <p:cNvPr id="13" name="Shape 11"/>
          <p:cNvSpPr/>
          <p:nvPr/>
        </p:nvSpPr>
        <p:spPr>
          <a:xfrm>
            <a:off x="1005840" y="1920240"/>
            <a:ext cx="457200" cy="457200"/>
          </a:xfrm>
          <a:prstGeom prst="ellipse">
            <a:avLst/>
          </a:prstGeom>
          <a:solidFill>
            <a:srgbClr val="97BC62"/>
          </a:solidFill>
          <a:ln/>
        </p:spPr>
      </p:sp>
      <p:sp>
        <p:nvSpPr>
          <p:cNvPr id="14" name="Text 12"/>
          <p:cNvSpPr/>
          <p:nvPr/>
        </p:nvSpPr>
        <p:spPr>
          <a:xfrm>
            <a:off x="100584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1645920" y="187452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HOG核心</a:t>
            </a:r>
            <a:endParaRPr lang="en-US" sz="1500" dirty="0"/>
          </a:p>
        </p:txBody>
      </p:sp>
      <p:sp>
        <p:nvSpPr>
          <p:cNvPr id="16" name="Text 14"/>
          <p:cNvSpPr/>
          <p:nvPr/>
        </p:nvSpPr>
        <p:spPr>
          <a:xfrm>
            <a:off x="1645920" y="216712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原理、流程、参数与代码实战</a:t>
            </a:r>
            <a:endParaRPr lang="en-US" sz="1100" dirty="0"/>
          </a:p>
        </p:txBody>
      </p:sp>
      <p:sp>
        <p:nvSpPr>
          <p:cNvPr id="17" name="Text 15"/>
          <p:cNvSpPr/>
          <p:nvPr/>
        </p:nvSpPr>
        <p:spPr>
          <a:xfrm>
            <a:off x="8503920" y="1920240"/>
            <a:ext cx="1828800" cy="457200"/>
          </a:xfrm>
          <a:prstGeom prst="rect">
            <a:avLst/>
          </a:prstGeom>
          <a:noFill/>
          <a:ln/>
        </p:spPr>
        <p:txBody>
          <a:bodyPr wrap="square" rtlCol="0" anchor="ctr"/>
          <a:lstStyle/>
          <a:p>
            <a:pPr algn="r" indent="0" marL="0">
              <a:buNone/>
            </a:pPr>
            <a:r>
              <a:rPr lang="en-US" sz="1200" dirty="0">
                <a:solidFill>
                  <a:srgbClr val="97BC62"/>
                </a:solidFill>
                <a:latin typeface="Calibri" pitchFamily="34" charset="0"/>
                <a:ea typeface="Calibri" pitchFamily="34" charset="-122"/>
                <a:cs typeface="Calibri" pitchFamily="34" charset="-120"/>
              </a:rPr>
              <a:t>P5-6</a:t>
            </a:r>
            <a:endParaRPr lang="en-US" sz="1200" dirty="0"/>
          </a:p>
        </p:txBody>
      </p:sp>
      <p:sp>
        <p:nvSpPr>
          <p:cNvPr id="18" name="Shape 16"/>
          <p:cNvSpPr/>
          <p:nvPr/>
        </p:nvSpPr>
        <p:spPr>
          <a:xfrm>
            <a:off x="1005840" y="2697480"/>
            <a:ext cx="457200" cy="457200"/>
          </a:xfrm>
          <a:prstGeom prst="ellipse">
            <a:avLst/>
          </a:prstGeom>
          <a:solidFill>
            <a:srgbClr val="D4A843"/>
          </a:solidFill>
          <a:ln/>
        </p:spPr>
      </p:sp>
      <p:sp>
        <p:nvSpPr>
          <p:cNvPr id="19" name="Text 17"/>
          <p:cNvSpPr/>
          <p:nvPr/>
        </p:nvSpPr>
        <p:spPr>
          <a:xfrm>
            <a:off x="1005840" y="26974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1645920" y="265176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DPM详解</a:t>
            </a:r>
            <a:endParaRPr lang="en-US" sz="1500" dirty="0"/>
          </a:p>
        </p:txBody>
      </p:sp>
      <p:sp>
        <p:nvSpPr>
          <p:cNvPr id="21" name="Text 19"/>
          <p:cNvSpPr/>
          <p:nvPr/>
        </p:nvSpPr>
        <p:spPr>
          <a:xfrm>
            <a:off x="1645920" y="294436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核心思想、检测流程与评分函数</a:t>
            </a:r>
            <a:endParaRPr lang="en-US" sz="1100" dirty="0"/>
          </a:p>
        </p:txBody>
      </p:sp>
      <p:sp>
        <p:nvSpPr>
          <p:cNvPr id="22" name="Text 20"/>
          <p:cNvSpPr/>
          <p:nvPr/>
        </p:nvSpPr>
        <p:spPr>
          <a:xfrm>
            <a:off x="8503920" y="2697480"/>
            <a:ext cx="1828800" cy="457200"/>
          </a:xfrm>
          <a:prstGeom prst="rect">
            <a:avLst/>
          </a:prstGeom>
          <a:noFill/>
          <a:ln/>
        </p:spPr>
        <p:txBody>
          <a:bodyPr wrap="square" rtlCol="0" anchor="ctr"/>
          <a:lstStyle/>
          <a:p>
            <a:pPr algn="r" indent="0" marL="0">
              <a:buNone/>
            </a:pPr>
            <a:r>
              <a:rPr lang="en-US" sz="1200" dirty="0">
                <a:solidFill>
                  <a:srgbClr val="D4A843"/>
                </a:solidFill>
                <a:latin typeface="Calibri" pitchFamily="34" charset="0"/>
                <a:ea typeface="Calibri" pitchFamily="34" charset="-122"/>
                <a:cs typeface="Calibri" pitchFamily="34" charset="-120"/>
              </a:rPr>
              <a:t>P7-8</a:t>
            </a:r>
            <a:endParaRPr lang="en-US" sz="1200" dirty="0"/>
          </a:p>
        </p:txBody>
      </p:sp>
      <p:sp>
        <p:nvSpPr>
          <p:cNvPr id="23" name="Shape 21"/>
          <p:cNvSpPr/>
          <p:nvPr/>
        </p:nvSpPr>
        <p:spPr>
          <a:xfrm>
            <a:off x="1005840" y="3474720"/>
            <a:ext cx="457200" cy="457200"/>
          </a:xfrm>
          <a:prstGeom prst="ellipse">
            <a:avLst/>
          </a:prstGeom>
          <a:solidFill>
            <a:srgbClr val="2C5F2D"/>
          </a:solidFill>
          <a:ln/>
        </p:spPr>
      </p:sp>
      <p:sp>
        <p:nvSpPr>
          <p:cNvPr id="24" name="Text 22"/>
          <p:cNvSpPr/>
          <p:nvPr/>
        </p:nvSpPr>
        <p:spPr>
          <a:xfrm>
            <a:off x="1005840" y="34747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5" name="Text 23"/>
          <p:cNvSpPr/>
          <p:nvPr/>
        </p:nvSpPr>
        <p:spPr>
          <a:xfrm>
            <a:off x="1645920" y="342900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实战应用</a:t>
            </a:r>
            <a:endParaRPr lang="en-US" sz="1500" dirty="0"/>
          </a:p>
        </p:txBody>
      </p:sp>
      <p:sp>
        <p:nvSpPr>
          <p:cNvPr id="26" name="Text 24"/>
          <p:cNvSpPr/>
          <p:nvPr/>
        </p:nvSpPr>
        <p:spPr>
          <a:xfrm>
            <a:off x="1645920" y="372160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HOG+SVM行人检测OpenCV代码</a:t>
            </a:r>
            <a:endParaRPr lang="en-US" sz="1100" dirty="0"/>
          </a:p>
        </p:txBody>
      </p:sp>
      <p:sp>
        <p:nvSpPr>
          <p:cNvPr id="27" name="Text 25"/>
          <p:cNvSpPr/>
          <p:nvPr/>
        </p:nvSpPr>
        <p:spPr>
          <a:xfrm>
            <a:off x="8503920" y="3474720"/>
            <a:ext cx="1828800" cy="457200"/>
          </a:xfrm>
          <a:prstGeom prst="rect">
            <a:avLst/>
          </a:prstGeom>
          <a:noFill/>
          <a:ln/>
        </p:spPr>
        <p:txBody>
          <a:bodyPr wrap="square" rtlCol="0" anchor="ctr"/>
          <a:lstStyle/>
          <a:p>
            <a:pPr algn="r" indent="0" marL="0">
              <a:buNone/>
            </a:pPr>
            <a:r>
              <a:rPr lang="en-US" sz="1200" dirty="0">
                <a:solidFill>
                  <a:srgbClr val="2C5F2D"/>
                </a:solidFill>
                <a:latin typeface="Calibri" pitchFamily="34" charset="0"/>
                <a:ea typeface="Calibri" pitchFamily="34" charset="-122"/>
                <a:cs typeface="Calibri" pitchFamily="34" charset="-120"/>
              </a:rPr>
              <a:t>P9-11</a:t>
            </a:r>
            <a:endParaRPr lang="en-US" sz="1200" dirty="0"/>
          </a:p>
        </p:txBody>
      </p:sp>
      <p:sp>
        <p:nvSpPr>
          <p:cNvPr id="28" name="Shape 26"/>
          <p:cNvSpPr/>
          <p:nvPr/>
        </p:nvSpPr>
        <p:spPr>
          <a:xfrm>
            <a:off x="1005840" y="4251960"/>
            <a:ext cx="457200" cy="457200"/>
          </a:xfrm>
          <a:prstGeom prst="ellipse">
            <a:avLst/>
          </a:prstGeom>
          <a:solidFill>
            <a:srgbClr val="97BC62"/>
          </a:solidFill>
          <a:ln/>
        </p:spPr>
      </p:sp>
      <p:sp>
        <p:nvSpPr>
          <p:cNvPr id="29" name="Text 27"/>
          <p:cNvSpPr/>
          <p:nvPr/>
        </p:nvSpPr>
        <p:spPr>
          <a:xfrm>
            <a:off x="1005840" y="4251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0" name="Text 28"/>
          <p:cNvSpPr/>
          <p:nvPr/>
        </p:nvSpPr>
        <p:spPr>
          <a:xfrm>
            <a:off x="1645920" y="420624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人物与文献</a:t>
            </a:r>
            <a:endParaRPr lang="en-US" sz="1500" dirty="0"/>
          </a:p>
        </p:txBody>
      </p:sp>
      <p:sp>
        <p:nvSpPr>
          <p:cNvPr id="31" name="Text 29"/>
          <p:cNvSpPr/>
          <p:nvPr/>
        </p:nvSpPr>
        <p:spPr>
          <a:xfrm>
            <a:off x="1645920" y="449884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科学家故事与4篇核心论文</a:t>
            </a:r>
            <a:endParaRPr lang="en-US" sz="1100" dirty="0"/>
          </a:p>
        </p:txBody>
      </p:sp>
      <p:sp>
        <p:nvSpPr>
          <p:cNvPr id="32" name="Text 30"/>
          <p:cNvSpPr/>
          <p:nvPr/>
        </p:nvSpPr>
        <p:spPr>
          <a:xfrm>
            <a:off x="8503920" y="4251960"/>
            <a:ext cx="1828800" cy="457200"/>
          </a:xfrm>
          <a:prstGeom prst="rect">
            <a:avLst/>
          </a:prstGeom>
          <a:noFill/>
          <a:ln/>
        </p:spPr>
        <p:txBody>
          <a:bodyPr wrap="square" rtlCol="0" anchor="ctr"/>
          <a:lstStyle/>
          <a:p>
            <a:pPr algn="r" indent="0" marL="0">
              <a:buNone/>
            </a:pPr>
            <a:r>
              <a:rPr lang="en-US" sz="1200" dirty="0">
                <a:solidFill>
                  <a:srgbClr val="97BC62"/>
                </a:solidFill>
                <a:latin typeface="Calibri" pitchFamily="34" charset="0"/>
                <a:ea typeface="Calibri" pitchFamily="34" charset="-122"/>
                <a:cs typeface="Calibri" pitchFamily="34" charset="-120"/>
              </a:rPr>
              <a:t>P11-12</a:t>
            </a:r>
            <a:endParaRPr lang="en-US" sz="1200" dirty="0"/>
          </a:p>
        </p:txBody>
      </p:sp>
      <p:sp>
        <p:nvSpPr>
          <p:cNvPr id="33" name="Shape 31"/>
          <p:cNvSpPr/>
          <p:nvPr/>
        </p:nvSpPr>
        <p:spPr>
          <a:xfrm>
            <a:off x="1005840" y="5029200"/>
            <a:ext cx="457200" cy="457200"/>
          </a:xfrm>
          <a:prstGeom prst="ellipse">
            <a:avLst/>
          </a:prstGeom>
          <a:solidFill>
            <a:srgbClr val="D4A843"/>
          </a:solidFill>
          <a:ln/>
        </p:spPr>
      </p:sp>
      <p:sp>
        <p:nvSpPr>
          <p:cNvPr id="34" name="Text 32"/>
          <p:cNvSpPr/>
          <p:nvPr/>
        </p:nvSpPr>
        <p:spPr>
          <a:xfrm>
            <a:off x="1005840" y="50292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5" name="Text 33"/>
          <p:cNvSpPr/>
          <p:nvPr/>
        </p:nvSpPr>
        <p:spPr>
          <a:xfrm>
            <a:off x="1645920" y="4983480"/>
            <a:ext cx="3200400" cy="320040"/>
          </a:xfrm>
          <a:prstGeom prst="rect">
            <a:avLst/>
          </a:prstGeom>
          <a:noFill/>
          <a:ln/>
        </p:spPr>
        <p:txBody>
          <a:bodyPr wrap="square" rtlCol="0" anchor="ctr"/>
          <a:lstStyle/>
          <a:p>
            <a:pPr algn="l" indent="0" marL="0">
              <a:buNone/>
            </a:pPr>
            <a:r>
              <a:rPr lang="en-US" sz="1500" b="1" dirty="0">
                <a:solidFill>
                  <a:srgbClr val="2C5F2D"/>
                </a:solidFill>
                <a:latin typeface="Georgia" pitchFamily="34" charset="0"/>
                <a:ea typeface="Georgia" pitchFamily="34" charset="-122"/>
                <a:cs typeface="Georgia" pitchFamily="34" charset="-120"/>
              </a:rPr>
              <a:t>总结与展望</a:t>
            </a:r>
            <a:endParaRPr lang="en-US" sz="1500" dirty="0"/>
          </a:p>
        </p:txBody>
      </p:sp>
      <p:sp>
        <p:nvSpPr>
          <p:cNvPr id="36" name="Text 34"/>
          <p:cNvSpPr/>
          <p:nvPr/>
        </p:nvSpPr>
        <p:spPr>
          <a:xfrm>
            <a:off x="1645920" y="5276088"/>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思考题、术语表与下节预告</a:t>
            </a:r>
            <a:endParaRPr lang="en-US" sz="1100" dirty="0"/>
          </a:p>
        </p:txBody>
      </p:sp>
      <p:sp>
        <p:nvSpPr>
          <p:cNvPr id="37" name="Text 35"/>
          <p:cNvSpPr/>
          <p:nvPr/>
        </p:nvSpPr>
        <p:spPr>
          <a:xfrm>
            <a:off x="8503920" y="5029200"/>
            <a:ext cx="1828800" cy="457200"/>
          </a:xfrm>
          <a:prstGeom prst="rect">
            <a:avLst/>
          </a:prstGeom>
          <a:noFill/>
          <a:ln/>
        </p:spPr>
        <p:txBody>
          <a:bodyPr wrap="square" rtlCol="0" anchor="ctr"/>
          <a:lstStyle/>
          <a:p>
            <a:pPr algn="r" indent="0" marL="0">
              <a:buNone/>
            </a:pPr>
            <a:r>
              <a:rPr lang="en-US" sz="1200" dirty="0">
                <a:solidFill>
                  <a:srgbClr val="D4A843"/>
                </a:solidFill>
                <a:latin typeface="Calibri" pitchFamily="34" charset="0"/>
                <a:ea typeface="Calibri" pitchFamily="34" charset="-122"/>
                <a:cs typeface="Calibri" pitchFamily="34" charset="-120"/>
              </a:rPr>
              <a:t>P13-13</a:t>
            </a:r>
            <a:endParaRPr lang="en-US" sz="1200" dirty="0"/>
          </a:p>
        </p:txBody>
      </p:sp>
      <p:sp>
        <p:nvSpPr>
          <p:cNvPr id="38" name="Shape 36"/>
          <p:cNvSpPr/>
          <p:nvPr/>
        </p:nvSpPr>
        <p:spPr>
          <a:xfrm>
            <a:off x="0" y="6492240"/>
            <a:ext cx="12188952" cy="18288"/>
          </a:xfrm>
          <a:prstGeom prst="rect">
            <a:avLst/>
          </a:prstGeom>
          <a:solidFill>
            <a:srgbClr val="97BC62"/>
          </a:solidFill>
          <a:ln/>
        </p:spPr>
      </p:sp>
      <p:sp>
        <p:nvSpPr>
          <p:cNvPr id="39" name="Text 37"/>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2/20</a:t>
            </a:r>
            <a:endParaRPr lang="en-US" sz="800" dirty="0"/>
          </a:p>
        </p:txBody>
      </p:sp>
      <p:sp>
        <p:nvSpPr>
          <p:cNvPr id="40"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HOG的诞生</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Histogram of Oriented Gradients (2005)</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2103120" y="1371600"/>
            <a:ext cx="27432" cy="3474720"/>
          </a:xfrm>
          <a:prstGeom prst="rect">
            <a:avLst/>
          </a:prstGeom>
          <a:solidFill>
            <a:srgbClr val="2C5F2D"/>
          </a:solidFill>
          <a:ln/>
        </p:spPr>
      </p:sp>
      <p:sp>
        <p:nvSpPr>
          <p:cNvPr id="9" name="Shape 7"/>
          <p:cNvSpPr/>
          <p:nvPr/>
        </p:nvSpPr>
        <p:spPr>
          <a:xfrm>
            <a:off x="1993392" y="1417320"/>
            <a:ext cx="256032" cy="256032"/>
          </a:xfrm>
          <a:prstGeom prst="ellipse">
            <a:avLst/>
          </a:prstGeom>
          <a:solidFill>
            <a:srgbClr val="D4A843"/>
          </a:solidFill>
          <a:ln w="25400">
            <a:solidFill>
              <a:srgbClr val="2C5F2D"/>
            </a:solidFill>
            <a:prstDash val="solid"/>
          </a:ln>
        </p:spPr>
      </p:sp>
      <p:sp>
        <p:nvSpPr>
          <p:cNvPr id="10" name="Text 8"/>
          <p:cNvSpPr/>
          <p:nvPr/>
        </p:nvSpPr>
        <p:spPr>
          <a:xfrm>
            <a:off x="914400" y="1371600"/>
            <a:ext cx="1005840" cy="365760"/>
          </a:xfrm>
          <a:prstGeom prst="rect">
            <a:avLst/>
          </a:prstGeom>
          <a:noFill/>
          <a:ln/>
        </p:spPr>
        <p:txBody>
          <a:bodyPr wrap="square" rtlCol="0" anchor="ctr"/>
          <a:lstStyle/>
          <a:p>
            <a:pPr algn="r" indent="0" marL="0">
              <a:buNone/>
            </a:pPr>
            <a:r>
              <a:rPr lang="en-US" sz="1600" b="1" dirty="0">
                <a:solidFill>
                  <a:srgbClr val="D4A843"/>
                </a:solidFill>
                <a:latin typeface="Georgia" pitchFamily="34" charset="0"/>
                <a:ea typeface="Georgia" pitchFamily="34" charset="-122"/>
                <a:cs typeface="Georgia" pitchFamily="34" charset="-120"/>
              </a:rPr>
              <a:t>2005</a:t>
            </a:r>
            <a:endParaRPr lang="en-US" sz="1600" dirty="0"/>
          </a:p>
        </p:txBody>
      </p:sp>
      <p:sp>
        <p:nvSpPr>
          <p:cNvPr id="11" name="Text 9"/>
          <p:cNvSpPr/>
          <p:nvPr/>
        </p:nvSpPr>
        <p:spPr>
          <a:xfrm>
            <a:off x="2560320" y="1325880"/>
            <a:ext cx="4114800" cy="320040"/>
          </a:xfrm>
          <a:prstGeom prst="rect">
            <a:avLst/>
          </a:prstGeom>
          <a:noFill/>
          <a:ln/>
        </p:spPr>
        <p:txBody>
          <a:bodyPr wrap="square" rtlCol="0" anchor="ctr"/>
          <a:lstStyle/>
          <a:p>
            <a:pPr algn="l" indent="0" marL="0">
              <a:buNone/>
            </a:pPr>
            <a:r>
              <a:rPr lang="en-US" sz="1300" b="1" dirty="0">
                <a:solidFill>
                  <a:srgbClr val="2C5F2D"/>
                </a:solidFill>
                <a:latin typeface="Calibri" pitchFamily="34" charset="0"/>
                <a:ea typeface="Calibri" pitchFamily="34" charset="-122"/>
                <a:cs typeface="Calibri" pitchFamily="34" charset="-120"/>
              </a:rPr>
              <a:t>Dalal &amp; Triggs 发表HOG论文</a:t>
            </a:r>
            <a:endParaRPr lang="en-US" sz="1300" dirty="0"/>
          </a:p>
        </p:txBody>
      </p:sp>
      <p:sp>
        <p:nvSpPr>
          <p:cNvPr id="12" name="Text 10"/>
          <p:cNvSpPr/>
          <p:nvPr/>
        </p:nvSpPr>
        <p:spPr>
          <a:xfrm>
            <a:off x="2560320" y="1627632"/>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CVPR 2005, 奠定行人检测基础</a:t>
            </a:r>
            <a:endParaRPr lang="en-US" sz="1100" dirty="0"/>
          </a:p>
        </p:txBody>
      </p:sp>
      <p:sp>
        <p:nvSpPr>
          <p:cNvPr id="13" name="Shape 11"/>
          <p:cNvSpPr/>
          <p:nvPr/>
        </p:nvSpPr>
        <p:spPr>
          <a:xfrm>
            <a:off x="1993392" y="2514600"/>
            <a:ext cx="256032" cy="256032"/>
          </a:xfrm>
          <a:prstGeom prst="ellipse">
            <a:avLst/>
          </a:prstGeom>
          <a:solidFill>
            <a:srgbClr val="D4A843"/>
          </a:solidFill>
          <a:ln w="25400">
            <a:solidFill>
              <a:srgbClr val="2C5F2D"/>
            </a:solidFill>
            <a:prstDash val="solid"/>
          </a:ln>
        </p:spPr>
      </p:sp>
      <p:sp>
        <p:nvSpPr>
          <p:cNvPr id="14" name="Text 12"/>
          <p:cNvSpPr/>
          <p:nvPr/>
        </p:nvSpPr>
        <p:spPr>
          <a:xfrm>
            <a:off x="914400" y="2468880"/>
            <a:ext cx="1005840" cy="365760"/>
          </a:xfrm>
          <a:prstGeom prst="rect">
            <a:avLst/>
          </a:prstGeom>
          <a:noFill/>
          <a:ln/>
        </p:spPr>
        <p:txBody>
          <a:bodyPr wrap="square" rtlCol="0" anchor="ctr"/>
          <a:lstStyle/>
          <a:p>
            <a:pPr algn="r" indent="0" marL="0">
              <a:buNone/>
            </a:pPr>
            <a:r>
              <a:rPr lang="en-US" sz="1600" b="1" dirty="0">
                <a:solidFill>
                  <a:srgbClr val="D4A843"/>
                </a:solidFill>
                <a:latin typeface="Georgia" pitchFamily="34" charset="0"/>
                <a:ea typeface="Georgia" pitchFamily="34" charset="-122"/>
                <a:cs typeface="Georgia" pitchFamily="34" charset="-120"/>
              </a:rPr>
              <a:t>2006</a:t>
            </a:r>
            <a:endParaRPr lang="en-US" sz="1600" dirty="0"/>
          </a:p>
        </p:txBody>
      </p:sp>
      <p:sp>
        <p:nvSpPr>
          <p:cNvPr id="15" name="Text 13"/>
          <p:cNvSpPr/>
          <p:nvPr/>
        </p:nvSpPr>
        <p:spPr>
          <a:xfrm>
            <a:off x="2560320" y="2423160"/>
            <a:ext cx="4114800" cy="320040"/>
          </a:xfrm>
          <a:prstGeom prst="rect">
            <a:avLst/>
          </a:prstGeom>
          <a:noFill/>
          <a:ln/>
        </p:spPr>
        <p:txBody>
          <a:bodyPr wrap="square" rtlCol="0" anchor="ctr"/>
          <a:lstStyle/>
          <a:p>
            <a:pPr algn="l" indent="0" marL="0">
              <a:buNone/>
            </a:pPr>
            <a:r>
              <a:rPr lang="en-US" sz="1300" b="1" dirty="0">
                <a:solidFill>
                  <a:srgbClr val="2C5F2D"/>
                </a:solidFill>
                <a:latin typeface="Calibri" pitchFamily="34" charset="0"/>
                <a:ea typeface="Calibri" pitchFamily="34" charset="-122"/>
                <a:cs typeface="Calibri" pitchFamily="34" charset="-120"/>
              </a:rPr>
              <a:t>行人检测基准数据集发布</a:t>
            </a:r>
            <a:endParaRPr lang="en-US" sz="1300" dirty="0"/>
          </a:p>
        </p:txBody>
      </p:sp>
      <p:sp>
        <p:nvSpPr>
          <p:cNvPr id="16" name="Text 14"/>
          <p:cNvSpPr/>
          <p:nvPr/>
        </p:nvSpPr>
        <p:spPr>
          <a:xfrm>
            <a:off x="2560320" y="2724912"/>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入选INRIA技术报告，被广泛引用</a:t>
            </a:r>
            <a:endParaRPr lang="en-US" sz="1100" dirty="0"/>
          </a:p>
        </p:txBody>
      </p:sp>
      <p:sp>
        <p:nvSpPr>
          <p:cNvPr id="17" name="Shape 15"/>
          <p:cNvSpPr/>
          <p:nvPr/>
        </p:nvSpPr>
        <p:spPr>
          <a:xfrm>
            <a:off x="1993392" y="3611880"/>
            <a:ext cx="256032" cy="256032"/>
          </a:xfrm>
          <a:prstGeom prst="ellipse">
            <a:avLst/>
          </a:prstGeom>
          <a:solidFill>
            <a:srgbClr val="D4A843"/>
          </a:solidFill>
          <a:ln w="25400">
            <a:solidFill>
              <a:srgbClr val="2C5F2D"/>
            </a:solidFill>
            <a:prstDash val="solid"/>
          </a:ln>
        </p:spPr>
      </p:sp>
      <p:sp>
        <p:nvSpPr>
          <p:cNvPr id="18" name="Text 16"/>
          <p:cNvSpPr/>
          <p:nvPr/>
        </p:nvSpPr>
        <p:spPr>
          <a:xfrm>
            <a:off x="914400" y="3566160"/>
            <a:ext cx="1005840" cy="365760"/>
          </a:xfrm>
          <a:prstGeom prst="rect">
            <a:avLst/>
          </a:prstGeom>
          <a:noFill/>
          <a:ln/>
        </p:spPr>
        <p:txBody>
          <a:bodyPr wrap="square" rtlCol="0" anchor="ctr"/>
          <a:lstStyle/>
          <a:p>
            <a:pPr algn="r" indent="0" marL="0">
              <a:buNone/>
            </a:pPr>
            <a:r>
              <a:rPr lang="en-US" sz="1600" b="1" dirty="0">
                <a:solidFill>
                  <a:srgbClr val="D4A843"/>
                </a:solidFill>
                <a:latin typeface="Georgia" pitchFamily="34" charset="0"/>
                <a:ea typeface="Georgia" pitchFamily="34" charset="-122"/>
                <a:cs typeface="Georgia" pitchFamily="34" charset="-120"/>
              </a:rPr>
              <a:t>2010+</a:t>
            </a:r>
            <a:endParaRPr lang="en-US" sz="1600" dirty="0"/>
          </a:p>
        </p:txBody>
      </p:sp>
      <p:sp>
        <p:nvSpPr>
          <p:cNvPr id="19" name="Text 17"/>
          <p:cNvSpPr/>
          <p:nvPr/>
        </p:nvSpPr>
        <p:spPr>
          <a:xfrm>
            <a:off x="2560320" y="3520440"/>
            <a:ext cx="4114800" cy="320040"/>
          </a:xfrm>
          <a:prstGeom prst="rect">
            <a:avLst/>
          </a:prstGeom>
          <a:noFill/>
          <a:ln/>
        </p:spPr>
        <p:txBody>
          <a:bodyPr wrap="square" rtlCol="0" anchor="ctr"/>
          <a:lstStyle/>
          <a:p>
            <a:pPr algn="l" indent="0" marL="0">
              <a:buNone/>
            </a:pPr>
            <a:r>
              <a:rPr lang="en-US" sz="1300" b="1" dirty="0">
                <a:solidFill>
                  <a:srgbClr val="2C5F2D"/>
                </a:solidFill>
                <a:latin typeface="Calibri" pitchFamily="34" charset="0"/>
                <a:ea typeface="Calibri" pitchFamily="34" charset="-122"/>
                <a:cs typeface="Calibri" pitchFamily="34" charset="-120"/>
              </a:rPr>
              <a:t>成为工程化部署的经典方案</a:t>
            </a:r>
            <a:endParaRPr lang="en-US" sz="1300" dirty="0"/>
          </a:p>
        </p:txBody>
      </p:sp>
      <p:sp>
        <p:nvSpPr>
          <p:cNvPr id="20" name="Text 18"/>
          <p:cNvSpPr/>
          <p:nvPr/>
        </p:nvSpPr>
        <p:spPr>
          <a:xfrm>
            <a:off x="2560320" y="3822192"/>
            <a:ext cx="4572000" cy="274320"/>
          </a:xfrm>
          <a:prstGeom prst="rect">
            <a:avLst/>
          </a:prstGeom>
          <a:noFill/>
          <a:ln/>
        </p:spPr>
        <p:txBody>
          <a:bodyPr wrap="square" rtlCol="0" anchor="ctr"/>
          <a:lstStyle/>
          <a:p>
            <a:pPr algn="l" indent="0" marL="0">
              <a:buNone/>
            </a:pPr>
            <a:r>
              <a:rPr lang="en-US" sz="1100" dirty="0">
                <a:solidFill>
                  <a:srgbClr val="6B8F6B"/>
                </a:solidFill>
                <a:latin typeface="Calibri" pitchFamily="34" charset="0"/>
                <a:ea typeface="Calibri" pitchFamily="34" charset="-122"/>
                <a:cs typeface="Calibri" pitchFamily="34" charset="-120"/>
              </a:rPr>
              <a:t>OpenCV内置HOG+SVM行人检测器</a:t>
            </a:r>
            <a:endParaRPr lang="en-US" sz="1100" dirty="0"/>
          </a:p>
        </p:txBody>
      </p:sp>
      <p:sp>
        <p:nvSpPr>
          <p:cNvPr id="21" name="Shape 19"/>
          <p:cNvSpPr/>
          <p:nvPr/>
        </p:nvSpPr>
        <p:spPr>
          <a:xfrm>
            <a:off x="7315200" y="1371600"/>
            <a:ext cx="3657600" cy="2011680"/>
          </a:xfrm>
          <a:prstGeom prst="roundRect">
            <a:avLst>
              <a:gd name="adj" fmla="val 3636"/>
            </a:avLst>
          </a:prstGeom>
          <a:solidFill>
            <a:srgbClr val="FAF8F0"/>
          </a:solidFill>
          <a:ln w="10160">
            <a:solidFill>
              <a:srgbClr val="2C5F2D"/>
            </a:solidFill>
            <a:prstDash val="solid"/>
          </a:ln>
        </p:spPr>
      </p:sp>
      <p:sp>
        <p:nvSpPr>
          <p:cNvPr id="22" name="Shape 20"/>
          <p:cNvSpPr/>
          <p:nvPr/>
        </p:nvSpPr>
        <p:spPr>
          <a:xfrm>
            <a:off x="7315200" y="1371600"/>
            <a:ext cx="3657600" cy="54864"/>
          </a:xfrm>
          <a:prstGeom prst="rect">
            <a:avLst/>
          </a:prstGeom>
          <a:solidFill>
            <a:srgbClr val="2C5F2D"/>
          </a:solidFill>
          <a:ln/>
        </p:spPr>
      </p:sp>
      <p:sp>
        <p:nvSpPr>
          <p:cNvPr id="23" name="Text 21"/>
          <p:cNvSpPr/>
          <p:nvPr/>
        </p:nvSpPr>
        <p:spPr>
          <a:xfrm>
            <a:off x="7452360" y="1481328"/>
            <a:ext cx="3383280" cy="320040"/>
          </a:xfrm>
          <a:prstGeom prst="rect">
            <a:avLst/>
          </a:prstGeom>
          <a:noFill/>
          <a:ln/>
        </p:spPr>
        <p:txBody>
          <a:bodyPr wrap="square" rtlCol="0" anchor="ctr"/>
          <a:lstStyle/>
          <a:p>
            <a:pPr algn="l" indent="0" marL="0">
              <a:buNone/>
            </a:pPr>
            <a:r>
              <a:rPr lang="en-US" sz="1200" b="1" dirty="0">
                <a:solidFill>
                  <a:srgbClr val="2C5F2D"/>
                </a:solidFill>
                <a:latin typeface="Georgia" pitchFamily="34" charset="0"/>
                <a:ea typeface="Georgia" pitchFamily="34" charset="-122"/>
                <a:cs typeface="Georgia" pitchFamily="34" charset="-120"/>
              </a:rPr>
              <a:t>核心贡献</a:t>
            </a:r>
            <a:endParaRPr lang="en-US" sz="1200" dirty="0"/>
          </a:p>
        </p:txBody>
      </p:sp>
      <p:sp>
        <p:nvSpPr>
          <p:cNvPr id="24" name="Text 22"/>
          <p:cNvSpPr/>
          <p:nvPr/>
        </p:nvSpPr>
        <p:spPr>
          <a:xfrm>
            <a:off x="7452360" y="1810512"/>
            <a:ext cx="3383280" cy="146304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HOG首次系统性地将方向梯度直方图用于行人检测，在当时取得了远超现有方法的检测精度。其灵感来源于生物视觉系统对边缘和方向的敏感性。</a:t>
            </a:r>
            <a:endParaRPr lang="en-US" sz="1000" dirty="0"/>
          </a:p>
        </p:txBody>
      </p:sp>
      <p:sp>
        <p:nvSpPr>
          <p:cNvPr id="25" name="Shape 23"/>
          <p:cNvSpPr/>
          <p:nvPr/>
        </p:nvSpPr>
        <p:spPr>
          <a:xfrm>
            <a:off x="7315200" y="3657600"/>
            <a:ext cx="3657600" cy="2011680"/>
          </a:xfrm>
          <a:prstGeom prst="roundRect">
            <a:avLst>
              <a:gd name="adj" fmla="val 3636"/>
            </a:avLst>
          </a:prstGeom>
          <a:solidFill>
            <a:srgbClr val="FAF8F0"/>
          </a:solidFill>
          <a:ln w="10160">
            <a:solidFill>
              <a:srgbClr val="D4A843"/>
            </a:solidFill>
            <a:prstDash val="solid"/>
          </a:ln>
        </p:spPr>
      </p:sp>
      <p:sp>
        <p:nvSpPr>
          <p:cNvPr id="26" name="Shape 24"/>
          <p:cNvSpPr/>
          <p:nvPr/>
        </p:nvSpPr>
        <p:spPr>
          <a:xfrm>
            <a:off x="7315200" y="3657600"/>
            <a:ext cx="3657600" cy="54864"/>
          </a:xfrm>
          <a:prstGeom prst="rect">
            <a:avLst/>
          </a:prstGeom>
          <a:solidFill>
            <a:srgbClr val="D4A843"/>
          </a:solidFill>
          <a:ln/>
        </p:spPr>
      </p:sp>
      <p:sp>
        <p:nvSpPr>
          <p:cNvPr id="27" name="Text 25"/>
          <p:cNvSpPr/>
          <p:nvPr/>
        </p:nvSpPr>
        <p:spPr>
          <a:xfrm>
            <a:off x="7452360" y="3767328"/>
            <a:ext cx="3383280" cy="320040"/>
          </a:xfrm>
          <a:prstGeom prst="rect">
            <a:avLst/>
          </a:prstGeom>
          <a:noFill/>
          <a:ln/>
        </p:spPr>
        <p:txBody>
          <a:bodyPr wrap="square" rtlCol="0" anchor="ctr"/>
          <a:lstStyle/>
          <a:p>
            <a:pPr algn="l" indent="0" marL="0">
              <a:buNone/>
            </a:pPr>
            <a:r>
              <a:rPr lang="en-US" sz="1200" b="1" dirty="0">
                <a:solidFill>
                  <a:srgbClr val="D4A843"/>
                </a:solidFill>
                <a:latin typeface="Georgia" pitchFamily="34" charset="0"/>
                <a:ea typeface="Georgia" pitchFamily="34" charset="-122"/>
                <a:cs typeface="Georgia" pitchFamily="34" charset="-120"/>
              </a:rPr>
              <a:t>论文信息</a:t>
            </a:r>
            <a:endParaRPr lang="en-US" sz="1200" dirty="0"/>
          </a:p>
        </p:txBody>
      </p:sp>
      <p:sp>
        <p:nvSpPr>
          <p:cNvPr id="28" name="Text 26"/>
          <p:cNvSpPr/>
          <p:nvPr/>
        </p:nvSpPr>
        <p:spPr>
          <a:xfrm>
            <a:off x="7452360" y="4096512"/>
            <a:ext cx="3383280" cy="146304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Navneet Dalal, Bill Triggs</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"Histograms of Oriented Gradients</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for Human Detection"</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CVPR 2005</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引用次数: 28000+</a:t>
            </a:r>
            <a:endParaRPr lang="en-US" sz="1000" dirty="0"/>
          </a:p>
        </p:txBody>
      </p:sp>
      <p:sp>
        <p:nvSpPr>
          <p:cNvPr id="29" name="Shape 27"/>
          <p:cNvSpPr/>
          <p:nvPr/>
        </p:nvSpPr>
        <p:spPr>
          <a:xfrm>
            <a:off x="0" y="6492240"/>
            <a:ext cx="12188952" cy="18288"/>
          </a:xfrm>
          <a:prstGeom prst="rect">
            <a:avLst/>
          </a:prstGeom>
          <a:solidFill>
            <a:srgbClr val="97BC62"/>
          </a:solidFill>
          <a:ln/>
        </p:spPr>
      </p:sp>
      <p:sp>
        <p:nvSpPr>
          <p:cNvPr id="30" name="Text 28"/>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3/20</a:t>
            </a:r>
            <a:endParaRPr lang="en-US" sz="800" dirty="0"/>
          </a:p>
        </p:txBody>
      </p:sp>
      <p:sp>
        <p:nvSpPr>
          <p:cNvPr id="31"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DPM的崛起</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Deformable Parts Model - PASCAL VOC冠军</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371600"/>
            <a:ext cx="10725912" cy="3931920"/>
          </a:xfrm>
          <a:prstGeom prst="roundRect">
            <a:avLst>
              <a:gd name="adj" fmla="val 2326"/>
            </a:avLst>
          </a:prstGeom>
          <a:solidFill>
            <a:srgbClr val="F5F9F2"/>
          </a:solidFill>
          <a:ln w="6350">
            <a:solidFill>
              <a:srgbClr val="97BC62"/>
            </a:solidFill>
            <a:prstDash val="solid"/>
          </a:ln>
        </p:spPr>
      </p:sp>
      <p:sp>
        <p:nvSpPr>
          <p:cNvPr id="9" name="Text 7"/>
          <p:cNvSpPr/>
          <p:nvPr/>
        </p:nvSpPr>
        <p:spPr>
          <a:xfrm>
            <a:off x="1005840" y="1463040"/>
            <a:ext cx="4572000" cy="32004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DPM发展历程</a:t>
            </a:r>
            <a:endParaRPr lang="en-US" sz="1400" dirty="0"/>
          </a:p>
        </p:txBody>
      </p:sp>
      <p:sp>
        <p:nvSpPr>
          <p:cNvPr id="10" name="Shape 8"/>
          <p:cNvSpPr/>
          <p:nvPr/>
        </p:nvSpPr>
        <p:spPr>
          <a:xfrm>
            <a:off x="1188720" y="1947672"/>
            <a:ext cx="713232" cy="274320"/>
          </a:xfrm>
          <a:prstGeom prst="roundRect">
            <a:avLst>
              <a:gd name="adj" fmla="val 16667"/>
            </a:avLst>
          </a:prstGeom>
          <a:solidFill>
            <a:srgbClr val="2C5F2D"/>
          </a:solidFill>
          <a:ln/>
        </p:spPr>
      </p:sp>
      <p:sp>
        <p:nvSpPr>
          <p:cNvPr id="11" name="Text 9"/>
          <p:cNvSpPr/>
          <p:nvPr/>
        </p:nvSpPr>
        <p:spPr>
          <a:xfrm>
            <a:off x="1188720" y="1947672"/>
            <a:ext cx="713232"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2008</a:t>
            </a:r>
            <a:endParaRPr lang="en-US" sz="800" dirty="0"/>
          </a:p>
        </p:txBody>
      </p:sp>
      <p:sp>
        <p:nvSpPr>
          <p:cNvPr id="12" name="Text 10"/>
          <p:cNvSpPr/>
          <p:nvPr/>
        </p:nvSpPr>
        <p:spPr>
          <a:xfrm>
            <a:off x="2011680" y="1920240"/>
            <a:ext cx="4572000"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Felzenszwalb等发表DPM原型论文</a:t>
            </a:r>
            <a:endParaRPr lang="en-US" sz="1200" dirty="0"/>
          </a:p>
        </p:txBody>
      </p:sp>
      <p:sp>
        <p:nvSpPr>
          <p:cNvPr id="13" name="Shape 11"/>
          <p:cNvSpPr/>
          <p:nvPr/>
        </p:nvSpPr>
        <p:spPr>
          <a:xfrm>
            <a:off x="1188720" y="2542032"/>
            <a:ext cx="713232" cy="274320"/>
          </a:xfrm>
          <a:prstGeom prst="roundRect">
            <a:avLst>
              <a:gd name="adj" fmla="val 16667"/>
            </a:avLst>
          </a:prstGeom>
          <a:solidFill>
            <a:srgbClr val="2C5F2D"/>
          </a:solidFill>
          <a:ln/>
        </p:spPr>
      </p:sp>
      <p:sp>
        <p:nvSpPr>
          <p:cNvPr id="14" name="Text 12"/>
          <p:cNvSpPr/>
          <p:nvPr/>
        </p:nvSpPr>
        <p:spPr>
          <a:xfrm>
            <a:off x="1188720" y="2542032"/>
            <a:ext cx="713232"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2009</a:t>
            </a:r>
            <a:endParaRPr lang="en-US" sz="800" dirty="0"/>
          </a:p>
        </p:txBody>
      </p:sp>
      <p:sp>
        <p:nvSpPr>
          <p:cNvPr id="15" name="Text 13"/>
          <p:cNvSpPr/>
          <p:nvPr/>
        </p:nvSpPr>
        <p:spPr>
          <a:xfrm>
            <a:off x="2011680" y="2514600"/>
            <a:ext cx="4572000"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系统化DPM框架，引入部件模型与隐变量SVM</a:t>
            </a:r>
            <a:endParaRPr lang="en-US" sz="1200" dirty="0"/>
          </a:p>
        </p:txBody>
      </p:sp>
      <p:sp>
        <p:nvSpPr>
          <p:cNvPr id="16" name="Shape 14"/>
          <p:cNvSpPr/>
          <p:nvPr/>
        </p:nvSpPr>
        <p:spPr>
          <a:xfrm>
            <a:off x="1188720" y="3136392"/>
            <a:ext cx="713232" cy="274320"/>
          </a:xfrm>
          <a:prstGeom prst="roundRect">
            <a:avLst>
              <a:gd name="adj" fmla="val 16667"/>
            </a:avLst>
          </a:prstGeom>
          <a:solidFill>
            <a:srgbClr val="2C5F2D"/>
          </a:solidFill>
          <a:ln/>
        </p:spPr>
      </p:sp>
      <p:sp>
        <p:nvSpPr>
          <p:cNvPr id="17" name="Text 15"/>
          <p:cNvSpPr/>
          <p:nvPr/>
        </p:nvSpPr>
        <p:spPr>
          <a:xfrm>
            <a:off x="1188720" y="3136392"/>
            <a:ext cx="713232"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2010</a:t>
            </a:r>
            <a:endParaRPr lang="en-US" sz="800" dirty="0"/>
          </a:p>
        </p:txBody>
      </p:sp>
      <p:sp>
        <p:nvSpPr>
          <p:cNvPr id="18" name="Text 16"/>
          <p:cNvSpPr/>
          <p:nvPr/>
        </p:nvSpPr>
        <p:spPr>
          <a:xfrm>
            <a:off x="2011680" y="3108960"/>
            <a:ext cx="4572000"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斩获PASCAL VOC 2007/2010多项冠军</a:t>
            </a:r>
            <a:endParaRPr lang="en-US" sz="1200" dirty="0"/>
          </a:p>
        </p:txBody>
      </p:sp>
      <p:sp>
        <p:nvSpPr>
          <p:cNvPr id="19" name="Shape 17"/>
          <p:cNvSpPr/>
          <p:nvPr/>
        </p:nvSpPr>
        <p:spPr>
          <a:xfrm>
            <a:off x="1188720" y="3730752"/>
            <a:ext cx="713232" cy="274320"/>
          </a:xfrm>
          <a:prstGeom prst="roundRect">
            <a:avLst>
              <a:gd name="adj" fmla="val 16667"/>
            </a:avLst>
          </a:prstGeom>
          <a:solidFill>
            <a:srgbClr val="2C5F2D"/>
          </a:solidFill>
          <a:ln/>
        </p:spPr>
      </p:sp>
      <p:sp>
        <p:nvSpPr>
          <p:cNvPr id="20" name="Text 18"/>
          <p:cNvSpPr/>
          <p:nvPr/>
        </p:nvSpPr>
        <p:spPr>
          <a:xfrm>
            <a:off x="1188720" y="3730752"/>
            <a:ext cx="713232"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2013</a:t>
            </a:r>
            <a:endParaRPr lang="en-US" sz="800" dirty="0"/>
          </a:p>
        </p:txBody>
      </p:sp>
      <p:sp>
        <p:nvSpPr>
          <p:cNvPr id="21" name="Text 19"/>
          <p:cNvSpPr/>
          <p:nvPr/>
        </p:nvSpPr>
        <p:spPr>
          <a:xfrm>
            <a:off x="2011680" y="3703320"/>
            <a:ext cx="4572000"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DPM成为传统目标检测方法的巅峰代表</a:t>
            </a:r>
            <a:endParaRPr lang="en-US" sz="1200" dirty="0"/>
          </a:p>
        </p:txBody>
      </p:sp>
      <p:sp>
        <p:nvSpPr>
          <p:cNvPr id="22" name="Shape 20"/>
          <p:cNvSpPr/>
          <p:nvPr/>
        </p:nvSpPr>
        <p:spPr>
          <a:xfrm>
            <a:off x="1188720" y="4325112"/>
            <a:ext cx="822960" cy="274320"/>
          </a:xfrm>
          <a:prstGeom prst="roundRect">
            <a:avLst>
              <a:gd name="adj" fmla="val 16667"/>
            </a:avLst>
          </a:prstGeom>
          <a:solidFill>
            <a:srgbClr val="2C5F2D"/>
          </a:solidFill>
          <a:ln/>
        </p:spPr>
      </p:sp>
      <p:sp>
        <p:nvSpPr>
          <p:cNvPr id="23" name="Text 21"/>
          <p:cNvSpPr/>
          <p:nvPr/>
        </p:nvSpPr>
        <p:spPr>
          <a:xfrm>
            <a:off x="1188720" y="4325112"/>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2014+</a:t>
            </a:r>
            <a:endParaRPr lang="en-US" sz="800" dirty="0"/>
          </a:p>
        </p:txBody>
      </p:sp>
      <p:sp>
        <p:nvSpPr>
          <p:cNvPr id="24" name="Text 22"/>
          <p:cNvSpPr/>
          <p:nvPr/>
        </p:nvSpPr>
        <p:spPr>
          <a:xfrm>
            <a:off x="2011680" y="4297680"/>
            <a:ext cx="4572000"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被深度学习方法(R-CNN等)逐步超越</a:t>
            </a:r>
            <a:endParaRPr lang="en-US" sz="1200" dirty="0"/>
          </a:p>
        </p:txBody>
      </p:sp>
      <p:sp>
        <p:nvSpPr>
          <p:cNvPr id="25" name="Shape 23"/>
          <p:cNvSpPr/>
          <p:nvPr/>
        </p:nvSpPr>
        <p:spPr>
          <a:xfrm>
            <a:off x="6675120" y="1371600"/>
            <a:ext cx="4389120" cy="1645920"/>
          </a:xfrm>
          <a:prstGeom prst="roundRect">
            <a:avLst>
              <a:gd name="adj" fmla="val 4444"/>
            </a:avLst>
          </a:prstGeom>
          <a:solidFill>
            <a:srgbClr val="FAF8F0"/>
          </a:solidFill>
          <a:ln w="10160">
            <a:solidFill>
              <a:srgbClr val="D4A843"/>
            </a:solidFill>
            <a:prstDash val="solid"/>
          </a:ln>
        </p:spPr>
      </p:sp>
      <p:sp>
        <p:nvSpPr>
          <p:cNvPr id="26" name="Shape 24"/>
          <p:cNvSpPr/>
          <p:nvPr/>
        </p:nvSpPr>
        <p:spPr>
          <a:xfrm>
            <a:off x="6675120" y="1371600"/>
            <a:ext cx="4389120" cy="54864"/>
          </a:xfrm>
          <a:prstGeom prst="rect">
            <a:avLst/>
          </a:prstGeom>
          <a:solidFill>
            <a:srgbClr val="D4A843"/>
          </a:solidFill>
          <a:ln/>
        </p:spPr>
      </p:sp>
      <p:sp>
        <p:nvSpPr>
          <p:cNvPr id="27" name="Text 25"/>
          <p:cNvSpPr/>
          <p:nvPr/>
        </p:nvSpPr>
        <p:spPr>
          <a:xfrm>
            <a:off x="6812280" y="1481328"/>
            <a:ext cx="4114800" cy="320040"/>
          </a:xfrm>
          <a:prstGeom prst="rect">
            <a:avLst/>
          </a:prstGeom>
          <a:noFill/>
          <a:ln/>
        </p:spPr>
        <p:txBody>
          <a:bodyPr wrap="square" rtlCol="0" anchor="ctr"/>
          <a:lstStyle/>
          <a:p>
            <a:pPr algn="l" indent="0" marL="0">
              <a:buNone/>
            </a:pPr>
            <a:r>
              <a:rPr lang="en-US" sz="1200" b="1" dirty="0">
                <a:solidFill>
                  <a:srgbClr val="D4A843"/>
                </a:solidFill>
                <a:latin typeface="Georgia" pitchFamily="34" charset="0"/>
                <a:ea typeface="Georgia" pitchFamily="34" charset="-122"/>
                <a:cs typeface="Georgia" pitchFamily="34" charset="-120"/>
              </a:rPr>
              <a:t>PASCAL VOC 成绩</a:t>
            </a:r>
            <a:endParaRPr lang="en-US" sz="1200" dirty="0"/>
          </a:p>
        </p:txBody>
      </p:sp>
      <p:sp>
        <p:nvSpPr>
          <p:cNvPr id="28" name="Text 26"/>
          <p:cNvSpPr/>
          <p:nvPr/>
        </p:nvSpPr>
        <p:spPr>
          <a:xfrm>
            <a:off x="6812280" y="1810512"/>
            <a:ext cx="4114800" cy="109728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VOC2007: mAP 33.7% (冠军)</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VOC2010: mAP 40.4% (冠军)</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远超同期其他方法</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20个类别通用检测</a:t>
            </a:r>
            <a:endParaRPr lang="en-US" sz="1000" dirty="0"/>
          </a:p>
        </p:txBody>
      </p:sp>
      <p:sp>
        <p:nvSpPr>
          <p:cNvPr id="29" name="Shape 27"/>
          <p:cNvSpPr/>
          <p:nvPr/>
        </p:nvSpPr>
        <p:spPr>
          <a:xfrm>
            <a:off x="6675120" y="3291840"/>
            <a:ext cx="4389120" cy="1645920"/>
          </a:xfrm>
          <a:prstGeom prst="roundRect">
            <a:avLst>
              <a:gd name="adj" fmla="val 4444"/>
            </a:avLst>
          </a:prstGeom>
          <a:solidFill>
            <a:srgbClr val="FAF8F0"/>
          </a:solidFill>
          <a:ln w="10160">
            <a:solidFill>
              <a:srgbClr val="2C5F2D"/>
            </a:solidFill>
            <a:prstDash val="solid"/>
          </a:ln>
        </p:spPr>
      </p:sp>
      <p:sp>
        <p:nvSpPr>
          <p:cNvPr id="30" name="Shape 28"/>
          <p:cNvSpPr/>
          <p:nvPr/>
        </p:nvSpPr>
        <p:spPr>
          <a:xfrm>
            <a:off x="6675120" y="3291840"/>
            <a:ext cx="4389120" cy="54864"/>
          </a:xfrm>
          <a:prstGeom prst="rect">
            <a:avLst/>
          </a:prstGeom>
          <a:solidFill>
            <a:srgbClr val="2C5F2D"/>
          </a:solidFill>
          <a:ln/>
        </p:spPr>
      </p:sp>
      <p:sp>
        <p:nvSpPr>
          <p:cNvPr id="31" name="Text 29"/>
          <p:cNvSpPr/>
          <p:nvPr/>
        </p:nvSpPr>
        <p:spPr>
          <a:xfrm>
            <a:off x="6812280" y="3401568"/>
            <a:ext cx="4114800" cy="320040"/>
          </a:xfrm>
          <a:prstGeom prst="rect">
            <a:avLst/>
          </a:prstGeom>
          <a:noFill/>
          <a:ln/>
        </p:spPr>
        <p:txBody>
          <a:bodyPr wrap="square" rtlCol="0" anchor="ctr"/>
          <a:lstStyle/>
          <a:p>
            <a:pPr algn="l" indent="0" marL="0">
              <a:buNone/>
            </a:pPr>
            <a:r>
              <a:rPr lang="en-US" sz="1200" b="1" dirty="0">
                <a:solidFill>
                  <a:srgbClr val="2C5F2D"/>
                </a:solidFill>
                <a:latin typeface="Georgia" pitchFamily="34" charset="0"/>
                <a:ea typeface="Georgia" pitchFamily="34" charset="-122"/>
                <a:cs typeface="Georgia" pitchFamily="34" charset="-120"/>
              </a:rPr>
              <a:t>技术突破</a:t>
            </a:r>
            <a:endParaRPr lang="en-US" sz="1200" dirty="0"/>
          </a:p>
        </p:txBody>
      </p:sp>
      <p:sp>
        <p:nvSpPr>
          <p:cNvPr id="32" name="Text 30"/>
          <p:cNvSpPr/>
          <p:nvPr/>
        </p:nvSpPr>
        <p:spPr>
          <a:xfrm>
            <a:off x="6812280" y="3730752"/>
            <a:ext cx="4114800" cy="109728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将目标分解为根+部件</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引入形变代价(deformation cost)</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隐变量SVM(latent SVM)</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多尺度HOG金字塔</a:t>
            </a:r>
            <a:endParaRPr lang="en-US" sz="1000" dirty="0"/>
          </a:p>
        </p:txBody>
      </p:sp>
      <p:sp>
        <p:nvSpPr>
          <p:cNvPr id="33" name="Shape 31"/>
          <p:cNvSpPr/>
          <p:nvPr/>
        </p:nvSpPr>
        <p:spPr>
          <a:xfrm>
            <a:off x="1188720" y="5486400"/>
            <a:ext cx="9811512" cy="1097280"/>
          </a:xfrm>
          <a:prstGeom prst="roundRect">
            <a:avLst>
              <a:gd name="adj" fmla="val 8333"/>
            </a:avLst>
          </a:prstGeom>
          <a:solidFill>
            <a:srgbClr val="F5F9F2"/>
          </a:solidFill>
          <a:ln w="12700">
            <a:solidFill>
              <a:srgbClr val="D4A843"/>
            </a:solidFill>
            <a:prstDash val="dash"/>
          </a:ln>
        </p:spPr>
      </p:sp>
      <p:sp>
        <p:nvSpPr>
          <p:cNvPr id="34" name="Text 32"/>
          <p:cNvSpPr/>
          <p:nvPr/>
        </p:nvSpPr>
        <p:spPr>
          <a:xfrm>
            <a:off x="1463040" y="5623560"/>
            <a:ext cx="9262872" cy="594360"/>
          </a:xfrm>
          <a:prstGeom prst="rect">
            <a:avLst/>
          </a:prstGeom>
          <a:noFill/>
          <a:ln/>
        </p:spPr>
        <p:txBody>
          <a:bodyPr wrap="square" rtlCol="0" anchor="ctr"/>
          <a:lstStyle/>
          <a:p>
            <a:pPr algn="l" indent="0" marL="0">
              <a:buNone/>
            </a:pPr>
            <a:r>
              <a:rPr lang="en-US" sz="1400" i="1" dirty="0">
                <a:solidFill>
                  <a:srgbClr val="2C5F2D"/>
                </a:solidFill>
                <a:latin typeface="Georgia" pitchFamily="34" charset="0"/>
                <a:ea typeface="Georgia" pitchFamily="34" charset="-122"/>
                <a:cs typeface="Georgia" pitchFamily="34" charset="-120"/>
              </a:rPr>
              <a:t>"Object detection with discriminatively trained part-based models require HOG features and latent SVM."</a:t>
            </a:r>
            <a:endParaRPr lang="en-US" sz="1400" dirty="0"/>
          </a:p>
        </p:txBody>
      </p:sp>
      <p:sp>
        <p:nvSpPr>
          <p:cNvPr id="35" name="Text 33"/>
          <p:cNvSpPr/>
          <p:nvPr/>
        </p:nvSpPr>
        <p:spPr>
          <a:xfrm>
            <a:off x="1463040" y="6217920"/>
            <a:ext cx="9262872" cy="274320"/>
          </a:xfrm>
          <a:prstGeom prst="rect">
            <a:avLst/>
          </a:prstGeom>
          <a:noFill/>
          <a:ln/>
        </p:spPr>
        <p:txBody>
          <a:bodyPr wrap="square" rtlCol="0" anchor="ctr"/>
          <a:lstStyle/>
          <a:p>
            <a:pPr algn="r" indent="0" marL="0">
              <a:buNone/>
            </a:pPr>
            <a:r>
              <a:rPr lang="en-US" sz="1000" dirty="0">
                <a:solidFill>
                  <a:srgbClr val="6B8F6B"/>
                </a:solidFill>
                <a:latin typeface="Calibri" pitchFamily="34" charset="0"/>
                <a:ea typeface="Calibri" pitchFamily="34" charset="-122"/>
                <a:cs typeface="Calibri" pitchFamily="34" charset="-120"/>
              </a:rPr>
              <a:t>-- Felzenszwalb et al., PAMI 2010</a:t>
            </a:r>
            <a:endParaRPr lang="en-US" sz="1000" dirty="0"/>
          </a:p>
        </p:txBody>
      </p:sp>
      <p:sp>
        <p:nvSpPr>
          <p:cNvPr id="36" name="Shape 34"/>
          <p:cNvSpPr/>
          <p:nvPr/>
        </p:nvSpPr>
        <p:spPr>
          <a:xfrm>
            <a:off x="0" y="6492240"/>
            <a:ext cx="12188952" cy="18288"/>
          </a:xfrm>
          <a:prstGeom prst="rect">
            <a:avLst/>
          </a:prstGeom>
          <a:solidFill>
            <a:srgbClr val="97BC62"/>
          </a:solidFill>
          <a:ln/>
        </p:spPr>
      </p:sp>
      <p:sp>
        <p:nvSpPr>
          <p:cNvPr id="37" name="Text 35"/>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4/20</a:t>
            </a:r>
            <a:endParaRPr lang="en-US" sz="800" dirty="0"/>
          </a:p>
        </p:txBody>
      </p:sp>
      <p:sp>
        <p:nvSpPr>
          <p:cNvPr id="38"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HOG核心概念</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特征描述子原理 - Feature Descriptor Theory</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2103120" y="1280160"/>
            <a:ext cx="7982712" cy="914400"/>
          </a:xfrm>
          <a:prstGeom prst="roundRect">
            <a:avLst>
              <a:gd name="adj" fmla="val 10000"/>
            </a:avLst>
          </a:prstGeom>
          <a:solidFill>
            <a:srgbClr val="FDF6E3"/>
          </a:solidFill>
          <a:ln w="19050">
            <a:solidFill>
              <a:srgbClr val="D4A843"/>
            </a:solidFill>
            <a:prstDash val="solid"/>
          </a:ln>
        </p:spPr>
      </p:sp>
      <p:sp>
        <p:nvSpPr>
          <p:cNvPr id="9" name="Text 7"/>
          <p:cNvSpPr/>
          <p:nvPr/>
        </p:nvSpPr>
        <p:spPr>
          <a:xfrm>
            <a:off x="2286000" y="1417320"/>
            <a:ext cx="7616952" cy="640080"/>
          </a:xfrm>
          <a:prstGeom prst="rect">
            <a:avLst/>
          </a:prstGeom>
          <a:noFill/>
          <a:ln/>
        </p:spPr>
        <p:txBody>
          <a:bodyPr wrap="square" rtlCol="0" anchor="ctr"/>
          <a:lstStyle/>
          <a:p>
            <a:pPr algn="ctr" indent="0" marL="0">
              <a:buNone/>
            </a:pPr>
            <a:r>
              <a:rPr lang="en-US" sz="1600" b="1" dirty="0">
                <a:solidFill>
                  <a:srgbClr val="2C5F2D"/>
                </a:solidFill>
                <a:latin typeface="Georgia" pitchFamily="34" charset="0"/>
                <a:ea typeface="Georgia" pitchFamily="34" charset="-122"/>
                <a:cs typeface="Georgia" pitchFamily="34" charset="-120"/>
              </a:rPr>
              <a:t>HOG = 将图像局部区域的梯度方向信息统计为直方图向量</a:t>
            </a:r>
            <a:endParaRPr lang="en-US" sz="1600" dirty="0"/>
          </a:p>
        </p:txBody>
      </p:sp>
      <p:sp>
        <p:nvSpPr>
          <p:cNvPr id="10" name="Shape 8"/>
          <p:cNvSpPr/>
          <p:nvPr/>
        </p:nvSpPr>
        <p:spPr>
          <a:xfrm>
            <a:off x="731520" y="2468880"/>
            <a:ext cx="3017520" cy="2286000"/>
          </a:xfrm>
          <a:prstGeom prst="roundRect">
            <a:avLst>
              <a:gd name="adj" fmla="val 3200"/>
            </a:avLst>
          </a:prstGeom>
          <a:solidFill>
            <a:srgbClr val="FAF8F0"/>
          </a:solidFill>
          <a:ln w="10160">
            <a:solidFill>
              <a:srgbClr val="2C5F2D"/>
            </a:solidFill>
            <a:prstDash val="solid"/>
          </a:ln>
        </p:spPr>
      </p:sp>
      <p:sp>
        <p:nvSpPr>
          <p:cNvPr id="11" name="Shape 9"/>
          <p:cNvSpPr/>
          <p:nvPr/>
        </p:nvSpPr>
        <p:spPr>
          <a:xfrm>
            <a:off x="731520" y="2468880"/>
            <a:ext cx="3017520" cy="54864"/>
          </a:xfrm>
          <a:prstGeom prst="rect">
            <a:avLst/>
          </a:prstGeom>
          <a:solidFill>
            <a:srgbClr val="2C5F2D"/>
          </a:solidFill>
          <a:ln/>
        </p:spPr>
      </p:sp>
      <p:sp>
        <p:nvSpPr>
          <p:cNvPr id="12" name="Text 10"/>
          <p:cNvSpPr/>
          <p:nvPr/>
        </p:nvSpPr>
        <p:spPr>
          <a:xfrm>
            <a:off x="868680" y="2578608"/>
            <a:ext cx="2743200" cy="320040"/>
          </a:xfrm>
          <a:prstGeom prst="rect">
            <a:avLst/>
          </a:prstGeom>
          <a:noFill/>
          <a:ln/>
        </p:spPr>
        <p:txBody>
          <a:bodyPr wrap="square" rtlCol="0" anchor="ctr"/>
          <a:lstStyle/>
          <a:p>
            <a:pPr algn="l" indent="0" marL="0">
              <a:buNone/>
            </a:pPr>
            <a:r>
              <a:rPr lang="en-US" sz="1200" b="1" dirty="0">
                <a:solidFill>
                  <a:srgbClr val="2C5F2D"/>
                </a:solidFill>
                <a:latin typeface="Georgia" pitchFamily="34" charset="0"/>
                <a:ea typeface="Georgia" pitchFamily="34" charset="-122"/>
                <a:cs typeface="Georgia" pitchFamily="34" charset="-120"/>
              </a:rPr>
              <a:t>梯度计算</a:t>
            </a:r>
            <a:endParaRPr lang="en-US" sz="1200" dirty="0"/>
          </a:p>
        </p:txBody>
      </p:sp>
      <p:sp>
        <p:nvSpPr>
          <p:cNvPr id="13" name="Text 11"/>
          <p:cNvSpPr/>
          <p:nvPr/>
        </p:nvSpPr>
        <p:spPr>
          <a:xfrm>
            <a:off x="868680" y="2907792"/>
            <a:ext cx="2743200" cy="173736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对每个像素计算梯度:</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Gx = I(x+1) - I(x-1)</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Gy = I(y+1) - I(y-1)</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幅值 G = sqrt(Gx^2+Gy^2)</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方向 theta = atan2(Gy,Gx)</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梯度反映边缘和纹理信息</a:t>
            </a:r>
            <a:endParaRPr lang="en-US" sz="1000" dirty="0"/>
          </a:p>
        </p:txBody>
      </p:sp>
      <p:sp>
        <p:nvSpPr>
          <p:cNvPr id="14" name="Shape 12"/>
          <p:cNvSpPr/>
          <p:nvPr/>
        </p:nvSpPr>
        <p:spPr>
          <a:xfrm>
            <a:off x="4023360" y="2468880"/>
            <a:ext cx="3017520" cy="2286000"/>
          </a:xfrm>
          <a:prstGeom prst="roundRect">
            <a:avLst>
              <a:gd name="adj" fmla="val 3200"/>
            </a:avLst>
          </a:prstGeom>
          <a:solidFill>
            <a:srgbClr val="FAF8F0"/>
          </a:solidFill>
          <a:ln w="10160">
            <a:solidFill>
              <a:srgbClr val="97BC62"/>
            </a:solidFill>
            <a:prstDash val="solid"/>
          </a:ln>
        </p:spPr>
      </p:sp>
      <p:sp>
        <p:nvSpPr>
          <p:cNvPr id="15" name="Shape 13"/>
          <p:cNvSpPr/>
          <p:nvPr/>
        </p:nvSpPr>
        <p:spPr>
          <a:xfrm>
            <a:off x="4023360" y="2468880"/>
            <a:ext cx="3017520" cy="54864"/>
          </a:xfrm>
          <a:prstGeom prst="rect">
            <a:avLst/>
          </a:prstGeom>
          <a:solidFill>
            <a:srgbClr val="97BC62"/>
          </a:solidFill>
          <a:ln/>
        </p:spPr>
      </p:sp>
      <p:sp>
        <p:nvSpPr>
          <p:cNvPr id="16" name="Text 14"/>
          <p:cNvSpPr/>
          <p:nvPr/>
        </p:nvSpPr>
        <p:spPr>
          <a:xfrm>
            <a:off x="4160520" y="2578608"/>
            <a:ext cx="2743200" cy="320040"/>
          </a:xfrm>
          <a:prstGeom prst="rect">
            <a:avLst/>
          </a:prstGeom>
          <a:noFill/>
          <a:ln/>
        </p:spPr>
        <p:txBody>
          <a:bodyPr wrap="square" rtlCol="0" anchor="ctr"/>
          <a:lstStyle/>
          <a:p>
            <a:pPr algn="l" indent="0" marL="0">
              <a:buNone/>
            </a:pPr>
            <a:r>
              <a:rPr lang="en-US" sz="1200" b="1" dirty="0">
                <a:solidFill>
                  <a:srgbClr val="97BC62"/>
                </a:solidFill>
                <a:latin typeface="Georgia" pitchFamily="34" charset="0"/>
                <a:ea typeface="Georgia" pitchFamily="34" charset="-122"/>
                <a:cs typeface="Georgia" pitchFamily="34" charset="-120"/>
              </a:rPr>
              <a:t>Cell直方图</a:t>
            </a:r>
            <a:endParaRPr lang="en-US" sz="1200" dirty="0"/>
          </a:p>
        </p:txBody>
      </p:sp>
      <p:sp>
        <p:nvSpPr>
          <p:cNvPr id="17" name="Text 15"/>
          <p:cNvSpPr/>
          <p:nvPr/>
        </p:nvSpPr>
        <p:spPr>
          <a:xfrm>
            <a:off x="4160520" y="2907792"/>
            <a:ext cx="2743200" cy="173736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将图像划分为小Cell(如8x8):</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对Cell内所有像素的梯度方向投票</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使用9个方向bin(0-180度)</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加权投票(按梯度幅值)</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归一化后得到该Cell的描述向量</a:t>
            </a:r>
            <a:endParaRPr lang="en-US" sz="1000" dirty="0"/>
          </a:p>
        </p:txBody>
      </p:sp>
      <p:sp>
        <p:nvSpPr>
          <p:cNvPr id="18" name="Shape 16"/>
          <p:cNvSpPr/>
          <p:nvPr/>
        </p:nvSpPr>
        <p:spPr>
          <a:xfrm>
            <a:off x="7315200" y="2468880"/>
            <a:ext cx="3017520" cy="2286000"/>
          </a:xfrm>
          <a:prstGeom prst="roundRect">
            <a:avLst>
              <a:gd name="adj" fmla="val 3200"/>
            </a:avLst>
          </a:prstGeom>
          <a:solidFill>
            <a:srgbClr val="FAF8F0"/>
          </a:solidFill>
          <a:ln w="10160">
            <a:solidFill>
              <a:srgbClr val="D4A843"/>
            </a:solidFill>
            <a:prstDash val="solid"/>
          </a:ln>
        </p:spPr>
      </p:sp>
      <p:sp>
        <p:nvSpPr>
          <p:cNvPr id="19" name="Shape 17"/>
          <p:cNvSpPr/>
          <p:nvPr/>
        </p:nvSpPr>
        <p:spPr>
          <a:xfrm>
            <a:off x="7315200" y="2468880"/>
            <a:ext cx="3017520" cy="54864"/>
          </a:xfrm>
          <a:prstGeom prst="rect">
            <a:avLst/>
          </a:prstGeom>
          <a:solidFill>
            <a:srgbClr val="D4A843"/>
          </a:solidFill>
          <a:ln/>
        </p:spPr>
      </p:sp>
      <p:sp>
        <p:nvSpPr>
          <p:cNvPr id="20" name="Text 18"/>
          <p:cNvSpPr/>
          <p:nvPr/>
        </p:nvSpPr>
        <p:spPr>
          <a:xfrm>
            <a:off x="7452360" y="2578608"/>
            <a:ext cx="2743200" cy="320040"/>
          </a:xfrm>
          <a:prstGeom prst="rect">
            <a:avLst/>
          </a:prstGeom>
          <a:noFill/>
          <a:ln/>
        </p:spPr>
        <p:txBody>
          <a:bodyPr wrap="square" rtlCol="0" anchor="ctr"/>
          <a:lstStyle/>
          <a:p>
            <a:pPr algn="l" indent="0" marL="0">
              <a:buNone/>
            </a:pPr>
            <a:r>
              <a:rPr lang="en-US" sz="1200" b="1" dirty="0">
                <a:solidFill>
                  <a:srgbClr val="D4A843"/>
                </a:solidFill>
                <a:latin typeface="Georgia" pitchFamily="34" charset="0"/>
                <a:ea typeface="Georgia" pitchFamily="34" charset="-122"/>
                <a:cs typeface="Georgia" pitchFamily="34" charset="-120"/>
              </a:rPr>
              <a:t>Block归一化</a:t>
            </a:r>
            <a:endParaRPr lang="en-US" sz="1200" dirty="0"/>
          </a:p>
        </p:txBody>
      </p:sp>
      <p:sp>
        <p:nvSpPr>
          <p:cNvPr id="21" name="Text 19"/>
          <p:cNvSpPr/>
          <p:nvPr/>
        </p:nvSpPr>
        <p:spPr>
          <a:xfrm>
            <a:off x="7452360" y="2907792"/>
            <a:ext cx="2743200" cy="173736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将相邻Cell组成Block:</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- 2x2个Cell组成一个Block</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对Block内Cell向量做L2归一化</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Block滑动步长通常为Cell大小</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增强光照不变性</a:t>
            </a:r>
            <a:endParaRPr lang="en-US" sz="1000" dirty="0"/>
          </a:p>
        </p:txBody>
      </p:sp>
      <p:sp>
        <p:nvSpPr>
          <p:cNvPr id="22" name="Text 20"/>
          <p:cNvSpPr/>
          <p:nvPr/>
        </p:nvSpPr>
        <p:spPr>
          <a:xfrm>
            <a:off x="731520" y="5029200"/>
            <a:ext cx="10725912"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HOG特征的核心优势</a:t>
            </a:r>
            <a:endParaRPr lang="en-US" sz="1400" dirty="0"/>
          </a:p>
        </p:txBody>
      </p:sp>
      <p:sp>
        <p:nvSpPr>
          <p:cNvPr id="23" name="Shape 21"/>
          <p:cNvSpPr/>
          <p:nvPr/>
        </p:nvSpPr>
        <p:spPr>
          <a:xfrm>
            <a:off x="1078992" y="5632704"/>
            <a:ext cx="91440" cy="91440"/>
          </a:xfrm>
          <a:prstGeom prst="ellipse">
            <a:avLst/>
          </a:prstGeom>
          <a:solidFill>
            <a:srgbClr val="D4A843"/>
          </a:solidFill>
          <a:ln/>
        </p:spPr>
      </p:sp>
      <p:sp>
        <p:nvSpPr>
          <p:cNvPr id="24" name="Text 22"/>
          <p:cNvSpPr/>
          <p:nvPr/>
        </p:nvSpPr>
        <p:spPr>
          <a:xfrm>
            <a:off x="1234440" y="5394960"/>
            <a:ext cx="9994392"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局部性: 在局部区域内统计梯度,保留空间结构信息</a:t>
            </a:r>
            <a:endParaRPr lang="en-US" sz="1200" dirty="0"/>
          </a:p>
        </p:txBody>
      </p:sp>
      <p:sp>
        <p:nvSpPr>
          <p:cNvPr id="25" name="Shape 23"/>
          <p:cNvSpPr/>
          <p:nvPr/>
        </p:nvSpPr>
        <p:spPr>
          <a:xfrm>
            <a:off x="1078992" y="5998464"/>
            <a:ext cx="91440" cy="91440"/>
          </a:xfrm>
          <a:prstGeom prst="ellipse">
            <a:avLst/>
          </a:prstGeom>
          <a:solidFill>
            <a:srgbClr val="D4A843"/>
          </a:solidFill>
          <a:ln/>
        </p:spPr>
      </p:sp>
      <p:sp>
        <p:nvSpPr>
          <p:cNvPr id="26" name="Text 24"/>
          <p:cNvSpPr/>
          <p:nvPr/>
        </p:nvSpPr>
        <p:spPr>
          <a:xfrm>
            <a:off x="1234440" y="5760720"/>
            <a:ext cx="9994392"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方向性: 捕捉边缘方向分布,对形状变化敏感</a:t>
            </a:r>
            <a:endParaRPr lang="en-US" sz="1200" dirty="0"/>
          </a:p>
        </p:txBody>
      </p:sp>
      <p:sp>
        <p:nvSpPr>
          <p:cNvPr id="27" name="Shape 25"/>
          <p:cNvSpPr/>
          <p:nvPr/>
        </p:nvSpPr>
        <p:spPr>
          <a:xfrm>
            <a:off x="1078992" y="6364224"/>
            <a:ext cx="91440" cy="91440"/>
          </a:xfrm>
          <a:prstGeom prst="ellipse">
            <a:avLst/>
          </a:prstGeom>
          <a:solidFill>
            <a:srgbClr val="D4A843"/>
          </a:solidFill>
          <a:ln/>
        </p:spPr>
      </p:sp>
      <p:sp>
        <p:nvSpPr>
          <p:cNvPr id="28" name="Text 26"/>
          <p:cNvSpPr/>
          <p:nvPr/>
        </p:nvSpPr>
        <p:spPr>
          <a:xfrm>
            <a:off x="1234440" y="6126480"/>
            <a:ext cx="9994392"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鲁棒性: Block归一化有效抵抗光照和阴影变化</a:t>
            </a:r>
            <a:endParaRPr lang="en-US" sz="1200" dirty="0"/>
          </a:p>
        </p:txBody>
      </p:sp>
      <p:sp>
        <p:nvSpPr>
          <p:cNvPr id="29" name="Shape 27"/>
          <p:cNvSpPr/>
          <p:nvPr/>
        </p:nvSpPr>
        <p:spPr>
          <a:xfrm>
            <a:off x="1078992" y="6729984"/>
            <a:ext cx="91440" cy="91440"/>
          </a:xfrm>
          <a:prstGeom prst="ellipse">
            <a:avLst/>
          </a:prstGeom>
          <a:solidFill>
            <a:srgbClr val="D4A843"/>
          </a:solidFill>
          <a:ln/>
        </p:spPr>
      </p:sp>
      <p:sp>
        <p:nvSpPr>
          <p:cNvPr id="30" name="Text 28"/>
          <p:cNvSpPr/>
          <p:nvPr/>
        </p:nvSpPr>
        <p:spPr>
          <a:xfrm>
            <a:off x="1234440" y="6492240"/>
            <a:ext cx="9994392" cy="365760"/>
          </a:xfrm>
          <a:prstGeom prst="rect">
            <a:avLst/>
          </a:prstGeom>
          <a:noFill/>
          <a:ln/>
        </p:spPr>
        <p:txBody>
          <a:bodyPr wrap="square" rtlCol="0" anchor="ctr"/>
          <a:lstStyle/>
          <a:p>
            <a:pPr algn="l" indent="0" marL="0">
              <a:buNone/>
            </a:pPr>
            <a:r>
              <a:rPr lang="en-US" sz="1200" dirty="0">
                <a:solidFill>
                  <a:srgbClr val="1A3A1A"/>
                </a:solidFill>
                <a:latin typeface="Calibri" pitchFamily="34" charset="0"/>
                <a:ea typeface="Calibri" pitchFamily="34" charset="-122"/>
                <a:cs typeface="Calibri" pitchFamily="34" charset="-120"/>
              </a:rPr>
              <a:t>区分性: 梯度方向分布能有效区分不同物体类别</a:t>
            </a:r>
            <a:endParaRPr lang="en-US" sz="1200" dirty="0"/>
          </a:p>
        </p:txBody>
      </p:sp>
      <p:sp>
        <p:nvSpPr>
          <p:cNvPr id="31" name="Shape 29"/>
          <p:cNvSpPr/>
          <p:nvPr/>
        </p:nvSpPr>
        <p:spPr>
          <a:xfrm>
            <a:off x="0" y="6492240"/>
            <a:ext cx="12188952" cy="18288"/>
          </a:xfrm>
          <a:prstGeom prst="rect">
            <a:avLst/>
          </a:prstGeom>
          <a:solidFill>
            <a:srgbClr val="97BC62"/>
          </a:solidFill>
          <a:ln/>
        </p:spPr>
      </p:sp>
      <p:sp>
        <p:nvSpPr>
          <p:cNvPr id="32" name="Text 30"/>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5/20</a:t>
            </a:r>
            <a:endParaRPr lang="en-US" sz="800" dirty="0"/>
          </a:p>
        </p:txBody>
      </p:sp>
      <p:sp>
        <p:nvSpPr>
          <p:cNvPr id="33"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HOG提取流程（5步）</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从图像到特征向量的完整流程</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973836" y="1371600"/>
            <a:ext cx="1828800" cy="1463040"/>
          </a:xfrm>
          <a:prstGeom prst="roundRect">
            <a:avLst>
              <a:gd name="adj" fmla="val 6250"/>
            </a:avLst>
          </a:prstGeom>
          <a:solidFill>
            <a:srgbClr val="F5F9F2"/>
          </a:solidFill>
          <a:ln w="19050">
            <a:solidFill>
              <a:srgbClr val="2C5F2D"/>
            </a:solidFill>
            <a:prstDash val="solid"/>
          </a:ln>
        </p:spPr>
      </p:sp>
      <p:sp>
        <p:nvSpPr>
          <p:cNvPr id="9" name="Shape 7"/>
          <p:cNvSpPr/>
          <p:nvPr/>
        </p:nvSpPr>
        <p:spPr>
          <a:xfrm>
            <a:off x="1687068" y="1234440"/>
            <a:ext cx="402336" cy="402336"/>
          </a:xfrm>
          <a:prstGeom prst="ellipse">
            <a:avLst/>
          </a:prstGeom>
          <a:solidFill>
            <a:srgbClr val="2C5F2D"/>
          </a:solidFill>
          <a:ln/>
        </p:spPr>
      </p:sp>
      <p:sp>
        <p:nvSpPr>
          <p:cNvPr id="10" name="Text 8"/>
          <p:cNvSpPr/>
          <p:nvPr/>
        </p:nvSpPr>
        <p:spPr>
          <a:xfrm>
            <a:off x="1687068" y="1234440"/>
            <a:ext cx="402336" cy="40233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1065276" y="1645920"/>
            <a:ext cx="1645920" cy="320040"/>
          </a:xfrm>
          <a:prstGeom prst="rect">
            <a:avLst/>
          </a:prstGeom>
          <a:noFill/>
          <a:ln/>
        </p:spPr>
        <p:txBody>
          <a:bodyPr wrap="square" rtlCol="0" anchor="ctr"/>
          <a:lstStyle/>
          <a:p>
            <a:pPr algn="ctr" indent="0" marL="0">
              <a:buNone/>
            </a:pPr>
            <a:r>
              <a:rPr lang="en-US" sz="1300" b="1" dirty="0">
                <a:solidFill>
                  <a:srgbClr val="2C5F2D"/>
                </a:solidFill>
                <a:latin typeface="Georgia" pitchFamily="34" charset="0"/>
                <a:ea typeface="Georgia" pitchFamily="34" charset="-122"/>
                <a:cs typeface="Georgia" pitchFamily="34" charset="-120"/>
              </a:rPr>
              <a:t>灰度化</a:t>
            </a:r>
            <a:endParaRPr lang="en-US" sz="1300" dirty="0"/>
          </a:p>
        </p:txBody>
      </p:sp>
      <p:sp>
        <p:nvSpPr>
          <p:cNvPr id="12" name="Text 10"/>
          <p:cNvSpPr/>
          <p:nvPr/>
        </p:nvSpPr>
        <p:spPr>
          <a:xfrm>
            <a:off x="1065276" y="2011680"/>
            <a:ext cx="1645920" cy="731520"/>
          </a:xfrm>
          <a:prstGeom prst="rect">
            <a:avLst/>
          </a:prstGeom>
          <a:noFill/>
          <a:ln/>
        </p:spPr>
        <p:txBody>
          <a:bodyPr wrap="square" rtlCol="0" anchor="t"/>
          <a:lstStyle/>
          <a:p>
            <a:pPr algn="ctr" indent="0" marL="0">
              <a:buNone/>
            </a:pPr>
            <a:r>
              <a:rPr lang="en-US" sz="1000" dirty="0">
                <a:solidFill>
                  <a:srgbClr val="1A3A1A"/>
                </a:solidFill>
                <a:latin typeface="Calibri" pitchFamily="34" charset="0"/>
                <a:ea typeface="Calibri" pitchFamily="34" charset="-122"/>
                <a:cs typeface="Calibri" pitchFamily="34" charset="-120"/>
              </a:rPr>
              <a:t>RGB转灰度</a:t>
            </a:r>
            <a:endParaRPr lang="en-US" sz="1000" dirty="0"/>
          </a:p>
          <a:p>
            <a:pPr algn="ctr" indent="0" marL="0">
              <a:buNone/>
            </a:pPr>
            <a:r>
              <a:rPr lang="en-US" sz="1000" dirty="0">
                <a:solidFill>
                  <a:srgbClr val="1A3A1A"/>
                </a:solidFill>
                <a:latin typeface="Calibri" pitchFamily="34" charset="0"/>
                <a:ea typeface="Calibri" pitchFamily="34" charset="-122"/>
                <a:cs typeface="Calibri" pitchFamily="34" charset="-120"/>
              </a:rPr>
              <a:t>减少计算量</a:t>
            </a:r>
            <a:endParaRPr lang="en-US" sz="1000" dirty="0"/>
          </a:p>
        </p:txBody>
      </p:sp>
      <p:sp>
        <p:nvSpPr>
          <p:cNvPr id="13" name="Text 11"/>
          <p:cNvSpPr/>
          <p:nvPr/>
        </p:nvSpPr>
        <p:spPr>
          <a:xfrm>
            <a:off x="2802636" y="1920240"/>
            <a:ext cx="274320" cy="365760"/>
          </a:xfrm>
          <a:prstGeom prst="rect">
            <a:avLst/>
          </a:prstGeom>
          <a:noFill/>
          <a:ln/>
        </p:spPr>
        <p:txBody>
          <a:bodyPr wrap="square" rtlCol="0" anchor="ctr"/>
          <a:lstStyle/>
          <a:p>
            <a:pPr algn="ctr" indent="0" marL="0">
              <a:buNone/>
            </a:pPr>
            <a:r>
              <a:rPr lang="en-US" sz="1600" dirty="0">
                <a:solidFill>
                  <a:srgbClr val="D4A843"/>
                </a:solidFill>
              </a:rPr>
              <a:t>▶</a:t>
            </a:r>
            <a:endParaRPr lang="en-US" sz="1600" dirty="0"/>
          </a:p>
        </p:txBody>
      </p:sp>
      <p:sp>
        <p:nvSpPr>
          <p:cNvPr id="14" name="Shape 12"/>
          <p:cNvSpPr/>
          <p:nvPr/>
        </p:nvSpPr>
        <p:spPr>
          <a:xfrm>
            <a:off x="3076956" y="1371600"/>
            <a:ext cx="1828800" cy="1463040"/>
          </a:xfrm>
          <a:prstGeom prst="roundRect">
            <a:avLst>
              <a:gd name="adj" fmla="val 6250"/>
            </a:avLst>
          </a:prstGeom>
          <a:solidFill>
            <a:srgbClr val="F5F9F2"/>
          </a:solidFill>
          <a:ln w="19050">
            <a:solidFill>
              <a:srgbClr val="97BC62"/>
            </a:solidFill>
            <a:prstDash val="solid"/>
          </a:ln>
        </p:spPr>
      </p:sp>
      <p:sp>
        <p:nvSpPr>
          <p:cNvPr id="15" name="Shape 13"/>
          <p:cNvSpPr/>
          <p:nvPr/>
        </p:nvSpPr>
        <p:spPr>
          <a:xfrm>
            <a:off x="3790188" y="1234440"/>
            <a:ext cx="402336" cy="402336"/>
          </a:xfrm>
          <a:prstGeom prst="ellipse">
            <a:avLst/>
          </a:prstGeom>
          <a:solidFill>
            <a:srgbClr val="97BC62"/>
          </a:solidFill>
          <a:ln/>
        </p:spPr>
      </p:sp>
      <p:sp>
        <p:nvSpPr>
          <p:cNvPr id="16" name="Text 14"/>
          <p:cNvSpPr/>
          <p:nvPr/>
        </p:nvSpPr>
        <p:spPr>
          <a:xfrm>
            <a:off x="3790188" y="1234440"/>
            <a:ext cx="402336" cy="40233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3168396" y="1645920"/>
            <a:ext cx="1645920" cy="320040"/>
          </a:xfrm>
          <a:prstGeom prst="rect">
            <a:avLst/>
          </a:prstGeom>
          <a:noFill/>
          <a:ln/>
        </p:spPr>
        <p:txBody>
          <a:bodyPr wrap="square" rtlCol="0" anchor="ctr"/>
          <a:lstStyle/>
          <a:p>
            <a:pPr algn="ctr" indent="0" marL="0">
              <a:buNone/>
            </a:pPr>
            <a:r>
              <a:rPr lang="en-US" sz="1300" b="1" dirty="0">
                <a:solidFill>
                  <a:srgbClr val="97BC62"/>
                </a:solidFill>
                <a:latin typeface="Georgia" pitchFamily="34" charset="0"/>
                <a:ea typeface="Georgia" pitchFamily="34" charset="-122"/>
                <a:cs typeface="Georgia" pitchFamily="34" charset="-120"/>
              </a:rPr>
              <a:t>梯度计算</a:t>
            </a:r>
            <a:endParaRPr lang="en-US" sz="1300" dirty="0"/>
          </a:p>
        </p:txBody>
      </p:sp>
      <p:sp>
        <p:nvSpPr>
          <p:cNvPr id="18" name="Text 16"/>
          <p:cNvSpPr/>
          <p:nvPr/>
        </p:nvSpPr>
        <p:spPr>
          <a:xfrm>
            <a:off x="3168396" y="2011680"/>
            <a:ext cx="1645920" cy="731520"/>
          </a:xfrm>
          <a:prstGeom prst="rect">
            <a:avLst/>
          </a:prstGeom>
          <a:noFill/>
          <a:ln/>
        </p:spPr>
        <p:txBody>
          <a:bodyPr wrap="square" rtlCol="0" anchor="t"/>
          <a:lstStyle/>
          <a:p>
            <a:pPr algn="ctr" indent="0" marL="0">
              <a:buNone/>
            </a:pPr>
            <a:r>
              <a:rPr lang="en-US" sz="1000" dirty="0">
                <a:solidFill>
                  <a:srgbClr val="1A3A1A"/>
                </a:solidFill>
                <a:latin typeface="Calibri" pitchFamily="34" charset="0"/>
                <a:ea typeface="Calibri" pitchFamily="34" charset="-122"/>
                <a:cs typeface="Calibri" pitchFamily="34" charset="-120"/>
              </a:rPr>
              <a:t>Sobel算子</a:t>
            </a:r>
            <a:endParaRPr lang="en-US" sz="1000" dirty="0"/>
          </a:p>
          <a:p>
            <a:pPr algn="ctr" indent="0" marL="0">
              <a:buNone/>
            </a:pPr>
            <a:r>
              <a:rPr lang="en-US" sz="1000" dirty="0">
                <a:solidFill>
                  <a:srgbClr val="1A3A1A"/>
                </a:solidFill>
                <a:latin typeface="Calibri" pitchFamily="34" charset="0"/>
                <a:ea typeface="Calibri" pitchFamily="34" charset="-122"/>
                <a:cs typeface="Calibri" pitchFamily="34" charset="-120"/>
              </a:rPr>
              <a:t>计算Gx, Gy</a:t>
            </a:r>
            <a:endParaRPr lang="en-US" sz="1000" dirty="0"/>
          </a:p>
        </p:txBody>
      </p:sp>
      <p:sp>
        <p:nvSpPr>
          <p:cNvPr id="19" name="Text 17"/>
          <p:cNvSpPr/>
          <p:nvPr/>
        </p:nvSpPr>
        <p:spPr>
          <a:xfrm>
            <a:off x="4905756" y="1920240"/>
            <a:ext cx="274320" cy="365760"/>
          </a:xfrm>
          <a:prstGeom prst="rect">
            <a:avLst/>
          </a:prstGeom>
          <a:noFill/>
          <a:ln/>
        </p:spPr>
        <p:txBody>
          <a:bodyPr wrap="square" rtlCol="0" anchor="ctr"/>
          <a:lstStyle/>
          <a:p>
            <a:pPr algn="ctr" indent="0" marL="0">
              <a:buNone/>
            </a:pPr>
            <a:r>
              <a:rPr lang="en-US" sz="1600" dirty="0">
                <a:solidFill>
                  <a:srgbClr val="D4A843"/>
                </a:solidFill>
              </a:rPr>
              <a:t>▶</a:t>
            </a:r>
            <a:endParaRPr lang="en-US" sz="1600" dirty="0"/>
          </a:p>
        </p:txBody>
      </p:sp>
      <p:sp>
        <p:nvSpPr>
          <p:cNvPr id="20" name="Shape 18"/>
          <p:cNvSpPr/>
          <p:nvPr/>
        </p:nvSpPr>
        <p:spPr>
          <a:xfrm>
            <a:off x="5180076" y="1371600"/>
            <a:ext cx="1828800" cy="1463040"/>
          </a:xfrm>
          <a:prstGeom prst="roundRect">
            <a:avLst>
              <a:gd name="adj" fmla="val 6250"/>
            </a:avLst>
          </a:prstGeom>
          <a:solidFill>
            <a:srgbClr val="F5F9F2"/>
          </a:solidFill>
          <a:ln w="19050">
            <a:solidFill>
              <a:srgbClr val="D4A843"/>
            </a:solidFill>
            <a:prstDash val="solid"/>
          </a:ln>
        </p:spPr>
      </p:sp>
      <p:sp>
        <p:nvSpPr>
          <p:cNvPr id="21" name="Shape 19"/>
          <p:cNvSpPr/>
          <p:nvPr/>
        </p:nvSpPr>
        <p:spPr>
          <a:xfrm>
            <a:off x="5893308" y="1234440"/>
            <a:ext cx="402336" cy="402336"/>
          </a:xfrm>
          <a:prstGeom prst="ellipse">
            <a:avLst/>
          </a:prstGeom>
          <a:solidFill>
            <a:srgbClr val="D4A843"/>
          </a:solidFill>
          <a:ln/>
        </p:spPr>
      </p:sp>
      <p:sp>
        <p:nvSpPr>
          <p:cNvPr id="22" name="Text 20"/>
          <p:cNvSpPr/>
          <p:nvPr/>
        </p:nvSpPr>
        <p:spPr>
          <a:xfrm>
            <a:off x="5893308" y="1234440"/>
            <a:ext cx="402336" cy="40233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5271516" y="1645920"/>
            <a:ext cx="1645920" cy="320040"/>
          </a:xfrm>
          <a:prstGeom prst="rect">
            <a:avLst/>
          </a:prstGeom>
          <a:noFill/>
          <a:ln/>
        </p:spPr>
        <p:txBody>
          <a:bodyPr wrap="square" rtlCol="0" anchor="ctr"/>
          <a:lstStyle/>
          <a:p>
            <a:pPr algn="ctr" indent="0" marL="0">
              <a:buNone/>
            </a:pPr>
            <a:r>
              <a:rPr lang="en-US" sz="1300" b="1" dirty="0">
                <a:solidFill>
                  <a:srgbClr val="D4A843"/>
                </a:solidFill>
                <a:latin typeface="Georgia" pitchFamily="34" charset="0"/>
                <a:ea typeface="Georgia" pitchFamily="34" charset="-122"/>
                <a:cs typeface="Georgia" pitchFamily="34" charset="-120"/>
              </a:rPr>
              <a:t>Cell直方图</a:t>
            </a:r>
            <a:endParaRPr lang="en-US" sz="1300" dirty="0"/>
          </a:p>
        </p:txBody>
      </p:sp>
      <p:sp>
        <p:nvSpPr>
          <p:cNvPr id="24" name="Text 22"/>
          <p:cNvSpPr/>
          <p:nvPr/>
        </p:nvSpPr>
        <p:spPr>
          <a:xfrm>
            <a:off x="5271516" y="2011680"/>
            <a:ext cx="1645920" cy="731520"/>
          </a:xfrm>
          <a:prstGeom prst="rect">
            <a:avLst/>
          </a:prstGeom>
          <a:noFill/>
          <a:ln/>
        </p:spPr>
        <p:txBody>
          <a:bodyPr wrap="square" rtlCol="0" anchor="t"/>
          <a:lstStyle/>
          <a:p>
            <a:pPr algn="ctr" indent="0" marL="0">
              <a:buNone/>
            </a:pPr>
            <a:r>
              <a:rPr lang="en-US" sz="1000" dirty="0">
                <a:solidFill>
                  <a:srgbClr val="1A3A1A"/>
                </a:solidFill>
                <a:latin typeface="Calibri" pitchFamily="34" charset="0"/>
                <a:ea typeface="Calibri" pitchFamily="34" charset="-122"/>
                <a:cs typeface="Calibri" pitchFamily="34" charset="-120"/>
              </a:rPr>
              <a:t>8x8 Cell</a:t>
            </a:r>
            <a:endParaRPr lang="en-US" sz="1000" dirty="0"/>
          </a:p>
          <a:p>
            <a:pPr algn="ctr" indent="0" marL="0">
              <a:buNone/>
            </a:pPr>
            <a:r>
              <a:rPr lang="en-US" sz="1000" dirty="0">
                <a:solidFill>
                  <a:srgbClr val="1A3A1A"/>
                </a:solidFill>
                <a:latin typeface="Calibri" pitchFamily="34" charset="0"/>
                <a:ea typeface="Calibri" pitchFamily="34" charset="-122"/>
                <a:cs typeface="Calibri" pitchFamily="34" charset="-120"/>
              </a:rPr>
              <a:t>9-bin方向投票</a:t>
            </a:r>
            <a:endParaRPr lang="en-US" sz="1000" dirty="0"/>
          </a:p>
        </p:txBody>
      </p:sp>
      <p:sp>
        <p:nvSpPr>
          <p:cNvPr id="25" name="Text 23"/>
          <p:cNvSpPr/>
          <p:nvPr/>
        </p:nvSpPr>
        <p:spPr>
          <a:xfrm>
            <a:off x="7008876" y="1920240"/>
            <a:ext cx="274320" cy="365760"/>
          </a:xfrm>
          <a:prstGeom prst="rect">
            <a:avLst/>
          </a:prstGeom>
          <a:noFill/>
          <a:ln/>
        </p:spPr>
        <p:txBody>
          <a:bodyPr wrap="square" rtlCol="0" anchor="ctr"/>
          <a:lstStyle/>
          <a:p>
            <a:pPr algn="ctr" indent="0" marL="0">
              <a:buNone/>
            </a:pPr>
            <a:r>
              <a:rPr lang="en-US" sz="1600" dirty="0">
                <a:solidFill>
                  <a:srgbClr val="D4A843"/>
                </a:solidFill>
              </a:rPr>
              <a:t>▶</a:t>
            </a:r>
            <a:endParaRPr lang="en-US" sz="1600" dirty="0"/>
          </a:p>
        </p:txBody>
      </p:sp>
      <p:sp>
        <p:nvSpPr>
          <p:cNvPr id="26" name="Shape 24"/>
          <p:cNvSpPr/>
          <p:nvPr/>
        </p:nvSpPr>
        <p:spPr>
          <a:xfrm>
            <a:off x="7283196" y="1371600"/>
            <a:ext cx="1828800" cy="1463040"/>
          </a:xfrm>
          <a:prstGeom prst="roundRect">
            <a:avLst>
              <a:gd name="adj" fmla="val 6250"/>
            </a:avLst>
          </a:prstGeom>
          <a:solidFill>
            <a:srgbClr val="F5F9F2"/>
          </a:solidFill>
          <a:ln w="19050">
            <a:solidFill>
              <a:srgbClr val="2C5F2D"/>
            </a:solidFill>
            <a:prstDash val="solid"/>
          </a:ln>
        </p:spPr>
      </p:sp>
      <p:sp>
        <p:nvSpPr>
          <p:cNvPr id="27" name="Shape 25"/>
          <p:cNvSpPr/>
          <p:nvPr/>
        </p:nvSpPr>
        <p:spPr>
          <a:xfrm>
            <a:off x="7996428" y="1234440"/>
            <a:ext cx="402336" cy="402336"/>
          </a:xfrm>
          <a:prstGeom prst="ellipse">
            <a:avLst/>
          </a:prstGeom>
          <a:solidFill>
            <a:srgbClr val="2C5F2D"/>
          </a:solidFill>
          <a:ln/>
        </p:spPr>
      </p:sp>
      <p:sp>
        <p:nvSpPr>
          <p:cNvPr id="28" name="Text 26"/>
          <p:cNvSpPr/>
          <p:nvPr/>
        </p:nvSpPr>
        <p:spPr>
          <a:xfrm>
            <a:off x="7996428" y="1234440"/>
            <a:ext cx="402336" cy="40233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7374636" y="1645920"/>
            <a:ext cx="1645920" cy="320040"/>
          </a:xfrm>
          <a:prstGeom prst="rect">
            <a:avLst/>
          </a:prstGeom>
          <a:noFill/>
          <a:ln/>
        </p:spPr>
        <p:txBody>
          <a:bodyPr wrap="square" rtlCol="0" anchor="ctr"/>
          <a:lstStyle/>
          <a:p>
            <a:pPr algn="ctr" indent="0" marL="0">
              <a:buNone/>
            </a:pPr>
            <a:r>
              <a:rPr lang="en-US" sz="1300" b="1" dirty="0">
                <a:solidFill>
                  <a:srgbClr val="2C5F2D"/>
                </a:solidFill>
                <a:latin typeface="Georgia" pitchFamily="34" charset="0"/>
                <a:ea typeface="Georgia" pitchFamily="34" charset="-122"/>
                <a:cs typeface="Georgia" pitchFamily="34" charset="-120"/>
              </a:rPr>
              <a:t>Block归一化</a:t>
            </a:r>
            <a:endParaRPr lang="en-US" sz="1300" dirty="0"/>
          </a:p>
        </p:txBody>
      </p:sp>
      <p:sp>
        <p:nvSpPr>
          <p:cNvPr id="30" name="Text 28"/>
          <p:cNvSpPr/>
          <p:nvPr/>
        </p:nvSpPr>
        <p:spPr>
          <a:xfrm>
            <a:off x="7374636" y="2011680"/>
            <a:ext cx="1645920" cy="731520"/>
          </a:xfrm>
          <a:prstGeom prst="rect">
            <a:avLst/>
          </a:prstGeom>
          <a:noFill/>
          <a:ln/>
        </p:spPr>
        <p:txBody>
          <a:bodyPr wrap="square" rtlCol="0" anchor="t"/>
          <a:lstStyle/>
          <a:p>
            <a:pPr algn="ctr" indent="0" marL="0">
              <a:buNone/>
            </a:pPr>
            <a:r>
              <a:rPr lang="en-US" sz="1000" dirty="0">
                <a:solidFill>
                  <a:srgbClr val="1A3A1A"/>
                </a:solidFill>
                <a:latin typeface="Calibri" pitchFamily="34" charset="0"/>
                <a:ea typeface="Calibri" pitchFamily="34" charset="-122"/>
                <a:cs typeface="Calibri" pitchFamily="34" charset="-120"/>
              </a:rPr>
              <a:t>2x2 Block</a:t>
            </a:r>
            <a:endParaRPr lang="en-US" sz="1000" dirty="0"/>
          </a:p>
          <a:p>
            <a:pPr algn="ctr" indent="0" marL="0">
              <a:buNone/>
            </a:pPr>
            <a:r>
              <a:rPr lang="en-US" sz="1000" dirty="0">
                <a:solidFill>
                  <a:srgbClr val="1A3A1A"/>
                </a:solidFill>
                <a:latin typeface="Calibri" pitchFamily="34" charset="0"/>
                <a:ea typeface="Calibri" pitchFamily="34" charset="-122"/>
                <a:cs typeface="Calibri" pitchFamily="34" charset="-120"/>
              </a:rPr>
              <a:t>L2归一化</a:t>
            </a:r>
            <a:endParaRPr lang="en-US" sz="1000" dirty="0"/>
          </a:p>
        </p:txBody>
      </p:sp>
      <p:sp>
        <p:nvSpPr>
          <p:cNvPr id="31" name="Text 29"/>
          <p:cNvSpPr/>
          <p:nvPr/>
        </p:nvSpPr>
        <p:spPr>
          <a:xfrm>
            <a:off x="9111996" y="1920240"/>
            <a:ext cx="274320" cy="365760"/>
          </a:xfrm>
          <a:prstGeom prst="rect">
            <a:avLst/>
          </a:prstGeom>
          <a:noFill/>
          <a:ln/>
        </p:spPr>
        <p:txBody>
          <a:bodyPr wrap="square" rtlCol="0" anchor="ctr"/>
          <a:lstStyle/>
          <a:p>
            <a:pPr algn="ctr" indent="0" marL="0">
              <a:buNone/>
            </a:pPr>
            <a:r>
              <a:rPr lang="en-US" sz="1600" dirty="0">
                <a:solidFill>
                  <a:srgbClr val="D4A843"/>
                </a:solidFill>
              </a:rPr>
              <a:t>▶</a:t>
            </a:r>
            <a:endParaRPr lang="en-US" sz="1600" dirty="0"/>
          </a:p>
        </p:txBody>
      </p:sp>
      <p:sp>
        <p:nvSpPr>
          <p:cNvPr id="32" name="Shape 30"/>
          <p:cNvSpPr/>
          <p:nvPr/>
        </p:nvSpPr>
        <p:spPr>
          <a:xfrm>
            <a:off x="9386316" y="1371600"/>
            <a:ext cx="1828800" cy="1463040"/>
          </a:xfrm>
          <a:prstGeom prst="roundRect">
            <a:avLst>
              <a:gd name="adj" fmla="val 6250"/>
            </a:avLst>
          </a:prstGeom>
          <a:solidFill>
            <a:srgbClr val="F5F9F2"/>
          </a:solidFill>
          <a:ln w="19050">
            <a:solidFill>
              <a:srgbClr val="97BC62"/>
            </a:solidFill>
            <a:prstDash val="solid"/>
          </a:ln>
        </p:spPr>
      </p:sp>
      <p:sp>
        <p:nvSpPr>
          <p:cNvPr id="33" name="Shape 31"/>
          <p:cNvSpPr/>
          <p:nvPr/>
        </p:nvSpPr>
        <p:spPr>
          <a:xfrm>
            <a:off x="10099548" y="1234440"/>
            <a:ext cx="402336" cy="402336"/>
          </a:xfrm>
          <a:prstGeom prst="ellipse">
            <a:avLst/>
          </a:prstGeom>
          <a:solidFill>
            <a:srgbClr val="97BC62"/>
          </a:solidFill>
          <a:ln/>
        </p:spPr>
      </p:sp>
      <p:sp>
        <p:nvSpPr>
          <p:cNvPr id="34" name="Text 32"/>
          <p:cNvSpPr/>
          <p:nvPr/>
        </p:nvSpPr>
        <p:spPr>
          <a:xfrm>
            <a:off x="10099548" y="1234440"/>
            <a:ext cx="402336" cy="40233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5" name="Text 33"/>
          <p:cNvSpPr/>
          <p:nvPr/>
        </p:nvSpPr>
        <p:spPr>
          <a:xfrm>
            <a:off x="9477756" y="1645920"/>
            <a:ext cx="1645920" cy="320040"/>
          </a:xfrm>
          <a:prstGeom prst="rect">
            <a:avLst/>
          </a:prstGeom>
          <a:noFill/>
          <a:ln/>
        </p:spPr>
        <p:txBody>
          <a:bodyPr wrap="square" rtlCol="0" anchor="ctr"/>
          <a:lstStyle/>
          <a:p>
            <a:pPr algn="ctr" indent="0" marL="0">
              <a:buNone/>
            </a:pPr>
            <a:r>
              <a:rPr lang="en-US" sz="1300" b="1" dirty="0">
                <a:solidFill>
                  <a:srgbClr val="97BC62"/>
                </a:solidFill>
                <a:latin typeface="Georgia" pitchFamily="34" charset="0"/>
                <a:ea typeface="Georgia" pitchFamily="34" charset="-122"/>
                <a:cs typeface="Georgia" pitchFamily="34" charset="-120"/>
              </a:rPr>
              <a:t>特征拼接</a:t>
            </a:r>
            <a:endParaRPr lang="en-US" sz="1300" dirty="0"/>
          </a:p>
        </p:txBody>
      </p:sp>
      <p:sp>
        <p:nvSpPr>
          <p:cNvPr id="36" name="Text 34"/>
          <p:cNvSpPr/>
          <p:nvPr/>
        </p:nvSpPr>
        <p:spPr>
          <a:xfrm>
            <a:off x="9477756" y="2011680"/>
            <a:ext cx="1645920" cy="731520"/>
          </a:xfrm>
          <a:prstGeom prst="rect">
            <a:avLst/>
          </a:prstGeom>
          <a:noFill/>
          <a:ln/>
        </p:spPr>
        <p:txBody>
          <a:bodyPr wrap="square" rtlCol="0" anchor="t"/>
          <a:lstStyle/>
          <a:p>
            <a:pPr algn="ctr" indent="0" marL="0">
              <a:buNone/>
            </a:pPr>
            <a:r>
              <a:rPr lang="en-US" sz="1000" dirty="0">
                <a:solidFill>
                  <a:srgbClr val="1A3A1A"/>
                </a:solidFill>
                <a:latin typeface="Calibri" pitchFamily="34" charset="0"/>
                <a:ea typeface="Calibri" pitchFamily="34" charset="-122"/>
                <a:cs typeface="Calibri" pitchFamily="34" charset="-120"/>
              </a:rPr>
              <a:t>所有Block向量</a:t>
            </a:r>
            <a:endParaRPr lang="en-US" sz="1000" dirty="0"/>
          </a:p>
          <a:p>
            <a:pPr algn="ctr" indent="0" marL="0">
              <a:buNone/>
            </a:pPr>
            <a:r>
              <a:rPr lang="en-US" sz="1000" dirty="0">
                <a:solidFill>
                  <a:srgbClr val="1A3A1A"/>
                </a:solidFill>
                <a:latin typeface="Calibri" pitchFamily="34" charset="0"/>
                <a:ea typeface="Calibri" pitchFamily="34" charset="-122"/>
                <a:cs typeface="Calibri" pitchFamily="34" charset="-120"/>
              </a:rPr>
              <a:t>串联为最终特征</a:t>
            </a:r>
            <a:endParaRPr lang="en-US" sz="1000" dirty="0"/>
          </a:p>
        </p:txBody>
      </p:sp>
      <p:sp>
        <p:nvSpPr>
          <p:cNvPr id="37" name="Text 35"/>
          <p:cNvSpPr/>
          <p:nvPr/>
        </p:nvSpPr>
        <p:spPr>
          <a:xfrm>
            <a:off x="731520" y="3383280"/>
            <a:ext cx="10725912"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各步骤详解</a:t>
            </a:r>
            <a:endParaRPr lang="en-US" sz="1400" dirty="0"/>
          </a:p>
        </p:txBody>
      </p:sp>
      <p:sp>
        <p:nvSpPr>
          <p:cNvPr id="38" name="Shape 36"/>
          <p:cNvSpPr/>
          <p:nvPr/>
        </p:nvSpPr>
        <p:spPr>
          <a:xfrm>
            <a:off x="1078992" y="3950208"/>
            <a:ext cx="91440" cy="91440"/>
          </a:xfrm>
          <a:prstGeom prst="ellipse">
            <a:avLst/>
          </a:prstGeom>
          <a:solidFill>
            <a:srgbClr val="D4A843"/>
          </a:solidFill>
          <a:ln/>
        </p:spPr>
      </p:sp>
      <p:sp>
        <p:nvSpPr>
          <p:cNvPr id="39" name="Text 37"/>
          <p:cNvSpPr/>
          <p:nvPr/>
        </p:nvSpPr>
        <p:spPr>
          <a:xfrm>
            <a:off x="1234440" y="3749040"/>
            <a:ext cx="9994392" cy="384048"/>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Step 1: 灰度化 - 将彩色图像转为灰度图, HOG对颜色信息不敏感, 灰度图足以描述形状</a:t>
            </a:r>
            <a:endParaRPr lang="en-US" sz="1000" dirty="0"/>
          </a:p>
        </p:txBody>
      </p:sp>
      <p:sp>
        <p:nvSpPr>
          <p:cNvPr id="40" name="Shape 38"/>
          <p:cNvSpPr/>
          <p:nvPr/>
        </p:nvSpPr>
        <p:spPr>
          <a:xfrm>
            <a:off x="1078992" y="4334256"/>
            <a:ext cx="91440" cy="91440"/>
          </a:xfrm>
          <a:prstGeom prst="ellipse">
            <a:avLst/>
          </a:prstGeom>
          <a:solidFill>
            <a:srgbClr val="D4A843"/>
          </a:solidFill>
          <a:ln/>
        </p:spPr>
      </p:sp>
      <p:sp>
        <p:nvSpPr>
          <p:cNvPr id="41" name="Text 39"/>
          <p:cNvSpPr/>
          <p:nvPr/>
        </p:nvSpPr>
        <p:spPr>
          <a:xfrm>
            <a:off x="1234440" y="4133088"/>
            <a:ext cx="9994392" cy="384048"/>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Step 2: 梯度计算 - 使用[-1,0,1]和[-1,0,1]^T算子(或Sobel)计算水平和垂直梯度</a:t>
            </a:r>
            <a:endParaRPr lang="en-US" sz="1000" dirty="0"/>
          </a:p>
        </p:txBody>
      </p:sp>
      <p:sp>
        <p:nvSpPr>
          <p:cNvPr id="42" name="Shape 40"/>
          <p:cNvSpPr/>
          <p:nvPr/>
        </p:nvSpPr>
        <p:spPr>
          <a:xfrm>
            <a:off x="1078992" y="4718304"/>
            <a:ext cx="91440" cy="91440"/>
          </a:xfrm>
          <a:prstGeom prst="ellipse">
            <a:avLst/>
          </a:prstGeom>
          <a:solidFill>
            <a:srgbClr val="D4A843"/>
          </a:solidFill>
          <a:ln/>
        </p:spPr>
      </p:sp>
      <p:sp>
        <p:nvSpPr>
          <p:cNvPr id="43" name="Text 41"/>
          <p:cNvSpPr/>
          <p:nvPr/>
        </p:nvSpPr>
        <p:spPr>
          <a:xfrm>
            <a:off x="1234440" y="4517136"/>
            <a:ext cx="9994392" cy="384048"/>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Step 3: Cell直方图 - 将8x8像素的Cell划分为9个方向bin(0-180度,每20度一个bin), 按梯度幅值加权投票</a:t>
            </a:r>
            <a:endParaRPr lang="en-US" sz="1000" dirty="0"/>
          </a:p>
        </p:txBody>
      </p:sp>
      <p:sp>
        <p:nvSpPr>
          <p:cNvPr id="44" name="Shape 42"/>
          <p:cNvSpPr/>
          <p:nvPr/>
        </p:nvSpPr>
        <p:spPr>
          <a:xfrm>
            <a:off x="1078992" y="5102352"/>
            <a:ext cx="91440" cy="91440"/>
          </a:xfrm>
          <a:prstGeom prst="ellipse">
            <a:avLst/>
          </a:prstGeom>
          <a:solidFill>
            <a:srgbClr val="D4A843"/>
          </a:solidFill>
          <a:ln/>
        </p:spPr>
      </p:sp>
      <p:sp>
        <p:nvSpPr>
          <p:cNvPr id="45" name="Text 43"/>
          <p:cNvSpPr/>
          <p:nvPr/>
        </p:nvSpPr>
        <p:spPr>
          <a:xfrm>
            <a:off x="1234440" y="4901184"/>
            <a:ext cx="9994392" cy="384048"/>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Step 4: Block归一化 - 将2x2 Cell组成Block(16x16), 对Block内4个Cell的36维向量做L2-Hys归一化</a:t>
            </a:r>
            <a:endParaRPr lang="en-US" sz="1000" dirty="0"/>
          </a:p>
        </p:txBody>
      </p:sp>
      <p:sp>
        <p:nvSpPr>
          <p:cNvPr id="46" name="Shape 44"/>
          <p:cNvSpPr/>
          <p:nvPr/>
        </p:nvSpPr>
        <p:spPr>
          <a:xfrm>
            <a:off x="1078992" y="5486400"/>
            <a:ext cx="91440" cy="91440"/>
          </a:xfrm>
          <a:prstGeom prst="ellipse">
            <a:avLst/>
          </a:prstGeom>
          <a:solidFill>
            <a:srgbClr val="D4A843"/>
          </a:solidFill>
          <a:ln/>
        </p:spPr>
      </p:sp>
      <p:sp>
        <p:nvSpPr>
          <p:cNvPr id="47" name="Text 45"/>
          <p:cNvSpPr/>
          <p:nvPr/>
        </p:nvSpPr>
        <p:spPr>
          <a:xfrm>
            <a:off x="1234440" y="5285232"/>
            <a:ext cx="9994392" cy="384048"/>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Step 5: 特征拼接 - 滑动Block窗口收集所有Block的特征向量, 串联形成完整的HOG特征描述子</a:t>
            </a:r>
            <a:endParaRPr lang="en-US" sz="1000" dirty="0"/>
          </a:p>
        </p:txBody>
      </p:sp>
      <p:sp>
        <p:nvSpPr>
          <p:cNvPr id="48" name="Shape 46"/>
          <p:cNvSpPr/>
          <p:nvPr/>
        </p:nvSpPr>
        <p:spPr>
          <a:xfrm>
            <a:off x="0" y="6492240"/>
            <a:ext cx="12188952" cy="18288"/>
          </a:xfrm>
          <a:prstGeom prst="rect">
            <a:avLst/>
          </a:prstGeom>
          <a:solidFill>
            <a:srgbClr val="97BC62"/>
          </a:solidFill>
          <a:ln/>
        </p:spPr>
      </p:sp>
      <p:sp>
        <p:nvSpPr>
          <p:cNvPr id="49" name="Text 47"/>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6/20</a:t>
            </a:r>
            <a:endParaRPr lang="en-US" sz="800" dirty="0"/>
          </a:p>
        </p:txBody>
      </p:sp>
      <p:sp>
        <p:nvSpPr>
          <p:cNvPr id="50"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HOG关键参数表</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关键超参数配置与默认值</a:t>
            </a:r>
            <a:endParaRPr lang="en-US" sz="1300" dirty="0"/>
          </a:p>
        </p:txBody>
      </p:sp>
      <p:sp>
        <p:nvSpPr>
          <p:cNvPr id="7" name="Shape 5"/>
          <p:cNvSpPr/>
          <p:nvPr/>
        </p:nvSpPr>
        <p:spPr>
          <a:xfrm>
            <a:off x="274320" y="1097280"/>
            <a:ext cx="36576" cy="5029200"/>
          </a:xfrm>
          <a:prstGeom prst="rect">
            <a:avLst/>
          </a:prstGeom>
          <a:solidFill>
            <a:srgbClr val="D4A843"/>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85316" y="1554480"/>
          <a:ext cx="9418320" cy="914400"/>
        </p:xfrm>
        <a:graphic>
          <a:graphicData uri="http://schemas.openxmlformats.org/drawingml/2006/table">
            <a:tbl>
              <a:tblPr/>
              <a:tblGrid>
                <a:gridCol w="1645920"/>
                <a:gridCol w="1097280"/>
                <a:gridCol w="1371600"/>
                <a:gridCol w="2743200"/>
                <a:gridCol w="256032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参数名称</a:t>
                      </a:r>
                      <a:endParaRPr lang="en-US" sz="11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符号</a:t>
                      </a:r>
                      <a:endParaRPr lang="en-US" sz="11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默认值</a:t>
                      </a:r>
                      <a:endParaRPr lang="en-US" sz="11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作用说明</a:t>
                      </a:r>
                      <a:endParaRPr lang="en-US" sz="11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调优建议</a:t>
                      </a:r>
                      <a:endParaRPr lang="en-US" sz="11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2C5F2D"/>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Cell大小</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cellSize</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8x8 像素</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梯度统计的基本单元</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行人检测常用8x8</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Block大小</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blockSize</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2x2 Cells</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归一化的基本单元</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通常为2x2个Cell</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Block步长</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blockStride</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1 Cell</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Block滑动步长</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等于CellSize</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方向Bin数</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nbins</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梯度方向量化数</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0-180度, 每bin 20度</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检测窗口</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winSize</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64x128</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滑动窗口大小</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行人常用64x128</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归一化方法</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L2-Hys</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Block向量归一化</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L2-Hys效果最佳</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梯度算子</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Sobel</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梯度计算方式</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简单差分即可</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5F9F2"/>
                    </a:solidFill>
                  </a:tcPr>
                </a:tc>
              </a:tr>
              <a:tr h="475488">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Gamma校正</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gamma</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否</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是否做Gamma校正</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c>
                  <a:txBody>
                    <a:bodyPr/>
                    <a:lstStyle/>
                    <a:p>
                      <a:pPr algn="ctr" indent="0" marL="0">
                        <a:buNone/>
                      </a:pPr>
                      <a:r>
                        <a:rPr lang="en-US" sz="1000" dirty="0">
                          <a:solidFill>
                            <a:srgbClr val="1A3A1A"/>
                          </a:solidFill>
                          <a:latin typeface="Calibri" pitchFamily="34" charset="0"/>
                          <a:ea typeface="Calibri" pitchFamily="34" charset="-122"/>
                          <a:cs typeface="Calibri" pitchFamily="34" charset="-120"/>
                        </a:rPr>
                        <a:t>通常不需要</a:t>
                      </a:r>
                      <a:endParaRPr lang="en-US" sz="1000" dirty="0">
                        <a:latin typeface="Calibri" charset="0"/>
                        <a:ea typeface="Calibri" charset="0"/>
                        <a:cs typeface="Calibri" charset="0"/>
                      </a:endParaRPr>
                    </a:p>
                  </a:txBody>
                  <a:tcPr marL="63500" marR="63500" marT="38100" marB="38100" anchor="ctr">
                    <a:lnL w="6350" cap="flat" cmpd="sng" algn="ctr">
                      <a:solidFill>
                        <a:srgbClr val="3D7A3E"/>
                      </a:solidFill>
                      <a:prstDash val="solid"/>
                      <a:round/>
                      <a:headEnd type="none" w="med" len="med"/>
                      <a:tailEnd type="none" w="med" len="med"/>
                    </a:lnL>
                    <a:lnR w="6350" cap="flat" cmpd="sng" algn="ctr">
                      <a:solidFill>
                        <a:srgbClr val="3D7A3E"/>
                      </a:solidFill>
                      <a:prstDash val="solid"/>
                      <a:round/>
                      <a:headEnd type="none" w="med" len="med"/>
                      <a:tailEnd type="none" w="med" len="med"/>
                    </a:lnR>
                    <a:lnT w="6350" cap="flat" cmpd="sng" algn="ctr">
                      <a:solidFill>
                        <a:srgbClr val="3D7A3E"/>
                      </a:solidFill>
                      <a:prstDash val="solid"/>
                      <a:round/>
                      <a:headEnd type="none" w="med" len="med"/>
                      <a:tailEnd type="none" w="med" len="med"/>
                    </a:lnT>
                    <a:lnB w="6350" cap="flat" cmpd="sng" algn="ctr">
                      <a:solidFill>
                        <a:srgbClr val="3D7A3E"/>
                      </a:solidFill>
                      <a:prstDash val="solid"/>
                      <a:round/>
                      <a:headEnd type="none" w="med" len="med"/>
                      <a:tailEnd type="none" w="med" len="med"/>
                    </a:lnB>
                    <a:solidFill>
                      <a:srgbClr val="FAF8F0"/>
                    </a:solidFill>
                  </a:tcPr>
                </a:tc>
              </a:tr>
            </a:tbl>
          </a:graphicData>
        </a:graphic>
      </p:graphicFrame>
      <p:sp>
        <p:nvSpPr>
          <p:cNvPr id="9" name="Text 6"/>
          <p:cNvSpPr/>
          <p:nvPr/>
        </p:nvSpPr>
        <p:spPr>
          <a:xfrm>
            <a:off x="731520" y="5394960"/>
            <a:ext cx="10725912"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参数间的数学关系</a:t>
            </a:r>
            <a:endParaRPr lang="en-US" sz="1400" dirty="0"/>
          </a:p>
        </p:txBody>
      </p:sp>
      <p:sp>
        <p:nvSpPr>
          <p:cNvPr id="10" name="Shape 7"/>
          <p:cNvSpPr/>
          <p:nvPr/>
        </p:nvSpPr>
        <p:spPr>
          <a:xfrm>
            <a:off x="960120" y="5760720"/>
            <a:ext cx="10268712" cy="502920"/>
          </a:xfrm>
          <a:prstGeom prst="roundRect">
            <a:avLst>
              <a:gd name="adj" fmla="val 14545"/>
            </a:avLst>
          </a:prstGeom>
          <a:solidFill>
            <a:srgbClr val="FDF6E3"/>
          </a:solidFill>
          <a:ln w="10160">
            <a:solidFill>
              <a:srgbClr val="D4A843"/>
            </a:solidFill>
            <a:prstDash val="solid"/>
          </a:ln>
        </p:spPr>
      </p:sp>
      <p:sp>
        <p:nvSpPr>
          <p:cNvPr id="11" name="Text 8"/>
          <p:cNvSpPr/>
          <p:nvPr/>
        </p:nvSpPr>
        <p:spPr>
          <a:xfrm>
            <a:off x="1143000" y="5852160"/>
            <a:ext cx="9902952" cy="320040"/>
          </a:xfrm>
          <a:prstGeom prst="rect">
            <a:avLst/>
          </a:prstGeom>
          <a:noFill/>
          <a:ln/>
        </p:spPr>
        <p:txBody>
          <a:bodyPr wrap="square" rtlCol="0" anchor="ctr"/>
          <a:lstStyle/>
          <a:p>
            <a:pPr algn="ctr" indent="0" marL="0">
              <a:buNone/>
            </a:pPr>
            <a:r>
              <a:rPr lang="en-US" sz="1400" dirty="0">
                <a:solidFill>
                  <a:srgbClr val="1A3A1A"/>
                </a:solidFill>
                <a:latin typeface="Courier New" pitchFamily="34" charset="0"/>
                <a:ea typeface="Courier New" pitchFamily="34" charset="-122"/>
                <a:cs typeface="Courier New" pitchFamily="34" charset="-120"/>
              </a:rPr>
              <a:t>Block向量维度 = 2x2 Cells x 9 bins = 36维  |  滑动Block数 = (W-16)/8+1 x (H-16)/8+1</a:t>
            </a:r>
            <a:endParaRPr lang="en-US" sz="1400" dirty="0"/>
          </a:p>
        </p:txBody>
      </p:sp>
      <p:sp>
        <p:nvSpPr>
          <p:cNvPr id="12" name="Shape 9"/>
          <p:cNvSpPr/>
          <p:nvPr/>
        </p:nvSpPr>
        <p:spPr>
          <a:xfrm>
            <a:off x="0" y="6492240"/>
            <a:ext cx="12188952" cy="18288"/>
          </a:xfrm>
          <a:prstGeom prst="rect">
            <a:avLst/>
          </a:prstGeom>
          <a:solidFill>
            <a:srgbClr val="97BC62"/>
          </a:solidFill>
          <a:ln/>
        </p:spPr>
      </p:sp>
      <p:sp>
        <p:nvSpPr>
          <p:cNvPr id="13" name="Text 10"/>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7/20</a:t>
            </a:r>
            <a:endParaRPr lang="en-US" sz="800" dirty="0"/>
          </a:p>
        </p:txBody>
      </p:sp>
      <p:sp>
        <p:nvSpPr>
          <p:cNvPr id="14"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HOG代码示例</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OpenCV Python - HOG特征提取与可视化</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914400" y="1371600"/>
            <a:ext cx="10360152" cy="4572000"/>
          </a:xfrm>
          <a:prstGeom prst="roundRect">
            <a:avLst>
              <a:gd name="adj" fmla="val 1600"/>
            </a:avLst>
          </a:prstGeom>
          <a:solidFill>
            <a:srgbClr val="2D2D2D"/>
          </a:solidFill>
          <a:ln w="12700">
            <a:solidFill>
              <a:srgbClr val="2C5F2D"/>
            </a:solidFill>
            <a:prstDash val="solid"/>
          </a:ln>
        </p:spPr>
      </p:sp>
      <p:sp>
        <p:nvSpPr>
          <p:cNvPr id="9" name="Text 7"/>
          <p:cNvSpPr/>
          <p:nvPr/>
        </p:nvSpPr>
        <p:spPr>
          <a:xfrm>
            <a:off x="1097280" y="1508760"/>
            <a:ext cx="9994392" cy="4297680"/>
          </a:xfrm>
          <a:prstGeom prst="rect">
            <a:avLst/>
          </a:prstGeom>
          <a:noFill/>
          <a:ln/>
        </p:spPr>
        <p:txBody>
          <a:bodyPr wrap="square" rtlCol="0" anchor="t"/>
          <a:lstStyle/>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import cv2</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import numpy as np</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import matplotlib.pyplot as plt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---- 1. 初始化HOG描述子 ----</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 = cv2.HOGDescriptor()</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hog.setSVMDetector(cv2.HOGDescriptor_getDefaultPeopleDetector())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---- 2. 读取图像 ----</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img = cv2.imread('pedestrian.jpg')</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img_gray = cv2.cvtColor(img, cv2.COLOR_BGR2GRAY)</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---- 3. 计算HOG特征 ----</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cell_size=(8,8), block_size=(16,16),</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block_stride=(8,8), nbins=9</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hog_descriptor = cv2.HOGDescriptor(</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_winSize=(64, 128),</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_blockSize=(16, 16),</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_blockStride=(8, 8),</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_cellSize=(8, 8),</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_nbins=9</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features = hog_descriptor.compute(img_gray)</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print(f"HOG特征维度: {features.shape[0]}")</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输出: HOG特征维度: 3780</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---- 4. 可视化HOG特征 ----</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使用skimage的hog函数可视化</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from skimage.feature import hog</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from skimage import exposure</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fd, hog_image = hog(</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img_gray, orientations=9,</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pixels_per_cell=(8, 8),</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cells_per_block=(2, 2),</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visualize=True</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hog_image_rescaled = exposure.rescale_intensity(</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hog_image, in_range=(0, 10)</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plt.imsave('hog_vis.png', hog_image_rescaled, cmap='gray')</a:t>
            </a:r>
            <a:endParaRPr lang="en-US" sz="950" dirty="0"/>
          </a:p>
        </p:txBody>
      </p:sp>
      <p:sp>
        <p:nvSpPr>
          <p:cNvPr id="10" name="Shape 8"/>
          <p:cNvSpPr/>
          <p:nvPr/>
        </p:nvSpPr>
        <p:spPr>
          <a:xfrm>
            <a:off x="0" y="6492240"/>
            <a:ext cx="12188952" cy="18288"/>
          </a:xfrm>
          <a:prstGeom prst="rect">
            <a:avLst/>
          </a:prstGeom>
          <a:solidFill>
            <a:srgbClr val="97BC62"/>
          </a:solidFill>
          <a:ln/>
        </p:spPr>
      </p:sp>
      <p:sp>
        <p:nvSpPr>
          <p:cNvPr id="11" name="Text 9"/>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8/20</a:t>
            </a:r>
            <a:endParaRPr lang="en-US" sz="800" dirty="0"/>
          </a:p>
        </p:txBody>
      </p:sp>
      <p:sp>
        <p:nvSpPr>
          <p:cNvPr id="12"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DPM核心思想</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根滤波器 + 部件滤波器 + 形变代价</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1645920" y="1280160"/>
            <a:ext cx="8897112" cy="640080"/>
          </a:xfrm>
          <a:prstGeom prst="roundRect">
            <a:avLst>
              <a:gd name="adj" fmla="val 11429"/>
            </a:avLst>
          </a:prstGeom>
          <a:solidFill>
            <a:srgbClr val="FDF6E3"/>
          </a:solidFill>
          <a:ln w="19050">
            <a:solidFill>
              <a:srgbClr val="D4A843"/>
            </a:solidFill>
            <a:prstDash val="solid"/>
          </a:ln>
        </p:spPr>
      </p:sp>
      <p:sp>
        <p:nvSpPr>
          <p:cNvPr id="9" name="Text 7"/>
          <p:cNvSpPr/>
          <p:nvPr/>
        </p:nvSpPr>
        <p:spPr>
          <a:xfrm>
            <a:off x="1828800" y="1371600"/>
            <a:ext cx="8531352" cy="457200"/>
          </a:xfrm>
          <a:prstGeom prst="rect">
            <a:avLst/>
          </a:prstGeom>
          <a:noFill/>
          <a:ln/>
        </p:spPr>
        <p:txBody>
          <a:bodyPr wrap="square" rtlCol="0" anchor="ctr"/>
          <a:lstStyle/>
          <a:p>
            <a:pPr algn="ctr" indent="0" marL="0">
              <a:buNone/>
            </a:pPr>
            <a:r>
              <a:rPr lang="en-US" sz="1300" b="1" dirty="0">
                <a:solidFill>
                  <a:srgbClr val="2C5F2D"/>
                </a:solidFill>
                <a:latin typeface="Calibri" pitchFamily="34" charset="0"/>
                <a:ea typeface="Calibri" pitchFamily="34" charset="-122"/>
                <a:cs typeface="Calibri" pitchFamily="34" charset="-120"/>
              </a:rPr>
              <a:t>DPM将物体建模为: 粗粒度的全局外观(根) + 精细的局部特征(部件) + 空间约束(形变代价)</a:t>
            </a:r>
            <a:endParaRPr lang="en-US" sz="1300" dirty="0"/>
          </a:p>
        </p:txBody>
      </p:sp>
      <p:sp>
        <p:nvSpPr>
          <p:cNvPr id="10" name="Shape 8"/>
          <p:cNvSpPr/>
          <p:nvPr/>
        </p:nvSpPr>
        <p:spPr>
          <a:xfrm>
            <a:off x="731520" y="2194560"/>
            <a:ext cx="3108960" cy="2103120"/>
          </a:xfrm>
          <a:prstGeom prst="roundRect">
            <a:avLst>
              <a:gd name="adj" fmla="val 3478"/>
            </a:avLst>
          </a:prstGeom>
          <a:solidFill>
            <a:srgbClr val="FAF8F0"/>
          </a:solidFill>
          <a:ln w="10160">
            <a:solidFill>
              <a:srgbClr val="2C5F2D"/>
            </a:solidFill>
            <a:prstDash val="solid"/>
          </a:ln>
        </p:spPr>
      </p:sp>
      <p:sp>
        <p:nvSpPr>
          <p:cNvPr id="11" name="Shape 9"/>
          <p:cNvSpPr/>
          <p:nvPr/>
        </p:nvSpPr>
        <p:spPr>
          <a:xfrm>
            <a:off x="731520" y="2194560"/>
            <a:ext cx="3108960" cy="54864"/>
          </a:xfrm>
          <a:prstGeom prst="rect">
            <a:avLst/>
          </a:prstGeom>
          <a:solidFill>
            <a:srgbClr val="2C5F2D"/>
          </a:solidFill>
          <a:ln/>
        </p:spPr>
      </p:sp>
      <p:sp>
        <p:nvSpPr>
          <p:cNvPr id="12" name="Text 10"/>
          <p:cNvSpPr/>
          <p:nvPr/>
        </p:nvSpPr>
        <p:spPr>
          <a:xfrm>
            <a:off x="868680" y="2304288"/>
            <a:ext cx="2834640" cy="320040"/>
          </a:xfrm>
          <a:prstGeom prst="rect">
            <a:avLst/>
          </a:prstGeom>
          <a:noFill/>
          <a:ln/>
        </p:spPr>
        <p:txBody>
          <a:bodyPr wrap="square" rtlCol="0" anchor="ctr"/>
          <a:lstStyle/>
          <a:p>
            <a:pPr algn="l" indent="0" marL="0">
              <a:buNone/>
            </a:pPr>
            <a:r>
              <a:rPr lang="en-US" sz="1200" b="1" dirty="0">
                <a:solidFill>
                  <a:srgbClr val="2C5F2D"/>
                </a:solidFill>
                <a:latin typeface="Georgia" pitchFamily="34" charset="0"/>
                <a:ea typeface="Georgia" pitchFamily="34" charset="-122"/>
                <a:cs typeface="Georgia" pitchFamily="34" charset="-120"/>
              </a:rPr>
              <a:t>根滤波器 Root Filter</a:t>
            </a:r>
            <a:endParaRPr lang="en-US" sz="1200" dirty="0"/>
          </a:p>
        </p:txBody>
      </p:sp>
      <p:sp>
        <p:nvSpPr>
          <p:cNvPr id="13" name="Text 11"/>
          <p:cNvSpPr/>
          <p:nvPr/>
        </p:nvSpPr>
        <p:spPr>
          <a:xfrm>
            <a:off x="868680" y="2633472"/>
            <a:ext cx="2834640" cy="155448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覆盖整个物体的粗粒度模板</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捕捉物体的整体外观和轮廓</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在HOG特征金字塔上滑动匹配</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尺寸与物体检测窗口一致</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提供粗略的位置估计</a:t>
            </a:r>
            <a:endParaRPr lang="en-US" sz="1000" dirty="0"/>
          </a:p>
        </p:txBody>
      </p:sp>
      <p:sp>
        <p:nvSpPr>
          <p:cNvPr id="14" name="Shape 12"/>
          <p:cNvSpPr/>
          <p:nvPr/>
        </p:nvSpPr>
        <p:spPr>
          <a:xfrm>
            <a:off x="4069080" y="2194560"/>
            <a:ext cx="3108960" cy="2103120"/>
          </a:xfrm>
          <a:prstGeom prst="roundRect">
            <a:avLst>
              <a:gd name="adj" fmla="val 3478"/>
            </a:avLst>
          </a:prstGeom>
          <a:solidFill>
            <a:srgbClr val="FAF8F0"/>
          </a:solidFill>
          <a:ln w="10160">
            <a:solidFill>
              <a:srgbClr val="97BC62"/>
            </a:solidFill>
            <a:prstDash val="solid"/>
          </a:ln>
        </p:spPr>
      </p:sp>
      <p:sp>
        <p:nvSpPr>
          <p:cNvPr id="15" name="Shape 13"/>
          <p:cNvSpPr/>
          <p:nvPr/>
        </p:nvSpPr>
        <p:spPr>
          <a:xfrm>
            <a:off x="4069080" y="2194560"/>
            <a:ext cx="3108960" cy="54864"/>
          </a:xfrm>
          <a:prstGeom prst="rect">
            <a:avLst/>
          </a:prstGeom>
          <a:solidFill>
            <a:srgbClr val="97BC62"/>
          </a:solidFill>
          <a:ln/>
        </p:spPr>
      </p:sp>
      <p:sp>
        <p:nvSpPr>
          <p:cNvPr id="16" name="Text 14"/>
          <p:cNvSpPr/>
          <p:nvPr/>
        </p:nvSpPr>
        <p:spPr>
          <a:xfrm>
            <a:off x="4206240" y="2304288"/>
            <a:ext cx="2834640" cy="320040"/>
          </a:xfrm>
          <a:prstGeom prst="rect">
            <a:avLst/>
          </a:prstGeom>
          <a:noFill/>
          <a:ln/>
        </p:spPr>
        <p:txBody>
          <a:bodyPr wrap="square" rtlCol="0" anchor="ctr"/>
          <a:lstStyle/>
          <a:p>
            <a:pPr algn="l" indent="0" marL="0">
              <a:buNone/>
            </a:pPr>
            <a:r>
              <a:rPr lang="en-US" sz="1200" b="1" dirty="0">
                <a:solidFill>
                  <a:srgbClr val="97BC62"/>
                </a:solidFill>
                <a:latin typeface="Georgia" pitchFamily="34" charset="0"/>
                <a:ea typeface="Georgia" pitchFamily="34" charset="-122"/>
                <a:cs typeface="Georgia" pitchFamily="34" charset="-120"/>
              </a:rPr>
              <a:t>部件滤波器 Part Filter</a:t>
            </a:r>
            <a:endParaRPr lang="en-US" sz="1200" dirty="0"/>
          </a:p>
        </p:txBody>
      </p:sp>
      <p:sp>
        <p:nvSpPr>
          <p:cNvPr id="17" name="Text 15"/>
          <p:cNvSpPr/>
          <p:nvPr/>
        </p:nvSpPr>
        <p:spPr>
          <a:xfrm>
            <a:off x="4206240" y="2633472"/>
            <a:ext cx="2834640" cy="155448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物体关键部位的精细模板</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如头部、躯干、四肢等</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在更高分辨率的特征图上匹配</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对局部特征更敏感</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每个部件有独立的锚点位置</a:t>
            </a:r>
            <a:endParaRPr lang="en-US" sz="1000" dirty="0"/>
          </a:p>
        </p:txBody>
      </p:sp>
      <p:sp>
        <p:nvSpPr>
          <p:cNvPr id="18" name="Shape 16"/>
          <p:cNvSpPr/>
          <p:nvPr/>
        </p:nvSpPr>
        <p:spPr>
          <a:xfrm>
            <a:off x="7406640" y="2194560"/>
            <a:ext cx="3108960" cy="2103120"/>
          </a:xfrm>
          <a:prstGeom prst="roundRect">
            <a:avLst>
              <a:gd name="adj" fmla="val 3478"/>
            </a:avLst>
          </a:prstGeom>
          <a:solidFill>
            <a:srgbClr val="FAF8F0"/>
          </a:solidFill>
          <a:ln w="10160">
            <a:solidFill>
              <a:srgbClr val="D4A843"/>
            </a:solidFill>
            <a:prstDash val="solid"/>
          </a:ln>
        </p:spPr>
      </p:sp>
      <p:sp>
        <p:nvSpPr>
          <p:cNvPr id="19" name="Shape 17"/>
          <p:cNvSpPr/>
          <p:nvPr/>
        </p:nvSpPr>
        <p:spPr>
          <a:xfrm>
            <a:off x="7406640" y="2194560"/>
            <a:ext cx="3108960" cy="54864"/>
          </a:xfrm>
          <a:prstGeom prst="rect">
            <a:avLst/>
          </a:prstGeom>
          <a:solidFill>
            <a:srgbClr val="D4A843"/>
          </a:solidFill>
          <a:ln/>
        </p:spPr>
      </p:sp>
      <p:sp>
        <p:nvSpPr>
          <p:cNvPr id="20" name="Text 18"/>
          <p:cNvSpPr/>
          <p:nvPr/>
        </p:nvSpPr>
        <p:spPr>
          <a:xfrm>
            <a:off x="7543800" y="2304288"/>
            <a:ext cx="2834640" cy="320040"/>
          </a:xfrm>
          <a:prstGeom prst="rect">
            <a:avLst/>
          </a:prstGeom>
          <a:noFill/>
          <a:ln/>
        </p:spPr>
        <p:txBody>
          <a:bodyPr wrap="square" rtlCol="0" anchor="ctr"/>
          <a:lstStyle/>
          <a:p>
            <a:pPr algn="l" indent="0" marL="0">
              <a:buNone/>
            </a:pPr>
            <a:r>
              <a:rPr lang="en-US" sz="1200" b="1" dirty="0">
                <a:solidFill>
                  <a:srgbClr val="D4A843"/>
                </a:solidFill>
                <a:latin typeface="Georgia" pitchFamily="34" charset="0"/>
                <a:ea typeface="Georgia" pitchFamily="34" charset="-122"/>
                <a:cs typeface="Georgia" pitchFamily="34" charset="-120"/>
              </a:rPr>
              <a:t>形变代价 Deformation Cost</a:t>
            </a:r>
            <a:endParaRPr lang="en-US" sz="1200" dirty="0"/>
          </a:p>
        </p:txBody>
      </p:sp>
      <p:sp>
        <p:nvSpPr>
          <p:cNvPr id="21" name="Text 19"/>
          <p:cNvSpPr/>
          <p:nvPr/>
        </p:nvSpPr>
        <p:spPr>
          <a:xfrm>
            <a:off x="7543800" y="2633472"/>
            <a:ext cx="2834640" cy="1554480"/>
          </a:xfrm>
          <a:prstGeom prst="rect">
            <a:avLst/>
          </a:prstGeom>
          <a:noFill/>
          <a:ln/>
        </p:spPr>
        <p:txBody>
          <a:bodyPr wrap="square" rtlCol="0" anchor="t"/>
          <a:lstStyle/>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约束部件相对于根的空间位置</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惩罚部件偏离锚点的距离</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允许适度的空间形变</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二次代价函数</a:t>
            </a:r>
            <a:endParaRPr lang="en-US" sz="1000" dirty="0"/>
          </a:p>
          <a:p>
            <a:pPr algn="l" indent="0" marL="0">
              <a:lnSpc>
                <a:spcPct val="120000"/>
              </a:lnSpc>
              <a:buNone/>
            </a:pPr>
            <a:r>
              <a:rPr lang="en-US" sz="1000" dirty="0">
                <a:solidFill>
                  <a:srgbClr val="1A3A1A"/>
                </a:solidFill>
                <a:latin typeface="Calibri" pitchFamily="34" charset="0"/>
                <a:ea typeface="Calibri" pitchFamily="34" charset="-122"/>
                <a:cs typeface="Calibri" pitchFamily="34" charset="-120"/>
              </a:rPr>
              <a:t>- d_i = a_i - 2*z_i + v_i</a:t>
            </a:r>
            <a:endParaRPr lang="en-US" sz="1000" dirty="0"/>
          </a:p>
        </p:txBody>
      </p:sp>
      <p:sp>
        <p:nvSpPr>
          <p:cNvPr id="22" name="Text 20"/>
          <p:cNvSpPr/>
          <p:nvPr/>
        </p:nvSpPr>
        <p:spPr>
          <a:xfrm>
            <a:off x="731520" y="4663440"/>
            <a:ext cx="10725912" cy="457200"/>
          </a:xfrm>
          <a:prstGeom prst="rect">
            <a:avLst/>
          </a:prstGeom>
          <a:noFill/>
          <a:ln/>
        </p:spPr>
        <p:txBody>
          <a:bodyPr wrap="square" rtlCol="0" anchor="ctr"/>
          <a:lstStyle/>
          <a:p>
            <a:pPr algn="ctr" indent="0" marL="0">
              <a:buNone/>
            </a:pPr>
            <a:r>
              <a:rPr lang="en-US" sz="1200" i="1" dirty="0">
                <a:solidFill>
                  <a:srgbClr val="1A3A1A"/>
                </a:solidFill>
                <a:latin typeface="Calibri" pitchFamily="34" charset="0"/>
                <a:ea typeface="Calibri" pitchFamily="34" charset="-122"/>
                <a:cs typeface="Calibri" pitchFamily="34" charset="-120"/>
              </a:rPr>
              <a:t>三者关系:  根滤波器提供全局得分 + 部件滤波器提供局部细化 - 形变代价惩罚偏移 = 最终检测分数</a:t>
            </a:r>
            <a:endParaRPr lang="en-US" sz="1200" dirty="0"/>
          </a:p>
        </p:txBody>
      </p:sp>
      <p:sp>
        <p:nvSpPr>
          <p:cNvPr id="23" name="Shape 21"/>
          <p:cNvSpPr/>
          <p:nvPr/>
        </p:nvSpPr>
        <p:spPr>
          <a:xfrm>
            <a:off x="960120" y="5943600"/>
            <a:ext cx="10268712" cy="502920"/>
          </a:xfrm>
          <a:prstGeom prst="roundRect">
            <a:avLst>
              <a:gd name="adj" fmla="val 14545"/>
            </a:avLst>
          </a:prstGeom>
          <a:solidFill>
            <a:srgbClr val="FDF6E3"/>
          </a:solidFill>
          <a:ln w="10160">
            <a:solidFill>
              <a:srgbClr val="D4A843"/>
            </a:solidFill>
            <a:prstDash val="solid"/>
          </a:ln>
        </p:spPr>
      </p:sp>
      <p:sp>
        <p:nvSpPr>
          <p:cNvPr id="24" name="Text 22"/>
          <p:cNvSpPr/>
          <p:nvPr/>
        </p:nvSpPr>
        <p:spPr>
          <a:xfrm>
            <a:off x="1143000" y="6035040"/>
            <a:ext cx="9902952" cy="320040"/>
          </a:xfrm>
          <a:prstGeom prst="rect">
            <a:avLst/>
          </a:prstGeom>
          <a:noFill/>
          <a:ln/>
        </p:spPr>
        <p:txBody>
          <a:bodyPr wrap="square" rtlCol="0" anchor="ctr"/>
          <a:lstStyle/>
          <a:p>
            <a:pPr algn="ctr" indent="0" marL="0">
              <a:buNone/>
            </a:pPr>
            <a:r>
              <a:rPr lang="en-US" sz="1400" dirty="0">
                <a:solidFill>
                  <a:srgbClr val="1A3A1A"/>
                </a:solidFill>
                <a:latin typeface="Courier New" pitchFamily="34" charset="0"/>
                <a:ea typeface="Courier New" pitchFamily="34" charset="-122"/>
                <a:cs typeface="Courier New" pitchFamily="34" charset="-120"/>
              </a:rPr>
              <a:t>Score(x) = F0 . phi(H, z) + SUM_i [ Fi . phi(H, zi) - di . D(az - zi) - bi ]</a:t>
            </a:r>
            <a:endParaRPr lang="en-US" sz="1400" dirty="0"/>
          </a:p>
        </p:txBody>
      </p:sp>
      <p:sp>
        <p:nvSpPr>
          <p:cNvPr id="25" name="Shape 23"/>
          <p:cNvSpPr/>
          <p:nvPr/>
        </p:nvSpPr>
        <p:spPr>
          <a:xfrm>
            <a:off x="0" y="6492240"/>
            <a:ext cx="12188952" cy="18288"/>
          </a:xfrm>
          <a:prstGeom prst="rect">
            <a:avLst/>
          </a:prstGeom>
          <a:solidFill>
            <a:srgbClr val="97BC62"/>
          </a:solidFill>
          <a:ln/>
        </p:spPr>
      </p:sp>
      <p:sp>
        <p:nvSpPr>
          <p:cNvPr id="26" name="Text 24"/>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9/20</a:t>
            </a:r>
            <a:endParaRPr lang="en-US" sz="800" dirty="0"/>
          </a:p>
        </p:txBody>
      </p:sp>
      <p:sp>
        <p:nvSpPr>
          <p:cNvPr id="27"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DPM检测流程图</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从输入图像到检测结果</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1188720" y="1371600"/>
            <a:ext cx="1828800" cy="822960"/>
          </a:xfrm>
          <a:prstGeom prst="roundRect">
            <a:avLst>
              <a:gd name="adj" fmla="val 8889"/>
            </a:avLst>
          </a:prstGeom>
          <a:solidFill>
            <a:srgbClr val="F5F9F2"/>
          </a:solidFill>
          <a:ln w="19050">
            <a:solidFill>
              <a:srgbClr val="6B8F6B"/>
            </a:solidFill>
            <a:prstDash val="solid"/>
          </a:ln>
        </p:spPr>
      </p:sp>
      <p:sp>
        <p:nvSpPr>
          <p:cNvPr id="9" name="Text 7"/>
          <p:cNvSpPr/>
          <p:nvPr/>
        </p:nvSpPr>
        <p:spPr>
          <a:xfrm>
            <a:off x="1188720" y="137160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输入图像</a:t>
            </a:r>
            <a:endParaRPr lang="en-US" sz="1200" dirty="0"/>
          </a:p>
        </p:txBody>
      </p:sp>
      <p:sp>
        <p:nvSpPr>
          <p:cNvPr id="10" name="Shape 8"/>
          <p:cNvSpPr/>
          <p:nvPr/>
        </p:nvSpPr>
        <p:spPr>
          <a:xfrm>
            <a:off x="1051560" y="1234440"/>
            <a:ext cx="320040" cy="320040"/>
          </a:xfrm>
          <a:prstGeom prst="ellipse">
            <a:avLst/>
          </a:prstGeom>
          <a:solidFill>
            <a:srgbClr val="6B8F6B"/>
          </a:solidFill>
          <a:ln/>
        </p:spPr>
      </p:sp>
      <p:sp>
        <p:nvSpPr>
          <p:cNvPr id="11" name="Text 9"/>
          <p:cNvSpPr/>
          <p:nvPr/>
        </p:nvSpPr>
        <p:spPr>
          <a:xfrm>
            <a:off x="1051560" y="123444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Shape 10"/>
          <p:cNvSpPr/>
          <p:nvPr/>
        </p:nvSpPr>
        <p:spPr>
          <a:xfrm>
            <a:off x="3749040" y="1371600"/>
            <a:ext cx="1828800" cy="822960"/>
          </a:xfrm>
          <a:prstGeom prst="roundRect">
            <a:avLst>
              <a:gd name="adj" fmla="val 8889"/>
            </a:avLst>
          </a:prstGeom>
          <a:solidFill>
            <a:srgbClr val="F5F9F2"/>
          </a:solidFill>
          <a:ln w="19050">
            <a:solidFill>
              <a:srgbClr val="2C5F2D"/>
            </a:solidFill>
            <a:prstDash val="solid"/>
          </a:ln>
        </p:spPr>
      </p:sp>
      <p:sp>
        <p:nvSpPr>
          <p:cNvPr id="13" name="Text 11"/>
          <p:cNvSpPr/>
          <p:nvPr/>
        </p:nvSpPr>
        <p:spPr>
          <a:xfrm>
            <a:off x="3749040" y="137160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HOG特征</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金字塔</a:t>
            </a:r>
            <a:endParaRPr lang="en-US" sz="1200" dirty="0"/>
          </a:p>
        </p:txBody>
      </p:sp>
      <p:sp>
        <p:nvSpPr>
          <p:cNvPr id="14" name="Shape 12"/>
          <p:cNvSpPr/>
          <p:nvPr/>
        </p:nvSpPr>
        <p:spPr>
          <a:xfrm>
            <a:off x="3611880" y="1234440"/>
            <a:ext cx="320040" cy="320040"/>
          </a:xfrm>
          <a:prstGeom prst="ellipse">
            <a:avLst/>
          </a:prstGeom>
          <a:solidFill>
            <a:srgbClr val="2C5F2D"/>
          </a:solidFill>
          <a:ln/>
        </p:spPr>
      </p:sp>
      <p:sp>
        <p:nvSpPr>
          <p:cNvPr id="15" name="Text 13"/>
          <p:cNvSpPr/>
          <p:nvPr/>
        </p:nvSpPr>
        <p:spPr>
          <a:xfrm>
            <a:off x="3611880" y="123444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6309360" y="1371600"/>
            <a:ext cx="1828800" cy="822960"/>
          </a:xfrm>
          <a:prstGeom prst="roundRect">
            <a:avLst>
              <a:gd name="adj" fmla="val 8889"/>
            </a:avLst>
          </a:prstGeom>
          <a:solidFill>
            <a:srgbClr val="F5F9F2"/>
          </a:solidFill>
          <a:ln w="19050">
            <a:solidFill>
              <a:srgbClr val="97BC62"/>
            </a:solidFill>
            <a:prstDash val="solid"/>
          </a:ln>
        </p:spPr>
      </p:sp>
      <p:sp>
        <p:nvSpPr>
          <p:cNvPr id="17" name="Text 15"/>
          <p:cNvSpPr/>
          <p:nvPr/>
        </p:nvSpPr>
        <p:spPr>
          <a:xfrm>
            <a:off x="6309360" y="137160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根滤波器</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滑动匹配</a:t>
            </a:r>
            <a:endParaRPr lang="en-US" sz="1200" dirty="0"/>
          </a:p>
        </p:txBody>
      </p:sp>
      <p:sp>
        <p:nvSpPr>
          <p:cNvPr id="18" name="Shape 16"/>
          <p:cNvSpPr/>
          <p:nvPr/>
        </p:nvSpPr>
        <p:spPr>
          <a:xfrm>
            <a:off x="6172200" y="1234440"/>
            <a:ext cx="320040" cy="320040"/>
          </a:xfrm>
          <a:prstGeom prst="ellipse">
            <a:avLst/>
          </a:prstGeom>
          <a:solidFill>
            <a:srgbClr val="97BC62"/>
          </a:solidFill>
          <a:ln/>
        </p:spPr>
      </p:sp>
      <p:sp>
        <p:nvSpPr>
          <p:cNvPr id="19" name="Text 17"/>
          <p:cNvSpPr/>
          <p:nvPr/>
        </p:nvSpPr>
        <p:spPr>
          <a:xfrm>
            <a:off x="6172200" y="123444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Shape 18"/>
          <p:cNvSpPr/>
          <p:nvPr/>
        </p:nvSpPr>
        <p:spPr>
          <a:xfrm>
            <a:off x="8869680" y="1371600"/>
            <a:ext cx="1828800" cy="822960"/>
          </a:xfrm>
          <a:prstGeom prst="roundRect">
            <a:avLst>
              <a:gd name="adj" fmla="val 8889"/>
            </a:avLst>
          </a:prstGeom>
          <a:solidFill>
            <a:srgbClr val="F5F9F2"/>
          </a:solidFill>
          <a:ln w="19050">
            <a:solidFill>
              <a:srgbClr val="D4A843"/>
            </a:solidFill>
            <a:prstDash val="solid"/>
          </a:ln>
        </p:spPr>
      </p:sp>
      <p:sp>
        <p:nvSpPr>
          <p:cNvPr id="21" name="Text 19"/>
          <p:cNvSpPr/>
          <p:nvPr/>
        </p:nvSpPr>
        <p:spPr>
          <a:xfrm>
            <a:off x="8869680" y="137160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部件滤波器</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精细匹配</a:t>
            </a:r>
            <a:endParaRPr lang="en-US" sz="1200" dirty="0"/>
          </a:p>
        </p:txBody>
      </p:sp>
      <p:sp>
        <p:nvSpPr>
          <p:cNvPr id="22" name="Shape 20"/>
          <p:cNvSpPr/>
          <p:nvPr/>
        </p:nvSpPr>
        <p:spPr>
          <a:xfrm>
            <a:off x="8732520" y="1234440"/>
            <a:ext cx="320040" cy="320040"/>
          </a:xfrm>
          <a:prstGeom prst="ellipse">
            <a:avLst/>
          </a:prstGeom>
          <a:solidFill>
            <a:srgbClr val="D4A843"/>
          </a:solidFill>
          <a:ln/>
        </p:spPr>
      </p:sp>
      <p:sp>
        <p:nvSpPr>
          <p:cNvPr id="23" name="Text 21"/>
          <p:cNvSpPr/>
          <p:nvPr/>
        </p:nvSpPr>
        <p:spPr>
          <a:xfrm>
            <a:off x="8732520" y="123444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4" name="Shape 22"/>
          <p:cNvSpPr/>
          <p:nvPr/>
        </p:nvSpPr>
        <p:spPr>
          <a:xfrm>
            <a:off x="8869680" y="3017520"/>
            <a:ext cx="1828800" cy="822960"/>
          </a:xfrm>
          <a:prstGeom prst="roundRect">
            <a:avLst>
              <a:gd name="adj" fmla="val 8889"/>
            </a:avLst>
          </a:prstGeom>
          <a:solidFill>
            <a:srgbClr val="F5F9F2"/>
          </a:solidFill>
          <a:ln w="19050">
            <a:solidFill>
              <a:srgbClr val="2C5F2D"/>
            </a:solidFill>
            <a:prstDash val="solid"/>
          </a:ln>
        </p:spPr>
      </p:sp>
      <p:sp>
        <p:nvSpPr>
          <p:cNvPr id="25" name="Text 23"/>
          <p:cNvSpPr/>
          <p:nvPr/>
        </p:nvSpPr>
        <p:spPr>
          <a:xfrm>
            <a:off x="8869680" y="301752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计算响应</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得分</a:t>
            </a:r>
            <a:endParaRPr lang="en-US" sz="1200" dirty="0"/>
          </a:p>
        </p:txBody>
      </p:sp>
      <p:sp>
        <p:nvSpPr>
          <p:cNvPr id="26" name="Shape 24"/>
          <p:cNvSpPr/>
          <p:nvPr/>
        </p:nvSpPr>
        <p:spPr>
          <a:xfrm>
            <a:off x="8732520" y="2880360"/>
            <a:ext cx="320040" cy="320040"/>
          </a:xfrm>
          <a:prstGeom prst="ellipse">
            <a:avLst/>
          </a:prstGeom>
          <a:solidFill>
            <a:srgbClr val="2C5F2D"/>
          </a:solidFill>
          <a:ln/>
        </p:spPr>
      </p:sp>
      <p:sp>
        <p:nvSpPr>
          <p:cNvPr id="27" name="Text 25"/>
          <p:cNvSpPr/>
          <p:nvPr/>
        </p:nvSpPr>
        <p:spPr>
          <a:xfrm>
            <a:off x="8732520" y="288036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8" name="Shape 26"/>
          <p:cNvSpPr/>
          <p:nvPr/>
        </p:nvSpPr>
        <p:spPr>
          <a:xfrm>
            <a:off x="6309360" y="3017520"/>
            <a:ext cx="1828800" cy="822960"/>
          </a:xfrm>
          <a:prstGeom prst="roundRect">
            <a:avLst>
              <a:gd name="adj" fmla="val 8889"/>
            </a:avLst>
          </a:prstGeom>
          <a:solidFill>
            <a:srgbClr val="F5F9F2"/>
          </a:solidFill>
          <a:ln w="19050">
            <a:solidFill>
              <a:srgbClr val="97BC62"/>
            </a:solidFill>
            <a:prstDash val="solid"/>
          </a:ln>
        </p:spPr>
      </p:sp>
      <p:sp>
        <p:nvSpPr>
          <p:cNvPr id="29" name="Text 27"/>
          <p:cNvSpPr/>
          <p:nvPr/>
        </p:nvSpPr>
        <p:spPr>
          <a:xfrm>
            <a:off x="6309360" y="301752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非极大值</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抑制NMS</a:t>
            </a:r>
            <a:endParaRPr lang="en-US" sz="1200" dirty="0"/>
          </a:p>
        </p:txBody>
      </p:sp>
      <p:sp>
        <p:nvSpPr>
          <p:cNvPr id="30" name="Shape 28"/>
          <p:cNvSpPr/>
          <p:nvPr/>
        </p:nvSpPr>
        <p:spPr>
          <a:xfrm>
            <a:off x="6172200" y="2880360"/>
            <a:ext cx="320040" cy="320040"/>
          </a:xfrm>
          <a:prstGeom prst="ellipse">
            <a:avLst/>
          </a:prstGeom>
          <a:solidFill>
            <a:srgbClr val="97BC62"/>
          </a:solidFill>
          <a:ln/>
        </p:spPr>
      </p:sp>
      <p:sp>
        <p:nvSpPr>
          <p:cNvPr id="31" name="Text 29"/>
          <p:cNvSpPr/>
          <p:nvPr/>
        </p:nvSpPr>
        <p:spPr>
          <a:xfrm>
            <a:off x="6172200" y="288036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2" name="Shape 30"/>
          <p:cNvSpPr/>
          <p:nvPr/>
        </p:nvSpPr>
        <p:spPr>
          <a:xfrm>
            <a:off x="3749040" y="3017520"/>
            <a:ext cx="1828800" cy="822960"/>
          </a:xfrm>
          <a:prstGeom prst="roundRect">
            <a:avLst>
              <a:gd name="adj" fmla="val 8889"/>
            </a:avLst>
          </a:prstGeom>
          <a:solidFill>
            <a:srgbClr val="F5F9F2"/>
          </a:solidFill>
          <a:ln w="19050">
            <a:solidFill>
              <a:srgbClr val="D4A843"/>
            </a:solidFill>
            <a:prstDash val="solid"/>
          </a:ln>
        </p:spPr>
      </p:sp>
      <p:sp>
        <p:nvSpPr>
          <p:cNvPr id="33" name="Text 31"/>
          <p:cNvSpPr/>
          <p:nvPr/>
        </p:nvSpPr>
        <p:spPr>
          <a:xfrm>
            <a:off x="3749040" y="3017520"/>
            <a:ext cx="1828800" cy="822960"/>
          </a:xfrm>
          <a:prstGeom prst="rect">
            <a:avLst/>
          </a:prstGeom>
          <a:noFill/>
          <a:ln/>
        </p:spPr>
        <p:txBody>
          <a:bodyPr wrap="square" rtlCol="0" anchor="ctr"/>
          <a:lstStyle/>
          <a:p>
            <a:pPr algn="ctr" indent="0" marL="0">
              <a:buNone/>
            </a:pPr>
            <a:r>
              <a:rPr lang="en-US" sz="1200" b="1" dirty="0">
                <a:solidFill>
                  <a:srgbClr val="1A3A1A"/>
                </a:solidFill>
                <a:latin typeface="Calibri" pitchFamily="34" charset="0"/>
                <a:ea typeface="Calibri" pitchFamily="34" charset="-122"/>
                <a:cs typeface="Calibri" pitchFamily="34" charset="-120"/>
              </a:rPr>
              <a:t>输出</a:t>
            </a:r>
            <a:endParaRPr lang="en-US" sz="1200" dirty="0"/>
          </a:p>
          <a:p>
            <a:pPr algn="ctr" indent="0" marL="0">
              <a:buNone/>
            </a:pPr>
            <a:r>
              <a:rPr lang="en-US" sz="1200" b="1" dirty="0">
                <a:solidFill>
                  <a:srgbClr val="1A3A1A"/>
                </a:solidFill>
                <a:latin typeface="Calibri" pitchFamily="34" charset="0"/>
                <a:ea typeface="Calibri" pitchFamily="34" charset="-122"/>
                <a:cs typeface="Calibri" pitchFamily="34" charset="-120"/>
              </a:rPr>
              <a:t>检测结果</a:t>
            </a:r>
            <a:endParaRPr lang="en-US" sz="1200" dirty="0"/>
          </a:p>
        </p:txBody>
      </p:sp>
      <p:sp>
        <p:nvSpPr>
          <p:cNvPr id="34" name="Shape 32"/>
          <p:cNvSpPr/>
          <p:nvPr/>
        </p:nvSpPr>
        <p:spPr>
          <a:xfrm>
            <a:off x="3611880" y="2880360"/>
            <a:ext cx="320040" cy="320040"/>
          </a:xfrm>
          <a:prstGeom prst="ellipse">
            <a:avLst/>
          </a:prstGeom>
          <a:solidFill>
            <a:srgbClr val="D4A843"/>
          </a:solidFill>
          <a:ln/>
        </p:spPr>
      </p:sp>
      <p:sp>
        <p:nvSpPr>
          <p:cNvPr id="35" name="Text 33"/>
          <p:cNvSpPr/>
          <p:nvPr/>
        </p:nvSpPr>
        <p:spPr>
          <a:xfrm>
            <a:off x="3611880" y="2880360"/>
            <a:ext cx="32004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6" name="Text 34"/>
          <p:cNvSpPr/>
          <p:nvPr/>
        </p:nvSpPr>
        <p:spPr>
          <a:xfrm>
            <a:off x="3017520" y="1673352"/>
            <a:ext cx="731520" cy="27432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37" name="Text 35"/>
          <p:cNvSpPr/>
          <p:nvPr/>
        </p:nvSpPr>
        <p:spPr>
          <a:xfrm>
            <a:off x="5577840" y="1673352"/>
            <a:ext cx="731520" cy="27432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38" name="Text 36"/>
          <p:cNvSpPr/>
          <p:nvPr/>
        </p:nvSpPr>
        <p:spPr>
          <a:xfrm>
            <a:off x="8138160" y="1673352"/>
            <a:ext cx="731520" cy="27432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39" name="Text 37"/>
          <p:cNvSpPr/>
          <p:nvPr/>
        </p:nvSpPr>
        <p:spPr>
          <a:xfrm>
            <a:off x="9646920" y="2194560"/>
            <a:ext cx="320040" cy="45720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40" name="Text 38"/>
          <p:cNvSpPr/>
          <p:nvPr/>
        </p:nvSpPr>
        <p:spPr>
          <a:xfrm>
            <a:off x="10698480" y="3319272"/>
            <a:ext cx="731520" cy="27432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41" name="Text 39"/>
          <p:cNvSpPr/>
          <p:nvPr/>
        </p:nvSpPr>
        <p:spPr>
          <a:xfrm>
            <a:off x="8138160" y="3319272"/>
            <a:ext cx="731520" cy="274320"/>
          </a:xfrm>
          <a:prstGeom prst="rect">
            <a:avLst/>
          </a:prstGeom>
          <a:noFill/>
          <a:ln/>
        </p:spPr>
        <p:txBody>
          <a:bodyPr wrap="square" rtlCol="0" anchor="ctr"/>
          <a:lstStyle/>
          <a:p>
            <a:pPr algn="ctr" indent="0" marL="0">
              <a:buNone/>
            </a:pPr>
            <a:r>
              <a:rPr lang="en-US" sz="1400" dirty="0">
                <a:solidFill>
                  <a:srgbClr val="D4A843"/>
                </a:solidFill>
              </a:rPr>
              <a:t>◀</a:t>
            </a:r>
            <a:endParaRPr lang="en-US" sz="1400" dirty="0"/>
          </a:p>
        </p:txBody>
      </p:sp>
      <p:sp>
        <p:nvSpPr>
          <p:cNvPr id="42" name="Text 40"/>
          <p:cNvSpPr/>
          <p:nvPr/>
        </p:nvSpPr>
        <p:spPr>
          <a:xfrm>
            <a:off x="731520" y="4297680"/>
            <a:ext cx="10725912"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流程要点说明</a:t>
            </a:r>
            <a:endParaRPr lang="en-US" sz="1400" dirty="0"/>
          </a:p>
        </p:txBody>
      </p:sp>
      <p:sp>
        <p:nvSpPr>
          <p:cNvPr id="43" name="Shape 41"/>
          <p:cNvSpPr/>
          <p:nvPr/>
        </p:nvSpPr>
        <p:spPr>
          <a:xfrm>
            <a:off x="1078992" y="4882896"/>
            <a:ext cx="91440" cy="91440"/>
          </a:xfrm>
          <a:prstGeom prst="ellipse">
            <a:avLst/>
          </a:prstGeom>
          <a:solidFill>
            <a:srgbClr val="D4A843"/>
          </a:solidFill>
          <a:ln/>
        </p:spPr>
      </p:sp>
      <p:sp>
        <p:nvSpPr>
          <p:cNvPr id="44" name="Text 42"/>
          <p:cNvSpPr/>
          <p:nvPr/>
        </p:nvSpPr>
        <p:spPr>
          <a:xfrm>
            <a:off x="1234440" y="4663440"/>
            <a:ext cx="9994392" cy="41148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HOG金字塔: 对原始图像构建多尺度HOG特征图(通常约10个尺度), 实现多尺度检测</a:t>
            </a:r>
            <a:endParaRPr lang="en-US" sz="1100" dirty="0"/>
          </a:p>
        </p:txBody>
      </p:sp>
      <p:sp>
        <p:nvSpPr>
          <p:cNvPr id="45" name="Shape 43"/>
          <p:cNvSpPr/>
          <p:nvPr/>
        </p:nvSpPr>
        <p:spPr>
          <a:xfrm>
            <a:off x="1078992" y="5294376"/>
            <a:ext cx="91440" cy="91440"/>
          </a:xfrm>
          <a:prstGeom prst="ellipse">
            <a:avLst/>
          </a:prstGeom>
          <a:solidFill>
            <a:srgbClr val="D4A843"/>
          </a:solidFill>
          <a:ln/>
        </p:spPr>
      </p:sp>
      <p:sp>
        <p:nvSpPr>
          <p:cNvPr id="46" name="Text 44"/>
          <p:cNvSpPr/>
          <p:nvPr/>
        </p:nvSpPr>
        <p:spPr>
          <a:xfrm>
            <a:off x="1234440" y="5074920"/>
            <a:ext cx="9994392" cy="41148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根+部件匹配: 根滤波器在较低分辨率匹配, 部件滤波器在2倍分辨率上精细匹配</a:t>
            </a:r>
            <a:endParaRPr lang="en-US" sz="1100" dirty="0"/>
          </a:p>
        </p:txBody>
      </p:sp>
      <p:sp>
        <p:nvSpPr>
          <p:cNvPr id="47" name="Shape 45"/>
          <p:cNvSpPr/>
          <p:nvPr/>
        </p:nvSpPr>
        <p:spPr>
          <a:xfrm>
            <a:off x="1078992" y="5705856"/>
            <a:ext cx="91440" cy="91440"/>
          </a:xfrm>
          <a:prstGeom prst="ellipse">
            <a:avLst/>
          </a:prstGeom>
          <a:solidFill>
            <a:srgbClr val="D4A843"/>
          </a:solidFill>
          <a:ln/>
        </p:spPr>
      </p:sp>
      <p:sp>
        <p:nvSpPr>
          <p:cNvPr id="48" name="Text 46"/>
          <p:cNvSpPr/>
          <p:nvPr/>
        </p:nvSpPr>
        <p:spPr>
          <a:xfrm>
            <a:off x="1234440" y="5486400"/>
            <a:ext cx="9994392" cy="41148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NMS后处理: 去除重叠的检测框, 保留得分最高的结果, 阈值通常设为-0.5</a:t>
            </a:r>
            <a:endParaRPr lang="en-US" sz="1100" dirty="0"/>
          </a:p>
        </p:txBody>
      </p:sp>
      <p:sp>
        <p:nvSpPr>
          <p:cNvPr id="49" name="Shape 47"/>
          <p:cNvSpPr/>
          <p:nvPr/>
        </p:nvSpPr>
        <p:spPr>
          <a:xfrm>
            <a:off x="0" y="6492240"/>
            <a:ext cx="12188952" cy="18288"/>
          </a:xfrm>
          <a:prstGeom prst="rect">
            <a:avLst/>
          </a:prstGeom>
          <a:solidFill>
            <a:srgbClr val="97BC62"/>
          </a:solidFill>
          <a:ln/>
        </p:spPr>
      </p:sp>
      <p:sp>
        <p:nvSpPr>
          <p:cNvPr id="50" name="Text 48"/>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10/20</a:t>
            </a:r>
            <a:endParaRPr lang="en-US" sz="800" dirty="0"/>
          </a:p>
        </p:txBody>
      </p:sp>
      <p:sp>
        <p:nvSpPr>
          <p:cNvPr id="51"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DPM评分函数</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Scoring Function - 数学表达</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Text 6"/>
          <p:cNvSpPr/>
          <p:nvPr/>
        </p:nvSpPr>
        <p:spPr>
          <a:xfrm>
            <a:off x="731520" y="1188720"/>
            <a:ext cx="10725912" cy="32004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DPM评分函数（核心公式）</a:t>
            </a:r>
            <a:endParaRPr lang="en-US" sz="1600" dirty="0"/>
          </a:p>
        </p:txBody>
      </p:sp>
      <p:sp>
        <p:nvSpPr>
          <p:cNvPr id="9" name="Shape 7"/>
          <p:cNvSpPr/>
          <p:nvPr/>
        </p:nvSpPr>
        <p:spPr>
          <a:xfrm>
            <a:off x="1188720" y="1554480"/>
            <a:ext cx="9811512" cy="640080"/>
          </a:xfrm>
          <a:prstGeom prst="roundRect">
            <a:avLst>
              <a:gd name="adj" fmla="val 11429"/>
            </a:avLst>
          </a:prstGeom>
          <a:solidFill>
            <a:srgbClr val="FDF6E3"/>
          </a:solidFill>
          <a:ln w="10160">
            <a:solidFill>
              <a:srgbClr val="D4A843"/>
            </a:solidFill>
            <a:prstDash val="solid"/>
          </a:ln>
        </p:spPr>
      </p:sp>
      <p:sp>
        <p:nvSpPr>
          <p:cNvPr id="10" name="Text 8"/>
          <p:cNvSpPr/>
          <p:nvPr/>
        </p:nvSpPr>
        <p:spPr>
          <a:xfrm>
            <a:off x="1371600" y="1645920"/>
            <a:ext cx="9445752" cy="457200"/>
          </a:xfrm>
          <a:prstGeom prst="rect">
            <a:avLst/>
          </a:prstGeom>
          <a:noFill/>
          <a:ln/>
        </p:spPr>
        <p:txBody>
          <a:bodyPr wrap="square" rtlCol="0" anchor="ctr"/>
          <a:lstStyle/>
          <a:p>
            <a:pPr algn="ctr" indent="0" marL="0">
              <a:buNone/>
            </a:pPr>
            <a:r>
              <a:rPr lang="en-US" sz="1400" dirty="0">
                <a:solidFill>
                  <a:srgbClr val="1A3A1A"/>
                </a:solidFill>
                <a:latin typeface="Courier New" pitchFamily="34" charset="0"/>
                <a:ea typeface="Courier New" pitchFamily="34" charset="-122"/>
                <a:cs typeface="Courier New" pitchFamily="34" charset="-120"/>
              </a:rPr>
              <a:t>S(x, p) = F0 . phi(H, z0) + SUM_i [ Fi . phi(H, zi) - di . D(ai - zi) - bi ]</a:t>
            </a:r>
            <a:endParaRPr lang="en-US" sz="1400" dirty="0"/>
          </a:p>
        </p:txBody>
      </p:sp>
      <p:sp>
        <p:nvSpPr>
          <p:cNvPr id="11" name="Shape 9"/>
          <p:cNvSpPr/>
          <p:nvPr/>
        </p:nvSpPr>
        <p:spPr>
          <a:xfrm>
            <a:off x="731520" y="2468880"/>
            <a:ext cx="3200400" cy="640080"/>
          </a:xfrm>
          <a:prstGeom prst="roundRect">
            <a:avLst>
              <a:gd name="adj" fmla="val 8571"/>
            </a:avLst>
          </a:prstGeom>
          <a:solidFill>
            <a:srgbClr val="F5F9F2"/>
          </a:solidFill>
          <a:ln w="12700">
            <a:solidFill>
              <a:srgbClr val="2C5F2D"/>
            </a:solidFill>
            <a:prstDash val="solid"/>
          </a:ln>
        </p:spPr>
      </p:sp>
      <p:sp>
        <p:nvSpPr>
          <p:cNvPr id="12" name="Text 10"/>
          <p:cNvSpPr/>
          <p:nvPr/>
        </p:nvSpPr>
        <p:spPr>
          <a:xfrm>
            <a:off x="914400" y="2468880"/>
            <a:ext cx="2834640" cy="640080"/>
          </a:xfrm>
          <a:prstGeom prst="rect">
            <a:avLst/>
          </a:prstGeom>
          <a:noFill/>
          <a:ln/>
        </p:spPr>
        <p:txBody>
          <a:bodyPr wrap="square" rtlCol="0" anchor="ctr"/>
          <a:lstStyle/>
          <a:p>
            <a:pPr algn="ctr" indent="0" marL="0">
              <a:buNone/>
            </a:pPr>
            <a:r>
              <a:rPr lang="en-US" sz="1300" b="1" dirty="0">
                <a:solidFill>
                  <a:srgbClr val="2C5F2D"/>
                </a:solidFill>
                <a:latin typeface="Courier New" pitchFamily="34" charset="0"/>
                <a:ea typeface="Courier New" pitchFamily="34" charset="-122"/>
                <a:cs typeface="Courier New" pitchFamily="34" charset="-120"/>
              </a:rPr>
              <a:t>F0 . phi(H, z0)</a:t>
            </a:r>
            <a:endParaRPr lang="en-US" sz="1300" dirty="0"/>
          </a:p>
        </p:txBody>
      </p:sp>
      <p:sp>
        <p:nvSpPr>
          <p:cNvPr id="13" name="Text 11"/>
          <p:cNvSpPr/>
          <p:nvPr/>
        </p:nvSpPr>
        <p:spPr>
          <a:xfrm>
            <a:off x="4206240" y="2468880"/>
            <a:ext cx="2743200" cy="320040"/>
          </a:xfrm>
          <a:prstGeom prst="rect">
            <a:avLst/>
          </a:prstGeom>
          <a:noFill/>
          <a:ln/>
        </p:spPr>
        <p:txBody>
          <a:bodyPr wrap="square" rtlCol="0" anchor="ctr"/>
          <a:lstStyle/>
          <a:p>
            <a:pPr algn="l" indent="0" marL="0">
              <a:buNone/>
            </a:pPr>
            <a:r>
              <a:rPr lang="en-US" sz="1200" b="1" dirty="0">
                <a:solidFill>
                  <a:srgbClr val="2C5F2D"/>
                </a:solidFill>
                <a:latin typeface="Calibri" pitchFamily="34" charset="0"/>
                <a:ea typeface="Calibri" pitchFamily="34" charset="-122"/>
                <a:cs typeface="Calibri" pitchFamily="34" charset="-120"/>
              </a:rPr>
              <a:t>根滤波器得分</a:t>
            </a:r>
            <a:endParaRPr lang="en-US" sz="1200" dirty="0"/>
          </a:p>
        </p:txBody>
      </p:sp>
      <p:sp>
        <p:nvSpPr>
          <p:cNvPr id="14" name="Text 12"/>
          <p:cNvSpPr/>
          <p:nvPr/>
        </p:nvSpPr>
        <p:spPr>
          <a:xfrm>
            <a:off x="4206240" y="2761488"/>
            <a:ext cx="5943600" cy="32004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根滤波器模板F0与位置z0处的HOG特征phi的内积</a:t>
            </a:r>
            <a:endParaRPr lang="en-US" sz="1000" dirty="0"/>
          </a:p>
        </p:txBody>
      </p:sp>
      <p:sp>
        <p:nvSpPr>
          <p:cNvPr id="15" name="Shape 13"/>
          <p:cNvSpPr/>
          <p:nvPr/>
        </p:nvSpPr>
        <p:spPr>
          <a:xfrm>
            <a:off x="731520" y="3291840"/>
            <a:ext cx="3200400" cy="640080"/>
          </a:xfrm>
          <a:prstGeom prst="roundRect">
            <a:avLst>
              <a:gd name="adj" fmla="val 8571"/>
            </a:avLst>
          </a:prstGeom>
          <a:solidFill>
            <a:srgbClr val="F5F9F2"/>
          </a:solidFill>
          <a:ln w="12700">
            <a:solidFill>
              <a:srgbClr val="97BC62"/>
            </a:solidFill>
            <a:prstDash val="solid"/>
          </a:ln>
        </p:spPr>
      </p:sp>
      <p:sp>
        <p:nvSpPr>
          <p:cNvPr id="16" name="Text 14"/>
          <p:cNvSpPr/>
          <p:nvPr/>
        </p:nvSpPr>
        <p:spPr>
          <a:xfrm>
            <a:off x="914400" y="3291840"/>
            <a:ext cx="2834640" cy="640080"/>
          </a:xfrm>
          <a:prstGeom prst="rect">
            <a:avLst/>
          </a:prstGeom>
          <a:noFill/>
          <a:ln/>
        </p:spPr>
        <p:txBody>
          <a:bodyPr wrap="square" rtlCol="0" anchor="ctr"/>
          <a:lstStyle/>
          <a:p>
            <a:pPr algn="ctr" indent="0" marL="0">
              <a:buNone/>
            </a:pPr>
            <a:r>
              <a:rPr lang="en-US" sz="1300" b="1" dirty="0">
                <a:solidFill>
                  <a:srgbClr val="97BC62"/>
                </a:solidFill>
                <a:latin typeface="Courier New" pitchFamily="34" charset="0"/>
                <a:ea typeface="Courier New" pitchFamily="34" charset="-122"/>
                <a:cs typeface="Courier New" pitchFamily="34" charset="-120"/>
              </a:rPr>
              <a:t>Fi . phi(H, zi)</a:t>
            </a:r>
            <a:endParaRPr lang="en-US" sz="1300" dirty="0"/>
          </a:p>
        </p:txBody>
      </p:sp>
      <p:sp>
        <p:nvSpPr>
          <p:cNvPr id="17" name="Text 15"/>
          <p:cNvSpPr/>
          <p:nvPr/>
        </p:nvSpPr>
        <p:spPr>
          <a:xfrm>
            <a:off x="4206240" y="3291840"/>
            <a:ext cx="2743200" cy="320040"/>
          </a:xfrm>
          <a:prstGeom prst="rect">
            <a:avLst/>
          </a:prstGeom>
          <a:noFill/>
          <a:ln/>
        </p:spPr>
        <p:txBody>
          <a:bodyPr wrap="square" rtlCol="0" anchor="ctr"/>
          <a:lstStyle/>
          <a:p>
            <a:pPr algn="l" indent="0" marL="0">
              <a:buNone/>
            </a:pPr>
            <a:r>
              <a:rPr lang="en-US" sz="1200" b="1" dirty="0">
                <a:solidFill>
                  <a:srgbClr val="2C5F2D"/>
                </a:solidFill>
                <a:latin typeface="Calibri" pitchFamily="34" charset="0"/>
                <a:ea typeface="Calibri" pitchFamily="34" charset="-122"/>
                <a:cs typeface="Calibri" pitchFamily="34" charset="-120"/>
              </a:rPr>
              <a:t>部件滤波器得分</a:t>
            </a:r>
            <a:endParaRPr lang="en-US" sz="1200" dirty="0"/>
          </a:p>
        </p:txBody>
      </p:sp>
      <p:sp>
        <p:nvSpPr>
          <p:cNvPr id="18" name="Text 16"/>
          <p:cNvSpPr/>
          <p:nvPr/>
        </p:nvSpPr>
        <p:spPr>
          <a:xfrm>
            <a:off x="4206240" y="3584448"/>
            <a:ext cx="5943600" cy="32004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第i个部件滤波器Fi与位置zi处的HOG特征的内积</a:t>
            </a:r>
            <a:endParaRPr lang="en-US" sz="1000" dirty="0"/>
          </a:p>
        </p:txBody>
      </p:sp>
      <p:sp>
        <p:nvSpPr>
          <p:cNvPr id="19" name="Shape 17"/>
          <p:cNvSpPr/>
          <p:nvPr/>
        </p:nvSpPr>
        <p:spPr>
          <a:xfrm>
            <a:off x="731520" y="4114800"/>
            <a:ext cx="3200400" cy="640080"/>
          </a:xfrm>
          <a:prstGeom prst="roundRect">
            <a:avLst>
              <a:gd name="adj" fmla="val 8571"/>
            </a:avLst>
          </a:prstGeom>
          <a:solidFill>
            <a:srgbClr val="F5F9F2"/>
          </a:solidFill>
          <a:ln w="12700">
            <a:solidFill>
              <a:srgbClr val="D4A843"/>
            </a:solidFill>
            <a:prstDash val="solid"/>
          </a:ln>
        </p:spPr>
      </p:sp>
      <p:sp>
        <p:nvSpPr>
          <p:cNvPr id="20" name="Text 18"/>
          <p:cNvSpPr/>
          <p:nvPr/>
        </p:nvSpPr>
        <p:spPr>
          <a:xfrm>
            <a:off x="914400" y="4114800"/>
            <a:ext cx="2834640" cy="640080"/>
          </a:xfrm>
          <a:prstGeom prst="rect">
            <a:avLst/>
          </a:prstGeom>
          <a:noFill/>
          <a:ln/>
        </p:spPr>
        <p:txBody>
          <a:bodyPr wrap="square" rtlCol="0" anchor="ctr"/>
          <a:lstStyle/>
          <a:p>
            <a:pPr algn="ctr" indent="0" marL="0">
              <a:buNone/>
            </a:pPr>
            <a:r>
              <a:rPr lang="en-US" sz="1300" b="1" dirty="0">
                <a:solidFill>
                  <a:srgbClr val="D4A843"/>
                </a:solidFill>
                <a:latin typeface="Courier New" pitchFamily="34" charset="0"/>
                <a:ea typeface="Courier New" pitchFamily="34" charset="-122"/>
                <a:cs typeface="Courier New" pitchFamily="34" charset="-120"/>
              </a:rPr>
              <a:t>di . D(ai - zi)</a:t>
            </a:r>
            <a:endParaRPr lang="en-US" sz="1300" dirty="0"/>
          </a:p>
        </p:txBody>
      </p:sp>
      <p:sp>
        <p:nvSpPr>
          <p:cNvPr id="21" name="Text 19"/>
          <p:cNvSpPr/>
          <p:nvPr/>
        </p:nvSpPr>
        <p:spPr>
          <a:xfrm>
            <a:off x="4206240" y="4114800"/>
            <a:ext cx="2743200" cy="320040"/>
          </a:xfrm>
          <a:prstGeom prst="rect">
            <a:avLst/>
          </a:prstGeom>
          <a:noFill/>
          <a:ln/>
        </p:spPr>
        <p:txBody>
          <a:bodyPr wrap="square" rtlCol="0" anchor="ctr"/>
          <a:lstStyle/>
          <a:p>
            <a:pPr algn="l" indent="0" marL="0">
              <a:buNone/>
            </a:pPr>
            <a:r>
              <a:rPr lang="en-US" sz="1200" b="1" dirty="0">
                <a:solidFill>
                  <a:srgbClr val="2C5F2D"/>
                </a:solidFill>
                <a:latin typeface="Calibri" pitchFamily="34" charset="0"/>
                <a:ea typeface="Calibri" pitchFamily="34" charset="-122"/>
                <a:cs typeface="Calibri" pitchFamily="34" charset="-120"/>
              </a:rPr>
              <a:t>形变代价</a:t>
            </a:r>
            <a:endParaRPr lang="en-US" sz="1200" dirty="0"/>
          </a:p>
        </p:txBody>
      </p:sp>
      <p:sp>
        <p:nvSpPr>
          <p:cNvPr id="22" name="Text 20"/>
          <p:cNvSpPr/>
          <p:nvPr/>
        </p:nvSpPr>
        <p:spPr>
          <a:xfrm>
            <a:off x="4206240" y="4407408"/>
            <a:ext cx="5943600" cy="32004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部件i偏离锚点位置ai的距离代价, D为二次函数</a:t>
            </a:r>
            <a:endParaRPr lang="en-US" sz="1000" dirty="0"/>
          </a:p>
        </p:txBody>
      </p:sp>
      <p:sp>
        <p:nvSpPr>
          <p:cNvPr id="23" name="Shape 21"/>
          <p:cNvSpPr/>
          <p:nvPr/>
        </p:nvSpPr>
        <p:spPr>
          <a:xfrm>
            <a:off x="731520" y="4937760"/>
            <a:ext cx="3200400" cy="640080"/>
          </a:xfrm>
          <a:prstGeom prst="roundRect">
            <a:avLst>
              <a:gd name="adj" fmla="val 8571"/>
            </a:avLst>
          </a:prstGeom>
          <a:solidFill>
            <a:srgbClr val="F5F9F2"/>
          </a:solidFill>
          <a:ln w="12700">
            <a:solidFill>
              <a:srgbClr val="6B8F6B"/>
            </a:solidFill>
            <a:prstDash val="solid"/>
          </a:ln>
        </p:spPr>
      </p:sp>
      <p:sp>
        <p:nvSpPr>
          <p:cNvPr id="24" name="Text 22"/>
          <p:cNvSpPr/>
          <p:nvPr/>
        </p:nvSpPr>
        <p:spPr>
          <a:xfrm>
            <a:off x="914400" y="4937760"/>
            <a:ext cx="2834640" cy="640080"/>
          </a:xfrm>
          <a:prstGeom prst="rect">
            <a:avLst/>
          </a:prstGeom>
          <a:noFill/>
          <a:ln/>
        </p:spPr>
        <p:txBody>
          <a:bodyPr wrap="square" rtlCol="0" anchor="ctr"/>
          <a:lstStyle/>
          <a:p>
            <a:pPr algn="ctr" indent="0" marL="0">
              <a:buNone/>
            </a:pPr>
            <a:r>
              <a:rPr lang="en-US" sz="1300" b="1" dirty="0">
                <a:solidFill>
                  <a:srgbClr val="6B8F6B"/>
                </a:solidFill>
                <a:latin typeface="Courier New" pitchFamily="34" charset="0"/>
                <a:ea typeface="Courier New" pitchFamily="34" charset="-122"/>
                <a:cs typeface="Courier New" pitchFamily="34" charset="-120"/>
              </a:rPr>
              <a:t>bi</a:t>
            </a:r>
            <a:endParaRPr lang="en-US" sz="1300" dirty="0"/>
          </a:p>
        </p:txBody>
      </p:sp>
      <p:sp>
        <p:nvSpPr>
          <p:cNvPr id="25" name="Text 23"/>
          <p:cNvSpPr/>
          <p:nvPr/>
        </p:nvSpPr>
        <p:spPr>
          <a:xfrm>
            <a:off x="4206240" y="4937760"/>
            <a:ext cx="2743200" cy="320040"/>
          </a:xfrm>
          <a:prstGeom prst="rect">
            <a:avLst/>
          </a:prstGeom>
          <a:noFill/>
          <a:ln/>
        </p:spPr>
        <p:txBody>
          <a:bodyPr wrap="square" rtlCol="0" anchor="ctr"/>
          <a:lstStyle/>
          <a:p>
            <a:pPr algn="l" indent="0" marL="0">
              <a:buNone/>
            </a:pPr>
            <a:r>
              <a:rPr lang="en-US" sz="1200" b="1" dirty="0">
                <a:solidFill>
                  <a:srgbClr val="2C5F2D"/>
                </a:solidFill>
                <a:latin typeface="Calibri" pitchFamily="34" charset="0"/>
                <a:ea typeface="Calibri" pitchFamily="34" charset="-122"/>
                <a:cs typeface="Calibri" pitchFamily="34" charset="-120"/>
              </a:rPr>
              <a:t>偏置项</a:t>
            </a:r>
            <a:endParaRPr lang="en-US" sz="1200" dirty="0"/>
          </a:p>
        </p:txBody>
      </p:sp>
      <p:sp>
        <p:nvSpPr>
          <p:cNvPr id="26" name="Text 24"/>
          <p:cNvSpPr/>
          <p:nvPr/>
        </p:nvSpPr>
        <p:spPr>
          <a:xfrm>
            <a:off x="4206240" y="5230368"/>
            <a:ext cx="5943600" cy="32004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第i个部件的偏置, 控制部件对总得分的贡献</a:t>
            </a:r>
            <a:endParaRPr lang="en-US" sz="1000" dirty="0"/>
          </a:p>
        </p:txBody>
      </p:sp>
      <p:sp>
        <p:nvSpPr>
          <p:cNvPr id="27" name="Text 25"/>
          <p:cNvSpPr/>
          <p:nvPr/>
        </p:nvSpPr>
        <p:spPr>
          <a:xfrm>
            <a:off x="731520" y="5852160"/>
            <a:ext cx="10725912" cy="27432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形变代价的详细表达</a:t>
            </a:r>
            <a:endParaRPr lang="en-US" sz="1300" dirty="0"/>
          </a:p>
        </p:txBody>
      </p:sp>
      <p:sp>
        <p:nvSpPr>
          <p:cNvPr id="28" name="Shape 26"/>
          <p:cNvSpPr/>
          <p:nvPr/>
        </p:nvSpPr>
        <p:spPr>
          <a:xfrm>
            <a:off x="960120" y="6126480"/>
            <a:ext cx="10268712" cy="457200"/>
          </a:xfrm>
          <a:prstGeom prst="roundRect">
            <a:avLst>
              <a:gd name="adj" fmla="val 16000"/>
            </a:avLst>
          </a:prstGeom>
          <a:solidFill>
            <a:srgbClr val="FDF6E3"/>
          </a:solidFill>
          <a:ln w="10160">
            <a:solidFill>
              <a:srgbClr val="D4A843"/>
            </a:solidFill>
            <a:prstDash val="solid"/>
          </a:ln>
        </p:spPr>
      </p:sp>
      <p:sp>
        <p:nvSpPr>
          <p:cNvPr id="29" name="Text 27"/>
          <p:cNvSpPr/>
          <p:nvPr/>
        </p:nvSpPr>
        <p:spPr>
          <a:xfrm>
            <a:off x="1143000" y="6217920"/>
            <a:ext cx="9902952" cy="274320"/>
          </a:xfrm>
          <a:prstGeom prst="rect">
            <a:avLst/>
          </a:prstGeom>
          <a:noFill/>
          <a:ln/>
        </p:spPr>
        <p:txBody>
          <a:bodyPr wrap="square" rtlCol="0" anchor="ctr"/>
          <a:lstStyle/>
          <a:p>
            <a:pPr algn="ctr" indent="0" marL="0">
              <a:buNone/>
            </a:pPr>
            <a:r>
              <a:rPr lang="en-US" sz="1400" dirty="0">
                <a:solidFill>
                  <a:srgbClr val="1A3A1A"/>
                </a:solidFill>
                <a:latin typeface="Courier New" pitchFamily="34" charset="0"/>
                <a:ea typeface="Courier New" pitchFamily="34" charset="-122"/>
                <a:cs typeface="Courier New" pitchFamily="34" charset="-120"/>
              </a:rPr>
              <a:t>di . D(dx, dy) = da_x * dx^2 + da_y * dy^2 + db_x * dx + db_y * dy + dc</a:t>
            </a:r>
            <a:endParaRPr lang="en-US" sz="1400" dirty="0"/>
          </a:p>
        </p:txBody>
      </p:sp>
      <p:sp>
        <p:nvSpPr>
          <p:cNvPr id="30" name="Shape 28"/>
          <p:cNvSpPr/>
          <p:nvPr/>
        </p:nvSpPr>
        <p:spPr>
          <a:xfrm>
            <a:off x="0" y="6492240"/>
            <a:ext cx="12188952" cy="18288"/>
          </a:xfrm>
          <a:prstGeom prst="rect">
            <a:avLst/>
          </a:prstGeom>
          <a:solidFill>
            <a:srgbClr val="97BC62"/>
          </a:solidFill>
          <a:ln/>
        </p:spPr>
      </p:sp>
      <p:sp>
        <p:nvSpPr>
          <p:cNvPr id="31" name="Text 29"/>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11/20</a:t>
            </a:r>
            <a:endParaRPr lang="en-US" sz="800" dirty="0"/>
          </a:p>
        </p:txBody>
      </p:sp>
      <p:sp>
        <p:nvSpPr>
          <p:cNvPr id="32"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HOG+SVM行人检测</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OpenCV实战代码 - 行人检测完整流程</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914400" y="1280160"/>
            <a:ext cx="10360152" cy="4754880"/>
          </a:xfrm>
          <a:prstGeom prst="roundRect">
            <a:avLst>
              <a:gd name="adj" fmla="val 1538"/>
            </a:avLst>
          </a:prstGeom>
          <a:solidFill>
            <a:srgbClr val="2D2D2D"/>
          </a:solidFill>
          <a:ln w="12700">
            <a:solidFill>
              <a:srgbClr val="2C5F2D"/>
            </a:solidFill>
            <a:prstDash val="solid"/>
          </a:ln>
        </p:spPr>
      </p:sp>
      <p:sp>
        <p:nvSpPr>
          <p:cNvPr id="9" name="Text 7"/>
          <p:cNvSpPr/>
          <p:nvPr/>
        </p:nvSpPr>
        <p:spPr>
          <a:xfrm>
            <a:off x="1097280" y="1417320"/>
            <a:ext cx="9994392" cy="4480560"/>
          </a:xfrm>
          <a:prstGeom prst="rect">
            <a:avLst/>
          </a:prstGeom>
          <a:noFill/>
          <a:ln/>
        </p:spPr>
        <p:txBody>
          <a:bodyPr wrap="square" rtlCol="0" anchor="t"/>
          <a:lstStyle/>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import cv2</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import numpy as np</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 HOG+SVM 行人检测 ----</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1. 创建HOG描述子</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 = cv2.HOGDescriptor()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2. 设置默认的SVM行人检测器</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(使用Dalal-Triggs训练的模型)</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hog.setSVMDetector(</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cv2.HOGDescriptor_getDefaultPeopleDetector()</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3. 读取图像</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image = cv2.imread('street.jpg')</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image = cv2.resize(image, (640, 480))</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4. 执行多尺度检测</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winStride: 窗口步长</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padding: 图像填充</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scale: 金字塔缩放因子</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boxes, weights = hog.detectMultiScale(</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image,</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winStride=(8, 8),</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padding=(4, 4),</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scale=1.05</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5. 绘制检测结果</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for (x, y, w, h), weight in zip(boxes, weights):</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if weight &gt; 0.5:  # 置信度阈值</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cv2.rectangle(image, (x, y),</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(x+w, y+h),</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(0, 255, 0), 2)</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cv2.putText(image,</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f'{weight:.2f}',</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(x, y-5),</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cv2.FONT_HERSHEY_SIMPLEX,</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                    0.5, (0, 255, 0), 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cv2.imwrite('detection_result.jpg', image)</a:t>
            </a:r>
            <a:endParaRPr lang="en-US" sz="950" dirty="0"/>
          </a:p>
          <a:p>
            <a:pPr algn="l" indent="0" marL="0">
              <a:lnSpc>
                <a:spcPct val="115000"/>
              </a:lnSpc>
              <a:buNone/>
            </a:pPr>
            <a:r>
              <a:rPr lang="en-US" sz="950" dirty="0">
                <a:solidFill>
                  <a:srgbClr val="A9DC76"/>
                </a:solidFill>
                <a:latin typeface="Courier New" pitchFamily="34" charset="0"/>
                <a:ea typeface="Courier New" pitchFamily="34" charset="-122"/>
                <a:cs typeface="Courier New" pitchFamily="34" charset="-120"/>
              </a:rPr>
              <a:t>print(f'检测到 {len(boxes)} 个行人')</a:t>
            </a:r>
            <a:endParaRPr lang="en-US" sz="950" dirty="0"/>
          </a:p>
        </p:txBody>
      </p:sp>
      <p:sp>
        <p:nvSpPr>
          <p:cNvPr id="10" name="Shape 8"/>
          <p:cNvSpPr/>
          <p:nvPr/>
        </p:nvSpPr>
        <p:spPr>
          <a:xfrm>
            <a:off x="0" y="6492240"/>
            <a:ext cx="12188952" cy="18288"/>
          </a:xfrm>
          <a:prstGeom prst="rect">
            <a:avLst/>
          </a:prstGeom>
          <a:solidFill>
            <a:srgbClr val="97BC62"/>
          </a:solidFill>
          <a:ln/>
        </p:spPr>
      </p:sp>
      <p:sp>
        <p:nvSpPr>
          <p:cNvPr id="11" name="Text 9"/>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12/20</a:t>
            </a:r>
            <a:endParaRPr lang="en-US" sz="800" dirty="0"/>
          </a:p>
        </p:txBody>
      </p:sp>
      <p:sp>
        <p:nvSpPr>
          <p:cNvPr id="12"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 - Navneet Dalal</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HOG之父 - 改变行人检测的人</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5180076" cy="4389120"/>
          </a:xfrm>
          <a:prstGeom prst="roundRect">
            <a:avLst>
              <a:gd name="adj" fmla="val 1667"/>
            </a:avLst>
          </a:prstGeom>
          <a:solidFill>
            <a:srgbClr val="F5F9F2"/>
          </a:solidFill>
          <a:ln w="6350">
            <a:solidFill>
              <a:srgbClr val="97BC62"/>
            </a:solidFill>
            <a:prstDash val="solid"/>
          </a:ln>
        </p:spPr>
      </p:sp>
      <p:sp>
        <p:nvSpPr>
          <p:cNvPr id="9" name="Shape 7"/>
          <p:cNvSpPr/>
          <p:nvPr/>
        </p:nvSpPr>
        <p:spPr>
          <a:xfrm>
            <a:off x="6277356" y="1280160"/>
            <a:ext cx="5180076" cy="4389120"/>
          </a:xfrm>
          <a:prstGeom prst="roundRect">
            <a:avLst>
              <a:gd name="adj" fmla="val 1667"/>
            </a:avLst>
          </a:prstGeom>
          <a:solidFill>
            <a:srgbClr val="FDF6E3"/>
          </a:solidFill>
          <a:ln w="6350">
            <a:solidFill>
              <a:srgbClr val="D4A843"/>
            </a:solidFill>
            <a:prstDash val="solid"/>
          </a:ln>
        </p:spPr>
      </p:sp>
      <p:sp>
        <p:nvSpPr>
          <p:cNvPr id="10" name="Text 8"/>
          <p:cNvSpPr/>
          <p:nvPr/>
        </p:nvSpPr>
        <p:spPr>
          <a:xfrm>
            <a:off x="1005840" y="1417320"/>
            <a:ext cx="4572000" cy="457200"/>
          </a:xfrm>
          <a:prstGeom prst="rect">
            <a:avLst/>
          </a:prstGeom>
          <a:noFill/>
          <a:ln/>
        </p:spPr>
        <p:txBody>
          <a:bodyPr wrap="square"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Navneet Dalal</a:t>
            </a:r>
            <a:endParaRPr lang="en-US" sz="2200" dirty="0"/>
          </a:p>
        </p:txBody>
      </p:sp>
      <p:sp>
        <p:nvSpPr>
          <p:cNvPr id="11" name="Text 9"/>
          <p:cNvSpPr/>
          <p:nvPr/>
        </p:nvSpPr>
        <p:spPr>
          <a:xfrm>
            <a:off x="1005840" y="1828800"/>
            <a:ext cx="4572000" cy="274320"/>
          </a:xfrm>
          <a:prstGeom prst="rect">
            <a:avLst/>
          </a:prstGeom>
          <a:noFill/>
          <a:ln/>
        </p:spPr>
        <p:txBody>
          <a:bodyPr wrap="square" rtlCol="0" anchor="ctr"/>
          <a:lstStyle/>
          <a:p>
            <a:pPr indent="0" marL="0">
              <a:buNone/>
            </a:pPr>
            <a:r>
              <a:rPr lang="en-US" sz="1300" i="1" dirty="0">
                <a:solidFill>
                  <a:srgbClr val="D4A843"/>
                </a:solidFill>
                <a:latin typeface="Calibri" pitchFamily="34" charset="0"/>
                <a:ea typeface="Calibri" pitchFamily="34" charset="-122"/>
                <a:cs typeface="Calibri" pitchFamily="34" charset="-120"/>
              </a:rPr>
              <a:t>HOG特征的提出者</a:t>
            </a:r>
            <a:endParaRPr lang="en-US" sz="1300" dirty="0"/>
          </a:p>
        </p:txBody>
      </p:sp>
      <p:sp>
        <p:nvSpPr>
          <p:cNvPr id="12" name="Shape 10"/>
          <p:cNvSpPr/>
          <p:nvPr/>
        </p:nvSpPr>
        <p:spPr>
          <a:xfrm>
            <a:off x="1188720" y="2286000"/>
            <a:ext cx="73152" cy="73152"/>
          </a:xfrm>
          <a:prstGeom prst="ellipse">
            <a:avLst/>
          </a:prstGeom>
          <a:solidFill>
            <a:srgbClr val="97BC62"/>
          </a:solidFill>
          <a:ln/>
        </p:spPr>
      </p:sp>
      <p:sp>
        <p:nvSpPr>
          <p:cNvPr id="13" name="Text 11"/>
          <p:cNvSpPr/>
          <p:nvPr/>
        </p:nvSpPr>
        <p:spPr>
          <a:xfrm>
            <a:off x="1417320" y="219456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在法国INRIA研究所攻读博士期间发明HOG</a:t>
            </a:r>
            <a:endParaRPr lang="en-US" sz="1100" dirty="0"/>
          </a:p>
        </p:txBody>
      </p:sp>
      <p:sp>
        <p:nvSpPr>
          <p:cNvPr id="14" name="Shape 12"/>
          <p:cNvSpPr/>
          <p:nvPr/>
        </p:nvSpPr>
        <p:spPr>
          <a:xfrm>
            <a:off x="1188720" y="2788920"/>
            <a:ext cx="73152" cy="73152"/>
          </a:xfrm>
          <a:prstGeom prst="ellipse">
            <a:avLst/>
          </a:prstGeom>
          <a:solidFill>
            <a:srgbClr val="97BC62"/>
          </a:solidFill>
          <a:ln/>
        </p:spPr>
      </p:sp>
      <p:sp>
        <p:nvSpPr>
          <p:cNvPr id="15" name="Text 13"/>
          <p:cNvSpPr/>
          <p:nvPr/>
        </p:nvSpPr>
        <p:spPr>
          <a:xfrm>
            <a:off x="1417320" y="269748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导师: Bill Triggs (著名计算机视觉学者)</a:t>
            </a:r>
            <a:endParaRPr lang="en-US" sz="1100" dirty="0"/>
          </a:p>
        </p:txBody>
      </p:sp>
      <p:sp>
        <p:nvSpPr>
          <p:cNvPr id="16" name="Shape 14"/>
          <p:cNvSpPr/>
          <p:nvPr/>
        </p:nvSpPr>
        <p:spPr>
          <a:xfrm>
            <a:off x="1188720" y="3291840"/>
            <a:ext cx="73152" cy="73152"/>
          </a:xfrm>
          <a:prstGeom prst="ellipse">
            <a:avLst/>
          </a:prstGeom>
          <a:solidFill>
            <a:srgbClr val="97BC62"/>
          </a:solidFill>
          <a:ln/>
        </p:spPr>
      </p:sp>
      <p:sp>
        <p:nvSpPr>
          <p:cNvPr id="17" name="Text 15"/>
          <p:cNvSpPr/>
          <p:nvPr/>
        </p:nvSpPr>
        <p:spPr>
          <a:xfrm>
            <a:off x="1417320" y="320040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2005年CVPR发表论文, 当时他还是博士生</a:t>
            </a:r>
            <a:endParaRPr lang="en-US" sz="1100" dirty="0"/>
          </a:p>
        </p:txBody>
      </p:sp>
      <p:sp>
        <p:nvSpPr>
          <p:cNvPr id="18" name="Shape 16"/>
          <p:cNvSpPr/>
          <p:nvPr/>
        </p:nvSpPr>
        <p:spPr>
          <a:xfrm>
            <a:off x="1188720" y="3794760"/>
            <a:ext cx="73152" cy="73152"/>
          </a:xfrm>
          <a:prstGeom prst="ellipse">
            <a:avLst/>
          </a:prstGeom>
          <a:solidFill>
            <a:srgbClr val="97BC62"/>
          </a:solidFill>
          <a:ln/>
        </p:spPr>
      </p:sp>
      <p:sp>
        <p:nvSpPr>
          <p:cNvPr id="19" name="Text 17"/>
          <p:cNvSpPr/>
          <p:nvPr/>
        </p:nvSpPr>
        <p:spPr>
          <a:xfrm>
            <a:off x="1417320" y="370332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论文被引用超28,000次, 是CV领域最高引论文之一</a:t>
            </a:r>
            <a:endParaRPr lang="en-US" sz="1100" dirty="0"/>
          </a:p>
        </p:txBody>
      </p:sp>
      <p:sp>
        <p:nvSpPr>
          <p:cNvPr id="20" name="Shape 18"/>
          <p:cNvSpPr/>
          <p:nvPr/>
        </p:nvSpPr>
        <p:spPr>
          <a:xfrm>
            <a:off x="1188720" y="4297680"/>
            <a:ext cx="73152" cy="73152"/>
          </a:xfrm>
          <a:prstGeom prst="ellipse">
            <a:avLst/>
          </a:prstGeom>
          <a:solidFill>
            <a:srgbClr val="97BC62"/>
          </a:solidFill>
          <a:ln/>
        </p:spPr>
      </p:sp>
      <p:sp>
        <p:nvSpPr>
          <p:cNvPr id="21" name="Text 19"/>
          <p:cNvSpPr/>
          <p:nvPr/>
        </p:nvSpPr>
        <p:spPr>
          <a:xfrm>
            <a:off x="1417320" y="420624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毕业后加入Google, 从事移动端视觉技术</a:t>
            </a:r>
            <a:endParaRPr lang="en-US" sz="1100" dirty="0"/>
          </a:p>
        </p:txBody>
      </p:sp>
      <p:sp>
        <p:nvSpPr>
          <p:cNvPr id="22" name="Shape 20"/>
          <p:cNvSpPr/>
          <p:nvPr/>
        </p:nvSpPr>
        <p:spPr>
          <a:xfrm>
            <a:off x="1188720" y="4800600"/>
            <a:ext cx="73152" cy="73152"/>
          </a:xfrm>
          <a:prstGeom prst="ellipse">
            <a:avLst/>
          </a:prstGeom>
          <a:solidFill>
            <a:srgbClr val="97BC62"/>
          </a:solidFill>
          <a:ln/>
        </p:spPr>
      </p:sp>
      <p:sp>
        <p:nvSpPr>
          <p:cNvPr id="23" name="Text 21"/>
          <p:cNvSpPr/>
          <p:nvPr/>
        </p:nvSpPr>
        <p:spPr>
          <a:xfrm>
            <a:off x="1417320" y="470916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HOG成为OpenCV标配, 影响了整整一代研究者</a:t>
            </a:r>
            <a:endParaRPr lang="en-US" sz="1100" dirty="0"/>
          </a:p>
        </p:txBody>
      </p:sp>
      <p:sp>
        <p:nvSpPr>
          <p:cNvPr id="24" name="Text 22"/>
          <p:cNvSpPr/>
          <p:nvPr/>
        </p:nvSpPr>
        <p:spPr>
          <a:xfrm>
            <a:off x="6675120" y="1417320"/>
            <a:ext cx="4114800" cy="365760"/>
          </a:xfrm>
          <a:prstGeom prst="rect">
            <a:avLst/>
          </a:prstGeom>
          <a:noFill/>
          <a:ln/>
        </p:spPr>
        <p:txBody>
          <a:bodyPr wrap="square"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核心贡献</a:t>
            </a:r>
            <a:endParaRPr lang="en-US" sz="1600" dirty="0"/>
          </a:p>
        </p:txBody>
      </p:sp>
      <p:sp>
        <p:nvSpPr>
          <p:cNvPr id="25" name="Text 23"/>
          <p:cNvSpPr/>
          <p:nvPr/>
        </p:nvSpPr>
        <p:spPr>
          <a:xfrm>
            <a:off x="6675120" y="1828800"/>
            <a:ext cx="4114800" cy="3474720"/>
          </a:xfrm>
          <a:prstGeom prst="rect">
            <a:avLst/>
          </a:prstGeom>
          <a:noFill/>
          <a:ln/>
        </p:spPr>
        <p:txBody>
          <a:bodyPr wrap="square" rtlCol="0" anchor="t"/>
          <a:lstStyle/>
          <a:p>
            <a:pPr algn="l" indent="0" marL="0">
              <a:lnSpc>
                <a:spcPct val="130000"/>
              </a:lnSpc>
              <a:buNone/>
            </a:pPr>
            <a:r>
              <a:rPr lang="en-US" sz="1100" dirty="0">
                <a:solidFill>
                  <a:srgbClr val="1A3A1A"/>
                </a:solidFill>
                <a:latin typeface="Calibri" pitchFamily="34" charset="0"/>
                <a:ea typeface="Calibri" pitchFamily="34" charset="-122"/>
                <a:cs typeface="Calibri" pitchFamily="34" charset="-120"/>
              </a:rPr>
              <a:t>1. 首次系统性提出方向梯度直方图用于物体检测</a:t>
            </a:r>
            <a:endParaRPr lang="en-US" sz="1100" dirty="0"/>
          </a:p>
          <a:p>
            <a:pPr algn="l" indent="0" marL="0">
              <a:lnSpc>
                <a:spcPct val="130000"/>
              </a:lnSpc>
              <a:buNone/>
            </a:pPr>
            <a:endParaRPr lang="en-US" sz="1100" dirty="0"/>
          </a:p>
          <a:p>
            <a:pPr algn="l" indent="0" marL="0">
              <a:lnSpc>
                <a:spcPct val="130000"/>
              </a:lnSpc>
              <a:buNone/>
            </a:pPr>
            <a:r>
              <a:rPr lang="en-US" sz="1100" dirty="0">
                <a:solidFill>
                  <a:srgbClr val="1A3A1A"/>
                </a:solidFill>
                <a:latin typeface="Calibri" pitchFamily="34" charset="0"/>
                <a:ea typeface="Calibri" pitchFamily="34" charset="-122"/>
                <a:cs typeface="Calibri" pitchFamily="34" charset="-120"/>
              </a:rPr>
              <a:t>2. 建立INRIA行人数据集(标准基准)</a:t>
            </a:r>
            <a:endParaRPr lang="en-US" sz="1100" dirty="0"/>
          </a:p>
          <a:p>
            <a:pPr algn="l" indent="0" marL="0">
              <a:lnSpc>
                <a:spcPct val="130000"/>
              </a:lnSpc>
              <a:buNone/>
            </a:pPr>
            <a:endParaRPr lang="en-US" sz="1100" dirty="0"/>
          </a:p>
          <a:p>
            <a:pPr algn="l" indent="0" marL="0">
              <a:lnSpc>
                <a:spcPct val="130000"/>
              </a:lnSpc>
              <a:buNone/>
            </a:pPr>
            <a:r>
              <a:rPr lang="en-US" sz="1100" dirty="0">
                <a:solidFill>
                  <a:srgbClr val="1A3A1A"/>
                </a:solidFill>
                <a:latin typeface="Calibri" pitchFamily="34" charset="0"/>
                <a:ea typeface="Calibri" pitchFamily="34" charset="-122"/>
                <a:cs typeface="Calibri" pitchFamily="34" charset="-120"/>
              </a:rPr>
              <a:t>3. 证明局部梯度特征对形状描述的有效性</a:t>
            </a:r>
            <a:endParaRPr lang="en-US" sz="1100" dirty="0"/>
          </a:p>
          <a:p>
            <a:pPr algn="l" indent="0" marL="0">
              <a:lnSpc>
                <a:spcPct val="130000"/>
              </a:lnSpc>
              <a:buNone/>
            </a:pPr>
            <a:endParaRPr lang="en-US" sz="1100" dirty="0"/>
          </a:p>
          <a:p>
            <a:pPr algn="l" indent="0" marL="0">
              <a:lnSpc>
                <a:spcPct val="130000"/>
              </a:lnSpc>
              <a:buNone/>
            </a:pPr>
            <a:r>
              <a:rPr lang="en-US" sz="1100" dirty="0">
                <a:solidFill>
                  <a:srgbClr val="1A3A1A"/>
                </a:solidFill>
                <a:latin typeface="Calibri" pitchFamily="34" charset="0"/>
                <a:ea typeface="Calibri" pitchFamily="34" charset="-122"/>
                <a:cs typeface="Calibri" pitchFamily="34" charset="-120"/>
              </a:rPr>
              <a:t>4. Block归一化设计解决光照变化问题</a:t>
            </a:r>
            <a:endParaRPr lang="en-US" sz="1100" dirty="0"/>
          </a:p>
          <a:p>
            <a:pPr algn="l" indent="0" marL="0">
              <a:lnSpc>
                <a:spcPct val="130000"/>
              </a:lnSpc>
              <a:buNone/>
            </a:pPr>
            <a:endParaRPr lang="en-US" sz="1100" dirty="0"/>
          </a:p>
          <a:p>
            <a:pPr algn="l" indent="0" marL="0">
              <a:lnSpc>
                <a:spcPct val="130000"/>
              </a:lnSpc>
              <a:buNone/>
            </a:pPr>
            <a:r>
              <a:rPr lang="en-US" sz="1100" dirty="0">
                <a:solidFill>
                  <a:srgbClr val="1A3A1A"/>
                </a:solidFill>
                <a:latin typeface="Calibri" pitchFamily="34" charset="0"/>
                <a:ea typeface="Calibri" pitchFamily="34" charset="-122"/>
                <a:cs typeface="Calibri" pitchFamily="34" charset="-120"/>
              </a:rPr>
              <a:t>5. 为后续DPM等方法奠定基础</a:t>
            </a:r>
            <a:endParaRPr lang="en-US" sz="1100" dirty="0"/>
          </a:p>
        </p:txBody>
      </p:sp>
      <p:sp>
        <p:nvSpPr>
          <p:cNvPr id="26" name="Shape 24"/>
          <p:cNvSpPr/>
          <p:nvPr/>
        </p:nvSpPr>
        <p:spPr>
          <a:xfrm>
            <a:off x="0" y="6492240"/>
            <a:ext cx="12188952" cy="18288"/>
          </a:xfrm>
          <a:prstGeom prst="rect">
            <a:avLst/>
          </a:prstGeom>
          <a:solidFill>
            <a:srgbClr val="97BC62"/>
          </a:solidFill>
          <a:ln/>
        </p:spPr>
      </p:sp>
      <p:sp>
        <p:nvSpPr>
          <p:cNvPr id="27" name="Text 25"/>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13/20</a:t>
            </a:r>
            <a:endParaRPr lang="en-US" sz="800" dirty="0"/>
          </a:p>
        </p:txBody>
      </p:sp>
      <p:sp>
        <p:nvSpPr>
          <p:cNvPr id="28"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 - Pedro Felzenszwalb</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DPM缔造者 - 传统目标检测的巅峰</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5180076" cy="4389120"/>
          </a:xfrm>
          <a:prstGeom prst="roundRect">
            <a:avLst>
              <a:gd name="adj" fmla="val 1667"/>
            </a:avLst>
          </a:prstGeom>
          <a:solidFill>
            <a:srgbClr val="F5F9F2"/>
          </a:solidFill>
          <a:ln w="6350">
            <a:solidFill>
              <a:srgbClr val="97BC62"/>
            </a:solidFill>
            <a:prstDash val="solid"/>
          </a:ln>
        </p:spPr>
      </p:sp>
      <p:sp>
        <p:nvSpPr>
          <p:cNvPr id="9" name="Shape 7"/>
          <p:cNvSpPr/>
          <p:nvPr/>
        </p:nvSpPr>
        <p:spPr>
          <a:xfrm>
            <a:off x="6277356" y="1280160"/>
            <a:ext cx="5180076" cy="4389120"/>
          </a:xfrm>
          <a:prstGeom prst="roundRect">
            <a:avLst>
              <a:gd name="adj" fmla="val 1667"/>
            </a:avLst>
          </a:prstGeom>
          <a:solidFill>
            <a:srgbClr val="FDF6E3"/>
          </a:solidFill>
          <a:ln w="6350">
            <a:solidFill>
              <a:srgbClr val="D4A843"/>
            </a:solidFill>
            <a:prstDash val="solid"/>
          </a:ln>
        </p:spPr>
      </p:sp>
      <p:sp>
        <p:nvSpPr>
          <p:cNvPr id="10" name="Text 8"/>
          <p:cNvSpPr/>
          <p:nvPr/>
        </p:nvSpPr>
        <p:spPr>
          <a:xfrm>
            <a:off x="1005840" y="1417320"/>
            <a:ext cx="4572000" cy="457200"/>
          </a:xfrm>
          <a:prstGeom prst="rect">
            <a:avLst/>
          </a:prstGeom>
          <a:noFill/>
          <a:ln/>
        </p:spPr>
        <p:txBody>
          <a:bodyPr wrap="square"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Pedro Felzenszwalb</a:t>
            </a:r>
            <a:endParaRPr lang="en-US" sz="2200" dirty="0"/>
          </a:p>
        </p:txBody>
      </p:sp>
      <p:sp>
        <p:nvSpPr>
          <p:cNvPr id="11" name="Text 9"/>
          <p:cNvSpPr/>
          <p:nvPr/>
        </p:nvSpPr>
        <p:spPr>
          <a:xfrm>
            <a:off x="1005840" y="1828800"/>
            <a:ext cx="4572000" cy="274320"/>
          </a:xfrm>
          <a:prstGeom prst="rect">
            <a:avLst/>
          </a:prstGeom>
          <a:noFill/>
          <a:ln/>
        </p:spPr>
        <p:txBody>
          <a:bodyPr wrap="square" rtlCol="0" anchor="ctr"/>
          <a:lstStyle/>
          <a:p>
            <a:pPr indent="0" marL="0">
              <a:buNone/>
            </a:pPr>
            <a:r>
              <a:rPr lang="en-US" sz="1300" i="1" dirty="0">
                <a:solidFill>
                  <a:srgbClr val="D4A843"/>
                </a:solidFill>
                <a:latin typeface="Calibri" pitchFamily="34" charset="0"/>
                <a:ea typeface="Calibri" pitchFamily="34" charset="-122"/>
                <a:cs typeface="Calibri" pitchFamily="34" charset="-120"/>
              </a:rPr>
              <a:t>DPM框架的创造者</a:t>
            </a:r>
            <a:endParaRPr lang="en-US" sz="1300" dirty="0"/>
          </a:p>
        </p:txBody>
      </p:sp>
      <p:sp>
        <p:nvSpPr>
          <p:cNvPr id="12" name="Shape 10"/>
          <p:cNvSpPr/>
          <p:nvPr/>
        </p:nvSpPr>
        <p:spPr>
          <a:xfrm>
            <a:off x="1188720" y="2286000"/>
            <a:ext cx="73152" cy="73152"/>
          </a:xfrm>
          <a:prstGeom prst="ellipse">
            <a:avLst/>
          </a:prstGeom>
          <a:solidFill>
            <a:srgbClr val="97BC62"/>
          </a:solidFill>
          <a:ln/>
        </p:spPr>
      </p:sp>
      <p:sp>
        <p:nvSpPr>
          <p:cNvPr id="13" name="Text 11"/>
          <p:cNvSpPr/>
          <p:nvPr/>
        </p:nvSpPr>
        <p:spPr>
          <a:xfrm>
            <a:off x="1417320" y="219456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MIT博士学位, 研究计算机视觉</a:t>
            </a:r>
            <a:endParaRPr lang="en-US" sz="1100" dirty="0"/>
          </a:p>
        </p:txBody>
      </p:sp>
      <p:sp>
        <p:nvSpPr>
          <p:cNvPr id="14" name="Shape 12"/>
          <p:cNvSpPr/>
          <p:nvPr/>
        </p:nvSpPr>
        <p:spPr>
          <a:xfrm>
            <a:off x="1188720" y="2788920"/>
            <a:ext cx="73152" cy="73152"/>
          </a:xfrm>
          <a:prstGeom prst="ellipse">
            <a:avLst/>
          </a:prstGeom>
          <a:solidFill>
            <a:srgbClr val="97BC62"/>
          </a:solidFill>
          <a:ln/>
        </p:spPr>
      </p:sp>
      <p:sp>
        <p:nvSpPr>
          <p:cNvPr id="15" name="Text 13"/>
          <p:cNvSpPr/>
          <p:nvPr/>
        </p:nvSpPr>
        <p:spPr>
          <a:xfrm>
            <a:off x="1417320" y="269748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现为Brown大学计算机科学教授</a:t>
            </a:r>
            <a:endParaRPr lang="en-US" sz="1100" dirty="0"/>
          </a:p>
        </p:txBody>
      </p:sp>
      <p:sp>
        <p:nvSpPr>
          <p:cNvPr id="16" name="Shape 14"/>
          <p:cNvSpPr/>
          <p:nvPr/>
        </p:nvSpPr>
        <p:spPr>
          <a:xfrm>
            <a:off x="1188720" y="3291840"/>
            <a:ext cx="73152" cy="73152"/>
          </a:xfrm>
          <a:prstGeom prst="ellipse">
            <a:avLst/>
          </a:prstGeom>
          <a:solidFill>
            <a:srgbClr val="97BC62"/>
          </a:solidFill>
          <a:ln/>
        </p:spPr>
      </p:sp>
      <p:sp>
        <p:nvSpPr>
          <p:cNvPr id="17" name="Text 15"/>
          <p:cNvSpPr/>
          <p:nvPr/>
        </p:nvSpPr>
        <p:spPr>
          <a:xfrm>
            <a:off x="1417320" y="320040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2008-2010年连续发表DPM系列论文</a:t>
            </a:r>
            <a:endParaRPr lang="en-US" sz="1100" dirty="0"/>
          </a:p>
        </p:txBody>
      </p:sp>
      <p:sp>
        <p:nvSpPr>
          <p:cNvPr id="18" name="Shape 16"/>
          <p:cNvSpPr/>
          <p:nvPr/>
        </p:nvSpPr>
        <p:spPr>
          <a:xfrm>
            <a:off x="1188720" y="3794760"/>
            <a:ext cx="73152" cy="73152"/>
          </a:xfrm>
          <a:prstGeom prst="ellipse">
            <a:avLst/>
          </a:prstGeom>
          <a:solidFill>
            <a:srgbClr val="97BC62"/>
          </a:solidFill>
          <a:ln/>
        </p:spPr>
      </p:sp>
      <p:sp>
        <p:nvSpPr>
          <p:cNvPr id="19" name="Text 17"/>
          <p:cNvSpPr/>
          <p:nvPr/>
        </p:nvSpPr>
        <p:spPr>
          <a:xfrm>
            <a:off x="1417320" y="370332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PASCAL VOC竞赛多项冠军获得者</a:t>
            </a:r>
            <a:endParaRPr lang="en-US" sz="1100" dirty="0"/>
          </a:p>
        </p:txBody>
      </p:sp>
      <p:sp>
        <p:nvSpPr>
          <p:cNvPr id="20" name="Shape 18"/>
          <p:cNvSpPr/>
          <p:nvPr/>
        </p:nvSpPr>
        <p:spPr>
          <a:xfrm>
            <a:off x="1188720" y="4297680"/>
            <a:ext cx="73152" cy="73152"/>
          </a:xfrm>
          <a:prstGeom prst="ellipse">
            <a:avLst/>
          </a:prstGeom>
          <a:solidFill>
            <a:srgbClr val="97BC62"/>
          </a:solidFill>
          <a:ln/>
        </p:spPr>
      </p:sp>
      <p:sp>
        <p:nvSpPr>
          <p:cNvPr id="21" name="Text 19"/>
          <p:cNvSpPr/>
          <p:nvPr/>
        </p:nvSpPr>
        <p:spPr>
          <a:xfrm>
            <a:off x="1417320" y="420624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在图像分割领域也有杰出贡献(Felzenszwalb-Huttenlocher算法)</a:t>
            </a:r>
            <a:endParaRPr lang="en-US" sz="1100" dirty="0"/>
          </a:p>
        </p:txBody>
      </p:sp>
      <p:sp>
        <p:nvSpPr>
          <p:cNvPr id="22" name="Shape 20"/>
          <p:cNvSpPr/>
          <p:nvPr/>
        </p:nvSpPr>
        <p:spPr>
          <a:xfrm>
            <a:off x="1188720" y="4800600"/>
            <a:ext cx="73152" cy="73152"/>
          </a:xfrm>
          <a:prstGeom prst="ellipse">
            <a:avLst/>
          </a:prstGeom>
          <a:solidFill>
            <a:srgbClr val="97BC62"/>
          </a:solidFill>
          <a:ln/>
        </p:spPr>
      </p:sp>
      <p:sp>
        <p:nvSpPr>
          <p:cNvPr id="23" name="Text 21"/>
          <p:cNvSpPr/>
          <p:nvPr/>
        </p:nvSpPr>
        <p:spPr>
          <a:xfrm>
            <a:off x="1417320" y="4709160"/>
            <a:ext cx="4572000" cy="365760"/>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隐变量SVM(Latent SVM)的核心开发者</a:t>
            </a:r>
            <a:endParaRPr lang="en-US" sz="1100" dirty="0"/>
          </a:p>
        </p:txBody>
      </p:sp>
      <p:sp>
        <p:nvSpPr>
          <p:cNvPr id="24" name="Text 22"/>
          <p:cNvSpPr/>
          <p:nvPr/>
        </p:nvSpPr>
        <p:spPr>
          <a:xfrm>
            <a:off x="6675120" y="1417320"/>
            <a:ext cx="4114800" cy="365760"/>
          </a:xfrm>
          <a:prstGeom prst="rect">
            <a:avLst/>
          </a:prstGeom>
          <a:noFill/>
          <a:ln/>
        </p:spPr>
        <p:txBody>
          <a:bodyPr wrap="square"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学术影响</a:t>
            </a:r>
            <a:endParaRPr lang="en-US" sz="1600" dirty="0"/>
          </a:p>
        </p:txBody>
      </p:sp>
      <p:sp>
        <p:nvSpPr>
          <p:cNvPr id="25" name="Text 23"/>
          <p:cNvSpPr/>
          <p:nvPr/>
        </p:nvSpPr>
        <p:spPr>
          <a:xfrm>
            <a:off x="6675120" y="1828800"/>
            <a:ext cx="4114800" cy="3474720"/>
          </a:xfrm>
          <a:prstGeom prst="rect">
            <a:avLst/>
          </a:prstGeom>
          <a:noFill/>
          <a:ln/>
        </p:spPr>
        <p:txBody>
          <a:bodyPr wrap="square" rtlCol="0" anchor="t"/>
          <a:lstStyle/>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DPM的思想对深度学习时代仍有深远影响:</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  - 部件模型思想 -&gt; R-CNN的区域提议</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  - 多尺度特征 -&gt; FPN特征金字塔网络</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  - 隐变量学习 -&gt; Attention机制</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  - 根+部件结构 -&gt; Anchor-based检测</a:t>
            </a:r>
            <a:endParaRPr lang="en-US" sz="1100" dirty="0"/>
          </a:p>
          <a:p>
            <a:pPr algn="l" indent="0" marL="0">
              <a:lnSpc>
                <a:spcPct val="125000"/>
              </a:lnSpc>
              <a:buNone/>
            </a:pP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DPM证明了一个重要原则:</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结构化的模型设计可以显著</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提升检测性能, 这一原则</a:t>
            </a:r>
            <a:endParaRPr lang="en-US" sz="1100" dirty="0"/>
          </a:p>
          <a:p>
            <a:pPr algn="l" indent="0" marL="0">
              <a:lnSpc>
                <a:spcPct val="125000"/>
              </a:lnSpc>
              <a:buNone/>
            </a:pPr>
            <a:r>
              <a:rPr lang="en-US" sz="1100" dirty="0">
                <a:solidFill>
                  <a:srgbClr val="1A3A1A"/>
                </a:solidFill>
                <a:latin typeface="Calibri" pitchFamily="34" charset="0"/>
                <a:ea typeface="Calibri" pitchFamily="34" charset="-122"/>
                <a:cs typeface="Calibri" pitchFamily="34" charset="-120"/>
              </a:rPr>
              <a:t>在深度学习时代依然适用。</a:t>
            </a:r>
            <a:endParaRPr lang="en-US" sz="1100" dirty="0"/>
          </a:p>
        </p:txBody>
      </p:sp>
      <p:sp>
        <p:nvSpPr>
          <p:cNvPr id="26" name="Shape 24"/>
          <p:cNvSpPr/>
          <p:nvPr/>
        </p:nvSpPr>
        <p:spPr>
          <a:xfrm>
            <a:off x="0" y="6492240"/>
            <a:ext cx="12188952" cy="18288"/>
          </a:xfrm>
          <a:prstGeom prst="rect">
            <a:avLst/>
          </a:prstGeom>
          <a:solidFill>
            <a:srgbClr val="97BC62"/>
          </a:solidFill>
          <a:ln/>
        </p:spPr>
      </p:sp>
      <p:sp>
        <p:nvSpPr>
          <p:cNvPr id="27" name="Text 25"/>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14/20</a:t>
            </a:r>
            <a:endParaRPr lang="en-US" sz="800" dirty="0"/>
          </a:p>
        </p:txBody>
      </p:sp>
      <p:sp>
        <p:nvSpPr>
          <p:cNvPr id="28"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重要文献</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4篇核心论文 - 必读推荐</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548640" cy="548640"/>
          </a:xfrm>
          <a:prstGeom prst="roundRect">
            <a:avLst>
              <a:gd name="adj" fmla="val 8333"/>
            </a:avLst>
          </a:prstGeom>
          <a:solidFill>
            <a:srgbClr val="2C5F2D"/>
          </a:solidFill>
          <a:ln/>
        </p:spPr>
      </p:sp>
      <p:sp>
        <p:nvSpPr>
          <p:cNvPr id="9" name="Text 7"/>
          <p:cNvSpPr/>
          <p:nvPr/>
        </p:nvSpPr>
        <p:spPr>
          <a:xfrm>
            <a:off x="731520" y="128016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463040" y="1280160"/>
            <a:ext cx="6858000" cy="32004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Histograms of Oriented Gradients for Human Detection</a:t>
            </a:r>
            <a:endParaRPr lang="en-US" sz="1200" dirty="0"/>
          </a:p>
        </p:txBody>
      </p:sp>
      <p:sp>
        <p:nvSpPr>
          <p:cNvPr id="11" name="Text 9"/>
          <p:cNvSpPr/>
          <p:nvPr/>
        </p:nvSpPr>
        <p:spPr>
          <a:xfrm>
            <a:off x="1463040" y="1554480"/>
            <a:ext cx="6858000" cy="22860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Dalal &amp; Triggs  |  CVPR 2005  |  引用: 28,000+</a:t>
            </a:r>
            <a:endParaRPr lang="en-US" sz="1000" dirty="0"/>
          </a:p>
        </p:txBody>
      </p:sp>
      <p:sp>
        <p:nvSpPr>
          <p:cNvPr id="12" name="Text 10"/>
          <p:cNvSpPr/>
          <p:nvPr/>
        </p:nvSpPr>
        <p:spPr>
          <a:xfrm>
            <a:off x="1463040" y="1783080"/>
            <a:ext cx="9144000" cy="32004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HOG的开山之作, 系统提出了方向梯度直方图特征描述子及其在行人检测中的应用</a:t>
            </a:r>
            <a:endParaRPr lang="en-US" sz="1000" dirty="0"/>
          </a:p>
        </p:txBody>
      </p:sp>
      <p:sp>
        <p:nvSpPr>
          <p:cNvPr id="13" name="Shape 11"/>
          <p:cNvSpPr/>
          <p:nvPr/>
        </p:nvSpPr>
        <p:spPr>
          <a:xfrm>
            <a:off x="10332720" y="1417320"/>
            <a:ext cx="1042416" cy="274320"/>
          </a:xfrm>
          <a:prstGeom prst="roundRect">
            <a:avLst>
              <a:gd name="adj" fmla="val 16667"/>
            </a:avLst>
          </a:prstGeom>
          <a:solidFill>
            <a:srgbClr val="2C5F2D"/>
          </a:solidFill>
          <a:ln/>
        </p:spPr>
      </p:sp>
      <p:sp>
        <p:nvSpPr>
          <p:cNvPr id="14" name="Text 12"/>
          <p:cNvSpPr/>
          <p:nvPr/>
        </p:nvSpPr>
        <p:spPr>
          <a:xfrm>
            <a:off x="10332720" y="1417320"/>
            <a:ext cx="104241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28,000+</a:t>
            </a:r>
            <a:endParaRPr lang="en-US" sz="800" dirty="0"/>
          </a:p>
        </p:txBody>
      </p:sp>
      <p:sp>
        <p:nvSpPr>
          <p:cNvPr id="15" name="Shape 13"/>
          <p:cNvSpPr/>
          <p:nvPr/>
        </p:nvSpPr>
        <p:spPr>
          <a:xfrm>
            <a:off x="731520" y="2423160"/>
            <a:ext cx="548640" cy="548640"/>
          </a:xfrm>
          <a:prstGeom prst="roundRect">
            <a:avLst>
              <a:gd name="adj" fmla="val 8333"/>
            </a:avLst>
          </a:prstGeom>
          <a:solidFill>
            <a:srgbClr val="97BC62"/>
          </a:solidFill>
          <a:ln/>
        </p:spPr>
      </p:sp>
      <p:sp>
        <p:nvSpPr>
          <p:cNvPr id="16" name="Text 14"/>
          <p:cNvSpPr/>
          <p:nvPr/>
        </p:nvSpPr>
        <p:spPr>
          <a:xfrm>
            <a:off x="731520" y="242316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7" name="Text 15"/>
          <p:cNvSpPr/>
          <p:nvPr/>
        </p:nvSpPr>
        <p:spPr>
          <a:xfrm>
            <a:off x="1463040" y="2423160"/>
            <a:ext cx="6858000" cy="32004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Object Detection with Discriminatively Trained Part-Based Models</a:t>
            </a:r>
            <a:endParaRPr lang="en-US" sz="1200" dirty="0"/>
          </a:p>
        </p:txBody>
      </p:sp>
      <p:sp>
        <p:nvSpPr>
          <p:cNvPr id="18" name="Text 16"/>
          <p:cNvSpPr/>
          <p:nvPr/>
        </p:nvSpPr>
        <p:spPr>
          <a:xfrm>
            <a:off x="1463040" y="2697480"/>
            <a:ext cx="6858000" cy="22860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Felzenszwalb et al.  |  PAMI 2010  |  引用: 12,000+</a:t>
            </a:r>
            <a:endParaRPr lang="en-US" sz="1000" dirty="0"/>
          </a:p>
        </p:txBody>
      </p:sp>
      <p:sp>
        <p:nvSpPr>
          <p:cNvPr id="19" name="Text 17"/>
          <p:cNvSpPr/>
          <p:nvPr/>
        </p:nvSpPr>
        <p:spPr>
          <a:xfrm>
            <a:off x="1463040" y="2926080"/>
            <a:ext cx="9144000" cy="32004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DPM的完整框架论文, 提出根+部件模型、隐变量SVM训练方法, 获PASCAL VOC冠军</a:t>
            </a:r>
            <a:endParaRPr lang="en-US" sz="1000" dirty="0"/>
          </a:p>
        </p:txBody>
      </p:sp>
      <p:sp>
        <p:nvSpPr>
          <p:cNvPr id="20" name="Shape 18"/>
          <p:cNvSpPr/>
          <p:nvPr/>
        </p:nvSpPr>
        <p:spPr>
          <a:xfrm>
            <a:off x="10332720" y="2560320"/>
            <a:ext cx="1042416" cy="274320"/>
          </a:xfrm>
          <a:prstGeom prst="roundRect">
            <a:avLst>
              <a:gd name="adj" fmla="val 16667"/>
            </a:avLst>
          </a:prstGeom>
          <a:solidFill>
            <a:srgbClr val="97BC62"/>
          </a:solidFill>
          <a:ln/>
        </p:spPr>
      </p:sp>
      <p:sp>
        <p:nvSpPr>
          <p:cNvPr id="21" name="Text 19"/>
          <p:cNvSpPr/>
          <p:nvPr/>
        </p:nvSpPr>
        <p:spPr>
          <a:xfrm>
            <a:off x="10332720" y="2560320"/>
            <a:ext cx="1042416"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12,000+</a:t>
            </a:r>
            <a:endParaRPr lang="en-US" sz="800" dirty="0"/>
          </a:p>
        </p:txBody>
      </p:sp>
      <p:sp>
        <p:nvSpPr>
          <p:cNvPr id="22" name="Shape 20"/>
          <p:cNvSpPr/>
          <p:nvPr/>
        </p:nvSpPr>
        <p:spPr>
          <a:xfrm>
            <a:off x="731520" y="3566160"/>
            <a:ext cx="548640" cy="548640"/>
          </a:xfrm>
          <a:prstGeom prst="roundRect">
            <a:avLst>
              <a:gd name="adj" fmla="val 8333"/>
            </a:avLst>
          </a:prstGeom>
          <a:solidFill>
            <a:srgbClr val="D4A843"/>
          </a:solidFill>
          <a:ln/>
        </p:spPr>
      </p:sp>
      <p:sp>
        <p:nvSpPr>
          <p:cNvPr id="23" name="Text 21"/>
          <p:cNvSpPr/>
          <p:nvPr/>
        </p:nvSpPr>
        <p:spPr>
          <a:xfrm>
            <a:off x="731520" y="356616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4" name="Text 22"/>
          <p:cNvSpPr/>
          <p:nvPr/>
        </p:nvSpPr>
        <p:spPr>
          <a:xfrm>
            <a:off x="1463040" y="3566160"/>
            <a:ext cx="6858000" cy="32004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A Discriminatively Trained, Multiscale, Deformable Part Model</a:t>
            </a:r>
            <a:endParaRPr lang="en-US" sz="1200" dirty="0"/>
          </a:p>
        </p:txBody>
      </p:sp>
      <p:sp>
        <p:nvSpPr>
          <p:cNvPr id="25" name="Text 23"/>
          <p:cNvSpPr/>
          <p:nvPr/>
        </p:nvSpPr>
        <p:spPr>
          <a:xfrm>
            <a:off x="1463040" y="3840480"/>
            <a:ext cx="6858000" cy="22860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Felzenszwalb, Girshick, McAllester, Ramanan  |  CVPR 2009  |  引用: 5,000+</a:t>
            </a:r>
            <a:endParaRPr lang="en-US" sz="1000" dirty="0"/>
          </a:p>
        </p:txBody>
      </p:sp>
      <p:sp>
        <p:nvSpPr>
          <p:cNvPr id="26" name="Text 24"/>
          <p:cNvSpPr/>
          <p:nvPr/>
        </p:nvSpPr>
        <p:spPr>
          <a:xfrm>
            <a:off x="1463040" y="4069080"/>
            <a:ext cx="9144000" cy="32004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DPM的初步框架, 引入可变形部件模型和形变代价函数</a:t>
            </a:r>
            <a:endParaRPr lang="en-US" sz="1000" dirty="0"/>
          </a:p>
        </p:txBody>
      </p:sp>
      <p:sp>
        <p:nvSpPr>
          <p:cNvPr id="27" name="Shape 25"/>
          <p:cNvSpPr/>
          <p:nvPr/>
        </p:nvSpPr>
        <p:spPr>
          <a:xfrm>
            <a:off x="10332720" y="3703320"/>
            <a:ext cx="932688" cy="274320"/>
          </a:xfrm>
          <a:prstGeom prst="roundRect">
            <a:avLst>
              <a:gd name="adj" fmla="val 16667"/>
            </a:avLst>
          </a:prstGeom>
          <a:solidFill>
            <a:srgbClr val="D4A843"/>
          </a:solidFill>
          <a:ln/>
        </p:spPr>
      </p:sp>
      <p:sp>
        <p:nvSpPr>
          <p:cNvPr id="28" name="Text 26"/>
          <p:cNvSpPr/>
          <p:nvPr/>
        </p:nvSpPr>
        <p:spPr>
          <a:xfrm>
            <a:off x="10332720" y="3703320"/>
            <a:ext cx="93268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5,000+</a:t>
            </a:r>
            <a:endParaRPr lang="en-US" sz="800" dirty="0"/>
          </a:p>
        </p:txBody>
      </p:sp>
      <p:sp>
        <p:nvSpPr>
          <p:cNvPr id="29" name="Shape 27"/>
          <p:cNvSpPr/>
          <p:nvPr/>
        </p:nvSpPr>
        <p:spPr>
          <a:xfrm>
            <a:off x="731520" y="4709160"/>
            <a:ext cx="548640" cy="548640"/>
          </a:xfrm>
          <a:prstGeom prst="roundRect">
            <a:avLst>
              <a:gd name="adj" fmla="val 8333"/>
            </a:avLst>
          </a:prstGeom>
          <a:solidFill>
            <a:srgbClr val="2C5F2D"/>
          </a:solidFill>
          <a:ln/>
        </p:spPr>
      </p:sp>
      <p:sp>
        <p:nvSpPr>
          <p:cNvPr id="30" name="Text 28"/>
          <p:cNvSpPr/>
          <p:nvPr/>
        </p:nvSpPr>
        <p:spPr>
          <a:xfrm>
            <a:off x="731520" y="470916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1" name="Text 29"/>
          <p:cNvSpPr/>
          <p:nvPr/>
        </p:nvSpPr>
        <p:spPr>
          <a:xfrm>
            <a:off x="1463040" y="4709160"/>
            <a:ext cx="6858000" cy="32004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Cascaded Object Detection with Deformable Part Models</a:t>
            </a:r>
            <a:endParaRPr lang="en-US" sz="1200" dirty="0"/>
          </a:p>
        </p:txBody>
      </p:sp>
      <p:sp>
        <p:nvSpPr>
          <p:cNvPr id="32" name="Text 30"/>
          <p:cNvSpPr/>
          <p:nvPr/>
        </p:nvSpPr>
        <p:spPr>
          <a:xfrm>
            <a:off x="1463040" y="4983480"/>
            <a:ext cx="6858000" cy="228600"/>
          </a:xfrm>
          <a:prstGeom prst="rect">
            <a:avLst/>
          </a:prstGeom>
          <a:noFill/>
          <a:ln/>
        </p:spPr>
        <p:txBody>
          <a:bodyPr wrap="square" rtlCol="0" anchor="ctr"/>
          <a:lstStyle/>
          <a:p>
            <a:pPr algn="l" indent="0" marL="0">
              <a:buNone/>
            </a:pPr>
            <a:r>
              <a:rPr lang="en-US" sz="1000" dirty="0">
                <a:solidFill>
                  <a:srgbClr val="6B8F6B"/>
                </a:solidFill>
                <a:latin typeface="Calibri" pitchFamily="34" charset="0"/>
                <a:ea typeface="Calibri" pitchFamily="34" charset="-122"/>
                <a:cs typeface="Calibri" pitchFamily="34" charset="-120"/>
              </a:rPr>
              <a:t>Felzenszwalb, Girshick, McAllester  |  CVPR 2010  |  引用: 2,500+</a:t>
            </a:r>
            <a:endParaRPr lang="en-US" sz="1000" dirty="0"/>
          </a:p>
        </p:txBody>
      </p:sp>
      <p:sp>
        <p:nvSpPr>
          <p:cNvPr id="33" name="Text 31"/>
          <p:cNvSpPr/>
          <p:nvPr/>
        </p:nvSpPr>
        <p:spPr>
          <a:xfrm>
            <a:off x="1463040" y="5212080"/>
            <a:ext cx="9144000" cy="32004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加速版DPM, 使用级联策略将检测速度提升10倍以上</a:t>
            </a:r>
            <a:endParaRPr lang="en-US" sz="1000" dirty="0"/>
          </a:p>
        </p:txBody>
      </p:sp>
      <p:sp>
        <p:nvSpPr>
          <p:cNvPr id="34" name="Shape 32"/>
          <p:cNvSpPr/>
          <p:nvPr/>
        </p:nvSpPr>
        <p:spPr>
          <a:xfrm>
            <a:off x="10332720" y="4846320"/>
            <a:ext cx="932688" cy="274320"/>
          </a:xfrm>
          <a:prstGeom prst="roundRect">
            <a:avLst>
              <a:gd name="adj" fmla="val 16667"/>
            </a:avLst>
          </a:prstGeom>
          <a:solidFill>
            <a:srgbClr val="2C5F2D"/>
          </a:solidFill>
          <a:ln/>
        </p:spPr>
      </p:sp>
      <p:sp>
        <p:nvSpPr>
          <p:cNvPr id="35" name="Text 33"/>
          <p:cNvSpPr/>
          <p:nvPr/>
        </p:nvSpPr>
        <p:spPr>
          <a:xfrm>
            <a:off x="10332720" y="4846320"/>
            <a:ext cx="932688"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2,500+</a:t>
            </a:r>
            <a:endParaRPr lang="en-US" sz="800" dirty="0"/>
          </a:p>
        </p:txBody>
      </p:sp>
      <p:sp>
        <p:nvSpPr>
          <p:cNvPr id="36" name="Shape 34"/>
          <p:cNvSpPr/>
          <p:nvPr/>
        </p:nvSpPr>
        <p:spPr>
          <a:xfrm>
            <a:off x="0" y="6492240"/>
            <a:ext cx="12188952" cy="18288"/>
          </a:xfrm>
          <a:prstGeom prst="rect">
            <a:avLst/>
          </a:prstGeom>
          <a:solidFill>
            <a:srgbClr val="97BC62"/>
          </a:solidFill>
          <a:ln/>
        </p:spPr>
      </p:sp>
      <p:sp>
        <p:nvSpPr>
          <p:cNvPr id="37" name="Text 35"/>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15/20</a:t>
            </a:r>
            <a:endParaRPr lang="en-US" sz="800" dirty="0"/>
          </a:p>
        </p:txBody>
      </p:sp>
      <p:sp>
        <p:nvSpPr>
          <p:cNvPr id="38"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经典实验</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HOG特征可视化 + OpenCV行人检测实战</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5180076" cy="4754880"/>
          </a:xfrm>
          <a:prstGeom prst="roundRect">
            <a:avLst>
              <a:gd name="adj" fmla="val 1538"/>
            </a:avLst>
          </a:prstGeom>
          <a:solidFill>
            <a:srgbClr val="F5F9F2"/>
          </a:solidFill>
          <a:ln w="6350">
            <a:solidFill>
              <a:srgbClr val="97BC62"/>
            </a:solidFill>
            <a:prstDash val="solid"/>
          </a:ln>
        </p:spPr>
      </p:sp>
      <p:sp>
        <p:nvSpPr>
          <p:cNvPr id="9" name="Shape 7"/>
          <p:cNvSpPr/>
          <p:nvPr/>
        </p:nvSpPr>
        <p:spPr>
          <a:xfrm>
            <a:off x="6277356" y="1280160"/>
            <a:ext cx="5180076" cy="4754880"/>
          </a:xfrm>
          <a:prstGeom prst="roundRect">
            <a:avLst>
              <a:gd name="adj" fmla="val 1538"/>
            </a:avLst>
          </a:prstGeom>
          <a:solidFill>
            <a:srgbClr val="FDF6E3"/>
          </a:solidFill>
          <a:ln w="6350">
            <a:solidFill>
              <a:srgbClr val="D4A843"/>
            </a:solidFill>
            <a:prstDash val="solid"/>
          </a:ln>
        </p:spPr>
      </p:sp>
      <p:sp>
        <p:nvSpPr>
          <p:cNvPr id="10" name="Text 8"/>
          <p:cNvSpPr/>
          <p:nvPr/>
        </p:nvSpPr>
        <p:spPr>
          <a:xfrm>
            <a:off x="1005840" y="1463040"/>
            <a:ext cx="4572000" cy="32004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实验一: HOG特征可视化</a:t>
            </a:r>
            <a:endParaRPr lang="en-US" sz="1400" dirty="0"/>
          </a:p>
        </p:txBody>
      </p:sp>
      <p:sp>
        <p:nvSpPr>
          <p:cNvPr id="11" name="Text 9"/>
          <p:cNvSpPr/>
          <p:nvPr/>
        </p:nvSpPr>
        <p:spPr>
          <a:xfrm>
            <a:off x="1005840" y="1874520"/>
            <a:ext cx="4846320" cy="3474720"/>
          </a:xfrm>
          <a:prstGeom prst="rect">
            <a:avLst/>
          </a:prstGeom>
          <a:noFill/>
          <a:ln/>
        </p:spPr>
        <p:txBody>
          <a:bodyPr wrap="square" rtlCol="0" anchor="t"/>
          <a:lstStyle/>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实验步骤:</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1. 使用skimage.feature.hog计算特征</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2. 设置visualize=True获取HOG图像</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3. 观察不同物体的HOG特征分布</a:t>
            </a:r>
            <a:endParaRPr lang="en-US" sz="1100" dirty="0"/>
          </a:p>
          <a:p>
            <a:pPr algn="l" indent="0" marL="0">
              <a:lnSpc>
                <a:spcPct val="120000"/>
              </a:lnSpc>
              <a:buNone/>
            </a:pP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观察结论:</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行人的轮廓和边缘清晰可见</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头部和肩部有明显的方向分布</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背景区域梯度较弱(被归一化抑制)</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不同姿态的行人HOG特征有所不同</a:t>
            </a:r>
            <a:endParaRPr lang="en-US" sz="1100" dirty="0"/>
          </a:p>
        </p:txBody>
      </p:sp>
      <p:sp>
        <p:nvSpPr>
          <p:cNvPr id="12" name="Text 10"/>
          <p:cNvSpPr/>
          <p:nvPr/>
        </p:nvSpPr>
        <p:spPr>
          <a:xfrm>
            <a:off x="6675120" y="1463040"/>
            <a:ext cx="4572000" cy="320040"/>
          </a:xfrm>
          <a:prstGeom prst="rect">
            <a:avLst/>
          </a:prstGeom>
          <a:noFill/>
          <a:ln/>
        </p:spPr>
        <p:txBody>
          <a:bodyPr wrap="square"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实验二: OpenCV行人检测</a:t>
            </a:r>
            <a:endParaRPr lang="en-US" sz="1400" dirty="0"/>
          </a:p>
        </p:txBody>
      </p:sp>
      <p:sp>
        <p:nvSpPr>
          <p:cNvPr id="13" name="Text 11"/>
          <p:cNvSpPr/>
          <p:nvPr/>
        </p:nvSpPr>
        <p:spPr>
          <a:xfrm>
            <a:off x="6675120" y="1874520"/>
            <a:ext cx="4572000" cy="3474720"/>
          </a:xfrm>
          <a:prstGeom prst="rect">
            <a:avLst/>
          </a:prstGeom>
          <a:noFill/>
          <a:ln/>
        </p:spPr>
        <p:txBody>
          <a:bodyPr wrap="square" rtlCol="0" anchor="t"/>
          <a:lstStyle/>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实验步骤:</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1. 使用cv2.HOGDescriptor</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2. 加载默认SVM行人检测器</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3. 调用detectMultiScale检测</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4. 分析不同参数的影响</a:t>
            </a:r>
            <a:endParaRPr lang="en-US" sz="1100" dirty="0"/>
          </a:p>
          <a:p>
            <a:pPr algn="l" indent="0" marL="0">
              <a:lnSpc>
                <a:spcPct val="120000"/>
              </a:lnSpc>
              <a:buNone/>
            </a:pP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参数调优实验:</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scale=1.05: 精度好, 速度慢</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scale=1.2: 速度快, 漏检增加</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winStride=(4,4): 精度提升, 更慢</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threshold=0.5: 平衡召回与精度</a:t>
            </a:r>
            <a:endParaRPr lang="en-US" sz="1100" dirty="0"/>
          </a:p>
        </p:txBody>
      </p:sp>
      <p:sp>
        <p:nvSpPr>
          <p:cNvPr id="14" name="Shape 12"/>
          <p:cNvSpPr/>
          <p:nvPr/>
        </p:nvSpPr>
        <p:spPr>
          <a:xfrm>
            <a:off x="0" y="6492240"/>
            <a:ext cx="12188952" cy="18288"/>
          </a:xfrm>
          <a:prstGeom prst="rect">
            <a:avLst/>
          </a:prstGeom>
          <a:solidFill>
            <a:srgbClr val="97BC62"/>
          </a:solidFill>
          <a:ln/>
        </p:spPr>
      </p:sp>
      <p:sp>
        <p:nvSpPr>
          <p:cNvPr id="15" name="Text 13"/>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16/20</a:t>
            </a:r>
            <a:endParaRPr lang="en-US" sz="800" dirty="0"/>
          </a:p>
        </p:txBody>
      </p:sp>
      <p:sp>
        <p:nvSpPr>
          <p:cNvPr id="16"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有趣的背景故事</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生物视觉灵感 + PASCAL VOC的故事</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10725912" cy="2103120"/>
          </a:xfrm>
          <a:prstGeom prst="roundRect">
            <a:avLst>
              <a:gd name="adj" fmla="val 4348"/>
            </a:avLst>
          </a:prstGeom>
          <a:solidFill>
            <a:srgbClr val="F5F9F2"/>
          </a:solidFill>
          <a:ln w="6350">
            <a:solidFill>
              <a:srgbClr val="97BC62"/>
            </a:solidFill>
            <a:prstDash val="solid"/>
          </a:ln>
        </p:spPr>
      </p:sp>
      <p:sp>
        <p:nvSpPr>
          <p:cNvPr id="9" name="Text 7"/>
          <p:cNvSpPr/>
          <p:nvPr/>
        </p:nvSpPr>
        <p:spPr>
          <a:xfrm>
            <a:off x="1005840" y="1371600"/>
            <a:ext cx="10725912" cy="32004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生物视觉的灵感</a:t>
            </a:r>
            <a:endParaRPr lang="en-US" sz="1600" dirty="0"/>
          </a:p>
        </p:txBody>
      </p:sp>
      <p:sp>
        <p:nvSpPr>
          <p:cNvPr id="10" name="Text 8"/>
          <p:cNvSpPr/>
          <p:nvPr/>
        </p:nvSpPr>
        <p:spPr>
          <a:xfrm>
            <a:off x="1005840" y="1737360"/>
            <a:ext cx="10177272" cy="1463040"/>
          </a:xfrm>
          <a:prstGeom prst="rect">
            <a:avLst/>
          </a:prstGeom>
          <a:noFill/>
          <a:ln/>
        </p:spPr>
        <p:txBody>
          <a:bodyPr wrap="square" rtlCol="0" anchor="t"/>
          <a:lstStyle/>
          <a:p>
            <a:pPr algn="l" indent="0" marL="0">
              <a:lnSpc>
                <a:spcPct val="125000"/>
              </a:lnSpc>
              <a:buNone/>
            </a:pPr>
            <a:r>
              <a:rPr lang="en-US" sz="1150" dirty="0">
                <a:solidFill>
                  <a:srgbClr val="1A3A1A"/>
                </a:solidFill>
                <a:latin typeface="Calibri" pitchFamily="34" charset="0"/>
                <a:ea typeface="Calibri" pitchFamily="34" charset="-122"/>
                <a:cs typeface="Calibri" pitchFamily="34" charset="-120"/>
              </a:rPr>
              <a:t>HOG的设计灵感来源于生物视觉系统的研究。1960年代，诺贝尔奖得主Hubel和Wiesel发现了视觉皮层中的简单细胞和复杂细胞，它们分别对特定方向的边缘具有选择性响应。Dalal在设计HOG时，正是借鉴了这一生物学发现——通过统计梯度方向的分布来模拟视觉系统对边缘方向的敏感性。有趣的是，后来的CNN中的卷积核也表现出了类似的方向选择性，某种程度上'重新发现'了相同的原理。</a:t>
            </a:r>
            <a:endParaRPr lang="en-US" sz="1150" dirty="0"/>
          </a:p>
        </p:txBody>
      </p:sp>
      <p:sp>
        <p:nvSpPr>
          <p:cNvPr id="11" name="Shape 9"/>
          <p:cNvSpPr/>
          <p:nvPr/>
        </p:nvSpPr>
        <p:spPr>
          <a:xfrm>
            <a:off x="731520" y="3566160"/>
            <a:ext cx="10725912" cy="2286000"/>
          </a:xfrm>
          <a:prstGeom prst="roundRect">
            <a:avLst>
              <a:gd name="adj" fmla="val 4000"/>
            </a:avLst>
          </a:prstGeom>
          <a:solidFill>
            <a:srgbClr val="F5F9F2"/>
          </a:solidFill>
          <a:ln w="6350">
            <a:solidFill>
              <a:srgbClr val="97BC62"/>
            </a:solidFill>
            <a:prstDash val="solid"/>
          </a:ln>
        </p:spPr>
      </p:sp>
      <p:sp>
        <p:nvSpPr>
          <p:cNvPr id="12" name="Text 10"/>
          <p:cNvSpPr/>
          <p:nvPr/>
        </p:nvSpPr>
        <p:spPr>
          <a:xfrm>
            <a:off x="1005840" y="3657600"/>
            <a:ext cx="10725912" cy="320040"/>
          </a:xfrm>
          <a:prstGeom prst="rect">
            <a:avLst/>
          </a:prstGeom>
          <a:noFill/>
          <a:ln/>
        </p:spPr>
        <p:txBody>
          <a:bodyPr wrap="square"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PASCAL VOC竞赛的传奇</a:t>
            </a:r>
            <a:endParaRPr lang="en-US" sz="1600" dirty="0"/>
          </a:p>
        </p:txBody>
      </p:sp>
      <p:sp>
        <p:nvSpPr>
          <p:cNvPr id="13" name="Text 11"/>
          <p:cNvSpPr/>
          <p:nvPr/>
        </p:nvSpPr>
        <p:spPr>
          <a:xfrm>
            <a:off x="1005840" y="4023360"/>
            <a:ext cx="10177272" cy="1645920"/>
          </a:xfrm>
          <a:prstGeom prst="rect">
            <a:avLst/>
          </a:prstGeom>
          <a:noFill/>
          <a:ln/>
        </p:spPr>
        <p:txBody>
          <a:bodyPr wrap="square" rtlCol="0" anchor="t"/>
          <a:lstStyle/>
          <a:p>
            <a:pPr algn="l" indent="0" marL="0">
              <a:lnSpc>
                <a:spcPct val="125000"/>
              </a:lnSpc>
              <a:buNone/>
            </a:pPr>
            <a:r>
              <a:rPr lang="en-US" sz="1150" dirty="0">
                <a:solidFill>
                  <a:srgbClr val="1A3A1A"/>
                </a:solidFill>
                <a:latin typeface="Calibri" pitchFamily="34" charset="0"/>
                <a:ea typeface="Calibri" pitchFamily="34" charset="-122"/>
                <a:cs typeface="Calibri" pitchFamily="34" charset="-120"/>
              </a:rPr>
              <a:t>PASCAL VOC(Pattern Analysis, Statical Modelling and Computational Learning Visual Object Classes)是2005-2012年间最具影响力的目标检测竞赛。DPM在2010年达到了传统方法的巅峰：在VOC2010的20个类别上取得了40.4%的mAP。当时没有人想到，仅仅两年后，深度学习方法(R-CNN, 2014)就将mAP提升到了58.5%。从2012年开始，基于深度学习的方法迅速超越了所有传统方法，但DPM的设计思想至今仍有深远影响。PASCAL VOC数据集至今仍是评估目标检测算法的标准基准之一。</a:t>
            </a:r>
            <a:endParaRPr lang="en-US" sz="1150" dirty="0"/>
          </a:p>
        </p:txBody>
      </p:sp>
      <p:sp>
        <p:nvSpPr>
          <p:cNvPr id="14" name="Shape 12"/>
          <p:cNvSpPr/>
          <p:nvPr/>
        </p:nvSpPr>
        <p:spPr>
          <a:xfrm>
            <a:off x="0" y="6492240"/>
            <a:ext cx="12188952" cy="18288"/>
          </a:xfrm>
          <a:prstGeom prst="rect">
            <a:avLst/>
          </a:prstGeom>
          <a:solidFill>
            <a:srgbClr val="97BC62"/>
          </a:solidFill>
          <a:ln/>
        </p:spPr>
      </p:sp>
      <p:sp>
        <p:nvSpPr>
          <p:cNvPr id="15" name="Text 13"/>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17/20</a:t>
            </a:r>
            <a:endParaRPr lang="en-US" sz="800" dirty="0"/>
          </a:p>
        </p:txBody>
      </p:sp>
      <p:sp>
        <p:nvSpPr>
          <p:cNvPr id="16"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思考题</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5道练习题 - 巩固今日所学</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457200" cy="457200"/>
          </a:xfrm>
          <a:prstGeom prst="roundRect">
            <a:avLst>
              <a:gd name="adj" fmla="val 10000"/>
            </a:avLst>
          </a:prstGeom>
          <a:solidFill>
            <a:srgbClr val="2C5F2D"/>
          </a:solidFill>
          <a:ln/>
        </p:spPr>
      </p:sp>
      <p:sp>
        <p:nvSpPr>
          <p:cNvPr id="9" name="Text 7"/>
          <p:cNvSpPr/>
          <p:nvPr/>
        </p:nvSpPr>
        <p:spPr>
          <a:xfrm>
            <a:off x="731520" y="128016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10" name="Text 8"/>
          <p:cNvSpPr/>
          <p:nvPr/>
        </p:nvSpPr>
        <p:spPr>
          <a:xfrm>
            <a:off x="1371600" y="1280160"/>
            <a:ext cx="9902952" cy="41148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HOG特征为什么选择0-180度而非0-360度的梯度方向范围？</a:t>
            </a:r>
            <a:endParaRPr lang="en-US" sz="1200" dirty="0"/>
          </a:p>
        </p:txBody>
      </p:sp>
      <p:sp>
        <p:nvSpPr>
          <p:cNvPr id="11" name="Text 9"/>
          <p:cNvSpPr/>
          <p:nvPr/>
        </p:nvSpPr>
        <p:spPr>
          <a:xfrm>
            <a:off x="1554480" y="1719072"/>
            <a:ext cx="9720072" cy="320040"/>
          </a:xfrm>
          <a:prstGeom prst="rect">
            <a:avLst/>
          </a:prstGeom>
          <a:noFill/>
          <a:ln/>
        </p:spPr>
        <p:txBody>
          <a:bodyPr wrap="square" rtlCol="0" anchor="ctr"/>
          <a:lstStyle/>
          <a:p>
            <a:pPr algn="l" indent="0" marL="0">
              <a:buNone/>
            </a:pPr>
            <a:r>
              <a:rPr lang="en-US" sz="1000" i="1" dirty="0">
                <a:solidFill>
                  <a:srgbClr val="6B8F6B"/>
                </a:solidFill>
                <a:latin typeface="Calibri" pitchFamily="34" charset="0"/>
                <a:ea typeface="Calibri" pitchFamily="34" charset="-122"/>
                <a:cs typeface="Calibri" pitchFamily="34" charset="-120"/>
              </a:rPr>
              <a:t>提示：考虑梯度方向的对称性（一条边缘的正反方向）</a:t>
            </a:r>
            <a:endParaRPr lang="en-US" sz="1000" dirty="0"/>
          </a:p>
        </p:txBody>
      </p:sp>
      <p:sp>
        <p:nvSpPr>
          <p:cNvPr id="12" name="Shape 10"/>
          <p:cNvSpPr/>
          <p:nvPr/>
        </p:nvSpPr>
        <p:spPr>
          <a:xfrm>
            <a:off x="731520" y="2240280"/>
            <a:ext cx="457200" cy="457200"/>
          </a:xfrm>
          <a:prstGeom prst="roundRect">
            <a:avLst>
              <a:gd name="adj" fmla="val 10000"/>
            </a:avLst>
          </a:prstGeom>
          <a:solidFill>
            <a:srgbClr val="D4A843"/>
          </a:solidFill>
          <a:ln/>
        </p:spPr>
      </p:sp>
      <p:sp>
        <p:nvSpPr>
          <p:cNvPr id="13" name="Text 11"/>
          <p:cNvSpPr/>
          <p:nvPr/>
        </p:nvSpPr>
        <p:spPr>
          <a:xfrm>
            <a:off x="731520" y="224028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4" name="Text 12"/>
          <p:cNvSpPr/>
          <p:nvPr/>
        </p:nvSpPr>
        <p:spPr>
          <a:xfrm>
            <a:off x="1371600" y="2240280"/>
            <a:ext cx="9902952" cy="41148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Block归一化使用L2-Hys方法的具体步骤是什么？为什么它比L1归一化效果更好？</a:t>
            </a:r>
            <a:endParaRPr lang="en-US" sz="1200" dirty="0"/>
          </a:p>
        </p:txBody>
      </p:sp>
      <p:sp>
        <p:nvSpPr>
          <p:cNvPr id="15" name="Text 13"/>
          <p:cNvSpPr/>
          <p:nvPr/>
        </p:nvSpPr>
        <p:spPr>
          <a:xfrm>
            <a:off x="1554480" y="2679192"/>
            <a:ext cx="9720072" cy="320040"/>
          </a:xfrm>
          <a:prstGeom prst="rect">
            <a:avLst/>
          </a:prstGeom>
          <a:noFill/>
          <a:ln/>
        </p:spPr>
        <p:txBody>
          <a:bodyPr wrap="square" rtlCol="0" anchor="ctr"/>
          <a:lstStyle/>
          <a:p>
            <a:pPr algn="l" indent="0" marL="0">
              <a:buNone/>
            </a:pPr>
            <a:r>
              <a:rPr lang="en-US" sz="1000" i="1" dirty="0">
                <a:solidFill>
                  <a:srgbClr val="6B8F6B"/>
                </a:solidFill>
                <a:latin typeface="Calibri" pitchFamily="34" charset="0"/>
                <a:ea typeface="Calibri" pitchFamily="34" charset="-122"/>
                <a:cs typeface="Calibri" pitchFamily="34" charset="-120"/>
              </a:rPr>
              <a:t>提示：L2-Hys = L2归一化 -&gt; 截断到0.2 -&gt; 再次L2归一化</a:t>
            </a:r>
            <a:endParaRPr lang="en-US" sz="1000" dirty="0"/>
          </a:p>
        </p:txBody>
      </p:sp>
      <p:sp>
        <p:nvSpPr>
          <p:cNvPr id="16" name="Shape 14"/>
          <p:cNvSpPr/>
          <p:nvPr/>
        </p:nvSpPr>
        <p:spPr>
          <a:xfrm>
            <a:off x="731520" y="3200400"/>
            <a:ext cx="457200" cy="457200"/>
          </a:xfrm>
          <a:prstGeom prst="roundRect">
            <a:avLst>
              <a:gd name="adj" fmla="val 10000"/>
            </a:avLst>
          </a:prstGeom>
          <a:solidFill>
            <a:srgbClr val="2C5F2D"/>
          </a:solidFill>
          <a:ln/>
        </p:spPr>
      </p:sp>
      <p:sp>
        <p:nvSpPr>
          <p:cNvPr id="17" name="Text 15"/>
          <p:cNvSpPr/>
          <p:nvPr/>
        </p:nvSpPr>
        <p:spPr>
          <a:xfrm>
            <a:off x="731520" y="320040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8" name="Text 16"/>
          <p:cNvSpPr/>
          <p:nvPr/>
        </p:nvSpPr>
        <p:spPr>
          <a:xfrm>
            <a:off x="1371600" y="3200400"/>
            <a:ext cx="9902952" cy="41148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DPM中部件滤波器为什么要在比根滤波器更高分辨率的特征图上匹配？</a:t>
            </a:r>
            <a:endParaRPr lang="en-US" sz="1200" dirty="0"/>
          </a:p>
        </p:txBody>
      </p:sp>
      <p:sp>
        <p:nvSpPr>
          <p:cNvPr id="19" name="Text 17"/>
          <p:cNvSpPr/>
          <p:nvPr/>
        </p:nvSpPr>
        <p:spPr>
          <a:xfrm>
            <a:off x="1554480" y="3639312"/>
            <a:ext cx="9720072" cy="320040"/>
          </a:xfrm>
          <a:prstGeom prst="rect">
            <a:avLst/>
          </a:prstGeom>
          <a:noFill/>
          <a:ln/>
        </p:spPr>
        <p:txBody>
          <a:bodyPr wrap="square" rtlCol="0" anchor="ctr"/>
          <a:lstStyle/>
          <a:p>
            <a:pPr algn="l" indent="0" marL="0">
              <a:buNone/>
            </a:pPr>
            <a:r>
              <a:rPr lang="en-US" sz="1000" i="1" dirty="0">
                <a:solidFill>
                  <a:srgbClr val="6B8F6B"/>
                </a:solidFill>
                <a:latin typeface="Calibri" pitchFamily="34" charset="0"/>
                <a:ea typeface="Calibri" pitchFamily="34" charset="-122"/>
                <a:cs typeface="Calibri" pitchFamily="34" charset="-120"/>
              </a:rPr>
              <a:t>提示：部件的尺寸比整个物体小，需要更精细的特征图来匹配</a:t>
            </a:r>
            <a:endParaRPr lang="en-US" sz="1000" dirty="0"/>
          </a:p>
        </p:txBody>
      </p:sp>
      <p:sp>
        <p:nvSpPr>
          <p:cNvPr id="20" name="Shape 18"/>
          <p:cNvSpPr/>
          <p:nvPr/>
        </p:nvSpPr>
        <p:spPr>
          <a:xfrm>
            <a:off x="731520" y="4160520"/>
            <a:ext cx="457200" cy="457200"/>
          </a:xfrm>
          <a:prstGeom prst="roundRect">
            <a:avLst>
              <a:gd name="adj" fmla="val 10000"/>
            </a:avLst>
          </a:prstGeom>
          <a:solidFill>
            <a:srgbClr val="D4A843"/>
          </a:solidFill>
          <a:ln/>
        </p:spPr>
      </p:sp>
      <p:sp>
        <p:nvSpPr>
          <p:cNvPr id="21" name="Text 19"/>
          <p:cNvSpPr/>
          <p:nvPr/>
        </p:nvSpPr>
        <p:spPr>
          <a:xfrm>
            <a:off x="731520" y="41605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2" name="Text 20"/>
          <p:cNvSpPr/>
          <p:nvPr/>
        </p:nvSpPr>
        <p:spPr>
          <a:xfrm>
            <a:off x="1371600" y="4160520"/>
            <a:ext cx="9902952" cy="41148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DPM的形变代价函数使用二次函数有什么好处？如果改为线性函数会有什么问题？</a:t>
            </a:r>
            <a:endParaRPr lang="en-US" sz="1200" dirty="0"/>
          </a:p>
        </p:txBody>
      </p:sp>
      <p:sp>
        <p:nvSpPr>
          <p:cNvPr id="23" name="Text 21"/>
          <p:cNvSpPr/>
          <p:nvPr/>
        </p:nvSpPr>
        <p:spPr>
          <a:xfrm>
            <a:off x="1554480" y="4599432"/>
            <a:ext cx="9720072" cy="320040"/>
          </a:xfrm>
          <a:prstGeom prst="rect">
            <a:avLst/>
          </a:prstGeom>
          <a:noFill/>
          <a:ln/>
        </p:spPr>
        <p:txBody>
          <a:bodyPr wrap="square" rtlCol="0" anchor="ctr"/>
          <a:lstStyle/>
          <a:p>
            <a:pPr algn="l" indent="0" marL="0">
              <a:buNone/>
            </a:pPr>
            <a:r>
              <a:rPr lang="en-US" sz="1000" i="1" dirty="0">
                <a:solidFill>
                  <a:srgbClr val="6B8F6B"/>
                </a:solidFill>
                <a:latin typeface="Calibri" pitchFamily="34" charset="0"/>
                <a:ea typeface="Calibri" pitchFamily="34" charset="-122"/>
                <a:cs typeface="Calibri" pitchFamily="34" charset="-120"/>
              </a:rPr>
              <a:t>提示：二次函数对大的偏移施加更大的惩罚，线性函数惩罚力度不够</a:t>
            </a:r>
            <a:endParaRPr lang="en-US" sz="1000" dirty="0"/>
          </a:p>
        </p:txBody>
      </p:sp>
      <p:sp>
        <p:nvSpPr>
          <p:cNvPr id="24" name="Shape 22"/>
          <p:cNvSpPr/>
          <p:nvPr/>
        </p:nvSpPr>
        <p:spPr>
          <a:xfrm>
            <a:off x="731520" y="5120640"/>
            <a:ext cx="457200" cy="457200"/>
          </a:xfrm>
          <a:prstGeom prst="roundRect">
            <a:avLst>
              <a:gd name="adj" fmla="val 10000"/>
            </a:avLst>
          </a:prstGeom>
          <a:solidFill>
            <a:srgbClr val="2C5F2D"/>
          </a:solidFill>
          <a:ln/>
        </p:spPr>
      </p:sp>
      <p:sp>
        <p:nvSpPr>
          <p:cNvPr id="25" name="Text 23"/>
          <p:cNvSpPr/>
          <p:nvPr/>
        </p:nvSpPr>
        <p:spPr>
          <a:xfrm>
            <a:off x="731520" y="512064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Q5</a:t>
            </a:r>
            <a:endParaRPr lang="en-US" sz="1400" dirty="0"/>
          </a:p>
        </p:txBody>
      </p:sp>
      <p:sp>
        <p:nvSpPr>
          <p:cNvPr id="26" name="Text 24"/>
          <p:cNvSpPr/>
          <p:nvPr/>
        </p:nvSpPr>
        <p:spPr>
          <a:xfrm>
            <a:off x="1371600" y="5120640"/>
            <a:ext cx="9902952" cy="411480"/>
          </a:xfrm>
          <a:prstGeom prst="rect">
            <a:avLst/>
          </a:prstGeom>
          <a:noFill/>
          <a:ln/>
        </p:spPr>
        <p:txBody>
          <a:bodyPr wrap="square" rtlCol="0" anchor="ctr"/>
          <a:lstStyle/>
          <a:p>
            <a:pPr algn="l" indent="0" marL="0">
              <a:buNone/>
            </a:pPr>
            <a:r>
              <a:rPr lang="en-US" sz="1200" b="1" dirty="0">
                <a:solidFill>
                  <a:srgbClr val="1A3A1A"/>
                </a:solidFill>
                <a:latin typeface="Calibri" pitchFamily="34" charset="0"/>
                <a:ea typeface="Calibri" pitchFamily="34" charset="-122"/>
                <a:cs typeface="Calibri" pitchFamily="34" charset="-120"/>
              </a:rPr>
              <a:t>DPM虽然被深度学习方法超越，但它的哪些思想被现代检测框架继承和发扬？</a:t>
            </a:r>
            <a:endParaRPr lang="en-US" sz="1200" dirty="0"/>
          </a:p>
        </p:txBody>
      </p:sp>
      <p:sp>
        <p:nvSpPr>
          <p:cNvPr id="27" name="Text 25"/>
          <p:cNvSpPr/>
          <p:nvPr/>
        </p:nvSpPr>
        <p:spPr>
          <a:xfrm>
            <a:off x="1554480" y="5559552"/>
            <a:ext cx="9720072" cy="320040"/>
          </a:xfrm>
          <a:prstGeom prst="rect">
            <a:avLst/>
          </a:prstGeom>
          <a:noFill/>
          <a:ln/>
        </p:spPr>
        <p:txBody>
          <a:bodyPr wrap="square" rtlCol="0" anchor="ctr"/>
          <a:lstStyle/>
          <a:p>
            <a:pPr algn="l" indent="0" marL="0">
              <a:buNone/>
            </a:pPr>
            <a:r>
              <a:rPr lang="en-US" sz="1000" i="1" dirty="0">
                <a:solidFill>
                  <a:srgbClr val="6B8F6B"/>
                </a:solidFill>
                <a:latin typeface="Calibri" pitchFamily="34" charset="0"/>
                <a:ea typeface="Calibri" pitchFamily="34" charset="-122"/>
                <a:cs typeface="Calibri" pitchFamily="34" charset="-120"/>
              </a:rPr>
              <a:t>提示：思考FPN、Anchor机制、Attention等与DPM的联系</a:t>
            </a:r>
            <a:endParaRPr lang="en-US" sz="1000" dirty="0"/>
          </a:p>
        </p:txBody>
      </p:sp>
      <p:sp>
        <p:nvSpPr>
          <p:cNvPr id="28" name="Shape 26"/>
          <p:cNvSpPr/>
          <p:nvPr/>
        </p:nvSpPr>
        <p:spPr>
          <a:xfrm>
            <a:off x="0" y="6492240"/>
            <a:ext cx="12188952" cy="18288"/>
          </a:xfrm>
          <a:prstGeom prst="rect">
            <a:avLst/>
          </a:prstGeom>
          <a:solidFill>
            <a:srgbClr val="97BC62"/>
          </a:solidFill>
          <a:ln/>
        </p:spPr>
      </p:sp>
      <p:sp>
        <p:nvSpPr>
          <p:cNvPr id="29" name="Text 27"/>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18/20</a:t>
            </a:r>
            <a:endParaRPr lang="en-US" sz="800" dirty="0"/>
          </a:p>
        </p:txBody>
      </p:sp>
      <p:sp>
        <p:nvSpPr>
          <p:cNvPr id="30"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术语表</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13个核心术语 - 快速参考</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Shape 6"/>
          <p:cNvSpPr/>
          <p:nvPr/>
        </p:nvSpPr>
        <p:spPr>
          <a:xfrm>
            <a:off x="731520" y="1280160"/>
            <a:ext cx="1463040" cy="457200"/>
          </a:xfrm>
          <a:prstGeom prst="roundRect">
            <a:avLst>
              <a:gd name="adj" fmla="val 10000"/>
            </a:avLst>
          </a:prstGeom>
          <a:solidFill>
            <a:srgbClr val="2C5F2D"/>
          </a:solidFill>
          <a:ln/>
        </p:spPr>
      </p:sp>
      <p:sp>
        <p:nvSpPr>
          <p:cNvPr id="9" name="Text 7"/>
          <p:cNvSpPr/>
          <p:nvPr/>
        </p:nvSpPr>
        <p:spPr>
          <a:xfrm>
            <a:off x="731520" y="128016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HOG</a:t>
            </a:r>
            <a:endParaRPr lang="en-US" sz="1000" dirty="0"/>
          </a:p>
        </p:txBody>
      </p:sp>
      <p:sp>
        <p:nvSpPr>
          <p:cNvPr id="10" name="Text 8"/>
          <p:cNvSpPr/>
          <p:nvPr/>
        </p:nvSpPr>
        <p:spPr>
          <a:xfrm>
            <a:off x="2331720" y="128016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方向梯度直方图, 一种基于梯度方向分布的特征描述子</a:t>
            </a:r>
            <a:endParaRPr lang="en-US" sz="1000" dirty="0"/>
          </a:p>
        </p:txBody>
      </p:sp>
      <p:sp>
        <p:nvSpPr>
          <p:cNvPr id="11" name="Shape 9"/>
          <p:cNvSpPr/>
          <p:nvPr/>
        </p:nvSpPr>
        <p:spPr>
          <a:xfrm>
            <a:off x="731520" y="1920240"/>
            <a:ext cx="1463040" cy="457200"/>
          </a:xfrm>
          <a:prstGeom prst="roundRect">
            <a:avLst>
              <a:gd name="adj" fmla="val 10000"/>
            </a:avLst>
          </a:prstGeom>
          <a:solidFill>
            <a:srgbClr val="2C5F2D"/>
          </a:solidFill>
          <a:ln/>
        </p:spPr>
      </p:sp>
      <p:sp>
        <p:nvSpPr>
          <p:cNvPr id="12" name="Text 10"/>
          <p:cNvSpPr/>
          <p:nvPr/>
        </p:nvSpPr>
        <p:spPr>
          <a:xfrm>
            <a:off x="731520" y="192024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DPM</a:t>
            </a:r>
            <a:endParaRPr lang="en-US" sz="1000" dirty="0"/>
          </a:p>
        </p:txBody>
      </p:sp>
      <p:sp>
        <p:nvSpPr>
          <p:cNvPr id="13" name="Text 11"/>
          <p:cNvSpPr/>
          <p:nvPr/>
        </p:nvSpPr>
        <p:spPr>
          <a:xfrm>
            <a:off x="2331720" y="192024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可变形部件模型, 基于根+部件的物体检测框架</a:t>
            </a:r>
            <a:endParaRPr lang="en-US" sz="1000" dirty="0"/>
          </a:p>
        </p:txBody>
      </p:sp>
      <p:sp>
        <p:nvSpPr>
          <p:cNvPr id="14" name="Shape 12"/>
          <p:cNvSpPr/>
          <p:nvPr/>
        </p:nvSpPr>
        <p:spPr>
          <a:xfrm>
            <a:off x="731520" y="2560320"/>
            <a:ext cx="1463040" cy="457200"/>
          </a:xfrm>
          <a:prstGeom prst="roundRect">
            <a:avLst>
              <a:gd name="adj" fmla="val 10000"/>
            </a:avLst>
          </a:prstGeom>
          <a:solidFill>
            <a:srgbClr val="2C5F2D"/>
          </a:solidFill>
          <a:ln/>
        </p:spPr>
      </p:sp>
      <p:sp>
        <p:nvSpPr>
          <p:cNvPr id="15" name="Text 13"/>
          <p:cNvSpPr/>
          <p:nvPr/>
        </p:nvSpPr>
        <p:spPr>
          <a:xfrm>
            <a:off x="731520" y="256032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Cell</a:t>
            </a:r>
            <a:endParaRPr lang="en-US" sz="1000" dirty="0"/>
          </a:p>
        </p:txBody>
      </p:sp>
      <p:sp>
        <p:nvSpPr>
          <p:cNvPr id="16" name="Text 14"/>
          <p:cNvSpPr/>
          <p:nvPr/>
        </p:nvSpPr>
        <p:spPr>
          <a:xfrm>
            <a:off x="2331720" y="256032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HOG中的基本单元, 通常为8x8像素的小区域</a:t>
            </a:r>
            <a:endParaRPr lang="en-US" sz="1000" dirty="0"/>
          </a:p>
        </p:txBody>
      </p:sp>
      <p:sp>
        <p:nvSpPr>
          <p:cNvPr id="17" name="Shape 15"/>
          <p:cNvSpPr/>
          <p:nvPr/>
        </p:nvSpPr>
        <p:spPr>
          <a:xfrm>
            <a:off x="731520" y="3200400"/>
            <a:ext cx="1463040" cy="457200"/>
          </a:xfrm>
          <a:prstGeom prst="roundRect">
            <a:avLst>
              <a:gd name="adj" fmla="val 10000"/>
            </a:avLst>
          </a:prstGeom>
          <a:solidFill>
            <a:srgbClr val="2C5F2D"/>
          </a:solidFill>
          <a:ln/>
        </p:spPr>
      </p:sp>
      <p:sp>
        <p:nvSpPr>
          <p:cNvPr id="18" name="Text 16"/>
          <p:cNvSpPr/>
          <p:nvPr/>
        </p:nvSpPr>
        <p:spPr>
          <a:xfrm>
            <a:off x="731520" y="320040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Block</a:t>
            </a:r>
            <a:endParaRPr lang="en-US" sz="1000" dirty="0"/>
          </a:p>
        </p:txBody>
      </p:sp>
      <p:sp>
        <p:nvSpPr>
          <p:cNvPr id="19" name="Text 17"/>
          <p:cNvSpPr/>
          <p:nvPr/>
        </p:nvSpPr>
        <p:spPr>
          <a:xfrm>
            <a:off x="2331720" y="320040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由2x2个Cell组成的归一化单元, 通常为16x16像素</a:t>
            </a:r>
            <a:endParaRPr lang="en-US" sz="1000" dirty="0"/>
          </a:p>
        </p:txBody>
      </p:sp>
      <p:sp>
        <p:nvSpPr>
          <p:cNvPr id="20" name="Shape 18"/>
          <p:cNvSpPr/>
          <p:nvPr/>
        </p:nvSpPr>
        <p:spPr>
          <a:xfrm>
            <a:off x="731520" y="3840480"/>
            <a:ext cx="1463040" cy="457200"/>
          </a:xfrm>
          <a:prstGeom prst="roundRect">
            <a:avLst>
              <a:gd name="adj" fmla="val 10000"/>
            </a:avLst>
          </a:prstGeom>
          <a:solidFill>
            <a:srgbClr val="2C5F2D"/>
          </a:solidFill>
          <a:ln/>
        </p:spPr>
      </p:sp>
      <p:sp>
        <p:nvSpPr>
          <p:cNvPr id="21" name="Text 19"/>
          <p:cNvSpPr/>
          <p:nvPr/>
        </p:nvSpPr>
        <p:spPr>
          <a:xfrm>
            <a:off x="731520" y="384048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梯度幅值</a:t>
            </a:r>
            <a:endParaRPr lang="en-US" sz="1000" dirty="0"/>
          </a:p>
        </p:txBody>
      </p:sp>
      <p:sp>
        <p:nvSpPr>
          <p:cNvPr id="22" name="Text 20"/>
          <p:cNvSpPr/>
          <p:nvPr/>
        </p:nvSpPr>
        <p:spPr>
          <a:xfrm>
            <a:off x="2331720" y="384048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像素梯度的大小, sqrt(Gx^2+Gy^2), 表示边缘强度</a:t>
            </a:r>
            <a:endParaRPr lang="en-US" sz="1000" dirty="0"/>
          </a:p>
        </p:txBody>
      </p:sp>
      <p:sp>
        <p:nvSpPr>
          <p:cNvPr id="23" name="Shape 21"/>
          <p:cNvSpPr/>
          <p:nvPr/>
        </p:nvSpPr>
        <p:spPr>
          <a:xfrm>
            <a:off x="731520" y="4480560"/>
            <a:ext cx="1463040" cy="457200"/>
          </a:xfrm>
          <a:prstGeom prst="roundRect">
            <a:avLst>
              <a:gd name="adj" fmla="val 10000"/>
            </a:avLst>
          </a:prstGeom>
          <a:solidFill>
            <a:srgbClr val="2C5F2D"/>
          </a:solidFill>
          <a:ln/>
        </p:spPr>
      </p:sp>
      <p:sp>
        <p:nvSpPr>
          <p:cNvPr id="24" name="Text 22"/>
          <p:cNvSpPr/>
          <p:nvPr/>
        </p:nvSpPr>
        <p:spPr>
          <a:xfrm>
            <a:off x="731520" y="448056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梯度方向</a:t>
            </a:r>
            <a:endParaRPr lang="en-US" sz="1000" dirty="0"/>
          </a:p>
        </p:txBody>
      </p:sp>
      <p:sp>
        <p:nvSpPr>
          <p:cNvPr id="25" name="Text 23"/>
          <p:cNvSpPr/>
          <p:nvPr/>
        </p:nvSpPr>
        <p:spPr>
          <a:xfrm>
            <a:off x="2331720" y="448056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像素梯度的角度, atan2(Gy,Gx), 表示边缘方向</a:t>
            </a:r>
            <a:endParaRPr lang="en-US" sz="1000" dirty="0"/>
          </a:p>
        </p:txBody>
      </p:sp>
      <p:sp>
        <p:nvSpPr>
          <p:cNvPr id="26" name="Shape 24"/>
          <p:cNvSpPr/>
          <p:nvPr/>
        </p:nvSpPr>
        <p:spPr>
          <a:xfrm>
            <a:off x="731520" y="5120640"/>
            <a:ext cx="1463040" cy="457200"/>
          </a:xfrm>
          <a:prstGeom prst="roundRect">
            <a:avLst>
              <a:gd name="adj" fmla="val 10000"/>
            </a:avLst>
          </a:prstGeom>
          <a:solidFill>
            <a:srgbClr val="2C5F2D"/>
          </a:solidFill>
          <a:ln/>
        </p:spPr>
      </p:sp>
      <p:sp>
        <p:nvSpPr>
          <p:cNvPr id="27" name="Text 25"/>
          <p:cNvSpPr/>
          <p:nvPr/>
        </p:nvSpPr>
        <p:spPr>
          <a:xfrm>
            <a:off x="731520" y="512064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根滤波器</a:t>
            </a:r>
            <a:endParaRPr lang="en-US" sz="1000" dirty="0"/>
          </a:p>
        </p:txBody>
      </p:sp>
      <p:sp>
        <p:nvSpPr>
          <p:cNvPr id="28" name="Text 26"/>
          <p:cNvSpPr/>
          <p:nvPr/>
        </p:nvSpPr>
        <p:spPr>
          <a:xfrm>
            <a:off x="2331720" y="512064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覆盖整个物体的粗粒度HOG模板</a:t>
            </a:r>
            <a:endParaRPr lang="en-US" sz="1000" dirty="0"/>
          </a:p>
        </p:txBody>
      </p:sp>
      <p:sp>
        <p:nvSpPr>
          <p:cNvPr id="29" name="Shape 27"/>
          <p:cNvSpPr/>
          <p:nvPr/>
        </p:nvSpPr>
        <p:spPr>
          <a:xfrm>
            <a:off x="6231636" y="1280160"/>
            <a:ext cx="1463040" cy="457200"/>
          </a:xfrm>
          <a:prstGeom prst="roundRect">
            <a:avLst>
              <a:gd name="adj" fmla="val 10000"/>
            </a:avLst>
          </a:prstGeom>
          <a:solidFill>
            <a:srgbClr val="2C5F2D"/>
          </a:solidFill>
          <a:ln/>
        </p:spPr>
      </p:sp>
      <p:sp>
        <p:nvSpPr>
          <p:cNvPr id="30" name="Text 28"/>
          <p:cNvSpPr/>
          <p:nvPr/>
        </p:nvSpPr>
        <p:spPr>
          <a:xfrm>
            <a:off x="6231636" y="128016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部件滤波器</a:t>
            </a:r>
            <a:endParaRPr lang="en-US" sz="1000" dirty="0"/>
          </a:p>
        </p:txBody>
      </p:sp>
      <p:sp>
        <p:nvSpPr>
          <p:cNvPr id="31" name="Text 29"/>
          <p:cNvSpPr/>
          <p:nvPr/>
        </p:nvSpPr>
        <p:spPr>
          <a:xfrm>
            <a:off x="7831836" y="128016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物体关键部位的精细HOG模板</a:t>
            </a:r>
            <a:endParaRPr lang="en-US" sz="1000" dirty="0"/>
          </a:p>
        </p:txBody>
      </p:sp>
      <p:sp>
        <p:nvSpPr>
          <p:cNvPr id="32" name="Shape 30"/>
          <p:cNvSpPr/>
          <p:nvPr/>
        </p:nvSpPr>
        <p:spPr>
          <a:xfrm>
            <a:off x="6231636" y="1920240"/>
            <a:ext cx="1463040" cy="457200"/>
          </a:xfrm>
          <a:prstGeom prst="roundRect">
            <a:avLst>
              <a:gd name="adj" fmla="val 10000"/>
            </a:avLst>
          </a:prstGeom>
          <a:solidFill>
            <a:srgbClr val="2C5F2D"/>
          </a:solidFill>
          <a:ln/>
        </p:spPr>
      </p:sp>
      <p:sp>
        <p:nvSpPr>
          <p:cNvPr id="33" name="Text 31"/>
          <p:cNvSpPr/>
          <p:nvPr/>
        </p:nvSpPr>
        <p:spPr>
          <a:xfrm>
            <a:off x="6231636" y="192024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形变代价</a:t>
            </a:r>
            <a:endParaRPr lang="en-US" sz="1000" dirty="0"/>
          </a:p>
        </p:txBody>
      </p:sp>
      <p:sp>
        <p:nvSpPr>
          <p:cNvPr id="34" name="Text 32"/>
          <p:cNvSpPr/>
          <p:nvPr/>
        </p:nvSpPr>
        <p:spPr>
          <a:xfrm>
            <a:off x="7831836" y="192024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惩罚部件偏离锚点位置的二次代价函数</a:t>
            </a:r>
            <a:endParaRPr lang="en-US" sz="1000" dirty="0"/>
          </a:p>
        </p:txBody>
      </p:sp>
      <p:sp>
        <p:nvSpPr>
          <p:cNvPr id="35" name="Shape 33"/>
          <p:cNvSpPr/>
          <p:nvPr/>
        </p:nvSpPr>
        <p:spPr>
          <a:xfrm>
            <a:off x="6231636" y="2560320"/>
            <a:ext cx="1463040" cy="457200"/>
          </a:xfrm>
          <a:prstGeom prst="roundRect">
            <a:avLst>
              <a:gd name="adj" fmla="val 10000"/>
            </a:avLst>
          </a:prstGeom>
          <a:solidFill>
            <a:srgbClr val="2C5F2D"/>
          </a:solidFill>
          <a:ln/>
        </p:spPr>
      </p:sp>
      <p:sp>
        <p:nvSpPr>
          <p:cNvPr id="36" name="Text 34"/>
          <p:cNvSpPr/>
          <p:nvPr/>
        </p:nvSpPr>
        <p:spPr>
          <a:xfrm>
            <a:off x="6231636" y="256032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隐变量SVM</a:t>
            </a:r>
            <a:endParaRPr lang="en-US" sz="1000" dirty="0"/>
          </a:p>
        </p:txBody>
      </p:sp>
      <p:sp>
        <p:nvSpPr>
          <p:cNvPr id="37" name="Text 35"/>
          <p:cNvSpPr/>
          <p:nvPr/>
        </p:nvSpPr>
        <p:spPr>
          <a:xfrm>
            <a:off x="7831836" y="256032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Latent SVM, 隐变量结构化SVM, 用于DPM训练</a:t>
            </a:r>
            <a:endParaRPr lang="en-US" sz="1000" dirty="0"/>
          </a:p>
        </p:txBody>
      </p:sp>
      <p:sp>
        <p:nvSpPr>
          <p:cNvPr id="38" name="Shape 36"/>
          <p:cNvSpPr/>
          <p:nvPr/>
        </p:nvSpPr>
        <p:spPr>
          <a:xfrm>
            <a:off x="6231636" y="3200400"/>
            <a:ext cx="1463040" cy="457200"/>
          </a:xfrm>
          <a:prstGeom prst="roundRect">
            <a:avLst>
              <a:gd name="adj" fmla="val 10000"/>
            </a:avLst>
          </a:prstGeom>
          <a:solidFill>
            <a:srgbClr val="2C5F2D"/>
          </a:solidFill>
          <a:ln/>
        </p:spPr>
      </p:sp>
      <p:sp>
        <p:nvSpPr>
          <p:cNvPr id="39" name="Text 37"/>
          <p:cNvSpPr/>
          <p:nvPr/>
        </p:nvSpPr>
        <p:spPr>
          <a:xfrm>
            <a:off x="6231636" y="320040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HOG金字塔</a:t>
            </a:r>
            <a:endParaRPr lang="en-US" sz="1000" dirty="0"/>
          </a:p>
        </p:txBody>
      </p:sp>
      <p:sp>
        <p:nvSpPr>
          <p:cNvPr id="40" name="Text 38"/>
          <p:cNvSpPr/>
          <p:nvPr/>
        </p:nvSpPr>
        <p:spPr>
          <a:xfrm>
            <a:off x="7831836" y="320040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多尺度HOG特征图, 通过缩放图像构建</a:t>
            </a:r>
            <a:endParaRPr lang="en-US" sz="1000" dirty="0"/>
          </a:p>
        </p:txBody>
      </p:sp>
      <p:sp>
        <p:nvSpPr>
          <p:cNvPr id="41" name="Shape 39"/>
          <p:cNvSpPr/>
          <p:nvPr/>
        </p:nvSpPr>
        <p:spPr>
          <a:xfrm>
            <a:off x="6231636" y="3840480"/>
            <a:ext cx="1463040" cy="457200"/>
          </a:xfrm>
          <a:prstGeom prst="roundRect">
            <a:avLst>
              <a:gd name="adj" fmla="val 10000"/>
            </a:avLst>
          </a:prstGeom>
          <a:solidFill>
            <a:srgbClr val="2C5F2D"/>
          </a:solidFill>
          <a:ln/>
        </p:spPr>
      </p:sp>
      <p:sp>
        <p:nvSpPr>
          <p:cNvPr id="42" name="Text 40"/>
          <p:cNvSpPr/>
          <p:nvPr/>
        </p:nvSpPr>
        <p:spPr>
          <a:xfrm>
            <a:off x="6231636" y="384048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NMS</a:t>
            </a:r>
            <a:endParaRPr lang="en-US" sz="1000" dirty="0"/>
          </a:p>
        </p:txBody>
      </p:sp>
      <p:sp>
        <p:nvSpPr>
          <p:cNvPr id="43" name="Text 41"/>
          <p:cNvSpPr/>
          <p:nvPr/>
        </p:nvSpPr>
        <p:spPr>
          <a:xfrm>
            <a:off x="7831836" y="384048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非极大值抑制, 去除重叠检测框的后处理方法</a:t>
            </a:r>
            <a:endParaRPr lang="en-US" sz="1000" dirty="0"/>
          </a:p>
        </p:txBody>
      </p:sp>
      <p:sp>
        <p:nvSpPr>
          <p:cNvPr id="44" name="Shape 42"/>
          <p:cNvSpPr/>
          <p:nvPr/>
        </p:nvSpPr>
        <p:spPr>
          <a:xfrm>
            <a:off x="6231636" y="4480560"/>
            <a:ext cx="1463040" cy="457200"/>
          </a:xfrm>
          <a:prstGeom prst="roundRect">
            <a:avLst>
              <a:gd name="adj" fmla="val 10000"/>
            </a:avLst>
          </a:prstGeom>
          <a:solidFill>
            <a:srgbClr val="2C5F2D"/>
          </a:solidFill>
          <a:ln/>
        </p:spPr>
      </p:sp>
      <p:sp>
        <p:nvSpPr>
          <p:cNvPr id="45" name="Text 43"/>
          <p:cNvSpPr/>
          <p:nvPr/>
        </p:nvSpPr>
        <p:spPr>
          <a:xfrm>
            <a:off x="6231636" y="4480560"/>
            <a:ext cx="1463040" cy="457200"/>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L2-Hys</a:t>
            </a:r>
            <a:endParaRPr lang="en-US" sz="1000" dirty="0"/>
          </a:p>
        </p:txBody>
      </p:sp>
      <p:sp>
        <p:nvSpPr>
          <p:cNvPr id="46" name="Text 44"/>
          <p:cNvSpPr/>
          <p:nvPr/>
        </p:nvSpPr>
        <p:spPr>
          <a:xfrm>
            <a:off x="7831836" y="4480560"/>
            <a:ext cx="3534156" cy="457200"/>
          </a:xfrm>
          <a:prstGeom prst="rect">
            <a:avLst/>
          </a:prstGeom>
          <a:noFill/>
          <a:ln/>
        </p:spPr>
        <p:txBody>
          <a:bodyPr wrap="square" rtlCol="0" anchor="ctr"/>
          <a:lstStyle/>
          <a:p>
            <a:pPr algn="l" indent="0" marL="0">
              <a:buNone/>
            </a:pPr>
            <a:r>
              <a:rPr lang="en-US" sz="1000" dirty="0">
                <a:solidFill>
                  <a:srgbClr val="1A3A1A"/>
                </a:solidFill>
                <a:latin typeface="Calibri" pitchFamily="34" charset="0"/>
                <a:ea typeface="Calibri" pitchFamily="34" charset="-122"/>
                <a:cs typeface="Calibri" pitchFamily="34" charset="-120"/>
              </a:rPr>
              <a:t>L2归一化+截断+再归一化的Block归一化方法</a:t>
            </a:r>
            <a:endParaRPr lang="en-US" sz="1000" dirty="0"/>
          </a:p>
        </p:txBody>
      </p:sp>
      <p:sp>
        <p:nvSpPr>
          <p:cNvPr id="47" name="Shape 45"/>
          <p:cNvSpPr/>
          <p:nvPr/>
        </p:nvSpPr>
        <p:spPr>
          <a:xfrm>
            <a:off x="0" y="6492240"/>
            <a:ext cx="12188952" cy="18288"/>
          </a:xfrm>
          <a:prstGeom prst="rect">
            <a:avLst/>
          </a:prstGeom>
          <a:solidFill>
            <a:srgbClr val="97BC62"/>
          </a:solidFill>
          <a:ln/>
        </p:spPr>
      </p:sp>
      <p:sp>
        <p:nvSpPr>
          <p:cNvPr id="48" name="Text 46"/>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19/20</a:t>
            </a:r>
            <a:endParaRPr lang="en-US" sz="800" dirty="0"/>
          </a:p>
        </p:txBody>
      </p:sp>
      <p:sp>
        <p:nvSpPr>
          <p:cNvPr id="49"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C5F2D"/>
          </a:solidFill>
          <a:ln/>
        </p:spPr>
      </p:sp>
      <p:sp>
        <p:nvSpPr>
          <p:cNvPr id="3" name="Shape 1"/>
          <p:cNvSpPr/>
          <p:nvPr/>
        </p:nvSpPr>
        <p:spPr>
          <a:xfrm>
            <a:off x="0" y="54864"/>
            <a:ext cx="12188952" cy="27432"/>
          </a:xfrm>
          <a:prstGeom prst="rect">
            <a:avLst/>
          </a:prstGeom>
          <a:solidFill>
            <a:srgbClr val="D4A843"/>
          </a:solidFill>
          <a:ln/>
        </p:spPr>
      </p:sp>
      <p:sp>
        <p:nvSpPr>
          <p:cNvPr id="4" name="Text 2"/>
          <p:cNvSpPr/>
          <p:nvPr/>
        </p:nvSpPr>
        <p:spPr>
          <a:xfrm>
            <a:off x="731520" y="228600"/>
            <a:ext cx="10725912" cy="64008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下节预告 + 今日总结</a:t>
            </a:r>
            <a:endParaRPr lang="en-US" sz="2800" dirty="0"/>
          </a:p>
        </p:txBody>
      </p:sp>
      <p:sp>
        <p:nvSpPr>
          <p:cNvPr id="5" name="Shape 3"/>
          <p:cNvSpPr/>
          <p:nvPr/>
        </p:nvSpPr>
        <p:spPr>
          <a:xfrm>
            <a:off x="731520" y="868680"/>
            <a:ext cx="2286000" cy="36576"/>
          </a:xfrm>
          <a:prstGeom prst="rect">
            <a:avLst/>
          </a:prstGeom>
          <a:solidFill>
            <a:srgbClr val="D4A843"/>
          </a:solidFill>
          <a:ln/>
        </p:spPr>
      </p:sp>
      <p:sp>
        <p:nvSpPr>
          <p:cNvPr id="6" name="Text 4"/>
          <p:cNvSpPr/>
          <p:nvPr/>
        </p:nvSpPr>
        <p:spPr>
          <a:xfrm>
            <a:off x="731520" y="914400"/>
            <a:ext cx="10725912" cy="274320"/>
          </a:xfrm>
          <a:prstGeom prst="rect">
            <a:avLst/>
          </a:prstGeom>
          <a:noFill/>
          <a:ln/>
        </p:spPr>
        <p:txBody>
          <a:bodyPr wrap="square" rtlCol="0" anchor="ctr"/>
          <a:lstStyle/>
          <a:p>
            <a:pPr algn="l" indent="0" marL="0">
              <a:buNone/>
            </a:pPr>
            <a:r>
              <a:rPr lang="en-US" sz="1300" i="1" dirty="0">
                <a:solidFill>
                  <a:srgbClr val="6B8F6B"/>
                </a:solidFill>
                <a:latin typeface="Calibri" pitchFamily="34" charset="0"/>
                <a:ea typeface="Calibri" pitchFamily="34" charset="-122"/>
                <a:cs typeface="Calibri" pitchFamily="34" charset="-120"/>
              </a:rPr>
              <a:t>Day 33: CNN基础</a:t>
            </a:r>
            <a:endParaRPr lang="en-US" sz="1300" dirty="0"/>
          </a:p>
        </p:txBody>
      </p:sp>
      <p:sp>
        <p:nvSpPr>
          <p:cNvPr id="7" name="Shape 5"/>
          <p:cNvSpPr/>
          <p:nvPr/>
        </p:nvSpPr>
        <p:spPr>
          <a:xfrm>
            <a:off x="274320" y="1097280"/>
            <a:ext cx="36576" cy="5029200"/>
          </a:xfrm>
          <a:prstGeom prst="rect">
            <a:avLst/>
          </a:prstGeom>
          <a:solidFill>
            <a:srgbClr val="D4A843"/>
          </a:solidFill>
          <a:ln/>
        </p:spPr>
      </p:sp>
      <p:sp>
        <p:nvSpPr>
          <p:cNvPr id="8" name="Text 6"/>
          <p:cNvSpPr/>
          <p:nvPr/>
        </p:nvSpPr>
        <p:spPr>
          <a:xfrm>
            <a:off x="731520" y="1188720"/>
            <a:ext cx="10725912" cy="32004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今日要点总结</a:t>
            </a:r>
            <a:endParaRPr lang="en-US" sz="1600" dirty="0"/>
          </a:p>
        </p:txBody>
      </p:sp>
      <p:sp>
        <p:nvSpPr>
          <p:cNvPr id="9" name="Shape 7"/>
          <p:cNvSpPr/>
          <p:nvPr/>
        </p:nvSpPr>
        <p:spPr>
          <a:xfrm>
            <a:off x="1078992" y="1773936"/>
            <a:ext cx="91440" cy="91440"/>
          </a:xfrm>
          <a:prstGeom prst="ellipse">
            <a:avLst/>
          </a:prstGeom>
          <a:solidFill>
            <a:srgbClr val="D4A843"/>
          </a:solidFill>
          <a:ln/>
        </p:spPr>
      </p:sp>
      <p:sp>
        <p:nvSpPr>
          <p:cNvPr id="10" name="Text 8"/>
          <p:cNvSpPr/>
          <p:nvPr/>
        </p:nvSpPr>
        <p:spPr>
          <a:xfrm>
            <a:off x="1234440" y="1554480"/>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HOG通过统计局部区域梯度方向分布来描述物体形状特征</a:t>
            </a:r>
            <a:endParaRPr lang="en-US" sz="1100" dirty="0"/>
          </a:p>
        </p:txBody>
      </p:sp>
      <p:sp>
        <p:nvSpPr>
          <p:cNvPr id="11" name="Shape 9"/>
          <p:cNvSpPr/>
          <p:nvPr/>
        </p:nvSpPr>
        <p:spPr>
          <a:xfrm>
            <a:off x="1078992" y="2157984"/>
            <a:ext cx="91440" cy="91440"/>
          </a:xfrm>
          <a:prstGeom prst="ellipse">
            <a:avLst/>
          </a:prstGeom>
          <a:solidFill>
            <a:srgbClr val="D4A843"/>
          </a:solidFill>
          <a:ln/>
        </p:spPr>
      </p:sp>
      <p:sp>
        <p:nvSpPr>
          <p:cNvPr id="12" name="Text 10"/>
          <p:cNvSpPr/>
          <p:nvPr/>
        </p:nvSpPr>
        <p:spPr>
          <a:xfrm>
            <a:off x="1234440" y="1938528"/>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HOG的5步流程: 灰度化 -&gt; 梯度计算 -&gt; Cell直方图 -&gt; Block归一化 -&gt; 特征拼接</a:t>
            </a:r>
            <a:endParaRPr lang="en-US" sz="1100" dirty="0"/>
          </a:p>
        </p:txBody>
      </p:sp>
      <p:sp>
        <p:nvSpPr>
          <p:cNvPr id="13" name="Shape 11"/>
          <p:cNvSpPr/>
          <p:nvPr/>
        </p:nvSpPr>
        <p:spPr>
          <a:xfrm>
            <a:off x="1078992" y="2542032"/>
            <a:ext cx="91440" cy="91440"/>
          </a:xfrm>
          <a:prstGeom prst="ellipse">
            <a:avLst/>
          </a:prstGeom>
          <a:solidFill>
            <a:srgbClr val="D4A843"/>
          </a:solidFill>
          <a:ln/>
        </p:spPr>
      </p:sp>
      <p:sp>
        <p:nvSpPr>
          <p:cNvPr id="14" name="Text 12"/>
          <p:cNvSpPr/>
          <p:nvPr/>
        </p:nvSpPr>
        <p:spPr>
          <a:xfrm>
            <a:off x="1234440" y="2322576"/>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DPM将物体建模为根滤波器+部件滤波器+形变代价的组合</a:t>
            </a:r>
            <a:endParaRPr lang="en-US" sz="1100" dirty="0"/>
          </a:p>
        </p:txBody>
      </p:sp>
      <p:sp>
        <p:nvSpPr>
          <p:cNvPr id="15" name="Shape 13"/>
          <p:cNvSpPr/>
          <p:nvPr/>
        </p:nvSpPr>
        <p:spPr>
          <a:xfrm>
            <a:off x="1078992" y="2926080"/>
            <a:ext cx="91440" cy="91440"/>
          </a:xfrm>
          <a:prstGeom prst="ellipse">
            <a:avLst/>
          </a:prstGeom>
          <a:solidFill>
            <a:srgbClr val="D4A843"/>
          </a:solidFill>
          <a:ln/>
        </p:spPr>
      </p:sp>
      <p:sp>
        <p:nvSpPr>
          <p:cNvPr id="16" name="Text 14"/>
          <p:cNvSpPr/>
          <p:nvPr/>
        </p:nvSpPr>
        <p:spPr>
          <a:xfrm>
            <a:off x="1234440" y="2706624"/>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DPM的评分函数综合了全局和局部信息, 通过隐变量SVM训练</a:t>
            </a:r>
            <a:endParaRPr lang="en-US" sz="1100" dirty="0"/>
          </a:p>
        </p:txBody>
      </p:sp>
      <p:sp>
        <p:nvSpPr>
          <p:cNvPr id="17" name="Shape 15"/>
          <p:cNvSpPr/>
          <p:nvPr/>
        </p:nvSpPr>
        <p:spPr>
          <a:xfrm>
            <a:off x="1078992" y="3310128"/>
            <a:ext cx="91440" cy="91440"/>
          </a:xfrm>
          <a:prstGeom prst="ellipse">
            <a:avLst/>
          </a:prstGeom>
          <a:solidFill>
            <a:srgbClr val="D4A843"/>
          </a:solidFill>
          <a:ln/>
        </p:spPr>
      </p:sp>
      <p:sp>
        <p:nvSpPr>
          <p:cNvPr id="18" name="Text 16"/>
          <p:cNvSpPr/>
          <p:nvPr/>
        </p:nvSpPr>
        <p:spPr>
          <a:xfrm>
            <a:off x="1234440" y="3090672"/>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HOG+SVM是经典的行人检测方案, OpenCV提供了开箱即用的实现</a:t>
            </a:r>
            <a:endParaRPr lang="en-US" sz="1100" dirty="0"/>
          </a:p>
        </p:txBody>
      </p:sp>
      <p:sp>
        <p:nvSpPr>
          <p:cNvPr id="19" name="Shape 17"/>
          <p:cNvSpPr/>
          <p:nvPr/>
        </p:nvSpPr>
        <p:spPr>
          <a:xfrm>
            <a:off x="1078992" y="3694176"/>
            <a:ext cx="91440" cy="91440"/>
          </a:xfrm>
          <a:prstGeom prst="ellipse">
            <a:avLst/>
          </a:prstGeom>
          <a:solidFill>
            <a:srgbClr val="D4A843"/>
          </a:solidFill>
          <a:ln/>
        </p:spPr>
      </p:sp>
      <p:sp>
        <p:nvSpPr>
          <p:cNvPr id="20" name="Text 18"/>
          <p:cNvSpPr/>
          <p:nvPr/>
        </p:nvSpPr>
        <p:spPr>
          <a:xfrm>
            <a:off x="1234440" y="3474720"/>
            <a:ext cx="9994392" cy="384048"/>
          </a:xfrm>
          <a:prstGeom prst="rect">
            <a:avLst/>
          </a:prstGeom>
          <a:noFill/>
          <a:ln/>
        </p:spPr>
        <p:txBody>
          <a:bodyPr wrap="square" rtlCol="0" anchor="ctr"/>
          <a:lstStyle/>
          <a:p>
            <a:pPr algn="l" indent="0" marL="0">
              <a:buNone/>
            </a:pPr>
            <a:r>
              <a:rPr lang="en-US" sz="1100" dirty="0">
                <a:solidFill>
                  <a:srgbClr val="1A3A1A"/>
                </a:solidFill>
                <a:latin typeface="Calibri" pitchFamily="34" charset="0"/>
                <a:ea typeface="Calibri" pitchFamily="34" charset="-122"/>
                <a:cs typeface="Calibri" pitchFamily="34" charset="-120"/>
              </a:rPr>
              <a:t>DPM的思想(部件、多尺度、形变)深刻影响了后续深度学习检测方法</a:t>
            </a:r>
            <a:endParaRPr lang="en-US" sz="1100" dirty="0"/>
          </a:p>
        </p:txBody>
      </p:sp>
      <p:sp>
        <p:nvSpPr>
          <p:cNvPr id="21" name="Shape 19"/>
          <p:cNvSpPr/>
          <p:nvPr/>
        </p:nvSpPr>
        <p:spPr>
          <a:xfrm>
            <a:off x="2560320" y="4114800"/>
            <a:ext cx="7068312" cy="27432"/>
          </a:xfrm>
          <a:prstGeom prst="rect">
            <a:avLst/>
          </a:prstGeom>
          <a:solidFill>
            <a:srgbClr val="D4A843"/>
          </a:solidFill>
          <a:ln/>
        </p:spPr>
      </p:sp>
      <p:sp>
        <p:nvSpPr>
          <p:cNvPr id="22" name="Text 20"/>
          <p:cNvSpPr/>
          <p:nvPr/>
        </p:nvSpPr>
        <p:spPr>
          <a:xfrm>
            <a:off x="731520" y="4389120"/>
            <a:ext cx="10725912" cy="320040"/>
          </a:xfrm>
          <a:prstGeom prst="rect">
            <a:avLst/>
          </a:prstGeom>
          <a:noFill/>
          <a:ln/>
        </p:spPr>
        <p:txBody>
          <a:bodyPr wrap="square"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Day 33 预告: CNN基础</a:t>
            </a:r>
            <a:endParaRPr lang="en-US" sz="1600" dirty="0"/>
          </a:p>
        </p:txBody>
      </p:sp>
      <p:sp>
        <p:nvSpPr>
          <p:cNvPr id="23" name="Shape 21"/>
          <p:cNvSpPr/>
          <p:nvPr/>
        </p:nvSpPr>
        <p:spPr>
          <a:xfrm>
            <a:off x="731520" y="4846320"/>
            <a:ext cx="5180076" cy="1645920"/>
          </a:xfrm>
          <a:prstGeom prst="roundRect">
            <a:avLst>
              <a:gd name="adj" fmla="val 4444"/>
            </a:avLst>
          </a:prstGeom>
          <a:solidFill>
            <a:srgbClr val="F5F9F2"/>
          </a:solidFill>
          <a:ln w="6350">
            <a:solidFill>
              <a:srgbClr val="97BC62"/>
            </a:solidFill>
            <a:prstDash val="solid"/>
          </a:ln>
        </p:spPr>
      </p:sp>
      <p:sp>
        <p:nvSpPr>
          <p:cNvPr id="24" name="Shape 22"/>
          <p:cNvSpPr/>
          <p:nvPr/>
        </p:nvSpPr>
        <p:spPr>
          <a:xfrm>
            <a:off x="6277356" y="4846320"/>
            <a:ext cx="5180076" cy="1645920"/>
          </a:xfrm>
          <a:prstGeom prst="roundRect">
            <a:avLst>
              <a:gd name="adj" fmla="val 4444"/>
            </a:avLst>
          </a:prstGeom>
          <a:solidFill>
            <a:srgbClr val="FDF6E3"/>
          </a:solidFill>
          <a:ln w="6350">
            <a:solidFill>
              <a:srgbClr val="D4A843"/>
            </a:solidFill>
            <a:prstDash val="solid"/>
          </a:ln>
        </p:spPr>
      </p:sp>
      <p:sp>
        <p:nvSpPr>
          <p:cNvPr id="25" name="Text 23"/>
          <p:cNvSpPr/>
          <p:nvPr/>
        </p:nvSpPr>
        <p:spPr>
          <a:xfrm>
            <a:off x="1005840" y="5029200"/>
            <a:ext cx="4846320" cy="1280160"/>
          </a:xfrm>
          <a:prstGeom prst="rect">
            <a:avLst/>
          </a:prstGeom>
          <a:noFill/>
          <a:ln/>
        </p:spPr>
        <p:txBody>
          <a:bodyPr wrap="square" rtlCol="0" anchor="t"/>
          <a:lstStyle/>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卷积神经网络基础</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卷积层、池化层、全连接层</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经典CNN架构: LeNet -&gt; AlexNet</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CNN如何自动学习特征</a:t>
            </a:r>
            <a:endParaRPr lang="en-US" sz="1100" dirty="0"/>
          </a:p>
        </p:txBody>
      </p:sp>
      <p:sp>
        <p:nvSpPr>
          <p:cNvPr id="26" name="Text 24"/>
          <p:cNvSpPr/>
          <p:nvPr/>
        </p:nvSpPr>
        <p:spPr>
          <a:xfrm>
            <a:off x="6675120" y="5029200"/>
            <a:ext cx="4572000" cy="1280160"/>
          </a:xfrm>
          <a:prstGeom prst="rect">
            <a:avLst/>
          </a:prstGeom>
          <a:noFill/>
          <a:ln/>
        </p:spPr>
        <p:txBody>
          <a:bodyPr wrap="square" rtlCol="0" anchor="t"/>
          <a:lstStyle/>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与今日内容的联系</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CNN的卷积核 vs HOG的梯度</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CNN自动学习 vs HOG手工设计</a:t>
            </a:r>
            <a:endParaRPr lang="en-US" sz="1100" dirty="0"/>
          </a:p>
          <a:p>
            <a:pPr algn="l" indent="0" marL="0">
              <a:lnSpc>
                <a:spcPct val="120000"/>
              </a:lnSpc>
              <a:buNone/>
            </a:pPr>
            <a:r>
              <a:rPr lang="en-US" sz="1100" dirty="0">
                <a:solidFill>
                  <a:srgbClr val="1A3A1A"/>
                </a:solidFill>
                <a:latin typeface="Calibri" pitchFamily="34" charset="0"/>
                <a:ea typeface="Calibri" pitchFamily="34" charset="-122"/>
                <a:cs typeface="Calibri" pitchFamily="34" charset="-120"/>
              </a:rPr>
              <a:t>  - 从传统特征到深度特征的演进</a:t>
            </a:r>
            <a:endParaRPr lang="en-US" sz="1100" dirty="0"/>
          </a:p>
        </p:txBody>
      </p:sp>
      <p:sp>
        <p:nvSpPr>
          <p:cNvPr id="27" name="Shape 25"/>
          <p:cNvSpPr/>
          <p:nvPr/>
        </p:nvSpPr>
        <p:spPr>
          <a:xfrm>
            <a:off x="0" y="6492240"/>
            <a:ext cx="12188952" cy="18288"/>
          </a:xfrm>
          <a:prstGeom prst="rect">
            <a:avLst/>
          </a:prstGeom>
          <a:solidFill>
            <a:srgbClr val="97BC62"/>
          </a:solidFill>
          <a:ln/>
        </p:spPr>
      </p:sp>
      <p:sp>
        <p:nvSpPr>
          <p:cNvPr id="28" name="Text 26"/>
          <p:cNvSpPr/>
          <p:nvPr/>
        </p:nvSpPr>
        <p:spPr>
          <a:xfrm>
            <a:off x="457200" y="6510528"/>
            <a:ext cx="11274552" cy="292608"/>
          </a:xfrm>
          <a:prstGeom prst="rect">
            <a:avLst/>
          </a:prstGeom>
          <a:noFill/>
          <a:ln/>
        </p:spPr>
        <p:txBody>
          <a:bodyPr wrap="square" rtlCol="0" anchor="ctr"/>
          <a:lstStyle/>
          <a:p>
            <a:pPr algn="ctr" indent="0" marL="0">
              <a:buNone/>
            </a:pPr>
            <a:r>
              <a:rPr lang="en-US" sz="800" dirty="0">
                <a:solidFill>
                  <a:srgbClr val="6B8F6B"/>
                </a:solidFill>
                <a:latin typeface="Calibri" pitchFamily="34" charset="0"/>
                <a:ea typeface="Calibri" pitchFamily="34" charset="-122"/>
                <a:cs typeface="Calibri" pitchFamily="34" charset="-120"/>
              </a:rPr>
              <a:t>Day 32: DPM与HOG检测  |  计算机视觉100天  |  20/20</a:t>
            </a:r>
            <a:endParaRPr lang="en-US" sz="800" dirty="0"/>
          </a:p>
        </p:txBody>
      </p:sp>
      <p:sp>
        <p:nvSpPr>
          <p:cNvPr id="29" name="Watermark"/>
          <p:cNvSpPr txBox="1"/>
          <p:nvPr/>
        </p:nvSpPr>
        <p:spPr>
          <a:xfrm rot="0">
            <a:off x="9880952"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32: DPM与HOG检测</dc:title>
  <dc:subject>计算机视觉100天学习计划</dc:subject>
  <dc:creator>CV100Days</dc:creator>
  <cp:lastModifiedBy>CV100Days</cp:lastModifiedBy>
  <cp:revision>1</cp:revision>
  <dcterms:created xsi:type="dcterms:W3CDTF">2026-06-26T05:14:33Z</dcterms:created>
  <dcterms:modified xsi:type="dcterms:W3CDTF">2026-06-26T05:14:33Z</dcterms:modified>
</cp:coreProperties>
</file>