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Day 39! Today we explore two landmark architectures in object detection: SSD (Single Shot MultiBox Detector) and FPN (Feature Pyramid Networks). These methods revolutionized how we handle multi-scale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6 chapters today. We start with the 2016 landscape, then deep dive into SSD, then FPN. We compare them, discuss Focal Loss, review benchmarks, and wrap up with Day 40 preview on Anchor-Free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2016, object detection had two main paradigms. Two-stage detectors like Faster R-CNN achieved high accuracy but were slow. Single-stage detectors like YOLO were fast but less accurate. The key challenge was multi-scale detection: objects can be tiny or huge, and handling all scales efficiently was the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SSD's core innovation is using multiple feature map layers at different resolutions for detection. Instead of generating region proposals, it places default boxes (priors) at every spatial location on each feature map. This enables multi-scale detection in a single forward pass. The image shows the SSD architecture with feature maps at different scales.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SSD300 uses 6 feature maps from conv4_3 to conv11_2, with sizes decreasing from 38x38 to 1x1. Each feature map has different numbers of default boxes per location. Total of 8,732 default boxes. Key results: 77.2% mAP on VOC2007 at 59 FPS. Note that smaller feature maps detect larger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FPN's key insight: instead of using only the last layer of a CNN for detection, build a top-down pathway that upsamples semantically strong features and merges them with higher-resolution lower-level features via lateral connections. This gives every level both strong semantics and appropriate resolution. It adds almost no computational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FPN has three key components. First, the bottom-up pathway is just the standard CNN backbone like ResNet. Second, the top-down pathway upsamples the deeper, semantically rich features to higher resolution. Third, lateral connections use 1x1 convolutions to match channels and element-wise addition to merge the upsampled features with the corresponding bottom-up features. A final 3x3 convolution reduces aliasing.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full FPN architecture. The bottom-up pathway goes from C2 to C5 in ResNet. The top-down pathway upsamples P5 to P4, P3, P2. Lateral connections (1x1 conv + add + 3x3 conv) merge features at each level. All pyramid levels have 256 channels. P2 through P5 are used for detection at different scales.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SSD and FPN across key dimensions. SSD uses independent feature layers without fusion, so shallow layers have weak semantics. FPN fuses features top-down, giving all levels strong semantic information. FPN is also more flexible: it can be plugged into both single-stage and two-stage detectors. This is why FPN became a foundational component in modern detection frameworks.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RetinaNet identifies that the reason single-stage detectors lag behind two-stage ones is extreme class imbalance. In a typical image, there are maybe 10 objects but 100,000 anchor locations. Most anchors are easy negatives that contribute no useful learning signal but overwhelm the loss. Focal Loss solves this by down-weighting easy examples, allowing the model to focus on hard examples. RetinaNet combines FPN backbone with Focal Loss to surpass two-stage detectors.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Focal Loss formula: FL(pt) = -(1-pt)^gamma * log(pt). When gamma=0, it reduces to standard cross-entropy. With gamma=2, easy examples (high pt) have their loss scaled down by (1-pt)^2, effectively near zero. Hard examples keep most of their loss. The alpha parameter balances positive/negative examples. Together, they solve the class imbalance problem elegantly.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comparison on COCO test-dev. SSD300 achieves 25.1 mAP at 59 FPS - excellent for real-time. SSD512 improves to 28.8 but drops to 22 FPS. FPN combined with Faster R-CNN achieves 36.2 mAP. RetinaNet-101 with FPN backbone and Focal Loss reaches 39.1 mAP, surpassing all two-stage detectors while being a single-stage detector. The trade-off is speed: RetinaNet runs at about 5 FPS.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 Liu from UNC Chapel Hill proposed SSD in 2016, pioneering the use of multi-scale feature maps for direct detection. Tsung-Yi Lin from Facebook AI Research is one of the most impactful researchers in computer vision - he contributed FPN, RetinaNet, the COCO dataset, and was a co-author on Mask R-CNN. His work on feature pyramids fundamentally changed how we build detection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clean PyTorch implementation of Focal Loss. Key points: use binary_cross_entropy_with_logits with reduction='none' to get per-sample loss, compute pt as exp(-BCE), then apply the modulating factor (1-pt)^gamma and the alpha weighting. The default values alpha=0.25 and gamma=2.0 follow the original paper. This is a 20-line implementation that you can directly use in your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discussion questions to think about. First, FPN helps small objects most because small objects need high-resolution features, and FPN adds strong semantics to those high-resolution features. Second, the anchor-free question leads directly into Day 40 - we will explore CornerNet, CenterNet, and FCOS which eliminate predefined anchors entirely. Third, SSD's independent layer approach means each layer works in isolation without sharing learned features across scales.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following along! Today we covered SSD and FPN, two landmark approaches to multi-scale object detection. Key references are listed on screen. Tomorrow in Day 40, we will explore Anchor-Free detection methods including CornerNet, CenterNet, and FCOS. See you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C5F2D">
              <a:alpha val="70000"/>
            </a:srgbClr>
          </a:solidFill>
          <a:ln/>
        </p:spPr>
      </p:sp>
      <p:sp>
        <p:nvSpPr>
          <p:cNvPr id="3" name="Shape 1"/>
          <p:cNvSpPr/>
          <p:nvPr/>
        </p:nvSpPr>
        <p:spPr>
          <a:xfrm>
            <a:off x="548640" y="1097280"/>
            <a:ext cx="5486400" cy="3474720"/>
          </a:xfrm>
          <a:prstGeom prst="roundRect">
            <a:avLst>
              <a:gd name="adj" fmla="val 3947"/>
            </a:avLst>
          </a:prstGeom>
          <a:solidFill>
            <a:srgbClr val="333333">
              <a:alpha val="60000"/>
            </a:srgbClr>
          </a:solidFill>
          <a:ln/>
        </p:spPr>
      </p:sp>
      <p:sp>
        <p:nvSpPr>
          <p:cNvPr id="4" name="Shape 2"/>
          <p:cNvSpPr/>
          <p:nvPr/>
        </p:nvSpPr>
        <p:spPr>
          <a:xfrm>
            <a:off x="731520" y="1645920"/>
            <a:ext cx="73152" cy="1463040"/>
          </a:xfrm>
          <a:prstGeom prst="rect">
            <a:avLst/>
          </a:prstGeom>
          <a:solidFill>
            <a:srgbClr val="D4A843"/>
          </a:solidFill>
          <a:ln/>
        </p:spPr>
      </p:sp>
      <p:sp>
        <p:nvSpPr>
          <p:cNvPr id="5" name="Text 3"/>
          <p:cNvSpPr/>
          <p:nvPr/>
        </p:nvSpPr>
        <p:spPr>
          <a:xfrm>
            <a:off x="1097280" y="1371600"/>
            <a:ext cx="6858000" cy="548640"/>
          </a:xfrm>
          <a:prstGeom prst="rect">
            <a:avLst/>
          </a:prstGeom>
          <a:noFill/>
          <a:ln/>
        </p:spPr>
        <p:txBody>
          <a:bodyPr wrap="square" rtlCol="0" anchor="ctr">
            <a:normAutofit/>
          </a:bodyPr>
          <a:lstStyle/>
          <a:p>
            <a:pPr indent="0" marL="0">
              <a:buNone/>
            </a:pPr>
            <a:r>
              <a:rPr lang="en-US" sz="1800" b="1" spc="300" kern="0" dirty="0">
                <a:solidFill>
                  <a:srgbClr val="D4A843"/>
                </a:solidFill>
                <a:latin typeface="Calibri" pitchFamily="34" charset="0"/>
                <a:ea typeface="Calibri" pitchFamily="34" charset="-122"/>
                <a:cs typeface="Calibri" pitchFamily="34" charset="-120"/>
              </a:rPr>
              <a:t>Day 39</a:t>
            </a:r>
            <a:endParaRPr lang="en-US" sz="1800" dirty="0"/>
          </a:p>
        </p:txBody>
      </p:sp>
      <p:sp>
        <p:nvSpPr>
          <p:cNvPr id="6" name="Text 4"/>
          <p:cNvSpPr/>
          <p:nvPr/>
        </p:nvSpPr>
        <p:spPr>
          <a:xfrm>
            <a:off x="1097280" y="1828800"/>
            <a:ext cx="6858000" cy="822960"/>
          </a:xfrm>
          <a:prstGeom prst="rect">
            <a:avLst/>
          </a:prstGeom>
          <a:noFill/>
          <a:ln/>
        </p:spPr>
        <p:txBody>
          <a:bodyPr wrap="square" rtlCol="0" anchor="ctr">
            <a:normAutofit/>
          </a:bodyPr>
          <a:lstStyle/>
          <a:p>
            <a:pPr indent="0" marL="0">
              <a:buNone/>
            </a:pPr>
            <a:r>
              <a:rPr lang="en-US" sz="4000" b="1" dirty="0">
                <a:solidFill>
                  <a:srgbClr val="FFFFFF"/>
                </a:solidFill>
                <a:latin typeface="Georgia" pitchFamily="34" charset="0"/>
                <a:ea typeface="Georgia" pitchFamily="34" charset="-122"/>
                <a:cs typeface="Georgia" pitchFamily="34" charset="-120"/>
              </a:rPr>
              <a:t>SSD &amp; FPN</a:t>
            </a:r>
            <a:endParaRPr lang="en-US" sz="4000" dirty="0"/>
          </a:p>
        </p:txBody>
      </p:sp>
      <p:sp>
        <p:nvSpPr>
          <p:cNvPr id="7" name="Text 5"/>
          <p:cNvSpPr/>
          <p:nvPr/>
        </p:nvSpPr>
        <p:spPr>
          <a:xfrm>
            <a:off x="1097280" y="2651760"/>
            <a:ext cx="6858000" cy="457200"/>
          </a:xfrm>
          <a:prstGeom prst="rect">
            <a:avLst/>
          </a:prstGeom>
          <a:noFill/>
          <a:ln/>
        </p:spPr>
        <p:txBody>
          <a:bodyPr wrap="square" rtlCol="0" anchor="ctr">
            <a:normAutofit/>
          </a:bodyPr>
          <a:lstStyle/>
          <a:p>
            <a:pPr indent="0" marL="0">
              <a:buNone/>
            </a:pPr>
            <a:r>
              <a:rPr lang="en-US" sz="1600" dirty="0">
                <a:solidFill>
                  <a:srgbClr val="FFFFFF"/>
                </a:solidFill>
                <a:latin typeface="Calibri" pitchFamily="34" charset="0"/>
                <a:ea typeface="Calibri" pitchFamily="34" charset="-122"/>
                <a:cs typeface="Calibri" pitchFamily="34" charset="-120"/>
              </a:rPr>
              <a:t>Multi-scale Object Detection Milestones</a:t>
            </a:r>
            <a:endParaRPr lang="en-US" sz="1600" dirty="0"/>
          </a:p>
        </p:txBody>
      </p:sp>
      <p:sp>
        <p:nvSpPr>
          <p:cNvPr id="8" name="Text 6"/>
          <p:cNvSpPr/>
          <p:nvPr/>
        </p:nvSpPr>
        <p:spPr>
          <a:xfrm>
            <a:off x="1097280" y="4114800"/>
            <a:ext cx="4572000" cy="320040"/>
          </a:xfrm>
          <a:prstGeom prst="rect">
            <a:avLst/>
          </a:prstGeom>
          <a:noFill/>
          <a:ln/>
        </p:spPr>
        <p:txBody>
          <a:bodyPr wrap="square" rtlCol="0" anchor="ctr">
            <a:normAutofit/>
          </a:bodyPr>
          <a:lstStyle/>
          <a:p>
            <a:pPr indent="0" marL="0">
              <a:buNone/>
            </a:pPr>
            <a:r>
              <a:rPr lang="en-US" sz="1100" dirty="0">
                <a:solidFill>
                  <a:srgbClr val="E8E4DC"/>
                </a:solidFill>
                <a:latin typeface="Calibri" pitchFamily="34" charset="0"/>
                <a:ea typeface="Calibri" pitchFamily="34" charset="-122"/>
                <a:cs typeface="Calibri" pitchFamily="34" charset="-120"/>
              </a:rPr>
              <a:t>Computer Vision 100-Day Learning Plan  |  Talk Mode</a:t>
            </a:r>
            <a:endParaRPr lang="en-US" sz="1100" dirty="0"/>
          </a:p>
        </p:txBody>
      </p:sp>
      <p:sp>
        <p:nvSpPr>
          <p:cNvPr id="9"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365760" y="182880"/>
            <a:ext cx="8412480" cy="502920"/>
          </a:xfrm>
          <a:prstGeom prst="rect">
            <a:avLst/>
          </a:prstGeom>
          <a:noFill/>
          <a:ln/>
        </p:spPr>
        <p:txBody>
          <a:bodyPr wrap="square" rtlCol="0" anchor="ctr">
            <a:normAutofit/>
          </a:bodyPr>
          <a:lstStyle/>
          <a:p>
            <a:pPr indent="0" marL="0">
              <a:buNone/>
            </a:pPr>
            <a:r>
              <a:rPr lang="en-US" sz="2400" b="1" dirty="0">
                <a:solidFill>
                  <a:srgbClr val="2C5F2D"/>
                </a:solidFill>
                <a:latin typeface="Georgia" pitchFamily="34" charset="0"/>
                <a:ea typeface="Georgia" pitchFamily="34" charset="-122"/>
                <a:cs typeface="Georgia" pitchFamily="34" charset="-120"/>
              </a:rPr>
              <a:t>Today's Roadmap</a:t>
            </a:r>
            <a:endParaRPr lang="en-US" sz="2400" dirty="0"/>
          </a:p>
        </p:txBody>
      </p:sp>
      <p:sp>
        <p:nvSpPr>
          <p:cNvPr id="4" name="Text 2"/>
          <p:cNvSpPr/>
          <p:nvPr/>
        </p:nvSpPr>
        <p:spPr>
          <a:xfrm>
            <a:off x="365760" y="685800"/>
            <a:ext cx="8412480" cy="274320"/>
          </a:xfrm>
          <a:prstGeom prst="rect">
            <a:avLst/>
          </a:prstGeom>
          <a:noFill/>
          <a:ln/>
        </p:spPr>
        <p:txBody>
          <a:bodyPr wrap="square" rtlCol="0" anchor="ctr">
            <a:normAutofit/>
          </a:bodyPr>
          <a:lstStyle/>
          <a:p>
            <a:pPr indent="0" marL="0">
              <a:buNone/>
            </a:pPr>
            <a:r>
              <a:rPr lang="en-US" sz="1200" i="1" dirty="0">
                <a:solidFill>
                  <a:srgbClr val="666666"/>
                </a:solidFill>
                <a:latin typeface="Calibri" pitchFamily="34" charset="0"/>
                <a:ea typeface="Calibri" pitchFamily="34" charset="-122"/>
                <a:cs typeface="Calibri" pitchFamily="34" charset="-120"/>
              </a:rPr>
              <a:t>6 chapters, 16 slides</a:t>
            </a:r>
            <a:endParaRPr lang="en-US" sz="1200" dirty="0"/>
          </a:p>
        </p:txBody>
      </p:sp>
      <p:sp>
        <p:nvSpPr>
          <p:cNvPr id="5" name="Shape 3"/>
          <p:cNvSpPr/>
          <p:nvPr/>
        </p:nvSpPr>
        <p:spPr>
          <a:xfrm>
            <a:off x="0" y="5106924"/>
            <a:ext cx="9144000" cy="36576"/>
          </a:xfrm>
          <a:prstGeom prst="rect">
            <a:avLst/>
          </a:prstGeom>
          <a:solidFill>
            <a:srgbClr val="97BC62"/>
          </a:solidFill>
          <a:ln/>
        </p:spPr>
      </p:sp>
      <p:sp>
        <p:nvSpPr>
          <p:cNvPr id="6" name="Shape 4"/>
          <p:cNvSpPr/>
          <p:nvPr/>
        </p:nvSpPr>
        <p:spPr>
          <a:xfrm>
            <a:off x="548640" y="1280160"/>
            <a:ext cx="2560320" cy="594360"/>
          </a:xfrm>
          <a:prstGeom prst="roundRect">
            <a:avLst>
              <a:gd name="adj" fmla="val 12308"/>
            </a:avLst>
          </a:prstGeom>
          <a:solidFill>
            <a:srgbClr val="F5F2E8"/>
          </a:solidFill>
          <a:ln w="6350">
            <a:solidFill>
              <a:srgbClr val="E8E4DC"/>
            </a:solidFill>
            <a:prstDash val="solid"/>
          </a:ln>
          <a:effectLst>
            <a:outerShdw sx="100000" sy="100000" kx="0" ky="0" algn="bl" rotWithShape="0" blurRad="38100" dist="25400" dir="2700000">
              <a:srgbClr val="000000">
                <a:alpha val="12000"/>
              </a:srgbClr>
            </a:outerShdw>
          </a:effectLst>
        </p:spPr>
      </p:sp>
      <p:sp>
        <p:nvSpPr>
          <p:cNvPr id="7" name="Shape 5"/>
          <p:cNvSpPr/>
          <p:nvPr/>
        </p:nvSpPr>
        <p:spPr>
          <a:xfrm>
            <a:off x="640080" y="1389888"/>
            <a:ext cx="365760" cy="365760"/>
          </a:xfrm>
          <a:prstGeom prst="ellipse">
            <a:avLst/>
          </a:prstGeom>
          <a:solidFill>
            <a:srgbClr val="2C5F2D"/>
          </a:solidFill>
          <a:ln/>
        </p:spPr>
      </p:sp>
      <p:sp>
        <p:nvSpPr>
          <p:cNvPr id="8" name="Text 6"/>
          <p:cNvSpPr/>
          <p:nvPr/>
        </p:nvSpPr>
        <p:spPr>
          <a:xfrm>
            <a:off x="640080" y="1389888"/>
            <a:ext cx="365760" cy="365760"/>
          </a:xfrm>
          <a:prstGeom prst="rect">
            <a:avLst/>
          </a:prstGeom>
          <a:noFill/>
          <a:ln/>
        </p:spPr>
        <p:txBody>
          <a:bodyPr wrap="square"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1097280" y="1325880"/>
            <a:ext cx="1828800" cy="27432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Historical Context</a:t>
            </a:r>
            <a:endParaRPr lang="en-US" sz="1200" dirty="0"/>
          </a:p>
        </p:txBody>
      </p:sp>
      <p:sp>
        <p:nvSpPr>
          <p:cNvPr id="10" name="Text 8"/>
          <p:cNvSpPr/>
          <p:nvPr/>
        </p:nvSpPr>
        <p:spPr>
          <a:xfrm>
            <a:off x="1097280" y="1600200"/>
            <a:ext cx="1828800" cy="22860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2016 Detection Landscape</a:t>
            </a:r>
            <a:endParaRPr lang="en-US" sz="900" dirty="0"/>
          </a:p>
        </p:txBody>
      </p:sp>
      <p:sp>
        <p:nvSpPr>
          <p:cNvPr id="11" name="Shape 9"/>
          <p:cNvSpPr/>
          <p:nvPr/>
        </p:nvSpPr>
        <p:spPr>
          <a:xfrm>
            <a:off x="3291840" y="1280160"/>
            <a:ext cx="2560320" cy="594360"/>
          </a:xfrm>
          <a:prstGeom prst="roundRect">
            <a:avLst>
              <a:gd name="adj" fmla="val 12308"/>
            </a:avLst>
          </a:prstGeom>
          <a:solidFill>
            <a:srgbClr val="F5F2E8"/>
          </a:solidFill>
          <a:ln w="6350">
            <a:solidFill>
              <a:srgbClr val="E8E4DC"/>
            </a:solidFill>
            <a:prstDash val="solid"/>
          </a:ln>
          <a:effectLst>
            <a:outerShdw sx="100000" sy="100000" kx="0" ky="0" algn="bl" rotWithShape="0" blurRad="38100" dist="25400" dir="2700000">
              <a:srgbClr val="000000">
                <a:alpha val="12000"/>
              </a:srgbClr>
            </a:outerShdw>
          </a:effectLst>
        </p:spPr>
      </p:sp>
      <p:sp>
        <p:nvSpPr>
          <p:cNvPr id="12" name="Shape 10"/>
          <p:cNvSpPr/>
          <p:nvPr/>
        </p:nvSpPr>
        <p:spPr>
          <a:xfrm>
            <a:off x="3383280" y="1389888"/>
            <a:ext cx="365760" cy="365760"/>
          </a:xfrm>
          <a:prstGeom prst="ellipse">
            <a:avLst/>
          </a:prstGeom>
          <a:solidFill>
            <a:srgbClr val="2C5F2D"/>
          </a:solidFill>
          <a:ln/>
        </p:spPr>
      </p:sp>
      <p:sp>
        <p:nvSpPr>
          <p:cNvPr id="13" name="Text 11"/>
          <p:cNvSpPr/>
          <p:nvPr/>
        </p:nvSpPr>
        <p:spPr>
          <a:xfrm>
            <a:off x="3383280" y="1389888"/>
            <a:ext cx="365760" cy="365760"/>
          </a:xfrm>
          <a:prstGeom prst="rect">
            <a:avLst/>
          </a:prstGeom>
          <a:noFill/>
          <a:ln/>
        </p:spPr>
        <p:txBody>
          <a:bodyPr wrap="square"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3840480" y="1325880"/>
            <a:ext cx="1828800" cy="27432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SSD Deep Dive</a:t>
            </a:r>
            <a:endParaRPr lang="en-US" sz="1200" dirty="0"/>
          </a:p>
        </p:txBody>
      </p:sp>
      <p:sp>
        <p:nvSpPr>
          <p:cNvPr id="15" name="Text 13"/>
          <p:cNvSpPr/>
          <p:nvPr/>
        </p:nvSpPr>
        <p:spPr>
          <a:xfrm>
            <a:off x="3840480" y="1600200"/>
            <a:ext cx="1828800" cy="22860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Single Shot MultiBox Detector</a:t>
            </a:r>
            <a:endParaRPr lang="en-US" sz="900" dirty="0"/>
          </a:p>
        </p:txBody>
      </p:sp>
      <p:sp>
        <p:nvSpPr>
          <p:cNvPr id="16" name="Shape 14"/>
          <p:cNvSpPr/>
          <p:nvPr/>
        </p:nvSpPr>
        <p:spPr>
          <a:xfrm>
            <a:off x="6035040" y="1280160"/>
            <a:ext cx="2560320" cy="594360"/>
          </a:xfrm>
          <a:prstGeom prst="roundRect">
            <a:avLst>
              <a:gd name="adj" fmla="val 12308"/>
            </a:avLst>
          </a:prstGeom>
          <a:solidFill>
            <a:srgbClr val="F5F2E8"/>
          </a:solidFill>
          <a:ln w="6350">
            <a:solidFill>
              <a:srgbClr val="E8E4DC"/>
            </a:solidFill>
            <a:prstDash val="solid"/>
          </a:ln>
          <a:effectLst>
            <a:outerShdw sx="100000" sy="100000" kx="0" ky="0" algn="bl" rotWithShape="0" blurRad="38100" dist="25400" dir="2700000">
              <a:srgbClr val="000000">
                <a:alpha val="12000"/>
              </a:srgbClr>
            </a:outerShdw>
          </a:effectLst>
        </p:spPr>
      </p:sp>
      <p:sp>
        <p:nvSpPr>
          <p:cNvPr id="17" name="Shape 15"/>
          <p:cNvSpPr/>
          <p:nvPr/>
        </p:nvSpPr>
        <p:spPr>
          <a:xfrm>
            <a:off x="6126480" y="1389888"/>
            <a:ext cx="365760" cy="365760"/>
          </a:xfrm>
          <a:prstGeom prst="ellipse">
            <a:avLst/>
          </a:prstGeom>
          <a:solidFill>
            <a:srgbClr val="2C5F2D"/>
          </a:solidFill>
          <a:ln/>
        </p:spPr>
      </p:sp>
      <p:sp>
        <p:nvSpPr>
          <p:cNvPr id="18" name="Text 16"/>
          <p:cNvSpPr/>
          <p:nvPr/>
        </p:nvSpPr>
        <p:spPr>
          <a:xfrm>
            <a:off x="6126480" y="1389888"/>
            <a:ext cx="365760" cy="365760"/>
          </a:xfrm>
          <a:prstGeom prst="rect">
            <a:avLst/>
          </a:prstGeom>
          <a:noFill/>
          <a:ln/>
        </p:spPr>
        <p:txBody>
          <a:bodyPr wrap="square"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9" name="Text 17"/>
          <p:cNvSpPr/>
          <p:nvPr/>
        </p:nvSpPr>
        <p:spPr>
          <a:xfrm>
            <a:off x="6583680" y="1325880"/>
            <a:ext cx="1828800" cy="27432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FPN Deep Dive</a:t>
            </a:r>
            <a:endParaRPr lang="en-US" sz="1200" dirty="0"/>
          </a:p>
        </p:txBody>
      </p:sp>
      <p:sp>
        <p:nvSpPr>
          <p:cNvPr id="20" name="Text 18"/>
          <p:cNvSpPr/>
          <p:nvPr/>
        </p:nvSpPr>
        <p:spPr>
          <a:xfrm>
            <a:off x="6583680" y="1600200"/>
            <a:ext cx="1828800" cy="22860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Feature Pyramid Networks</a:t>
            </a:r>
            <a:endParaRPr lang="en-US" sz="900" dirty="0"/>
          </a:p>
        </p:txBody>
      </p:sp>
      <p:sp>
        <p:nvSpPr>
          <p:cNvPr id="21" name="Shape 19"/>
          <p:cNvSpPr/>
          <p:nvPr/>
        </p:nvSpPr>
        <p:spPr>
          <a:xfrm>
            <a:off x="548640" y="2011680"/>
            <a:ext cx="2560320" cy="594360"/>
          </a:xfrm>
          <a:prstGeom prst="roundRect">
            <a:avLst>
              <a:gd name="adj" fmla="val 12308"/>
            </a:avLst>
          </a:prstGeom>
          <a:solidFill>
            <a:srgbClr val="F5F2E8"/>
          </a:solidFill>
          <a:ln w="6350">
            <a:solidFill>
              <a:srgbClr val="E8E4DC"/>
            </a:solidFill>
            <a:prstDash val="solid"/>
          </a:ln>
          <a:effectLst>
            <a:outerShdw sx="100000" sy="100000" kx="0" ky="0" algn="bl" rotWithShape="0" blurRad="38100" dist="25400" dir="2700000">
              <a:srgbClr val="000000">
                <a:alpha val="12000"/>
              </a:srgbClr>
            </a:outerShdw>
          </a:effectLst>
        </p:spPr>
      </p:sp>
      <p:sp>
        <p:nvSpPr>
          <p:cNvPr id="22" name="Shape 20"/>
          <p:cNvSpPr/>
          <p:nvPr/>
        </p:nvSpPr>
        <p:spPr>
          <a:xfrm>
            <a:off x="640080" y="2121408"/>
            <a:ext cx="365760" cy="365760"/>
          </a:xfrm>
          <a:prstGeom prst="ellipse">
            <a:avLst/>
          </a:prstGeom>
          <a:solidFill>
            <a:srgbClr val="2C5F2D"/>
          </a:solidFill>
          <a:ln/>
        </p:spPr>
      </p:sp>
      <p:sp>
        <p:nvSpPr>
          <p:cNvPr id="23" name="Text 21"/>
          <p:cNvSpPr/>
          <p:nvPr/>
        </p:nvSpPr>
        <p:spPr>
          <a:xfrm>
            <a:off x="640080" y="2121408"/>
            <a:ext cx="365760" cy="365760"/>
          </a:xfrm>
          <a:prstGeom prst="rect">
            <a:avLst/>
          </a:prstGeom>
          <a:noFill/>
          <a:ln/>
        </p:spPr>
        <p:txBody>
          <a:bodyPr wrap="square"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4" name="Text 22"/>
          <p:cNvSpPr/>
          <p:nvPr/>
        </p:nvSpPr>
        <p:spPr>
          <a:xfrm>
            <a:off x="1097280" y="2057400"/>
            <a:ext cx="1828800" cy="27432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Comparison &amp; Focal Loss</a:t>
            </a:r>
            <a:endParaRPr lang="en-US" sz="1200" dirty="0"/>
          </a:p>
        </p:txBody>
      </p:sp>
      <p:sp>
        <p:nvSpPr>
          <p:cNvPr id="25" name="Text 23"/>
          <p:cNvSpPr/>
          <p:nvPr/>
        </p:nvSpPr>
        <p:spPr>
          <a:xfrm>
            <a:off x="1097280" y="2331720"/>
            <a:ext cx="1828800" cy="22860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SSD vs FPN, RetinaNet</a:t>
            </a:r>
            <a:endParaRPr lang="en-US" sz="900" dirty="0"/>
          </a:p>
        </p:txBody>
      </p:sp>
      <p:sp>
        <p:nvSpPr>
          <p:cNvPr id="26" name="Shape 24"/>
          <p:cNvSpPr/>
          <p:nvPr/>
        </p:nvSpPr>
        <p:spPr>
          <a:xfrm>
            <a:off x="3291840" y="2011680"/>
            <a:ext cx="2560320" cy="594360"/>
          </a:xfrm>
          <a:prstGeom prst="roundRect">
            <a:avLst>
              <a:gd name="adj" fmla="val 12308"/>
            </a:avLst>
          </a:prstGeom>
          <a:solidFill>
            <a:srgbClr val="F5F2E8"/>
          </a:solidFill>
          <a:ln w="6350">
            <a:solidFill>
              <a:srgbClr val="E8E4DC"/>
            </a:solidFill>
            <a:prstDash val="solid"/>
          </a:ln>
          <a:effectLst>
            <a:outerShdw sx="100000" sy="100000" kx="0" ky="0" algn="bl" rotWithShape="0" blurRad="38100" dist="25400" dir="2700000">
              <a:srgbClr val="000000">
                <a:alpha val="12000"/>
              </a:srgbClr>
            </a:outerShdw>
          </a:effectLst>
        </p:spPr>
      </p:sp>
      <p:sp>
        <p:nvSpPr>
          <p:cNvPr id="27" name="Shape 25"/>
          <p:cNvSpPr/>
          <p:nvPr/>
        </p:nvSpPr>
        <p:spPr>
          <a:xfrm>
            <a:off x="3383280" y="2121408"/>
            <a:ext cx="365760" cy="365760"/>
          </a:xfrm>
          <a:prstGeom prst="ellipse">
            <a:avLst/>
          </a:prstGeom>
          <a:solidFill>
            <a:srgbClr val="2C5F2D"/>
          </a:solidFill>
          <a:ln/>
        </p:spPr>
      </p:sp>
      <p:sp>
        <p:nvSpPr>
          <p:cNvPr id="28" name="Text 26"/>
          <p:cNvSpPr/>
          <p:nvPr/>
        </p:nvSpPr>
        <p:spPr>
          <a:xfrm>
            <a:off x="3383280" y="2121408"/>
            <a:ext cx="365760" cy="365760"/>
          </a:xfrm>
          <a:prstGeom prst="rect">
            <a:avLst/>
          </a:prstGeom>
          <a:noFill/>
          <a:ln/>
        </p:spPr>
        <p:txBody>
          <a:bodyPr wrap="square"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9" name="Text 27"/>
          <p:cNvSpPr/>
          <p:nvPr/>
        </p:nvSpPr>
        <p:spPr>
          <a:xfrm>
            <a:off x="3840480" y="2057400"/>
            <a:ext cx="1828800" cy="27432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Performance Benchmarks</a:t>
            </a:r>
            <a:endParaRPr lang="en-US" sz="1200" dirty="0"/>
          </a:p>
        </p:txBody>
      </p:sp>
      <p:sp>
        <p:nvSpPr>
          <p:cNvPr id="30" name="Text 28"/>
          <p:cNvSpPr/>
          <p:nvPr/>
        </p:nvSpPr>
        <p:spPr>
          <a:xfrm>
            <a:off x="3840480" y="2331720"/>
            <a:ext cx="1828800" cy="22860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Speed vs Accuracy Trade-offs</a:t>
            </a:r>
            <a:endParaRPr lang="en-US" sz="900" dirty="0"/>
          </a:p>
        </p:txBody>
      </p:sp>
      <p:sp>
        <p:nvSpPr>
          <p:cNvPr id="31" name="Shape 29"/>
          <p:cNvSpPr/>
          <p:nvPr/>
        </p:nvSpPr>
        <p:spPr>
          <a:xfrm>
            <a:off x="6035040" y="2011680"/>
            <a:ext cx="2560320" cy="594360"/>
          </a:xfrm>
          <a:prstGeom prst="roundRect">
            <a:avLst>
              <a:gd name="adj" fmla="val 12308"/>
            </a:avLst>
          </a:prstGeom>
          <a:solidFill>
            <a:srgbClr val="F5F2E8"/>
          </a:solidFill>
          <a:ln w="6350">
            <a:solidFill>
              <a:srgbClr val="E8E4DC"/>
            </a:solidFill>
            <a:prstDash val="solid"/>
          </a:ln>
          <a:effectLst>
            <a:outerShdw sx="100000" sy="100000" kx="0" ky="0" algn="bl" rotWithShape="0" blurRad="38100" dist="25400" dir="2700000">
              <a:srgbClr val="000000">
                <a:alpha val="12000"/>
              </a:srgbClr>
            </a:outerShdw>
          </a:effectLst>
        </p:spPr>
      </p:sp>
      <p:sp>
        <p:nvSpPr>
          <p:cNvPr id="32" name="Shape 30"/>
          <p:cNvSpPr/>
          <p:nvPr/>
        </p:nvSpPr>
        <p:spPr>
          <a:xfrm>
            <a:off x="6126480" y="2121408"/>
            <a:ext cx="365760" cy="365760"/>
          </a:xfrm>
          <a:prstGeom prst="ellipse">
            <a:avLst/>
          </a:prstGeom>
          <a:solidFill>
            <a:srgbClr val="2C5F2D"/>
          </a:solidFill>
          <a:ln/>
        </p:spPr>
      </p:sp>
      <p:sp>
        <p:nvSpPr>
          <p:cNvPr id="33" name="Text 31"/>
          <p:cNvSpPr/>
          <p:nvPr/>
        </p:nvSpPr>
        <p:spPr>
          <a:xfrm>
            <a:off x="6126480" y="2121408"/>
            <a:ext cx="365760" cy="365760"/>
          </a:xfrm>
          <a:prstGeom prst="rect">
            <a:avLst/>
          </a:prstGeom>
          <a:noFill/>
          <a:ln/>
        </p:spPr>
        <p:txBody>
          <a:bodyPr wrap="square"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4" name="Text 32"/>
          <p:cNvSpPr/>
          <p:nvPr/>
        </p:nvSpPr>
        <p:spPr>
          <a:xfrm>
            <a:off x="6583680" y="2057400"/>
            <a:ext cx="1828800" cy="27432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Summary &amp; Next Steps</a:t>
            </a:r>
            <a:endParaRPr lang="en-US" sz="1200" dirty="0"/>
          </a:p>
        </p:txBody>
      </p:sp>
      <p:sp>
        <p:nvSpPr>
          <p:cNvPr id="35" name="Text 33"/>
          <p:cNvSpPr/>
          <p:nvPr/>
        </p:nvSpPr>
        <p:spPr>
          <a:xfrm>
            <a:off x="6583680" y="2331720"/>
            <a:ext cx="1828800" cy="22860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Key Takeaways, Day 40 Preview</a:t>
            </a:r>
            <a:endParaRPr lang="en-US" sz="900" dirty="0"/>
          </a:p>
        </p:txBody>
      </p:sp>
      <p:sp>
        <p:nvSpPr>
          <p:cNvPr id="36" name="Text 34"/>
          <p:cNvSpPr/>
          <p:nvPr/>
        </p:nvSpPr>
        <p:spPr>
          <a:xfrm>
            <a:off x="8046720" y="4754880"/>
            <a:ext cx="914400" cy="274320"/>
          </a:xfrm>
          <a:prstGeom prst="rect">
            <a:avLst/>
          </a:prstGeom>
          <a:noFill/>
          <a:ln/>
        </p:spPr>
        <p:txBody>
          <a:bodyPr wrap="square" rtlCol="0" anchor="ctr">
            <a:normAutofit/>
          </a:bodyPr>
          <a:lstStyle/>
          <a:p>
            <a:pPr algn="r" indent="0" marL="0">
              <a:buNone/>
            </a:pPr>
            <a:r>
              <a:rPr lang="en-US" sz="900" dirty="0">
                <a:solidFill>
                  <a:srgbClr val="666666"/>
                </a:solidFill>
                <a:latin typeface="Calibri" pitchFamily="34" charset="0"/>
                <a:ea typeface="Calibri" pitchFamily="34" charset="-122"/>
                <a:cs typeface="Calibri" pitchFamily="34" charset="-120"/>
              </a:rPr>
              <a:t>2 / 16</a:t>
            </a:r>
            <a:endParaRPr lang="en-US" sz="900" dirty="0"/>
          </a:p>
        </p:txBody>
      </p:sp>
      <p:sp>
        <p:nvSpPr>
          <p:cNvPr id="3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365760" y="182880"/>
            <a:ext cx="8412480" cy="502920"/>
          </a:xfrm>
          <a:prstGeom prst="rect">
            <a:avLst/>
          </a:prstGeom>
          <a:noFill/>
          <a:ln/>
        </p:spPr>
        <p:txBody>
          <a:bodyPr wrap="square" rtlCol="0" anchor="ctr">
            <a:normAutofit/>
          </a:bodyPr>
          <a:lstStyle/>
          <a:p>
            <a:pPr indent="0" marL="0">
              <a:buNone/>
            </a:pPr>
            <a:r>
              <a:rPr lang="en-US" sz="2400" b="1" dirty="0">
                <a:solidFill>
                  <a:srgbClr val="2C5F2D"/>
                </a:solidFill>
                <a:latin typeface="Georgia" pitchFamily="34" charset="0"/>
                <a:ea typeface="Georgia" pitchFamily="34" charset="-122"/>
                <a:cs typeface="Georgia" pitchFamily="34" charset="-120"/>
              </a:rPr>
              <a:t>2016: The Detection Landscape</a:t>
            </a:r>
            <a:endParaRPr lang="en-US" sz="2400" dirty="0"/>
          </a:p>
        </p:txBody>
      </p:sp>
      <p:sp>
        <p:nvSpPr>
          <p:cNvPr id="4" name="Text 2"/>
          <p:cNvSpPr/>
          <p:nvPr/>
        </p:nvSpPr>
        <p:spPr>
          <a:xfrm>
            <a:off x="365760" y="685800"/>
            <a:ext cx="8412480" cy="274320"/>
          </a:xfrm>
          <a:prstGeom prst="rect">
            <a:avLst/>
          </a:prstGeom>
          <a:noFill/>
          <a:ln/>
        </p:spPr>
        <p:txBody>
          <a:bodyPr wrap="square" rtlCol="0" anchor="ctr">
            <a:normAutofit/>
          </a:bodyPr>
          <a:lstStyle/>
          <a:p>
            <a:pPr indent="0" marL="0">
              <a:buNone/>
            </a:pPr>
            <a:r>
              <a:rPr lang="en-US" sz="1200" i="1" dirty="0">
                <a:solidFill>
                  <a:srgbClr val="666666"/>
                </a:solidFill>
                <a:latin typeface="Calibri" pitchFamily="34" charset="0"/>
                <a:ea typeface="Calibri" pitchFamily="34" charset="-122"/>
                <a:cs typeface="Calibri" pitchFamily="34" charset="-120"/>
              </a:rPr>
              <a:t>Two paradigms dominated the field</a:t>
            </a:r>
            <a:endParaRPr lang="en-US" sz="1200" dirty="0"/>
          </a:p>
        </p:txBody>
      </p:sp>
      <p:sp>
        <p:nvSpPr>
          <p:cNvPr id="5" name="Shape 3"/>
          <p:cNvSpPr/>
          <p:nvPr/>
        </p:nvSpPr>
        <p:spPr>
          <a:xfrm>
            <a:off x="0" y="5106924"/>
            <a:ext cx="9144000" cy="36576"/>
          </a:xfrm>
          <a:prstGeom prst="rect">
            <a:avLst/>
          </a:prstGeom>
          <a:solidFill>
            <a:srgbClr val="97BC62"/>
          </a:solidFill>
          <a:ln/>
        </p:spPr>
      </p:sp>
      <p:sp>
        <p:nvSpPr>
          <p:cNvPr id="6" name="Shape 4"/>
          <p:cNvSpPr/>
          <p:nvPr/>
        </p:nvSpPr>
        <p:spPr>
          <a:xfrm>
            <a:off x="7680960" y="137160"/>
            <a:ext cx="1188720" cy="274320"/>
          </a:xfrm>
          <a:prstGeom prst="roundRect">
            <a:avLst>
              <a:gd name="adj" fmla="val 16667"/>
            </a:avLst>
          </a:prstGeom>
          <a:solidFill>
            <a:srgbClr val="D4A843"/>
          </a:solidFill>
          <a:ln/>
        </p:spPr>
      </p:sp>
      <p:sp>
        <p:nvSpPr>
          <p:cNvPr id="7" name="Text 5"/>
          <p:cNvSpPr/>
          <p:nvPr/>
        </p:nvSpPr>
        <p:spPr>
          <a:xfrm>
            <a:off x="7680960" y="137160"/>
            <a:ext cx="1188720" cy="274320"/>
          </a:xfrm>
          <a:prstGeom prst="rect">
            <a:avLst/>
          </a:prstGeom>
          <a:noFill/>
          <a:ln/>
        </p:spPr>
        <p:txBody>
          <a:bodyPr wrap="square"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Background</a:t>
            </a:r>
            <a:endParaRPr lang="en-US" sz="900" dirty="0"/>
          </a:p>
        </p:txBody>
      </p:sp>
      <p:sp>
        <p:nvSpPr>
          <p:cNvPr id="8" name="Shape 6"/>
          <p:cNvSpPr/>
          <p:nvPr/>
        </p:nvSpPr>
        <p:spPr>
          <a:xfrm>
            <a:off x="457200" y="1234440"/>
            <a:ext cx="3840480" cy="2377440"/>
          </a:xfrm>
          <a:prstGeom prst="roundRect">
            <a:avLst>
              <a:gd name="adj" fmla="val 3846"/>
            </a:avLst>
          </a:prstGeom>
          <a:solidFill>
            <a:srgbClr val="F5F2E8"/>
          </a:solidFill>
          <a:ln w="6350">
            <a:solidFill>
              <a:srgbClr val="E8E4DC"/>
            </a:solidFill>
            <a:prstDash val="solid"/>
          </a:ln>
          <a:effectLst>
            <a:outerShdw sx="100000" sy="100000" kx="0" ky="0" algn="bl" rotWithShape="0" blurRad="50800" dist="25400" dir="2700000">
              <a:srgbClr val="000000">
                <a:alpha val="15000"/>
              </a:srgbClr>
            </a:outerShdw>
          </a:effectLst>
        </p:spPr>
      </p:sp>
      <p:sp>
        <p:nvSpPr>
          <p:cNvPr id="9" name="Text 7"/>
          <p:cNvSpPr/>
          <p:nvPr/>
        </p:nvSpPr>
        <p:spPr>
          <a:xfrm>
            <a:off x="594360" y="1325880"/>
            <a:ext cx="3566160" cy="32004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Two-Stage Detectors</a:t>
            </a:r>
            <a:endParaRPr lang="en-US" sz="1200" dirty="0"/>
          </a:p>
        </p:txBody>
      </p:sp>
      <p:sp>
        <p:nvSpPr>
          <p:cNvPr id="10" name="Text 8"/>
          <p:cNvSpPr/>
          <p:nvPr/>
        </p:nvSpPr>
        <p:spPr>
          <a:xfrm>
            <a:off x="594360" y="1645920"/>
            <a:ext cx="3566160" cy="1874520"/>
          </a:xfrm>
          <a:prstGeom prst="rect">
            <a:avLst/>
          </a:prstGeom>
          <a:noFill/>
          <a:ln/>
        </p:spPr>
        <p:txBody>
          <a:bodyPr wrap="square" rtlCol="0" anchor="t">
            <a:normAutofit/>
          </a:bodyPr>
          <a:lstStyle/>
          <a:p>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Faster R-CNN (2015)</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Region Proposal + Classification</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High accuracy, slower speed</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mAP ~73.2 on VOC2007</a:t>
            </a:r>
            <a:endParaRPr lang="en-US" sz="1000" dirty="0"/>
          </a:p>
        </p:txBody>
      </p:sp>
      <p:sp>
        <p:nvSpPr>
          <p:cNvPr id="11" name="Shape 9"/>
          <p:cNvSpPr/>
          <p:nvPr/>
        </p:nvSpPr>
        <p:spPr>
          <a:xfrm>
            <a:off x="4846320" y="1234440"/>
            <a:ext cx="3840480" cy="2377440"/>
          </a:xfrm>
          <a:prstGeom prst="roundRect">
            <a:avLst>
              <a:gd name="adj" fmla="val 3846"/>
            </a:avLst>
          </a:prstGeom>
          <a:solidFill>
            <a:srgbClr val="F5F2E8"/>
          </a:solidFill>
          <a:ln w="6350">
            <a:solidFill>
              <a:srgbClr val="E8E4DC"/>
            </a:solidFill>
            <a:prstDash val="solid"/>
          </a:ln>
          <a:effectLst>
            <a:outerShdw sx="100000" sy="100000" kx="0" ky="0" algn="bl" rotWithShape="0" blurRad="50800" dist="25400" dir="2700000">
              <a:srgbClr val="000000">
                <a:alpha val="15000"/>
              </a:srgbClr>
            </a:outerShdw>
          </a:effectLst>
        </p:spPr>
      </p:sp>
      <p:sp>
        <p:nvSpPr>
          <p:cNvPr id="12" name="Text 10"/>
          <p:cNvSpPr/>
          <p:nvPr/>
        </p:nvSpPr>
        <p:spPr>
          <a:xfrm>
            <a:off x="4983480" y="1325880"/>
            <a:ext cx="3566160" cy="320040"/>
          </a:xfrm>
          <a:prstGeom prst="rect">
            <a:avLst/>
          </a:prstGeom>
          <a:noFill/>
          <a:ln/>
        </p:spPr>
        <p:txBody>
          <a:bodyPr wrap="square" rtlCol="0" anchor="ctr">
            <a:normAutofit/>
          </a:bodyPr>
          <a:lstStyle/>
          <a:p>
            <a:pPr indent="0" marL="0">
              <a:buNone/>
            </a:pPr>
            <a:r>
              <a:rPr lang="en-US" sz="1200" b="1" dirty="0">
                <a:solidFill>
                  <a:srgbClr val="D4A843"/>
                </a:solidFill>
                <a:latin typeface="Georgia" pitchFamily="34" charset="0"/>
                <a:ea typeface="Georgia" pitchFamily="34" charset="-122"/>
                <a:cs typeface="Georgia" pitchFamily="34" charset="-120"/>
              </a:rPr>
              <a:t>Single-Stage Detectors</a:t>
            </a:r>
            <a:endParaRPr lang="en-US" sz="1200" dirty="0"/>
          </a:p>
        </p:txBody>
      </p:sp>
      <p:sp>
        <p:nvSpPr>
          <p:cNvPr id="13" name="Text 11"/>
          <p:cNvSpPr/>
          <p:nvPr/>
        </p:nvSpPr>
        <p:spPr>
          <a:xfrm>
            <a:off x="4983480" y="1645920"/>
            <a:ext cx="3566160" cy="1874520"/>
          </a:xfrm>
          <a:prstGeom prst="rect">
            <a:avLst/>
          </a:prstGeom>
          <a:noFill/>
          <a:ln/>
        </p:spPr>
        <p:txBody>
          <a:bodyPr wrap="square" rtlCol="0" anchor="t">
            <a:normAutofit/>
          </a:bodyPr>
          <a:lstStyle/>
          <a:p>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YOLO (2016), SSD (2016)</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Direct prediction, no proposals</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Faster, slightly lower accuracy</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Real-time potential</a:t>
            </a:r>
            <a:endParaRPr lang="en-US" sz="1000" dirty="0"/>
          </a:p>
        </p:txBody>
      </p:sp>
      <p:sp>
        <p:nvSpPr>
          <p:cNvPr id="14" name="Shape 12"/>
          <p:cNvSpPr/>
          <p:nvPr/>
        </p:nvSpPr>
        <p:spPr>
          <a:xfrm>
            <a:off x="1371600" y="3931920"/>
            <a:ext cx="6400800" cy="640080"/>
          </a:xfrm>
          <a:prstGeom prst="roundRect">
            <a:avLst>
              <a:gd name="adj" fmla="val 11429"/>
            </a:avLst>
          </a:prstGeom>
          <a:solidFill>
            <a:srgbClr val="D4A843"/>
          </a:solidFill>
          <a:ln/>
          <a:effectLst>
            <a:outerShdw sx="100000" sy="100000" kx="0" ky="0" algn="bl" rotWithShape="0" blurRad="50800" dist="25400" dir="2700000">
              <a:srgbClr val="000000">
                <a:alpha val="20000"/>
              </a:srgbClr>
            </a:outerShdw>
          </a:effectLst>
        </p:spPr>
      </p:sp>
      <p:sp>
        <p:nvSpPr>
          <p:cNvPr id="15" name="Text 13"/>
          <p:cNvSpPr/>
          <p:nvPr/>
        </p:nvSpPr>
        <p:spPr>
          <a:xfrm>
            <a:off x="1371600" y="3931920"/>
            <a:ext cx="6400800" cy="640080"/>
          </a:xfrm>
          <a:prstGeom prst="rect">
            <a:avLst/>
          </a:prstGeom>
          <a:noFill/>
          <a:ln/>
        </p:spPr>
        <p:txBody>
          <a:bodyPr wrap="square" rtlCol="0" anchor="ctr">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Core Challenge: How to detect objects at vastly different scales efficiently?</a:t>
            </a:r>
            <a:endParaRPr lang="en-US" sz="1300" dirty="0"/>
          </a:p>
        </p:txBody>
      </p:sp>
      <p:sp>
        <p:nvSpPr>
          <p:cNvPr id="16" name="Text 14"/>
          <p:cNvSpPr/>
          <p:nvPr/>
        </p:nvSpPr>
        <p:spPr>
          <a:xfrm>
            <a:off x="8046720" y="4754880"/>
            <a:ext cx="914400" cy="274320"/>
          </a:xfrm>
          <a:prstGeom prst="rect">
            <a:avLst/>
          </a:prstGeom>
          <a:noFill/>
          <a:ln/>
        </p:spPr>
        <p:txBody>
          <a:bodyPr wrap="square" rtlCol="0" anchor="ctr">
            <a:normAutofit/>
          </a:bodyPr>
          <a:lstStyle/>
          <a:p>
            <a:pPr algn="r" indent="0" marL="0">
              <a:buNone/>
            </a:pPr>
            <a:r>
              <a:rPr lang="en-US" sz="900" dirty="0">
                <a:solidFill>
                  <a:srgbClr val="666666"/>
                </a:solidFill>
                <a:latin typeface="Calibri" pitchFamily="34" charset="0"/>
                <a:ea typeface="Calibri" pitchFamily="34" charset="-122"/>
                <a:cs typeface="Calibri" pitchFamily="34" charset="-120"/>
              </a:rPr>
              <a:t>3 / 16</a:t>
            </a:r>
            <a:endParaRPr lang="en-US" sz="900" dirty="0"/>
          </a:p>
        </p:txBody>
      </p:sp>
      <p:sp>
        <p:nvSpPr>
          <p:cNvPr id="1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365760" y="182880"/>
            <a:ext cx="8412480" cy="502920"/>
          </a:xfrm>
          <a:prstGeom prst="rect">
            <a:avLst/>
          </a:prstGeom>
          <a:noFill/>
          <a:ln/>
        </p:spPr>
        <p:txBody>
          <a:bodyPr wrap="square" rtlCol="0" anchor="ctr">
            <a:normAutofit/>
          </a:bodyPr>
          <a:lstStyle/>
          <a:p>
            <a:pPr indent="0" marL="0">
              <a:buNone/>
            </a:pPr>
            <a:r>
              <a:rPr lang="en-US" sz="2400" b="1" dirty="0">
                <a:solidFill>
                  <a:srgbClr val="2C5F2D"/>
                </a:solidFill>
                <a:latin typeface="Georgia" pitchFamily="34" charset="0"/>
                <a:ea typeface="Georgia" pitchFamily="34" charset="-122"/>
                <a:cs typeface="Georgia" pitchFamily="34" charset="-120"/>
              </a:rPr>
              <a:t>SSD: Core Idea</a:t>
            </a:r>
            <a:endParaRPr lang="en-US" sz="2400" dirty="0"/>
          </a:p>
        </p:txBody>
      </p:sp>
      <p:sp>
        <p:nvSpPr>
          <p:cNvPr id="4" name="Text 2"/>
          <p:cNvSpPr/>
          <p:nvPr/>
        </p:nvSpPr>
        <p:spPr>
          <a:xfrm>
            <a:off x="365760" y="685800"/>
            <a:ext cx="8412480" cy="274320"/>
          </a:xfrm>
          <a:prstGeom prst="rect">
            <a:avLst/>
          </a:prstGeom>
          <a:noFill/>
          <a:ln/>
        </p:spPr>
        <p:txBody>
          <a:bodyPr wrap="square" rtlCol="0" anchor="ctr">
            <a:normAutofit/>
          </a:bodyPr>
          <a:lstStyle/>
          <a:p>
            <a:pPr indent="0" marL="0">
              <a:buNone/>
            </a:pPr>
            <a:r>
              <a:rPr lang="en-US" sz="1200" i="1" dirty="0">
                <a:solidFill>
                  <a:srgbClr val="666666"/>
                </a:solidFill>
                <a:latin typeface="Calibri" pitchFamily="34" charset="0"/>
                <a:ea typeface="Calibri" pitchFamily="34" charset="-122"/>
                <a:cs typeface="Calibri" pitchFamily="34" charset="-120"/>
              </a:rPr>
              <a:t>Single Shot MultiBox Detector (ECCV 2016)</a:t>
            </a:r>
            <a:endParaRPr lang="en-US" sz="1200" dirty="0"/>
          </a:p>
        </p:txBody>
      </p:sp>
      <p:sp>
        <p:nvSpPr>
          <p:cNvPr id="5" name="Shape 3"/>
          <p:cNvSpPr/>
          <p:nvPr/>
        </p:nvSpPr>
        <p:spPr>
          <a:xfrm>
            <a:off x="0" y="5106924"/>
            <a:ext cx="9144000" cy="36576"/>
          </a:xfrm>
          <a:prstGeom prst="rect">
            <a:avLst/>
          </a:prstGeom>
          <a:solidFill>
            <a:srgbClr val="97BC62"/>
          </a:solidFill>
          <a:ln/>
        </p:spPr>
      </p:sp>
      <p:sp>
        <p:nvSpPr>
          <p:cNvPr id="6" name="Shape 4"/>
          <p:cNvSpPr/>
          <p:nvPr/>
        </p:nvSpPr>
        <p:spPr>
          <a:xfrm>
            <a:off x="7680960" y="137160"/>
            <a:ext cx="1188720" cy="274320"/>
          </a:xfrm>
          <a:prstGeom prst="roundRect">
            <a:avLst>
              <a:gd name="adj" fmla="val 16667"/>
            </a:avLst>
          </a:prstGeom>
          <a:solidFill>
            <a:srgbClr val="D4A843"/>
          </a:solidFill>
          <a:ln/>
        </p:spPr>
      </p:sp>
      <p:sp>
        <p:nvSpPr>
          <p:cNvPr id="7" name="Text 5"/>
          <p:cNvSpPr/>
          <p:nvPr/>
        </p:nvSpPr>
        <p:spPr>
          <a:xfrm>
            <a:off x="7680960" y="137160"/>
            <a:ext cx="1188720" cy="274320"/>
          </a:xfrm>
          <a:prstGeom prst="rect">
            <a:avLst/>
          </a:prstGeom>
          <a:noFill/>
          <a:ln/>
        </p:spPr>
        <p:txBody>
          <a:bodyPr wrap="square"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SSD</a:t>
            </a:r>
            <a:endParaRPr lang="en-US" sz="900" dirty="0"/>
          </a:p>
        </p:txBody>
      </p:sp>
      <p:sp>
        <p:nvSpPr>
          <p:cNvPr id="8" name="Shape 6"/>
          <p:cNvSpPr/>
          <p:nvPr/>
        </p:nvSpPr>
        <p:spPr>
          <a:xfrm>
            <a:off x="457200" y="1234440"/>
            <a:ext cx="2926080" cy="457200"/>
          </a:xfrm>
          <a:prstGeom prst="roundRect">
            <a:avLst>
              <a:gd name="adj" fmla="val 12000"/>
            </a:avLst>
          </a:prstGeom>
          <a:solidFill>
            <a:srgbClr val="2C5F2D"/>
          </a:solidFill>
          <a:ln/>
        </p:spPr>
      </p:sp>
      <p:sp>
        <p:nvSpPr>
          <p:cNvPr id="9" name="Text 7"/>
          <p:cNvSpPr/>
          <p:nvPr/>
        </p:nvSpPr>
        <p:spPr>
          <a:xfrm>
            <a:off x="457200" y="1234440"/>
            <a:ext cx="2926080" cy="457200"/>
          </a:xfrm>
          <a:prstGeom prst="rect">
            <a:avLst/>
          </a:prstGeom>
          <a:noFill/>
          <a:ln/>
        </p:spPr>
        <p:txBody>
          <a:bodyPr wrap="square"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Multi-scale feature maps</a:t>
            </a:r>
            <a:endParaRPr lang="en-US" sz="1100" dirty="0"/>
          </a:p>
        </p:txBody>
      </p:sp>
      <p:sp>
        <p:nvSpPr>
          <p:cNvPr id="10" name="Shape 8"/>
          <p:cNvSpPr/>
          <p:nvPr/>
        </p:nvSpPr>
        <p:spPr>
          <a:xfrm>
            <a:off x="457200" y="1828800"/>
            <a:ext cx="2926080" cy="457200"/>
          </a:xfrm>
          <a:prstGeom prst="roundRect">
            <a:avLst>
              <a:gd name="adj" fmla="val 12000"/>
            </a:avLst>
          </a:prstGeom>
          <a:solidFill>
            <a:srgbClr val="97BC62"/>
          </a:solidFill>
          <a:ln/>
        </p:spPr>
      </p:sp>
      <p:sp>
        <p:nvSpPr>
          <p:cNvPr id="11" name="Text 9"/>
          <p:cNvSpPr/>
          <p:nvPr/>
        </p:nvSpPr>
        <p:spPr>
          <a:xfrm>
            <a:off x="457200" y="1828800"/>
            <a:ext cx="2926080" cy="457200"/>
          </a:xfrm>
          <a:prstGeom prst="rect">
            <a:avLst/>
          </a:prstGeom>
          <a:noFill/>
          <a:ln/>
        </p:spPr>
        <p:txBody>
          <a:bodyPr wrap="square"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Default boxes (priors)</a:t>
            </a:r>
            <a:endParaRPr lang="en-US" sz="1100" dirty="0"/>
          </a:p>
        </p:txBody>
      </p:sp>
      <p:sp>
        <p:nvSpPr>
          <p:cNvPr id="12" name="Shape 10"/>
          <p:cNvSpPr/>
          <p:nvPr/>
        </p:nvSpPr>
        <p:spPr>
          <a:xfrm>
            <a:off x="457200" y="2423160"/>
            <a:ext cx="2926080" cy="457200"/>
          </a:xfrm>
          <a:prstGeom prst="roundRect">
            <a:avLst>
              <a:gd name="adj" fmla="val 12000"/>
            </a:avLst>
          </a:prstGeom>
          <a:solidFill>
            <a:srgbClr val="2C5F2D"/>
          </a:solidFill>
          <a:ln/>
        </p:spPr>
      </p:sp>
      <p:sp>
        <p:nvSpPr>
          <p:cNvPr id="13" name="Text 11"/>
          <p:cNvSpPr/>
          <p:nvPr/>
        </p:nvSpPr>
        <p:spPr>
          <a:xfrm>
            <a:off x="457200" y="2423160"/>
            <a:ext cx="2926080" cy="457200"/>
          </a:xfrm>
          <a:prstGeom prst="rect">
            <a:avLst/>
          </a:prstGeom>
          <a:noFill/>
          <a:ln/>
        </p:spPr>
        <p:txBody>
          <a:bodyPr wrap="square"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 region proposals</a:t>
            </a:r>
            <a:endParaRPr lang="en-US" sz="1100" dirty="0"/>
          </a:p>
        </p:txBody>
      </p:sp>
      <p:sp>
        <p:nvSpPr>
          <p:cNvPr id="14" name="Shape 12"/>
          <p:cNvSpPr/>
          <p:nvPr/>
        </p:nvSpPr>
        <p:spPr>
          <a:xfrm>
            <a:off x="457200" y="3017520"/>
            <a:ext cx="2926080" cy="457200"/>
          </a:xfrm>
          <a:prstGeom prst="roundRect">
            <a:avLst>
              <a:gd name="adj" fmla="val 12000"/>
            </a:avLst>
          </a:prstGeom>
          <a:solidFill>
            <a:srgbClr val="97BC62"/>
          </a:solidFill>
          <a:ln/>
        </p:spPr>
      </p:sp>
      <p:sp>
        <p:nvSpPr>
          <p:cNvPr id="15" name="Text 13"/>
          <p:cNvSpPr/>
          <p:nvPr/>
        </p:nvSpPr>
        <p:spPr>
          <a:xfrm>
            <a:off x="457200" y="3017520"/>
            <a:ext cx="2926080" cy="457200"/>
          </a:xfrm>
          <a:prstGeom prst="rect">
            <a:avLst/>
          </a:prstGeom>
          <a:noFill/>
          <a:ln/>
        </p:spPr>
        <p:txBody>
          <a:bodyPr wrap="square"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Single network, single shot</a:t>
            </a:r>
            <a:endParaRPr lang="en-US" sz="1100" dirty="0"/>
          </a:p>
        </p:txBody>
      </p:sp>
      <p:pic>
        <p:nvPicPr>
          <p:cNvPr id="16" name="Image 0" descr="/workspace/cv_learning/ppt/img-ssd-arch_4x3.jpg">    </p:cNvPr>
          <p:cNvPicPr>
            <a:picLocks noChangeAspect="1"/>
          </p:cNvPicPr>
          <p:nvPr/>
        </p:nvPicPr>
        <p:blipFill>
          <a:blip r:embed="rId1"/>
          <a:srcRect l="0" r="0" t="0" b="0"/>
          <a:stretch/>
        </p:blipFill>
        <p:spPr>
          <a:xfrm>
            <a:off x="4572000" y="1143000"/>
            <a:ext cx="3657600" cy="2743200"/>
          </a:xfrm>
          <a:prstGeom prst="rect">
            <a:avLst/>
          </a:prstGeom>
          <a:effectLst>
            <a:outerShdw sx="100000" sy="100000" kx="0" ky="0" algn="bl" rotWithShape="0" blurRad="76200" dist="25400" dir="2700000">
              <a:srgbClr val="000000">
                <a:alpha val="20000"/>
              </a:srgbClr>
            </a:outerShdw>
          </a:effectLst>
        </p:spPr>
      </p:pic>
      <p:sp>
        <p:nvSpPr>
          <p:cNvPr id="17" name="Text 14"/>
          <p:cNvSpPr/>
          <p:nvPr/>
        </p:nvSpPr>
        <p:spPr>
          <a:xfrm>
            <a:off x="8046720" y="4754880"/>
            <a:ext cx="914400" cy="274320"/>
          </a:xfrm>
          <a:prstGeom prst="rect">
            <a:avLst/>
          </a:prstGeom>
          <a:noFill/>
          <a:ln/>
        </p:spPr>
        <p:txBody>
          <a:bodyPr wrap="square" rtlCol="0" anchor="ctr">
            <a:normAutofit/>
          </a:bodyPr>
          <a:lstStyle/>
          <a:p>
            <a:pPr algn="r" indent="0" marL="0">
              <a:buNone/>
            </a:pPr>
            <a:r>
              <a:rPr lang="en-US" sz="900" dirty="0">
                <a:solidFill>
                  <a:srgbClr val="666666"/>
                </a:solidFill>
                <a:latin typeface="Calibri" pitchFamily="34" charset="0"/>
                <a:ea typeface="Calibri" pitchFamily="34" charset="-122"/>
                <a:cs typeface="Calibri" pitchFamily="34" charset="-120"/>
              </a:rPr>
              <a:t>4 / 16</a:t>
            </a:r>
            <a:endParaRPr lang="en-US" sz="900" dirty="0"/>
          </a:p>
        </p:txBody>
      </p:sp>
      <p:sp>
        <p:nvSpPr>
          <p:cNvPr id="18"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365760" y="182880"/>
            <a:ext cx="8412480" cy="502920"/>
          </a:xfrm>
          <a:prstGeom prst="rect">
            <a:avLst/>
          </a:prstGeom>
          <a:noFill/>
          <a:ln/>
        </p:spPr>
        <p:txBody>
          <a:bodyPr wrap="square" rtlCol="0" anchor="ctr">
            <a:normAutofit/>
          </a:bodyPr>
          <a:lstStyle/>
          <a:p>
            <a:pPr indent="0" marL="0">
              <a:buNone/>
            </a:pPr>
            <a:r>
              <a:rPr lang="en-US" sz="2400" b="1" dirty="0">
                <a:solidFill>
                  <a:srgbClr val="2C5F2D"/>
                </a:solidFill>
                <a:latin typeface="Georgia" pitchFamily="34" charset="0"/>
                <a:ea typeface="Georgia" pitchFamily="34" charset="-122"/>
                <a:cs typeface="Georgia" pitchFamily="34" charset="-120"/>
              </a:rPr>
              <a:t>SSD Architecture Details</a:t>
            </a:r>
            <a:endParaRPr lang="en-US" sz="2400" dirty="0"/>
          </a:p>
        </p:txBody>
      </p:sp>
      <p:sp>
        <p:nvSpPr>
          <p:cNvPr id="4" name="Text 2"/>
          <p:cNvSpPr/>
          <p:nvPr/>
        </p:nvSpPr>
        <p:spPr>
          <a:xfrm>
            <a:off x="365760" y="685800"/>
            <a:ext cx="8412480" cy="274320"/>
          </a:xfrm>
          <a:prstGeom prst="rect">
            <a:avLst/>
          </a:prstGeom>
          <a:noFill/>
          <a:ln/>
        </p:spPr>
        <p:txBody>
          <a:bodyPr wrap="square" rtlCol="0" anchor="ctr">
            <a:normAutofit/>
          </a:bodyPr>
          <a:lstStyle/>
          <a:p>
            <a:pPr indent="0" marL="0">
              <a:buNone/>
            </a:pPr>
            <a:r>
              <a:rPr lang="en-US" sz="1200" i="1" dirty="0">
                <a:solidFill>
                  <a:srgbClr val="666666"/>
                </a:solidFill>
                <a:latin typeface="Calibri" pitchFamily="34" charset="0"/>
                <a:ea typeface="Calibri" pitchFamily="34" charset="-122"/>
                <a:cs typeface="Calibri" pitchFamily="34" charset="-120"/>
              </a:rPr>
              <a:t>6 feature maps, 8732 default boxes (SSD300)</a:t>
            </a:r>
            <a:endParaRPr lang="en-US" sz="1200" dirty="0"/>
          </a:p>
        </p:txBody>
      </p:sp>
      <p:sp>
        <p:nvSpPr>
          <p:cNvPr id="5" name="Shape 3"/>
          <p:cNvSpPr/>
          <p:nvPr/>
        </p:nvSpPr>
        <p:spPr>
          <a:xfrm>
            <a:off x="0" y="5106924"/>
            <a:ext cx="9144000" cy="36576"/>
          </a:xfrm>
          <a:prstGeom prst="rect">
            <a:avLst/>
          </a:prstGeom>
          <a:solidFill>
            <a:srgbClr val="97BC62"/>
          </a:solidFill>
          <a:ln/>
        </p:spPr>
      </p:sp>
      <p:sp>
        <p:nvSpPr>
          <p:cNvPr id="6" name="Shape 4"/>
          <p:cNvSpPr/>
          <p:nvPr/>
        </p:nvSpPr>
        <p:spPr>
          <a:xfrm>
            <a:off x="7680960" y="137160"/>
            <a:ext cx="1188720" cy="274320"/>
          </a:xfrm>
          <a:prstGeom prst="roundRect">
            <a:avLst>
              <a:gd name="adj" fmla="val 16667"/>
            </a:avLst>
          </a:prstGeom>
          <a:solidFill>
            <a:srgbClr val="D4A843"/>
          </a:solidFill>
          <a:ln/>
        </p:spPr>
      </p:sp>
      <p:sp>
        <p:nvSpPr>
          <p:cNvPr id="7" name="Text 5"/>
          <p:cNvSpPr/>
          <p:nvPr/>
        </p:nvSpPr>
        <p:spPr>
          <a:xfrm>
            <a:off x="7680960" y="137160"/>
            <a:ext cx="1188720" cy="274320"/>
          </a:xfrm>
          <a:prstGeom prst="rect">
            <a:avLst/>
          </a:prstGeom>
          <a:noFill/>
          <a:ln/>
        </p:spPr>
        <p:txBody>
          <a:bodyPr wrap="square"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SSD</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5029200" cy="914400"/>
        </p:xfrm>
        <a:graphic>
          <a:graphicData uri="http://schemas.openxmlformats.org/drawingml/2006/table">
            <a:tbl>
              <a:tblPr/>
              <a:tblGrid>
                <a:gridCol w="1280160"/>
                <a:gridCol w="731520"/>
                <a:gridCol w="1097280"/>
                <a:gridCol w="1371600"/>
              </a:tblGrid>
              <a:tr h="365760">
                <a:tc>
                  <a:txBody>
                    <a:bodyPr/>
                    <a:lstStyle/>
                    <a:p>
                      <a:pPr algn="ctr" indent="0" marL="0">
                        <a:buNone/>
                      </a:pPr>
                      <a:r>
                        <a:rPr lang="en-US" sz="1000" b="1" dirty="0">
                          <a:solidFill>
                            <a:srgbClr val="FFFFFF"/>
                          </a:solidFill>
                          <a:latin typeface="Georgia" pitchFamily="34" charset="0"/>
                          <a:ea typeface="Georgia" pitchFamily="34" charset="-122"/>
                          <a:cs typeface="Georgia" pitchFamily="34" charset="-120"/>
                        </a:rPr>
                        <a:t>Feature Map</a:t>
                      </a:r>
                      <a:endParaRPr lang="en-US" sz="1000" dirty="0">
                        <a:latin typeface="Georgia" charset="0"/>
                        <a:ea typeface="Georgia" charset="0"/>
                        <a:cs typeface="Georgi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2C5F2D"/>
                    </a:solidFill>
                  </a:tcPr>
                </a:tc>
                <a:tc>
                  <a:txBody>
                    <a:bodyPr/>
                    <a:lstStyle/>
                    <a:p>
                      <a:pPr algn="ctr" indent="0" marL="0">
                        <a:buNone/>
                      </a:pPr>
                      <a:r>
                        <a:rPr lang="en-US" sz="1000" b="1" dirty="0">
                          <a:solidFill>
                            <a:srgbClr val="FFFFFF"/>
                          </a:solidFill>
                          <a:latin typeface="Georgia" pitchFamily="34" charset="0"/>
                          <a:ea typeface="Georgia" pitchFamily="34" charset="-122"/>
                          <a:cs typeface="Georgia" pitchFamily="34" charset="-120"/>
                        </a:rPr>
                        <a:t>Size</a:t>
                      </a:r>
                      <a:endParaRPr lang="en-US" sz="1000" dirty="0">
                        <a:latin typeface="Georgia" charset="0"/>
                        <a:ea typeface="Georgia" charset="0"/>
                        <a:cs typeface="Georgi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2C5F2D"/>
                    </a:solidFill>
                  </a:tcPr>
                </a:tc>
                <a:tc>
                  <a:txBody>
                    <a:bodyPr/>
                    <a:lstStyle/>
                    <a:p>
                      <a:pPr algn="ctr" indent="0" marL="0">
                        <a:buNone/>
                      </a:pPr>
                      <a:r>
                        <a:rPr lang="en-US" sz="1000" b="1" dirty="0">
                          <a:solidFill>
                            <a:srgbClr val="FFFFFF"/>
                          </a:solidFill>
                          <a:latin typeface="Georgia" pitchFamily="34" charset="0"/>
                          <a:ea typeface="Georgia" pitchFamily="34" charset="-122"/>
                          <a:cs typeface="Georgia" pitchFamily="34" charset="-120"/>
                        </a:rPr>
                        <a:t>Default Boxes</a:t>
                      </a:r>
                      <a:endParaRPr lang="en-US" sz="1000" dirty="0">
                        <a:latin typeface="Georgia" charset="0"/>
                        <a:ea typeface="Georgia" charset="0"/>
                        <a:cs typeface="Georgi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2C5F2D"/>
                    </a:solidFill>
                  </a:tcPr>
                </a:tc>
                <a:tc>
                  <a:txBody>
                    <a:bodyPr/>
                    <a:lstStyle/>
                    <a:p>
                      <a:pPr algn="ctr" indent="0" marL="0">
                        <a:buNone/>
                      </a:pPr>
                      <a:r>
                        <a:rPr lang="en-US" sz="1000" b="1" dirty="0">
                          <a:solidFill>
                            <a:srgbClr val="FFFFFF"/>
                          </a:solidFill>
                          <a:latin typeface="Georgia" pitchFamily="34" charset="0"/>
                          <a:ea typeface="Georgia" pitchFamily="34" charset="-122"/>
                          <a:cs typeface="Georgia" pitchFamily="34" charset="-120"/>
                        </a:rPr>
                        <a:t>Detects</a:t>
                      </a:r>
                      <a:endParaRPr lang="en-US" sz="1000" dirty="0">
                        <a:latin typeface="Georgia" charset="0"/>
                        <a:ea typeface="Georgia" charset="0"/>
                        <a:cs typeface="Georgi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2C5F2D"/>
                    </a:solidFill>
                  </a:tcPr>
                </a:tc>
              </a:tr>
              <a:tr h="347472">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Conv4_3</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38x38</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b="1" dirty="0">
                          <a:solidFill>
                            <a:srgbClr val="97BC62"/>
                          </a:solidFill>
                          <a:latin typeface="Calibri" pitchFamily="34" charset="0"/>
                          <a:ea typeface="Calibri" pitchFamily="34" charset="-122"/>
                          <a:cs typeface="Calibri" pitchFamily="34" charset="-120"/>
                        </a:rPr>
                        <a:t>Small objects</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347472">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Conv7</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19x19</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b="1" dirty="0">
                          <a:solidFill>
                            <a:srgbClr val="97BC62"/>
                          </a:solidFill>
                          <a:latin typeface="Calibri" pitchFamily="34" charset="0"/>
                          <a:ea typeface="Calibri" pitchFamily="34" charset="-122"/>
                          <a:cs typeface="Calibri" pitchFamily="34" charset="-120"/>
                        </a:rPr>
                        <a:t>Medium-small</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347472">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Conv8_2</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10x10</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b="1" dirty="0">
                          <a:solidFill>
                            <a:srgbClr val="97BC62"/>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347472">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Conv9_2</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5x5</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b="1" dirty="0">
                          <a:solidFill>
                            <a:srgbClr val="97BC62"/>
                          </a:solidFill>
                          <a:latin typeface="Calibri" pitchFamily="34" charset="0"/>
                          <a:ea typeface="Calibri" pitchFamily="34" charset="-122"/>
                          <a:cs typeface="Calibri" pitchFamily="34" charset="-120"/>
                        </a:rPr>
                        <a:t>Medium-large</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347472">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Conv10_2</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3x3</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b="1" dirty="0">
                          <a:solidFill>
                            <a:srgbClr val="97BC62"/>
                          </a:solidFill>
                          <a:latin typeface="Calibri" pitchFamily="34" charset="0"/>
                          <a:ea typeface="Calibri" pitchFamily="34" charset="-122"/>
                          <a:cs typeface="Calibri" pitchFamily="34" charset="-120"/>
                        </a:rPr>
                        <a:t>Large objects</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347472">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Conv11_2</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1x1</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b="1" dirty="0">
                          <a:solidFill>
                            <a:srgbClr val="97BC62"/>
                          </a:solidFill>
                          <a:latin typeface="Calibri" pitchFamily="34" charset="0"/>
                          <a:ea typeface="Calibri" pitchFamily="34" charset="-122"/>
                          <a:cs typeface="Calibri" pitchFamily="34" charset="-120"/>
                        </a:rPr>
                        <a:t>Very large</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bl>
          </a:graphicData>
        </a:graphic>
      </p:graphicFrame>
      <p:sp>
        <p:nvSpPr>
          <p:cNvPr id="9" name="Shape 6"/>
          <p:cNvSpPr/>
          <p:nvPr/>
        </p:nvSpPr>
        <p:spPr>
          <a:xfrm>
            <a:off x="5943600" y="1280160"/>
            <a:ext cx="2743200" cy="868680"/>
          </a:xfrm>
          <a:prstGeom prst="roundRect">
            <a:avLst>
              <a:gd name="adj" fmla="val 8421"/>
            </a:avLst>
          </a:prstGeom>
          <a:solidFill>
            <a:srgbClr val="2C5F2D"/>
          </a:solidFill>
          <a:ln/>
          <a:effectLst>
            <a:outerShdw sx="100000" sy="100000" kx="0" ky="0" algn="bl" rotWithShape="0" blurRad="38100" dist="25400" dir="2700000">
              <a:srgbClr val="000000">
                <a:alpha val="15000"/>
              </a:srgbClr>
            </a:outerShdw>
          </a:effectLst>
        </p:spPr>
      </p:sp>
      <p:sp>
        <p:nvSpPr>
          <p:cNvPr id="10" name="Text 7"/>
          <p:cNvSpPr/>
          <p:nvPr/>
        </p:nvSpPr>
        <p:spPr>
          <a:xfrm>
            <a:off x="5943600" y="1325880"/>
            <a:ext cx="2743200" cy="457200"/>
          </a:xfrm>
          <a:prstGeom prst="rect">
            <a:avLst/>
          </a:prstGeom>
          <a:noFill/>
          <a:ln/>
        </p:spPr>
        <p:txBody>
          <a:bodyPr wrap="square" rtlCol="0" anchor="ctr">
            <a:normAutofit/>
          </a:bodyPr>
          <a:lstStyle/>
          <a:p>
            <a:pPr algn="ctr" indent="0" marL="0">
              <a:buNone/>
            </a:pPr>
            <a:r>
              <a:rPr lang="en-US" sz="2200" b="1" dirty="0">
                <a:solidFill>
                  <a:srgbClr val="FFFFFF"/>
                </a:solidFill>
                <a:latin typeface="Georgia" pitchFamily="34" charset="0"/>
                <a:ea typeface="Georgia" pitchFamily="34" charset="-122"/>
                <a:cs typeface="Georgia" pitchFamily="34" charset="-120"/>
              </a:rPr>
              <a:t>8,732</a:t>
            </a:r>
            <a:endParaRPr lang="en-US" sz="2200" dirty="0"/>
          </a:p>
        </p:txBody>
      </p:sp>
      <p:sp>
        <p:nvSpPr>
          <p:cNvPr id="11" name="Text 8"/>
          <p:cNvSpPr/>
          <p:nvPr/>
        </p:nvSpPr>
        <p:spPr>
          <a:xfrm>
            <a:off x="5943600" y="1737360"/>
            <a:ext cx="2743200" cy="320040"/>
          </a:xfrm>
          <a:prstGeom prst="rect">
            <a:avLst/>
          </a:prstGeom>
          <a:noFill/>
          <a:ln/>
        </p:spPr>
        <p:txBody>
          <a:bodyPr wrap="square" rtlCol="0" anchor="ctr">
            <a:normAutofit/>
          </a:bodyPr>
          <a:lstStyle/>
          <a:p>
            <a:pPr algn="ctr" indent="0" marL="0">
              <a:buNone/>
            </a:pPr>
            <a:r>
              <a:rPr lang="en-US" sz="1000" dirty="0">
                <a:solidFill>
                  <a:srgbClr val="FFFFFF"/>
                </a:solidFill>
                <a:latin typeface="Calibri" pitchFamily="34" charset="0"/>
                <a:ea typeface="Calibri" pitchFamily="34" charset="-122"/>
                <a:cs typeface="Calibri" pitchFamily="34" charset="-120"/>
              </a:rPr>
              <a:t>Total Default Boxes</a:t>
            </a:r>
            <a:endParaRPr lang="en-US" sz="1000" dirty="0"/>
          </a:p>
        </p:txBody>
      </p:sp>
      <p:sp>
        <p:nvSpPr>
          <p:cNvPr id="12" name="Shape 9"/>
          <p:cNvSpPr/>
          <p:nvPr/>
        </p:nvSpPr>
        <p:spPr>
          <a:xfrm>
            <a:off x="5943600" y="2377440"/>
            <a:ext cx="2743200" cy="868680"/>
          </a:xfrm>
          <a:prstGeom prst="roundRect">
            <a:avLst>
              <a:gd name="adj" fmla="val 8421"/>
            </a:avLst>
          </a:prstGeom>
          <a:solidFill>
            <a:srgbClr val="D4A843"/>
          </a:solidFill>
          <a:ln/>
          <a:effectLst>
            <a:outerShdw sx="100000" sy="100000" kx="0" ky="0" algn="bl" rotWithShape="0" blurRad="38100" dist="25400" dir="2700000">
              <a:srgbClr val="000000">
                <a:alpha val="15000"/>
              </a:srgbClr>
            </a:outerShdw>
          </a:effectLst>
        </p:spPr>
      </p:sp>
      <p:sp>
        <p:nvSpPr>
          <p:cNvPr id="13" name="Text 10"/>
          <p:cNvSpPr/>
          <p:nvPr/>
        </p:nvSpPr>
        <p:spPr>
          <a:xfrm>
            <a:off x="5943600" y="2423160"/>
            <a:ext cx="2743200" cy="457200"/>
          </a:xfrm>
          <a:prstGeom prst="rect">
            <a:avLst/>
          </a:prstGeom>
          <a:noFill/>
          <a:ln/>
        </p:spPr>
        <p:txBody>
          <a:bodyPr wrap="square" rtlCol="0" anchor="ctr">
            <a:normAutofit/>
          </a:bodyPr>
          <a:lstStyle/>
          <a:p>
            <a:pPr algn="ctr" indent="0" marL="0">
              <a:buNone/>
            </a:pPr>
            <a:r>
              <a:rPr lang="en-US" sz="2200" b="1" dirty="0">
                <a:solidFill>
                  <a:srgbClr val="FFFFFF"/>
                </a:solidFill>
                <a:latin typeface="Georgia" pitchFamily="34" charset="0"/>
                <a:ea typeface="Georgia" pitchFamily="34" charset="-122"/>
                <a:cs typeface="Georgia" pitchFamily="34" charset="-120"/>
              </a:rPr>
              <a:t>59 FPS</a:t>
            </a:r>
            <a:endParaRPr lang="en-US" sz="2200" dirty="0"/>
          </a:p>
        </p:txBody>
      </p:sp>
      <p:sp>
        <p:nvSpPr>
          <p:cNvPr id="14" name="Text 11"/>
          <p:cNvSpPr/>
          <p:nvPr/>
        </p:nvSpPr>
        <p:spPr>
          <a:xfrm>
            <a:off x="5943600" y="2834640"/>
            <a:ext cx="2743200" cy="320040"/>
          </a:xfrm>
          <a:prstGeom prst="rect">
            <a:avLst/>
          </a:prstGeom>
          <a:noFill/>
          <a:ln/>
        </p:spPr>
        <p:txBody>
          <a:bodyPr wrap="square" rtlCol="0" anchor="ctr">
            <a:normAutofit/>
          </a:bodyPr>
          <a:lstStyle/>
          <a:p>
            <a:pPr algn="ctr" indent="0" marL="0">
              <a:buNone/>
            </a:pPr>
            <a:r>
              <a:rPr lang="en-US" sz="1000" dirty="0">
                <a:solidFill>
                  <a:srgbClr val="FFFFFF"/>
                </a:solidFill>
                <a:latin typeface="Calibri" pitchFamily="34" charset="0"/>
                <a:ea typeface="Calibri" pitchFamily="34" charset="-122"/>
                <a:cs typeface="Calibri" pitchFamily="34" charset="-120"/>
              </a:rPr>
              <a:t>Inference Speed</a:t>
            </a:r>
            <a:endParaRPr lang="en-US" sz="1000" dirty="0"/>
          </a:p>
        </p:txBody>
      </p:sp>
      <p:sp>
        <p:nvSpPr>
          <p:cNvPr id="15" name="Shape 12"/>
          <p:cNvSpPr/>
          <p:nvPr/>
        </p:nvSpPr>
        <p:spPr>
          <a:xfrm>
            <a:off x="5943600" y="3474720"/>
            <a:ext cx="2743200" cy="868680"/>
          </a:xfrm>
          <a:prstGeom prst="roundRect">
            <a:avLst>
              <a:gd name="adj" fmla="val 8421"/>
            </a:avLst>
          </a:prstGeom>
          <a:solidFill>
            <a:srgbClr val="97BC62"/>
          </a:solidFill>
          <a:ln/>
          <a:effectLst>
            <a:outerShdw sx="100000" sy="100000" kx="0" ky="0" algn="bl" rotWithShape="0" blurRad="38100" dist="25400" dir="2700000">
              <a:srgbClr val="000000">
                <a:alpha val="15000"/>
              </a:srgbClr>
            </a:outerShdw>
          </a:effectLst>
        </p:spPr>
      </p:sp>
      <p:sp>
        <p:nvSpPr>
          <p:cNvPr id="16" name="Text 13"/>
          <p:cNvSpPr/>
          <p:nvPr/>
        </p:nvSpPr>
        <p:spPr>
          <a:xfrm>
            <a:off x="5943600" y="3520440"/>
            <a:ext cx="2743200" cy="457200"/>
          </a:xfrm>
          <a:prstGeom prst="rect">
            <a:avLst/>
          </a:prstGeom>
          <a:noFill/>
          <a:ln/>
        </p:spPr>
        <p:txBody>
          <a:bodyPr wrap="square" rtlCol="0" anchor="ctr">
            <a:normAutofit/>
          </a:bodyPr>
          <a:lstStyle/>
          <a:p>
            <a:pPr algn="ctr" indent="0" marL="0">
              <a:buNone/>
            </a:pPr>
            <a:r>
              <a:rPr lang="en-US" sz="2200" b="1" dirty="0">
                <a:solidFill>
                  <a:srgbClr val="FFFFFF"/>
                </a:solidFill>
                <a:latin typeface="Georgia" pitchFamily="34" charset="0"/>
                <a:ea typeface="Georgia" pitchFamily="34" charset="-122"/>
                <a:cs typeface="Georgia" pitchFamily="34" charset="-120"/>
              </a:rPr>
              <a:t>77.2%</a:t>
            </a:r>
            <a:endParaRPr lang="en-US" sz="2200" dirty="0"/>
          </a:p>
        </p:txBody>
      </p:sp>
      <p:sp>
        <p:nvSpPr>
          <p:cNvPr id="17" name="Text 14"/>
          <p:cNvSpPr/>
          <p:nvPr/>
        </p:nvSpPr>
        <p:spPr>
          <a:xfrm>
            <a:off x="5943600" y="3931920"/>
            <a:ext cx="2743200" cy="320040"/>
          </a:xfrm>
          <a:prstGeom prst="rect">
            <a:avLst/>
          </a:prstGeom>
          <a:noFill/>
          <a:ln/>
        </p:spPr>
        <p:txBody>
          <a:bodyPr wrap="square" rtlCol="0" anchor="ctr">
            <a:normAutofit/>
          </a:bodyPr>
          <a:lstStyle/>
          <a:p>
            <a:pPr algn="ctr" indent="0" marL="0">
              <a:buNone/>
            </a:pPr>
            <a:r>
              <a:rPr lang="en-US" sz="1000" dirty="0">
                <a:solidFill>
                  <a:srgbClr val="FFFFFF"/>
                </a:solidFill>
                <a:latin typeface="Calibri" pitchFamily="34" charset="0"/>
                <a:ea typeface="Calibri" pitchFamily="34" charset="-122"/>
                <a:cs typeface="Calibri" pitchFamily="34" charset="-120"/>
              </a:rPr>
              <a:t>mAP VOC2007</a:t>
            </a:r>
            <a:endParaRPr lang="en-US" sz="1000" dirty="0"/>
          </a:p>
        </p:txBody>
      </p:sp>
      <p:sp>
        <p:nvSpPr>
          <p:cNvPr id="18" name="Text 15"/>
          <p:cNvSpPr/>
          <p:nvPr/>
        </p:nvSpPr>
        <p:spPr>
          <a:xfrm>
            <a:off x="8046720" y="4754880"/>
            <a:ext cx="914400" cy="274320"/>
          </a:xfrm>
          <a:prstGeom prst="rect">
            <a:avLst/>
          </a:prstGeom>
          <a:noFill/>
          <a:ln/>
        </p:spPr>
        <p:txBody>
          <a:bodyPr wrap="square" rtlCol="0" anchor="ctr">
            <a:normAutofit/>
          </a:bodyPr>
          <a:lstStyle/>
          <a:p>
            <a:pPr algn="r" indent="0" marL="0">
              <a:buNone/>
            </a:pPr>
            <a:r>
              <a:rPr lang="en-US" sz="900" dirty="0">
                <a:solidFill>
                  <a:srgbClr val="666666"/>
                </a:solidFill>
                <a:latin typeface="Calibri" pitchFamily="34" charset="0"/>
                <a:ea typeface="Calibri" pitchFamily="34" charset="-122"/>
                <a:cs typeface="Calibri" pitchFamily="34" charset="-120"/>
              </a:rPr>
              <a:t>5 / 16</a:t>
            </a:r>
            <a:endParaRPr lang="en-US" sz="900" dirty="0"/>
          </a:p>
        </p:txBody>
      </p:sp>
      <p:sp>
        <p:nvSpPr>
          <p:cNvPr id="19"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365760" y="182880"/>
            <a:ext cx="8412480" cy="502920"/>
          </a:xfrm>
          <a:prstGeom prst="rect">
            <a:avLst/>
          </a:prstGeom>
          <a:noFill/>
          <a:ln/>
        </p:spPr>
        <p:txBody>
          <a:bodyPr wrap="square" rtlCol="0" anchor="ctr">
            <a:normAutofit/>
          </a:bodyPr>
          <a:lstStyle/>
          <a:p>
            <a:pPr indent="0" marL="0">
              <a:buNone/>
            </a:pPr>
            <a:r>
              <a:rPr lang="en-US" sz="2400" b="1" dirty="0">
                <a:solidFill>
                  <a:srgbClr val="2C5F2D"/>
                </a:solidFill>
                <a:latin typeface="Georgia" pitchFamily="34" charset="0"/>
                <a:ea typeface="Georgia" pitchFamily="34" charset="-122"/>
                <a:cs typeface="Georgia" pitchFamily="34" charset="-120"/>
              </a:rPr>
              <a:t>FPN: Core Idea</a:t>
            </a:r>
            <a:endParaRPr lang="en-US" sz="2400" dirty="0"/>
          </a:p>
        </p:txBody>
      </p:sp>
      <p:sp>
        <p:nvSpPr>
          <p:cNvPr id="4" name="Text 2"/>
          <p:cNvSpPr/>
          <p:nvPr/>
        </p:nvSpPr>
        <p:spPr>
          <a:xfrm>
            <a:off x="365760" y="685800"/>
            <a:ext cx="8412480" cy="274320"/>
          </a:xfrm>
          <a:prstGeom prst="rect">
            <a:avLst/>
          </a:prstGeom>
          <a:noFill/>
          <a:ln/>
        </p:spPr>
        <p:txBody>
          <a:bodyPr wrap="square" rtlCol="0" anchor="ctr">
            <a:normAutofit/>
          </a:bodyPr>
          <a:lstStyle/>
          <a:p>
            <a:pPr indent="0" marL="0">
              <a:buNone/>
            </a:pPr>
            <a:r>
              <a:rPr lang="en-US" sz="1200" i="1" dirty="0">
                <a:solidFill>
                  <a:srgbClr val="666666"/>
                </a:solidFill>
                <a:latin typeface="Calibri" pitchFamily="34" charset="0"/>
                <a:ea typeface="Calibri" pitchFamily="34" charset="-122"/>
                <a:cs typeface="Calibri" pitchFamily="34" charset="-120"/>
              </a:rPr>
              <a:t>Feature Pyramid Networks (CVPR 2017)</a:t>
            </a:r>
            <a:endParaRPr lang="en-US" sz="1200" dirty="0"/>
          </a:p>
        </p:txBody>
      </p:sp>
      <p:sp>
        <p:nvSpPr>
          <p:cNvPr id="5" name="Shape 3"/>
          <p:cNvSpPr/>
          <p:nvPr/>
        </p:nvSpPr>
        <p:spPr>
          <a:xfrm>
            <a:off x="0" y="5106924"/>
            <a:ext cx="9144000" cy="36576"/>
          </a:xfrm>
          <a:prstGeom prst="rect">
            <a:avLst/>
          </a:prstGeom>
          <a:solidFill>
            <a:srgbClr val="97BC62"/>
          </a:solidFill>
          <a:ln/>
        </p:spPr>
      </p:sp>
      <p:sp>
        <p:nvSpPr>
          <p:cNvPr id="6" name="Shape 4"/>
          <p:cNvSpPr/>
          <p:nvPr/>
        </p:nvSpPr>
        <p:spPr>
          <a:xfrm>
            <a:off x="7680960" y="137160"/>
            <a:ext cx="1188720" cy="274320"/>
          </a:xfrm>
          <a:prstGeom prst="roundRect">
            <a:avLst>
              <a:gd name="adj" fmla="val 16667"/>
            </a:avLst>
          </a:prstGeom>
          <a:solidFill>
            <a:srgbClr val="D4A843"/>
          </a:solidFill>
          <a:ln/>
        </p:spPr>
      </p:sp>
      <p:sp>
        <p:nvSpPr>
          <p:cNvPr id="7" name="Text 5"/>
          <p:cNvSpPr/>
          <p:nvPr/>
        </p:nvSpPr>
        <p:spPr>
          <a:xfrm>
            <a:off x="7680960" y="137160"/>
            <a:ext cx="1188720" cy="274320"/>
          </a:xfrm>
          <a:prstGeom prst="rect">
            <a:avLst/>
          </a:prstGeom>
          <a:noFill/>
          <a:ln/>
        </p:spPr>
        <p:txBody>
          <a:bodyPr wrap="square"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FPN</a:t>
            </a:r>
            <a:endParaRPr lang="en-US" sz="900" dirty="0"/>
          </a:p>
        </p:txBody>
      </p:sp>
      <p:sp>
        <p:nvSpPr>
          <p:cNvPr id="8" name="Shape 6"/>
          <p:cNvSpPr/>
          <p:nvPr/>
        </p:nvSpPr>
        <p:spPr>
          <a:xfrm>
            <a:off x="457200" y="1234440"/>
            <a:ext cx="3200400" cy="411480"/>
          </a:xfrm>
          <a:prstGeom prst="roundRect">
            <a:avLst>
              <a:gd name="adj" fmla="val 13333"/>
            </a:avLst>
          </a:prstGeom>
          <a:solidFill>
            <a:srgbClr val="97BC62"/>
          </a:solidFill>
          <a:ln/>
        </p:spPr>
      </p:sp>
      <p:sp>
        <p:nvSpPr>
          <p:cNvPr id="9" name="Text 7"/>
          <p:cNvSpPr/>
          <p:nvPr/>
        </p:nvSpPr>
        <p:spPr>
          <a:xfrm>
            <a:off x="457200" y="1234440"/>
            <a:ext cx="3200400" cy="411480"/>
          </a:xfrm>
          <a:prstGeom prst="rect">
            <a:avLst/>
          </a:prstGeom>
          <a:noFill/>
          <a:ln/>
        </p:spPr>
        <p:txBody>
          <a:bodyPr wrap="square"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Top-down pathway with upsampling</a:t>
            </a:r>
            <a:endParaRPr lang="en-US" sz="1000" dirty="0"/>
          </a:p>
        </p:txBody>
      </p:sp>
      <p:sp>
        <p:nvSpPr>
          <p:cNvPr id="10" name="Shape 8"/>
          <p:cNvSpPr/>
          <p:nvPr/>
        </p:nvSpPr>
        <p:spPr>
          <a:xfrm>
            <a:off x="457200" y="1783080"/>
            <a:ext cx="3200400" cy="411480"/>
          </a:xfrm>
          <a:prstGeom prst="roundRect">
            <a:avLst>
              <a:gd name="adj" fmla="val 13333"/>
            </a:avLst>
          </a:prstGeom>
          <a:solidFill>
            <a:srgbClr val="97BC62"/>
          </a:solidFill>
          <a:ln/>
        </p:spPr>
      </p:sp>
      <p:sp>
        <p:nvSpPr>
          <p:cNvPr id="11" name="Text 9"/>
          <p:cNvSpPr/>
          <p:nvPr/>
        </p:nvSpPr>
        <p:spPr>
          <a:xfrm>
            <a:off x="457200" y="1783080"/>
            <a:ext cx="3200400" cy="411480"/>
          </a:xfrm>
          <a:prstGeom prst="rect">
            <a:avLst/>
          </a:prstGeom>
          <a:noFill/>
          <a:ln/>
        </p:spPr>
        <p:txBody>
          <a:bodyPr wrap="square"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Lateral connections merge features</a:t>
            </a:r>
            <a:endParaRPr lang="en-US" sz="1000" dirty="0"/>
          </a:p>
        </p:txBody>
      </p:sp>
      <p:sp>
        <p:nvSpPr>
          <p:cNvPr id="12" name="Shape 10"/>
          <p:cNvSpPr/>
          <p:nvPr/>
        </p:nvSpPr>
        <p:spPr>
          <a:xfrm>
            <a:off x="457200" y="2331720"/>
            <a:ext cx="3200400" cy="411480"/>
          </a:xfrm>
          <a:prstGeom prst="roundRect">
            <a:avLst>
              <a:gd name="adj" fmla="val 13333"/>
            </a:avLst>
          </a:prstGeom>
          <a:solidFill>
            <a:srgbClr val="97BC62"/>
          </a:solidFill>
          <a:ln/>
        </p:spPr>
      </p:sp>
      <p:sp>
        <p:nvSpPr>
          <p:cNvPr id="13" name="Text 11"/>
          <p:cNvSpPr/>
          <p:nvPr/>
        </p:nvSpPr>
        <p:spPr>
          <a:xfrm>
            <a:off x="457200" y="2331720"/>
            <a:ext cx="3200400" cy="411480"/>
          </a:xfrm>
          <a:prstGeom prst="rect">
            <a:avLst/>
          </a:prstGeom>
          <a:noFill/>
          <a:ln/>
        </p:spPr>
        <p:txBody>
          <a:bodyPr wrap="square"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Strong semantics at all scales</a:t>
            </a:r>
            <a:endParaRPr lang="en-US" sz="1000" dirty="0"/>
          </a:p>
        </p:txBody>
      </p:sp>
      <p:sp>
        <p:nvSpPr>
          <p:cNvPr id="14" name="Shape 12"/>
          <p:cNvSpPr/>
          <p:nvPr/>
        </p:nvSpPr>
        <p:spPr>
          <a:xfrm>
            <a:off x="457200" y="2880360"/>
            <a:ext cx="3200400" cy="411480"/>
          </a:xfrm>
          <a:prstGeom prst="roundRect">
            <a:avLst>
              <a:gd name="adj" fmla="val 13333"/>
            </a:avLst>
          </a:prstGeom>
          <a:solidFill>
            <a:srgbClr val="97BC62"/>
          </a:solidFill>
          <a:ln/>
        </p:spPr>
      </p:sp>
      <p:sp>
        <p:nvSpPr>
          <p:cNvPr id="15" name="Text 13"/>
          <p:cNvSpPr/>
          <p:nvPr/>
        </p:nvSpPr>
        <p:spPr>
          <a:xfrm>
            <a:off x="457200" y="2880360"/>
            <a:ext cx="3200400" cy="411480"/>
          </a:xfrm>
          <a:prstGeom prst="rect">
            <a:avLst/>
          </a:prstGeom>
          <a:noFill/>
          <a:ln/>
        </p:spPr>
        <p:txBody>
          <a:bodyPr wrap="square"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Nearly free: adds &lt; 0.2s/image</a:t>
            </a:r>
            <a:endParaRPr lang="en-US" sz="1000" dirty="0"/>
          </a:p>
        </p:txBody>
      </p:sp>
      <p:pic>
        <p:nvPicPr>
          <p:cNvPr id="16" name="Image 0" descr="/workspace/cv_learning/ppt/img-multiscale_4x3.jpg">    </p:cNvPr>
          <p:cNvPicPr>
            <a:picLocks noChangeAspect="1"/>
          </p:cNvPicPr>
          <p:nvPr/>
        </p:nvPicPr>
        <p:blipFill>
          <a:blip r:embed="rId1"/>
          <a:srcRect l="0" r="0" t="0" b="0"/>
          <a:stretch/>
        </p:blipFill>
        <p:spPr>
          <a:xfrm>
            <a:off x="4754880" y="1097280"/>
            <a:ext cx="3657600" cy="2743200"/>
          </a:xfrm>
          <a:prstGeom prst="rect">
            <a:avLst/>
          </a:prstGeom>
          <a:effectLst>
            <a:outerShdw sx="100000" sy="100000" kx="0" ky="0" algn="bl" rotWithShape="0" blurRad="76200" dist="25400" dir="2700000">
              <a:srgbClr val="000000">
                <a:alpha val="20000"/>
              </a:srgbClr>
            </a:outerShdw>
          </a:effectLst>
        </p:spPr>
      </p:pic>
      <p:sp>
        <p:nvSpPr>
          <p:cNvPr id="17" name="Text 14"/>
          <p:cNvSpPr/>
          <p:nvPr/>
        </p:nvSpPr>
        <p:spPr>
          <a:xfrm>
            <a:off x="8046720" y="4754880"/>
            <a:ext cx="914400" cy="274320"/>
          </a:xfrm>
          <a:prstGeom prst="rect">
            <a:avLst/>
          </a:prstGeom>
          <a:noFill/>
          <a:ln/>
        </p:spPr>
        <p:txBody>
          <a:bodyPr wrap="square" rtlCol="0" anchor="ctr">
            <a:normAutofit/>
          </a:bodyPr>
          <a:lstStyle/>
          <a:p>
            <a:pPr algn="r" indent="0" marL="0">
              <a:buNone/>
            </a:pPr>
            <a:r>
              <a:rPr lang="en-US" sz="900" dirty="0">
                <a:solidFill>
                  <a:srgbClr val="666666"/>
                </a:solidFill>
                <a:latin typeface="Calibri" pitchFamily="34" charset="0"/>
                <a:ea typeface="Calibri" pitchFamily="34" charset="-122"/>
                <a:cs typeface="Calibri" pitchFamily="34" charset="-120"/>
              </a:rPr>
              <a:t>6 / 16</a:t>
            </a:r>
            <a:endParaRPr lang="en-US" sz="900" dirty="0"/>
          </a:p>
        </p:txBody>
      </p:sp>
      <p:sp>
        <p:nvSpPr>
          <p:cNvPr id="18"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365760" y="182880"/>
            <a:ext cx="8412480" cy="502920"/>
          </a:xfrm>
          <a:prstGeom prst="rect">
            <a:avLst/>
          </a:prstGeom>
          <a:noFill/>
          <a:ln/>
        </p:spPr>
        <p:txBody>
          <a:bodyPr wrap="square" rtlCol="0" anchor="ctr">
            <a:normAutofit/>
          </a:bodyPr>
          <a:lstStyle/>
          <a:p>
            <a:pPr indent="0" marL="0">
              <a:buNone/>
            </a:pPr>
            <a:r>
              <a:rPr lang="en-US" sz="2400" b="1" dirty="0">
                <a:solidFill>
                  <a:srgbClr val="2C5F2D"/>
                </a:solidFill>
                <a:latin typeface="Georgia" pitchFamily="34" charset="0"/>
                <a:ea typeface="Georgia" pitchFamily="34" charset="-122"/>
                <a:cs typeface="Georgia" pitchFamily="34" charset="-120"/>
              </a:rPr>
              <a:t>FPN: Three Key Components</a:t>
            </a:r>
            <a:endParaRPr lang="en-US" sz="2400" dirty="0"/>
          </a:p>
        </p:txBody>
      </p:sp>
      <p:sp>
        <p:nvSpPr>
          <p:cNvPr id="4" name="Text 2"/>
          <p:cNvSpPr/>
          <p:nvPr/>
        </p:nvSpPr>
        <p:spPr>
          <a:xfrm>
            <a:off x="365760" y="685800"/>
            <a:ext cx="8412480" cy="274320"/>
          </a:xfrm>
          <a:prstGeom prst="rect">
            <a:avLst/>
          </a:prstGeom>
          <a:noFill/>
          <a:ln/>
        </p:spPr>
        <p:txBody>
          <a:bodyPr wrap="square" rtlCol="0" anchor="ctr">
            <a:normAutofit/>
          </a:bodyPr>
          <a:lstStyle/>
          <a:p>
            <a:pPr indent="0" marL="0">
              <a:buNone/>
            </a:pPr>
            <a:r>
              <a:rPr lang="en-US" sz="1200" i="1" dirty="0">
                <a:solidFill>
                  <a:srgbClr val="666666"/>
                </a:solidFill>
                <a:latin typeface="Calibri" pitchFamily="34" charset="0"/>
                <a:ea typeface="Calibri" pitchFamily="34" charset="-122"/>
                <a:cs typeface="Calibri" pitchFamily="34" charset="-120"/>
              </a:rPr>
              <a:t>Building the pyramid step by step</a:t>
            </a:r>
            <a:endParaRPr lang="en-US" sz="1200" dirty="0"/>
          </a:p>
        </p:txBody>
      </p:sp>
      <p:sp>
        <p:nvSpPr>
          <p:cNvPr id="5" name="Shape 3"/>
          <p:cNvSpPr/>
          <p:nvPr/>
        </p:nvSpPr>
        <p:spPr>
          <a:xfrm>
            <a:off x="0" y="5106924"/>
            <a:ext cx="9144000" cy="36576"/>
          </a:xfrm>
          <a:prstGeom prst="rect">
            <a:avLst/>
          </a:prstGeom>
          <a:solidFill>
            <a:srgbClr val="97BC62"/>
          </a:solidFill>
          <a:ln/>
        </p:spPr>
      </p:sp>
      <p:sp>
        <p:nvSpPr>
          <p:cNvPr id="6" name="Shape 4"/>
          <p:cNvSpPr/>
          <p:nvPr/>
        </p:nvSpPr>
        <p:spPr>
          <a:xfrm>
            <a:off x="7680960" y="137160"/>
            <a:ext cx="1188720" cy="274320"/>
          </a:xfrm>
          <a:prstGeom prst="roundRect">
            <a:avLst>
              <a:gd name="adj" fmla="val 16667"/>
            </a:avLst>
          </a:prstGeom>
          <a:solidFill>
            <a:srgbClr val="D4A843"/>
          </a:solidFill>
          <a:ln/>
        </p:spPr>
      </p:sp>
      <p:sp>
        <p:nvSpPr>
          <p:cNvPr id="7" name="Text 5"/>
          <p:cNvSpPr/>
          <p:nvPr/>
        </p:nvSpPr>
        <p:spPr>
          <a:xfrm>
            <a:off x="7680960" y="137160"/>
            <a:ext cx="1188720" cy="274320"/>
          </a:xfrm>
          <a:prstGeom prst="rect">
            <a:avLst/>
          </a:prstGeom>
          <a:noFill/>
          <a:ln/>
        </p:spPr>
        <p:txBody>
          <a:bodyPr wrap="square"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FPN</a:t>
            </a:r>
            <a:endParaRPr lang="en-US" sz="900" dirty="0"/>
          </a:p>
        </p:txBody>
      </p:sp>
      <p:sp>
        <p:nvSpPr>
          <p:cNvPr id="8" name="Shape 6"/>
          <p:cNvSpPr/>
          <p:nvPr/>
        </p:nvSpPr>
        <p:spPr>
          <a:xfrm>
            <a:off x="457200" y="1234440"/>
            <a:ext cx="2697480" cy="2743200"/>
          </a:xfrm>
          <a:prstGeom prst="roundRect">
            <a:avLst>
              <a:gd name="adj" fmla="val 3390"/>
            </a:avLst>
          </a:prstGeom>
          <a:solidFill>
            <a:srgbClr val="F5F2E8"/>
          </a:solidFill>
          <a:ln w="6350">
            <a:solidFill>
              <a:srgbClr val="E8E4DC"/>
            </a:solidFill>
            <a:prstDash val="solid"/>
          </a:ln>
          <a:effectLst>
            <a:outerShdw sx="100000" sy="100000" kx="0" ky="0" algn="bl" rotWithShape="0" blurRad="50800" dist="25400" dir="2700000">
              <a:srgbClr val="000000">
                <a:alpha val="15000"/>
              </a:srgbClr>
            </a:outerShdw>
          </a:effectLst>
        </p:spPr>
      </p:sp>
      <p:sp>
        <p:nvSpPr>
          <p:cNvPr id="9" name="Text 7"/>
          <p:cNvSpPr/>
          <p:nvPr/>
        </p:nvSpPr>
        <p:spPr>
          <a:xfrm>
            <a:off x="594360" y="1325880"/>
            <a:ext cx="2423160" cy="32004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Bottom-Up Pathway</a:t>
            </a:r>
            <a:endParaRPr lang="en-US" sz="1200" dirty="0"/>
          </a:p>
        </p:txBody>
      </p:sp>
      <p:sp>
        <p:nvSpPr>
          <p:cNvPr id="10" name="Text 8"/>
          <p:cNvSpPr/>
          <p:nvPr/>
        </p:nvSpPr>
        <p:spPr>
          <a:xfrm>
            <a:off x="594360" y="1645920"/>
            <a:ext cx="2423160" cy="2240280"/>
          </a:xfrm>
          <a:prstGeom prst="rect">
            <a:avLst/>
          </a:prstGeom>
          <a:noFill/>
          <a:ln/>
        </p:spPr>
        <p:txBody>
          <a:bodyPr wrap="square" rtlCol="0" anchor="t">
            <a:normAutofit/>
          </a:bodyPr>
          <a:lstStyle/>
          <a:p>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Standard CNN backbone</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Feature maps shrink spatially</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Semantics grow deeper</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e.g. ResNet stages C2-C5</a:t>
            </a:r>
            <a:endParaRPr lang="en-US" sz="1000" dirty="0"/>
          </a:p>
        </p:txBody>
      </p:sp>
      <p:sp>
        <p:nvSpPr>
          <p:cNvPr id="11" name="Shape 9"/>
          <p:cNvSpPr/>
          <p:nvPr/>
        </p:nvSpPr>
        <p:spPr>
          <a:xfrm>
            <a:off x="3337560" y="1234440"/>
            <a:ext cx="2697480" cy="2743200"/>
          </a:xfrm>
          <a:prstGeom prst="roundRect">
            <a:avLst>
              <a:gd name="adj" fmla="val 3390"/>
            </a:avLst>
          </a:prstGeom>
          <a:solidFill>
            <a:srgbClr val="F5F2E8"/>
          </a:solidFill>
          <a:ln w="6350">
            <a:solidFill>
              <a:srgbClr val="E8E4DC"/>
            </a:solidFill>
            <a:prstDash val="solid"/>
          </a:ln>
          <a:effectLst>
            <a:outerShdw sx="100000" sy="100000" kx="0" ky="0" algn="bl" rotWithShape="0" blurRad="50800" dist="25400" dir="2700000">
              <a:srgbClr val="000000">
                <a:alpha val="15000"/>
              </a:srgbClr>
            </a:outerShdw>
          </a:effectLst>
        </p:spPr>
      </p:sp>
      <p:sp>
        <p:nvSpPr>
          <p:cNvPr id="12" name="Text 10"/>
          <p:cNvSpPr/>
          <p:nvPr/>
        </p:nvSpPr>
        <p:spPr>
          <a:xfrm>
            <a:off x="3474720" y="1325880"/>
            <a:ext cx="2423160" cy="320040"/>
          </a:xfrm>
          <a:prstGeom prst="rect">
            <a:avLst/>
          </a:prstGeom>
          <a:noFill/>
          <a:ln/>
        </p:spPr>
        <p:txBody>
          <a:bodyPr wrap="square" rtlCol="0" anchor="ctr">
            <a:normAutofit/>
          </a:bodyPr>
          <a:lstStyle/>
          <a:p>
            <a:pPr indent="0" marL="0">
              <a:buNone/>
            </a:pPr>
            <a:r>
              <a:rPr lang="en-US" sz="1200" b="1" dirty="0">
                <a:solidFill>
                  <a:srgbClr val="D4A843"/>
                </a:solidFill>
                <a:latin typeface="Georgia" pitchFamily="34" charset="0"/>
                <a:ea typeface="Georgia" pitchFamily="34" charset="-122"/>
                <a:cs typeface="Georgia" pitchFamily="34" charset="-120"/>
              </a:rPr>
              <a:t>Top-Down Pathway</a:t>
            </a:r>
            <a:endParaRPr lang="en-US" sz="1200" dirty="0"/>
          </a:p>
        </p:txBody>
      </p:sp>
      <p:sp>
        <p:nvSpPr>
          <p:cNvPr id="13" name="Text 11"/>
          <p:cNvSpPr/>
          <p:nvPr/>
        </p:nvSpPr>
        <p:spPr>
          <a:xfrm>
            <a:off x="3474720" y="1645920"/>
            <a:ext cx="2423160" cy="2240280"/>
          </a:xfrm>
          <a:prstGeom prst="rect">
            <a:avLst/>
          </a:prstGeom>
          <a:noFill/>
          <a:ln/>
        </p:spPr>
        <p:txBody>
          <a:bodyPr wrap="square" rtlCol="0" anchor="t">
            <a:normAutofit/>
          </a:bodyPr>
          <a:lstStyle/>
          <a:p>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Upsample deeper features</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2x nearest-neighbor</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Propagate strong semantics</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Higher resolution at each level</a:t>
            </a:r>
            <a:endParaRPr lang="en-US" sz="1000" dirty="0"/>
          </a:p>
        </p:txBody>
      </p:sp>
      <p:sp>
        <p:nvSpPr>
          <p:cNvPr id="14" name="Shape 12"/>
          <p:cNvSpPr/>
          <p:nvPr/>
        </p:nvSpPr>
        <p:spPr>
          <a:xfrm>
            <a:off x="6217920" y="1234440"/>
            <a:ext cx="2697480" cy="2743200"/>
          </a:xfrm>
          <a:prstGeom prst="roundRect">
            <a:avLst>
              <a:gd name="adj" fmla="val 3390"/>
            </a:avLst>
          </a:prstGeom>
          <a:solidFill>
            <a:srgbClr val="F5F2E8"/>
          </a:solidFill>
          <a:ln w="6350">
            <a:solidFill>
              <a:srgbClr val="E8E4DC"/>
            </a:solidFill>
            <a:prstDash val="solid"/>
          </a:ln>
          <a:effectLst>
            <a:outerShdw sx="100000" sy="100000" kx="0" ky="0" algn="bl" rotWithShape="0" blurRad="50800" dist="25400" dir="2700000">
              <a:srgbClr val="000000">
                <a:alpha val="15000"/>
              </a:srgbClr>
            </a:outerShdw>
          </a:effectLst>
        </p:spPr>
      </p:sp>
      <p:sp>
        <p:nvSpPr>
          <p:cNvPr id="15" name="Text 13"/>
          <p:cNvSpPr/>
          <p:nvPr/>
        </p:nvSpPr>
        <p:spPr>
          <a:xfrm>
            <a:off x="6355080" y="1325880"/>
            <a:ext cx="2423160" cy="320040"/>
          </a:xfrm>
          <a:prstGeom prst="rect">
            <a:avLst/>
          </a:prstGeom>
          <a:noFill/>
          <a:ln/>
        </p:spPr>
        <p:txBody>
          <a:bodyPr wrap="square" rtlCol="0" anchor="ctr">
            <a:normAutofit/>
          </a:bodyPr>
          <a:lstStyle/>
          <a:p>
            <a:pPr indent="0" marL="0">
              <a:buNone/>
            </a:pPr>
            <a:r>
              <a:rPr lang="en-US" sz="1200" b="1" dirty="0">
                <a:solidFill>
                  <a:srgbClr val="97BC62"/>
                </a:solidFill>
                <a:latin typeface="Georgia" pitchFamily="34" charset="0"/>
                <a:ea typeface="Georgia" pitchFamily="34" charset="-122"/>
                <a:cs typeface="Georgia" pitchFamily="34" charset="-120"/>
              </a:rPr>
              <a:t>Lateral Connections</a:t>
            </a:r>
            <a:endParaRPr lang="en-US" sz="1200" dirty="0"/>
          </a:p>
        </p:txBody>
      </p:sp>
      <p:sp>
        <p:nvSpPr>
          <p:cNvPr id="16" name="Text 14"/>
          <p:cNvSpPr/>
          <p:nvPr/>
        </p:nvSpPr>
        <p:spPr>
          <a:xfrm>
            <a:off x="6355080" y="1645920"/>
            <a:ext cx="2423160" cy="2240280"/>
          </a:xfrm>
          <a:prstGeom prst="rect">
            <a:avLst/>
          </a:prstGeom>
          <a:noFill/>
          <a:ln/>
        </p:spPr>
        <p:txBody>
          <a:bodyPr wrap="square" rtlCol="0" anchor="t">
            <a:normAutofit/>
          </a:bodyPr>
          <a:lstStyle/>
          <a:p>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1x1 conv to reduce channels</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Element-wise addition</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Merge spatial + semantic</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3x3 conv to reduce aliasing</a:t>
            </a:r>
            <a:endParaRPr lang="en-US" sz="1000" dirty="0"/>
          </a:p>
        </p:txBody>
      </p:sp>
      <p:sp>
        <p:nvSpPr>
          <p:cNvPr id="17" name="Text 15"/>
          <p:cNvSpPr/>
          <p:nvPr/>
        </p:nvSpPr>
        <p:spPr>
          <a:xfrm>
            <a:off x="3200400" y="2377440"/>
            <a:ext cx="274320" cy="365760"/>
          </a:xfrm>
          <a:prstGeom prst="rect">
            <a:avLst/>
          </a:prstGeom>
          <a:noFill/>
          <a:ln/>
        </p:spPr>
        <p:txBody>
          <a:bodyPr wrap="square" rtlCol="0" anchor="ctr">
            <a:normAutofit/>
          </a:bodyPr>
          <a:lstStyle/>
          <a:p>
            <a:pPr algn="ctr" indent="0" marL="0">
              <a:buNone/>
            </a:pPr>
            <a:r>
              <a:rPr lang="en-US" sz="1800" dirty="0">
                <a:solidFill>
                  <a:srgbClr val="D4A843"/>
                </a:solidFill>
              </a:rPr>
              <a:t>▶</a:t>
            </a:r>
            <a:endParaRPr lang="en-US" sz="1800" dirty="0"/>
          </a:p>
        </p:txBody>
      </p:sp>
      <p:sp>
        <p:nvSpPr>
          <p:cNvPr id="18" name="Text 16"/>
          <p:cNvSpPr/>
          <p:nvPr/>
        </p:nvSpPr>
        <p:spPr>
          <a:xfrm>
            <a:off x="6080760" y="2377440"/>
            <a:ext cx="274320" cy="365760"/>
          </a:xfrm>
          <a:prstGeom prst="rect">
            <a:avLst/>
          </a:prstGeom>
          <a:noFill/>
          <a:ln/>
        </p:spPr>
        <p:txBody>
          <a:bodyPr wrap="square" rtlCol="0" anchor="ctr">
            <a:normAutofit/>
          </a:bodyPr>
          <a:lstStyle/>
          <a:p>
            <a:pPr algn="ctr" indent="0" marL="0">
              <a:buNone/>
            </a:pPr>
            <a:r>
              <a:rPr lang="en-US" sz="1800" dirty="0">
                <a:solidFill>
                  <a:srgbClr val="D4A843"/>
                </a:solidFill>
              </a:rPr>
              <a:t>▶</a:t>
            </a:r>
            <a:endParaRPr lang="en-US" sz="1800" dirty="0"/>
          </a:p>
        </p:txBody>
      </p:sp>
      <p:sp>
        <p:nvSpPr>
          <p:cNvPr id="19" name="Text 17"/>
          <p:cNvSpPr/>
          <p:nvPr/>
        </p:nvSpPr>
        <p:spPr>
          <a:xfrm>
            <a:off x="8046720" y="4754880"/>
            <a:ext cx="914400" cy="274320"/>
          </a:xfrm>
          <a:prstGeom prst="rect">
            <a:avLst/>
          </a:prstGeom>
          <a:noFill/>
          <a:ln/>
        </p:spPr>
        <p:txBody>
          <a:bodyPr wrap="square" rtlCol="0" anchor="ctr">
            <a:normAutofit/>
          </a:bodyPr>
          <a:lstStyle/>
          <a:p>
            <a:pPr algn="r" indent="0" marL="0">
              <a:buNone/>
            </a:pPr>
            <a:r>
              <a:rPr lang="en-US" sz="900" dirty="0">
                <a:solidFill>
                  <a:srgbClr val="666666"/>
                </a:solidFill>
                <a:latin typeface="Calibri" pitchFamily="34" charset="0"/>
                <a:ea typeface="Calibri" pitchFamily="34" charset="-122"/>
                <a:cs typeface="Calibri" pitchFamily="34" charset="-120"/>
              </a:rPr>
              <a:t>7 / 16</a:t>
            </a:r>
            <a:endParaRPr lang="en-US" sz="900" dirty="0"/>
          </a:p>
        </p:txBody>
      </p:sp>
      <p:sp>
        <p:nvSpPr>
          <p:cNvPr id="20"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365760" y="182880"/>
            <a:ext cx="8412480" cy="502920"/>
          </a:xfrm>
          <a:prstGeom prst="rect">
            <a:avLst/>
          </a:prstGeom>
          <a:noFill/>
          <a:ln/>
        </p:spPr>
        <p:txBody>
          <a:bodyPr wrap="square" rtlCol="0" anchor="ctr">
            <a:normAutofit/>
          </a:bodyPr>
          <a:lstStyle/>
          <a:p>
            <a:pPr indent="0" marL="0">
              <a:buNone/>
            </a:pPr>
            <a:r>
              <a:rPr lang="en-US" sz="2400" b="1" dirty="0">
                <a:solidFill>
                  <a:srgbClr val="2C5F2D"/>
                </a:solidFill>
                <a:latin typeface="Georgia" pitchFamily="34" charset="0"/>
                <a:ea typeface="Georgia" pitchFamily="34" charset="-122"/>
                <a:cs typeface="Georgia" pitchFamily="34" charset="-120"/>
              </a:rPr>
              <a:t>FPN Architecture Visualization</a:t>
            </a:r>
            <a:endParaRPr lang="en-US" sz="2400" dirty="0"/>
          </a:p>
        </p:txBody>
      </p:sp>
      <p:sp>
        <p:nvSpPr>
          <p:cNvPr id="4" name="Text 2"/>
          <p:cNvSpPr/>
          <p:nvPr/>
        </p:nvSpPr>
        <p:spPr>
          <a:xfrm>
            <a:off x="365760" y="685800"/>
            <a:ext cx="8412480" cy="274320"/>
          </a:xfrm>
          <a:prstGeom prst="rect">
            <a:avLst/>
          </a:prstGeom>
          <a:noFill/>
          <a:ln/>
        </p:spPr>
        <p:txBody>
          <a:bodyPr wrap="square" rtlCol="0" anchor="ctr">
            <a:normAutofit/>
          </a:bodyPr>
          <a:lstStyle/>
          <a:p>
            <a:pPr indent="0" marL="0">
              <a:buNone/>
            </a:pPr>
            <a:r>
              <a:rPr lang="en-US" sz="1200" i="1" dirty="0">
                <a:solidFill>
                  <a:srgbClr val="666666"/>
                </a:solidFill>
                <a:latin typeface="Calibri" pitchFamily="34" charset="0"/>
                <a:ea typeface="Calibri" pitchFamily="34" charset="-122"/>
                <a:cs typeface="Calibri" pitchFamily="34" charset="-120"/>
              </a:rPr>
              <a:t>Feature Pyramid with lateral connections</a:t>
            </a:r>
            <a:endParaRPr lang="en-US" sz="1200" dirty="0"/>
          </a:p>
        </p:txBody>
      </p:sp>
      <p:sp>
        <p:nvSpPr>
          <p:cNvPr id="5" name="Shape 3"/>
          <p:cNvSpPr/>
          <p:nvPr/>
        </p:nvSpPr>
        <p:spPr>
          <a:xfrm>
            <a:off x="0" y="5106924"/>
            <a:ext cx="9144000" cy="36576"/>
          </a:xfrm>
          <a:prstGeom prst="rect">
            <a:avLst/>
          </a:prstGeom>
          <a:solidFill>
            <a:srgbClr val="97BC62"/>
          </a:solidFill>
          <a:ln/>
        </p:spPr>
      </p:sp>
      <p:sp>
        <p:nvSpPr>
          <p:cNvPr id="6" name="Shape 4"/>
          <p:cNvSpPr/>
          <p:nvPr/>
        </p:nvSpPr>
        <p:spPr>
          <a:xfrm>
            <a:off x="7680960" y="137160"/>
            <a:ext cx="1188720" cy="274320"/>
          </a:xfrm>
          <a:prstGeom prst="roundRect">
            <a:avLst>
              <a:gd name="adj" fmla="val 16667"/>
            </a:avLst>
          </a:prstGeom>
          <a:solidFill>
            <a:srgbClr val="D4A843"/>
          </a:solidFill>
          <a:ln/>
        </p:spPr>
      </p:sp>
      <p:sp>
        <p:nvSpPr>
          <p:cNvPr id="7" name="Text 5"/>
          <p:cNvSpPr/>
          <p:nvPr/>
        </p:nvSpPr>
        <p:spPr>
          <a:xfrm>
            <a:off x="7680960" y="137160"/>
            <a:ext cx="1188720" cy="274320"/>
          </a:xfrm>
          <a:prstGeom prst="rect">
            <a:avLst/>
          </a:prstGeom>
          <a:noFill/>
          <a:ln/>
        </p:spPr>
        <p:txBody>
          <a:bodyPr wrap="square"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FPN</a:t>
            </a:r>
            <a:endParaRPr lang="en-US" sz="900" dirty="0"/>
          </a:p>
        </p:txBody>
      </p:sp>
      <p:pic>
        <p:nvPicPr>
          <p:cNvPr id="8" name="Image 0" descr="/workspace/cv_learning/ppt/img-fpn-arch_4x3.jpg">    </p:cNvPr>
          <p:cNvPicPr>
            <a:picLocks noChangeAspect="1"/>
          </p:cNvPicPr>
          <p:nvPr/>
        </p:nvPicPr>
        <p:blipFill>
          <a:blip r:embed="rId1"/>
          <a:srcRect l="0" r="0" t="0" b="0"/>
          <a:stretch/>
        </p:blipFill>
        <p:spPr>
          <a:xfrm>
            <a:off x="2743200" y="1097280"/>
            <a:ext cx="3657600" cy="2743200"/>
          </a:xfrm>
          <a:prstGeom prst="rect">
            <a:avLst/>
          </a:prstGeom>
          <a:effectLst>
            <a:outerShdw sx="100000" sy="100000" kx="0" ky="0" algn="bl" rotWithShape="0" blurRad="76200" dist="25400" dir="2700000">
              <a:srgbClr val="000000">
                <a:alpha val="20000"/>
              </a:srgbClr>
            </a:outerShdw>
          </a:effectLst>
        </p:spPr>
      </p:pic>
      <p:sp>
        <p:nvSpPr>
          <p:cNvPr id="9" name="Shape 6"/>
          <p:cNvSpPr/>
          <p:nvPr/>
        </p:nvSpPr>
        <p:spPr>
          <a:xfrm>
            <a:off x="6675120" y="1280160"/>
            <a:ext cx="2103120" cy="548640"/>
          </a:xfrm>
          <a:prstGeom prst="roundRect">
            <a:avLst>
              <a:gd name="adj" fmla="val 10000"/>
            </a:avLst>
          </a:prstGeom>
          <a:solidFill>
            <a:srgbClr val="F5F2E8"/>
          </a:solidFill>
          <a:ln w="12700">
            <a:solidFill>
              <a:srgbClr val="97BC62"/>
            </a:solidFill>
            <a:prstDash val="solid"/>
          </a:ln>
        </p:spPr>
      </p:sp>
      <p:sp>
        <p:nvSpPr>
          <p:cNvPr id="10" name="Text 7"/>
          <p:cNvSpPr/>
          <p:nvPr/>
        </p:nvSpPr>
        <p:spPr>
          <a:xfrm>
            <a:off x="6675120" y="1280160"/>
            <a:ext cx="2103120" cy="548640"/>
          </a:xfrm>
          <a:prstGeom prst="rect">
            <a:avLst/>
          </a:prstGeom>
          <a:noFill/>
          <a:ln/>
        </p:spPr>
        <p:txBody>
          <a:bodyPr wrap="square" rtlCol="0" anchor="ctr">
            <a:normAutofit/>
          </a:bodyPr>
          <a:lstStyle/>
          <a:p>
            <a:pPr indent="0" marL="0">
              <a:buNone/>
            </a:pPr>
            <a:r>
              <a:rPr lang="en-US" sz="1000" b="1" dirty="0">
                <a:solidFill>
                  <a:srgbClr val="2C5F2D"/>
                </a:solidFill>
                <a:latin typeface="Calibri" pitchFamily="34" charset="0"/>
                <a:ea typeface="Calibri" pitchFamily="34" charset="-122"/>
                <a:cs typeface="Calibri" pitchFamily="34" charset="-120"/>
              </a:rPr>
              <a:t>P2 (256ch)</a:t>
            </a:r>
            <a:pPr indent="0" marL="0">
              <a:buNone/>
            </a:pPr>
            <a:endParaRPr lang="en-US" sz="1000" dirty="0"/>
          </a:p>
          <a:p>
            <a:pPr indent="0" marL="0">
              <a:buNone/>
            </a:pPr>
            <a:r>
              <a:rPr lang="en-US" sz="900" dirty="0">
                <a:solidFill>
                  <a:srgbClr val="666666"/>
                </a:solidFill>
                <a:latin typeface="Calibri" pitchFamily="34" charset="0"/>
                <a:ea typeface="Calibri" pitchFamily="34" charset="-122"/>
                <a:cs typeface="Calibri" pitchFamily="34" charset="-120"/>
              </a:rPr>
              <a:t>High res, fine detail</a:t>
            </a:r>
            <a:endParaRPr lang="en-US" sz="1000" dirty="0"/>
          </a:p>
        </p:txBody>
      </p:sp>
      <p:sp>
        <p:nvSpPr>
          <p:cNvPr id="11" name="Shape 8"/>
          <p:cNvSpPr/>
          <p:nvPr/>
        </p:nvSpPr>
        <p:spPr>
          <a:xfrm>
            <a:off x="6675120" y="1965960"/>
            <a:ext cx="2103120" cy="548640"/>
          </a:xfrm>
          <a:prstGeom prst="roundRect">
            <a:avLst>
              <a:gd name="adj" fmla="val 10000"/>
            </a:avLst>
          </a:prstGeom>
          <a:solidFill>
            <a:srgbClr val="F5F2E8"/>
          </a:solidFill>
          <a:ln w="12700">
            <a:solidFill>
              <a:srgbClr val="97BC62"/>
            </a:solidFill>
            <a:prstDash val="solid"/>
          </a:ln>
        </p:spPr>
      </p:sp>
      <p:sp>
        <p:nvSpPr>
          <p:cNvPr id="12" name="Text 9"/>
          <p:cNvSpPr/>
          <p:nvPr/>
        </p:nvSpPr>
        <p:spPr>
          <a:xfrm>
            <a:off x="6675120" y="1965960"/>
            <a:ext cx="2103120" cy="548640"/>
          </a:xfrm>
          <a:prstGeom prst="rect">
            <a:avLst/>
          </a:prstGeom>
          <a:noFill/>
          <a:ln/>
        </p:spPr>
        <p:txBody>
          <a:bodyPr wrap="square" rtlCol="0" anchor="ctr">
            <a:normAutofit/>
          </a:bodyPr>
          <a:lstStyle/>
          <a:p>
            <a:pPr indent="0" marL="0">
              <a:buNone/>
            </a:pPr>
            <a:r>
              <a:rPr lang="en-US" sz="1000" b="1" dirty="0">
                <a:solidFill>
                  <a:srgbClr val="2C5F2D"/>
                </a:solidFill>
                <a:latin typeface="Calibri" pitchFamily="34" charset="0"/>
                <a:ea typeface="Calibri" pitchFamily="34" charset="-122"/>
                <a:cs typeface="Calibri" pitchFamily="34" charset="-120"/>
              </a:rPr>
              <a:t>P3 (256ch)</a:t>
            </a:r>
            <a:pPr indent="0" marL="0">
              <a:buNone/>
            </a:pPr>
            <a:endParaRPr lang="en-US" sz="1000" dirty="0"/>
          </a:p>
          <a:p>
            <a:pPr indent="0" marL="0">
              <a:buNone/>
            </a:pPr>
            <a:r>
              <a:rPr lang="en-US" sz="900" dirty="0">
                <a:solidFill>
                  <a:srgbClr val="666666"/>
                </a:solidFill>
                <a:latin typeface="Calibri" pitchFamily="34" charset="0"/>
                <a:ea typeface="Calibri" pitchFamily="34" charset="-122"/>
                <a:cs typeface="Calibri" pitchFamily="34" charset="-120"/>
              </a:rPr>
              <a:t>Balanced</a:t>
            </a:r>
            <a:endParaRPr lang="en-US" sz="1000" dirty="0"/>
          </a:p>
        </p:txBody>
      </p:sp>
      <p:sp>
        <p:nvSpPr>
          <p:cNvPr id="13" name="Shape 10"/>
          <p:cNvSpPr/>
          <p:nvPr/>
        </p:nvSpPr>
        <p:spPr>
          <a:xfrm>
            <a:off x="6675120" y="2651760"/>
            <a:ext cx="2103120" cy="548640"/>
          </a:xfrm>
          <a:prstGeom prst="roundRect">
            <a:avLst>
              <a:gd name="adj" fmla="val 10000"/>
            </a:avLst>
          </a:prstGeom>
          <a:solidFill>
            <a:srgbClr val="F5F2E8"/>
          </a:solidFill>
          <a:ln w="12700">
            <a:solidFill>
              <a:srgbClr val="97BC62"/>
            </a:solidFill>
            <a:prstDash val="solid"/>
          </a:ln>
        </p:spPr>
      </p:sp>
      <p:sp>
        <p:nvSpPr>
          <p:cNvPr id="14" name="Text 11"/>
          <p:cNvSpPr/>
          <p:nvPr/>
        </p:nvSpPr>
        <p:spPr>
          <a:xfrm>
            <a:off x="6675120" y="2651760"/>
            <a:ext cx="2103120" cy="548640"/>
          </a:xfrm>
          <a:prstGeom prst="rect">
            <a:avLst/>
          </a:prstGeom>
          <a:noFill/>
          <a:ln/>
        </p:spPr>
        <p:txBody>
          <a:bodyPr wrap="square" rtlCol="0" anchor="ctr">
            <a:normAutofit/>
          </a:bodyPr>
          <a:lstStyle/>
          <a:p>
            <a:pPr indent="0" marL="0">
              <a:buNone/>
            </a:pPr>
            <a:r>
              <a:rPr lang="en-US" sz="1000" b="1" dirty="0">
                <a:solidFill>
                  <a:srgbClr val="2C5F2D"/>
                </a:solidFill>
                <a:latin typeface="Calibri" pitchFamily="34" charset="0"/>
                <a:ea typeface="Calibri" pitchFamily="34" charset="-122"/>
                <a:cs typeface="Calibri" pitchFamily="34" charset="-120"/>
              </a:rPr>
              <a:t>P4 (256ch)</a:t>
            </a:r>
            <a:pPr indent="0" marL="0">
              <a:buNone/>
            </a:pPr>
            <a:endParaRPr lang="en-US" sz="1000" dirty="0"/>
          </a:p>
          <a:p>
            <a:pPr indent="0" marL="0">
              <a:buNone/>
            </a:pPr>
            <a:r>
              <a:rPr lang="en-US" sz="900" dirty="0">
                <a:solidFill>
                  <a:srgbClr val="666666"/>
                </a:solidFill>
                <a:latin typeface="Calibri" pitchFamily="34" charset="0"/>
                <a:ea typeface="Calibri" pitchFamily="34" charset="-122"/>
                <a:cs typeface="Calibri" pitchFamily="34" charset="-120"/>
              </a:rPr>
              <a:t>Medium resolution</a:t>
            </a:r>
            <a:endParaRPr lang="en-US" sz="1000" dirty="0"/>
          </a:p>
        </p:txBody>
      </p:sp>
      <p:sp>
        <p:nvSpPr>
          <p:cNvPr id="15" name="Shape 12"/>
          <p:cNvSpPr/>
          <p:nvPr/>
        </p:nvSpPr>
        <p:spPr>
          <a:xfrm>
            <a:off x="6675120" y="3337560"/>
            <a:ext cx="2103120" cy="548640"/>
          </a:xfrm>
          <a:prstGeom prst="roundRect">
            <a:avLst>
              <a:gd name="adj" fmla="val 10000"/>
            </a:avLst>
          </a:prstGeom>
          <a:solidFill>
            <a:srgbClr val="F5F2E8"/>
          </a:solidFill>
          <a:ln w="12700">
            <a:solidFill>
              <a:srgbClr val="97BC62"/>
            </a:solidFill>
            <a:prstDash val="solid"/>
          </a:ln>
        </p:spPr>
      </p:sp>
      <p:sp>
        <p:nvSpPr>
          <p:cNvPr id="16" name="Text 13"/>
          <p:cNvSpPr/>
          <p:nvPr/>
        </p:nvSpPr>
        <p:spPr>
          <a:xfrm>
            <a:off x="6675120" y="3337560"/>
            <a:ext cx="2103120" cy="548640"/>
          </a:xfrm>
          <a:prstGeom prst="rect">
            <a:avLst/>
          </a:prstGeom>
          <a:noFill/>
          <a:ln/>
        </p:spPr>
        <p:txBody>
          <a:bodyPr wrap="square" rtlCol="0" anchor="ctr">
            <a:normAutofit/>
          </a:bodyPr>
          <a:lstStyle/>
          <a:p>
            <a:pPr indent="0" marL="0">
              <a:buNone/>
            </a:pPr>
            <a:r>
              <a:rPr lang="en-US" sz="1000" b="1" dirty="0">
                <a:solidFill>
                  <a:srgbClr val="2C5F2D"/>
                </a:solidFill>
                <a:latin typeface="Calibri" pitchFamily="34" charset="0"/>
                <a:ea typeface="Calibri" pitchFamily="34" charset="-122"/>
                <a:cs typeface="Calibri" pitchFamily="34" charset="-120"/>
              </a:rPr>
              <a:t>P5 (256ch)</a:t>
            </a:r>
            <a:pPr indent="0" marL="0">
              <a:buNone/>
            </a:pPr>
            <a:endParaRPr lang="en-US" sz="1000" dirty="0"/>
          </a:p>
          <a:p>
            <a:pPr indent="0" marL="0">
              <a:buNone/>
            </a:pPr>
            <a:r>
              <a:rPr lang="en-US" sz="900" dirty="0">
                <a:solidFill>
                  <a:srgbClr val="666666"/>
                </a:solidFill>
                <a:latin typeface="Calibri" pitchFamily="34" charset="0"/>
                <a:ea typeface="Calibri" pitchFamily="34" charset="-122"/>
                <a:cs typeface="Calibri" pitchFamily="34" charset="-120"/>
              </a:rPr>
              <a:t>Strong semantics</a:t>
            </a:r>
            <a:endParaRPr lang="en-US" sz="1000" dirty="0"/>
          </a:p>
        </p:txBody>
      </p:sp>
      <p:sp>
        <p:nvSpPr>
          <p:cNvPr id="17" name="Text 14"/>
          <p:cNvSpPr/>
          <p:nvPr/>
        </p:nvSpPr>
        <p:spPr>
          <a:xfrm>
            <a:off x="8046720" y="4754880"/>
            <a:ext cx="914400" cy="274320"/>
          </a:xfrm>
          <a:prstGeom prst="rect">
            <a:avLst/>
          </a:prstGeom>
          <a:noFill/>
          <a:ln/>
        </p:spPr>
        <p:txBody>
          <a:bodyPr wrap="square" rtlCol="0" anchor="ctr">
            <a:normAutofit/>
          </a:bodyPr>
          <a:lstStyle/>
          <a:p>
            <a:pPr algn="r" indent="0" marL="0">
              <a:buNone/>
            </a:pPr>
            <a:r>
              <a:rPr lang="en-US" sz="900" dirty="0">
                <a:solidFill>
                  <a:srgbClr val="666666"/>
                </a:solidFill>
                <a:latin typeface="Calibri" pitchFamily="34" charset="0"/>
                <a:ea typeface="Calibri" pitchFamily="34" charset="-122"/>
                <a:cs typeface="Calibri" pitchFamily="34" charset="-120"/>
              </a:rPr>
              <a:t>8 / 16</a:t>
            </a:r>
            <a:endParaRPr lang="en-US" sz="900" dirty="0"/>
          </a:p>
        </p:txBody>
      </p:sp>
      <p:sp>
        <p:nvSpPr>
          <p:cNvPr id="18"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365760" y="182880"/>
            <a:ext cx="8412480" cy="502920"/>
          </a:xfrm>
          <a:prstGeom prst="rect">
            <a:avLst/>
          </a:prstGeom>
          <a:noFill/>
          <a:ln/>
        </p:spPr>
        <p:txBody>
          <a:bodyPr wrap="square" rtlCol="0" anchor="ctr">
            <a:normAutofit/>
          </a:bodyPr>
          <a:lstStyle/>
          <a:p>
            <a:pPr indent="0" marL="0">
              <a:buNone/>
            </a:pPr>
            <a:r>
              <a:rPr lang="en-US" sz="2400" b="1" dirty="0">
                <a:solidFill>
                  <a:srgbClr val="2C5F2D"/>
                </a:solidFill>
                <a:latin typeface="Georgia" pitchFamily="34" charset="0"/>
                <a:ea typeface="Georgia" pitchFamily="34" charset="-122"/>
                <a:cs typeface="Georgia" pitchFamily="34" charset="-120"/>
              </a:rPr>
              <a:t>SSD vs FPN: Key Differences</a:t>
            </a:r>
            <a:endParaRPr lang="en-US" sz="2400" dirty="0"/>
          </a:p>
        </p:txBody>
      </p:sp>
      <p:sp>
        <p:nvSpPr>
          <p:cNvPr id="4" name="Text 2"/>
          <p:cNvSpPr/>
          <p:nvPr/>
        </p:nvSpPr>
        <p:spPr>
          <a:xfrm>
            <a:off x="365760" y="685800"/>
            <a:ext cx="8412480" cy="274320"/>
          </a:xfrm>
          <a:prstGeom prst="rect">
            <a:avLst/>
          </a:prstGeom>
          <a:noFill/>
          <a:ln/>
        </p:spPr>
        <p:txBody>
          <a:bodyPr wrap="square" rtlCol="0" anchor="ctr">
            <a:normAutofit/>
          </a:bodyPr>
          <a:lstStyle/>
          <a:p>
            <a:pPr indent="0" marL="0">
              <a:buNone/>
            </a:pPr>
            <a:r>
              <a:rPr lang="en-US" sz="1200" i="1" dirty="0">
                <a:solidFill>
                  <a:srgbClr val="666666"/>
                </a:solidFill>
                <a:latin typeface="Calibri" pitchFamily="34" charset="0"/>
                <a:ea typeface="Calibri" pitchFamily="34" charset="-122"/>
                <a:cs typeface="Calibri" pitchFamily="34" charset="-120"/>
              </a:rPr>
              <a:t>Two approaches to multi-scale detection</a:t>
            </a:r>
            <a:endParaRPr lang="en-US" sz="1200" dirty="0"/>
          </a:p>
        </p:txBody>
      </p:sp>
      <p:sp>
        <p:nvSpPr>
          <p:cNvPr id="5" name="Shape 3"/>
          <p:cNvSpPr/>
          <p:nvPr/>
        </p:nvSpPr>
        <p:spPr>
          <a:xfrm>
            <a:off x="0" y="5106924"/>
            <a:ext cx="9144000" cy="36576"/>
          </a:xfrm>
          <a:prstGeom prst="rect">
            <a:avLst/>
          </a:prstGeom>
          <a:solidFill>
            <a:srgbClr val="97BC62"/>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11680"/>
                <a:gridCol w="3108960"/>
                <a:gridCol w="3108960"/>
              </a:tblGrid>
              <a:tr h="365760">
                <a:tc>
                  <a:txBody>
                    <a:bodyPr/>
                    <a:lstStyle/>
                    <a:p>
                      <a:pPr algn="ctr" indent="0" marL="0">
                        <a:buNone/>
                      </a:pPr>
                      <a:r>
                        <a:rPr lang="en-US" sz="1000" b="1" dirty="0">
                          <a:solidFill>
                            <a:srgbClr val="FFFFFF"/>
                          </a:solidFill>
                          <a:latin typeface="Georgia" pitchFamily="34" charset="0"/>
                          <a:ea typeface="Georgia" pitchFamily="34" charset="-122"/>
                          <a:cs typeface="Georgia" pitchFamily="34" charset="-120"/>
                        </a:rPr>
                        <a:t>Dimension</a:t>
                      </a:r>
                      <a:endParaRPr lang="en-US" sz="1000" dirty="0">
                        <a:latin typeface="Georgia" charset="0"/>
                        <a:ea typeface="Georgia" charset="0"/>
                        <a:cs typeface="Georgi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2C5F2D"/>
                    </a:solidFill>
                  </a:tcPr>
                </a:tc>
                <a:tc>
                  <a:txBody>
                    <a:bodyPr/>
                    <a:lstStyle/>
                    <a:p>
                      <a:pPr algn="ctr" indent="0" marL="0">
                        <a:buNone/>
                      </a:pPr>
                      <a:r>
                        <a:rPr lang="en-US" sz="1000" b="1" dirty="0">
                          <a:solidFill>
                            <a:srgbClr val="FFFFFF"/>
                          </a:solidFill>
                          <a:latin typeface="Georgia" pitchFamily="34" charset="0"/>
                          <a:ea typeface="Georgia" pitchFamily="34" charset="-122"/>
                          <a:cs typeface="Georgia" pitchFamily="34" charset="-120"/>
                        </a:rPr>
                        <a:t>SSD</a:t>
                      </a:r>
                      <a:endParaRPr lang="en-US" sz="1000" dirty="0">
                        <a:latin typeface="Georgia" charset="0"/>
                        <a:ea typeface="Georgia" charset="0"/>
                        <a:cs typeface="Georgi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2C5F2D"/>
                    </a:solidFill>
                  </a:tcPr>
                </a:tc>
                <a:tc>
                  <a:txBody>
                    <a:bodyPr/>
                    <a:lstStyle/>
                    <a:p>
                      <a:pPr algn="ctr" indent="0" marL="0">
                        <a:buNone/>
                      </a:pPr>
                      <a:r>
                        <a:rPr lang="en-US" sz="1000" b="1" dirty="0">
                          <a:solidFill>
                            <a:srgbClr val="FFFFFF"/>
                          </a:solidFill>
                          <a:latin typeface="Georgia" pitchFamily="34" charset="0"/>
                          <a:ea typeface="Georgia" pitchFamily="34" charset="-122"/>
                          <a:cs typeface="Georgia" pitchFamily="34" charset="-120"/>
                        </a:rPr>
                        <a:t>FPN</a:t>
                      </a:r>
                      <a:endParaRPr lang="en-US" sz="1000" dirty="0">
                        <a:latin typeface="Georgia" charset="0"/>
                        <a:ea typeface="Georgia" charset="0"/>
                        <a:cs typeface="Georgi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2C5F2D"/>
                    </a:solidFill>
                  </a:tcPr>
                </a:tc>
              </a:tr>
              <a:tr h="365760">
                <a:tc>
                  <a:txBody>
                    <a:bodyPr/>
                    <a:lstStyle/>
                    <a:p>
                      <a:pPr indent="0" marL="0">
                        <a:buNone/>
                      </a:pPr>
                      <a:r>
                        <a:rPr lang="en-US" sz="1000" b="1" dirty="0">
                          <a:solidFill>
                            <a:srgbClr val="333333"/>
                          </a:solidFill>
                          <a:latin typeface="Calibri" pitchFamily="34" charset="0"/>
                          <a:ea typeface="Calibri" pitchFamily="34" charset="-122"/>
                          <a:cs typeface="Calibri" pitchFamily="34" charset="-120"/>
                        </a:rPr>
                        <a:t>Multi-scale Strategy</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Different feature map layers</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Top-down pyramid fusion</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365760">
                <a:tc>
                  <a:txBody>
                    <a:bodyPr/>
                    <a:lstStyle/>
                    <a:p>
                      <a:pPr indent="0" marL="0">
                        <a:buNone/>
                      </a:pPr>
                      <a:r>
                        <a:rPr lang="en-US" sz="1000" b="1" dirty="0">
                          <a:solidFill>
                            <a:srgbClr val="333333"/>
                          </a:solidFill>
                          <a:latin typeface="Calibri" pitchFamily="34" charset="0"/>
                          <a:ea typeface="Calibri" pitchFamily="34" charset="-122"/>
                          <a:cs typeface="Calibri" pitchFamily="34" charset="-120"/>
                        </a:rPr>
                        <a:t>Feature Fusion</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None (independent layers)</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Lateral + top-down merge</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365760">
                <a:tc>
                  <a:txBody>
                    <a:bodyPr/>
                    <a:lstStyle/>
                    <a:p>
                      <a:pPr indent="0" marL="0">
                        <a:buNone/>
                      </a:pPr>
                      <a:r>
                        <a:rPr lang="en-US" sz="1000" b="1" dirty="0">
                          <a:solidFill>
                            <a:srgbClr val="333333"/>
                          </a:solidFill>
                          <a:latin typeface="Calibri" pitchFamily="34" charset="0"/>
                          <a:ea typeface="Calibri" pitchFamily="34" charset="-122"/>
                          <a:cs typeface="Calibri" pitchFamily="34" charset="-120"/>
                        </a:rPr>
                        <a:t>Anchor Strategy</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Default boxes (fixed aspect ratios)</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Anchor boxes (same across levels)</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365760">
                <a:tc>
                  <a:txBody>
                    <a:bodyPr/>
                    <a:lstStyle/>
                    <a:p>
                      <a:pPr indent="0" marL="0">
                        <a:buNone/>
                      </a:pPr>
                      <a:r>
                        <a:rPr lang="en-US" sz="1000" b="1" dirty="0">
                          <a:solidFill>
                            <a:srgbClr val="333333"/>
                          </a:solidFill>
                          <a:latin typeface="Calibri" pitchFamily="34" charset="0"/>
                          <a:ea typeface="Calibri" pitchFamily="34" charset="-122"/>
                          <a:cs typeface="Calibri" pitchFamily="34" charset="-120"/>
                        </a:rPr>
                        <a:t>Detection Head</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Per-layer, simple conv</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Shared across pyramid</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365760">
                <a:tc>
                  <a:txBody>
                    <a:bodyPr/>
                    <a:lstStyle/>
                    <a:p>
                      <a:pPr indent="0" marL="0">
                        <a:buNone/>
                      </a:pPr>
                      <a:r>
                        <a:rPr lang="en-US" sz="1000" b="1" dirty="0">
                          <a:solidFill>
                            <a:srgbClr val="333333"/>
                          </a:solidFill>
                          <a:latin typeface="Calibri" pitchFamily="34" charset="0"/>
                          <a:ea typeface="Calibri" pitchFamily="34" charset="-122"/>
                          <a:cs typeface="Calibri" pitchFamily="34" charset="-120"/>
                        </a:rPr>
                        <a:t>Framework</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Single-stage only</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Pluggable (1-stage or 2-stage)</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365760">
                <a:tc>
                  <a:txBody>
                    <a:bodyPr/>
                    <a:lstStyle/>
                    <a:p>
                      <a:pPr indent="0" marL="0">
                        <a:buNone/>
                      </a:pPr>
                      <a:r>
                        <a:rPr lang="en-US" sz="1000" b="1" dirty="0">
                          <a:solidFill>
                            <a:srgbClr val="333333"/>
                          </a:solidFill>
                          <a:latin typeface="Calibri" pitchFamily="34" charset="0"/>
                          <a:ea typeface="Calibri" pitchFamily="34" charset="-122"/>
                          <a:cs typeface="Calibri" pitchFamily="34" charset="-120"/>
                        </a:rPr>
                        <a:t>Semantic Quality</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Weak at shallow layers</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Strong at all levels</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bl>
          </a:graphicData>
        </a:graphic>
      </p:graphicFrame>
      <p:sp>
        <p:nvSpPr>
          <p:cNvPr id="7" name="Shape 4"/>
          <p:cNvSpPr/>
          <p:nvPr/>
        </p:nvSpPr>
        <p:spPr>
          <a:xfrm>
            <a:off x="1371600" y="4023360"/>
            <a:ext cx="6400800" cy="548640"/>
          </a:xfrm>
          <a:prstGeom prst="roundRect">
            <a:avLst>
              <a:gd name="adj" fmla="val 13333"/>
            </a:avLst>
          </a:prstGeom>
          <a:solidFill>
            <a:srgbClr val="D4A843"/>
          </a:solidFill>
          <a:ln/>
          <a:effectLst>
            <a:outerShdw sx="100000" sy="100000" kx="0" ky="0" algn="bl" rotWithShape="0" blurRad="38100" dist="25400" dir="2700000">
              <a:srgbClr val="000000">
                <a:alpha val="15000"/>
              </a:srgbClr>
            </a:outerShdw>
          </a:effectLst>
        </p:spPr>
      </p:sp>
      <p:sp>
        <p:nvSpPr>
          <p:cNvPr id="8" name="Text 5"/>
          <p:cNvSpPr/>
          <p:nvPr/>
        </p:nvSpPr>
        <p:spPr>
          <a:xfrm>
            <a:off x="1371600" y="4023360"/>
            <a:ext cx="6400800" cy="548640"/>
          </a:xfrm>
          <a:prstGeom prst="rect">
            <a:avLst/>
          </a:prstGeom>
          <a:noFill/>
          <a:ln/>
        </p:spPr>
        <p:txBody>
          <a:bodyPr wrap="square"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FPN's top-down fusion gives stronger semantics at every scale, making it a general-purpose backbone enhancement.</a:t>
            </a:r>
            <a:endParaRPr lang="en-US" sz="1100" dirty="0"/>
          </a:p>
        </p:txBody>
      </p:sp>
      <p:sp>
        <p:nvSpPr>
          <p:cNvPr id="9" name="Text 6"/>
          <p:cNvSpPr/>
          <p:nvPr/>
        </p:nvSpPr>
        <p:spPr>
          <a:xfrm>
            <a:off x="8046720" y="4754880"/>
            <a:ext cx="914400" cy="274320"/>
          </a:xfrm>
          <a:prstGeom prst="rect">
            <a:avLst/>
          </a:prstGeom>
          <a:noFill/>
          <a:ln/>
        </p:spPr>
        <p:txBody>
          <a:bodyPr wrap="square" rtlCol="0" anchor="ctr">
            <a:normAutofit/>
          </a:bodyPr>
          <a:lstStyle/>
          <a:p>
            <a:pPr algn="r" indent="0" marL="0">
              <a:buNone/>
            </a:pPr>
            <a:r>
              <a:rPr lang="en-US" sz="900" dirty="0">
                <a:solidFill>
                  <a:srgbClr val="666666"/>
                </a:solidFill>
                <a:latin typeface="Calibri" pitchFamily="34" charset="0"/>
                <a:ea typeface="Calibri" pitchFamily="34" charset="-122"/>
                <a:cs typeface="Calibri" pitchFamily="34" charset="-120"/>
              </a:rPr>
              <a:t>9 / 16</a:t>
            </a:r>
            <a:endParaRPr lang="en-US" sz="900" dirty="0"/>
          </a:p>
        </p:txBody>
      </p:sp>
      <p:sp>
        <p:nvSpPr>
          <p:cNvPr id="11"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365760" y="182880"/>
            <a:ext cx="8412480" cy="502920"/>
          </a:xfrm>
          <a:prstGeom prst="rect">
            <a:avLst/>
          </a:prstGeom>
          <a:noFill/>
          <a:ln/>
        </p:spPr>
        <p:txBody>
          <a:bodyPr wrap="square" rtlCol="0" anchor="ctr">
            <a:normAutofit/>
          </a:bodyPr>
          <a:lstStyle/>
          <a:p>
            <a:pPr indent="0" marL="0">
              <a:buNone/>
            </a:pPr>
            <a:r>
              <a:rPr lang="en-US" sz="2400" b="1" dirty="0">
                <a:solidFill>
                  <a:srgbClr val="2C5F2D"/>
                </a:solidFill>
                <a:latin typeface="Georgia" pitchFamily="34" charset="0"/>
                <a:ea typeface="Georgia" pitchFamily="34" charset="-122"/>
                <a:cs typeface="Georgia" pitchFamily="34" charset="-120"/>
              </a:rPr>
              <a:t>RetinaNet &amp; Focal Loss</a:t>
            </a:r>
            <a:endParaRPr lang="en-US" sz="2400" dirty="0"/>
          </a:p>
        </p:txBody>
      </p:sp>
      <p:sp>
        <p:nvSpPr>
          <p:cNvPr id="4" name="Text 2"/>
          <p:cNvSpPr/>
          <p:nvPr/>
        </p:nvSpPr>
        <p:spPr>
          <a:xfrm>
            <a:off x="365760" y="685800"/>
            <a:ext cx="8412480" cy="274320"/>
          </a:xfrm>
          <a:prstGeom prst="rect">
            <a:avLst/>
          </a:prstGeom>
          <a:noFill/>
          <a:ln/>
        </p:spPr>
        <p:txBody>
          <a:bodyPr wrap="square" rtlCol="0" anchor="ctr">
            <a:normAutofit/>
          </a:bodyPr>
          <a:lstStyle/>
          <a:p>
            <a:pPr indent="0" marL="0">
              <a:buNone/>
            </a:pPr>
            <a:r>
              <a:rPr lang="en-US" sz="1200" i="1" dirty="0">
                <a:solidFill>
                  <a:srgbClr val="666666"/>
                </a:solidFill>
                <a:latin typeface="Calibri" pitchFamily="34" charset="0"/>
                <a:ea typeface="Calibri" pitchFamily="34" charset="-122"/>
                <a:cs typeface="Calibri" pitchFamily="34" charset="-120"/>
              </a:rPr>
              <a:t>Addressing class imbalance in single-stage detectors (ICCV 2017)</a:t>
            </a:r>
            <a:endParaRPr lang="en-US" sz="1200" dirty="0"/>
          </a:p>
        </p:txBody>
      </p:sp>
      <p:sp>
        <p:nvSpPr>
          <p:cNvPr id="5" name="Shape 3"/>
          <p:cNvSpPr/>
          <p:nvPr/>
        </p:nvSpPr>
        <p:spPr>
          <a:xfrm>
            <a:off x="0" y="5106924"/>
            <a:ext cx="9144000" cy="36576"/>
          </a:xfrm>
          <a:prstGeom prst="rect">
            <a:avLst/>
          </a:prstGeom>
          <a:solidFill>
            <a:srgbClr val="97BC62"/>
          </a:solidFill>
          <a:ln/>
        </p:spPr>
      </p:sp>
      <p:sp>
        <p:nvSpPr>
          <p:cNvPr id="6" name="Shape 4"/>
          <p:cNvSpPr/>
          <p:nvPr/>
        </p:nvSpPr>
        <p:spPr>
          <a:xfrm>
            <a:off x="7680960" y="137160"/>
            <a:ext cx="1188720" cy="274320"/>
          </a:xfrm>
          <a:prstGeom prst="roundRect">
            <a:avLst>
              <a:gd name="adj" fmla="val 16667"/>
            </a:avLst>
          </a:prstGeom>
          <a:solidFill>
            <a:srgbClr val="D4A843"/>
          </a:solidFill>
          <a:ln/>
        </p:spPr>
      </p:sp>
      <p:sp>
        <p:nvSpPr>
          <p:cNvPr id="7" name="Text 5"/>
          <p:cNvSpPr/>
          <p:nvPr/>
        </p:nvSpPr>
        <p:spPr>
          <a:xfrm>
            <a:off x="7680960" y="137160"/>
            <a:ext cx="1188720" cy="274320"/>
          </a:xfrm>
          <a:prstGeom prst="rect">
            <a:avLst/>
          </a:prstGeom>
          <a:noFill/>
          <a:ln/>
        </p:spPr>
        <p:txBody>
          <a:bodyPr wrap="square"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Focal Loss</a:t>
            </a:r>
            <a:endParaRPr lang="en-US" sz="900" dirty="0"/>
          </a:p>
        </p:txBody>
      </p:sp>
      <p:pic>
        <p:nvPicPr>
          <p:cNvPr id="8" name="Image 0" descr="/workspace/cv_learning/ppt/img-focal-loss_4x3.jpg">    </p:cNvPr>
          <p:cNvPicPr>
            <a:picLocks noChangeAspect="1"/>
          </p:cNvPicPr>
          <p:nvPr/>
        </p:nvPicPr>
        <p:blipFill>
          <a:blip r:embed="rId1"/>
          <a:srcRect l="0" r="0" t="0" b="0"/>
          <a:stretch/>
        </p:blipFill>
        <p:spPr>
          <a:xfrm>
            <a:off x="365760" y="1143000"/>
            <a:ext cx="3657600" cy="2743200"/>
          </a:xfrm>
          <a:prstGeom prst="rect">
            <a:avLst/>
          </a:prstGeom>
          <a:effectLst>
            <a:outerShdw sx="100000" sy="100000" kx="0" ky="0" algn="bl" rotWithShape="0" blurRad="76200" dist="25400" dir="2700000">
              <a:srgbClr val="000000">
                <a:alpha val="20000"/>
              </a:srgbClr>
            </a:outerShdw>
          </a:effectLst>
        </p:spPr>
      </p:pic>
      <p:sp>
        <p:nvSpPr>
          <p:cNvPr id="9" name="Shape 6"/>
          <p:cNvSpPr/>
          <p:nvPr/>
        </p:nvSpPr>
        <p:spPr>
          <a:xfrm>
            <a:off x="4572000" y="1188720"/>
            <a:ext cx="4297680" cy="457200"/>
          </a:xfrm>
          <a:prstGeom prst="roundRect">
            <a:avLst>
              <a:gd name="adj" fmla="val 10000"/>
            </a:avLst>
          </a:prstGeom>
          <a:solidFill>
            <a:srgbClr val="F5F2E8"/>
          </a:solidFill>
          <a:ln w="3810">
            <a:solidFill>
              <a:srgbClr val="E8E4DC"/>
            </a:solidFill>
            <a:prstDash val="solid"/>
          </a:ln>
        </p:spPr>
      </p:sp>
      <p:sp>
        <p:nvSpPr>
          <p:cNvPr id="10" name="Text 7"/>
          <p:cNvSpPr/>
          <p:nvPr/>
        </p:nvSpPr>
        <p:spPr>
          <a:xfrm>
            <a:off x="4754880" y="1188720"/>
            <a:ext cx="3931920" cy="457200"/>
          </a:xfrm>
          <a:prstGeom prst="rect">
            <a:avLst/>
          </a:prstGeom>
          <a:noFill/>
          <a:ln/>
        </p:spPr>
        <p:txBody>
          <a:bodyPr wrap="square" rtlCol="0" anchor="ctr">
            <a:normAutofit/>
          </a:bodyPr>
          <a:lstStyle/>
          <a:p>
            <a:pPr indent="0" marL="0">
              <a:buNone/>
            </a:pPr>
            <a:r>
              <a:rPr lang="en-US" sz="1000" dirty="0">
                <a:solidFill>
                  <a:srgbClr val="333333"/>
                </a:solidFill>
                <a:latin typeface="Calibri" pitchFamily="34" charset="0"/>
                <a:ea typeface="Calibri" pitchFamily="34" charset="-122"/>
                <a:cs typeface="Calibri" pitchFamily="34" charset="-120"/>
              </a:rPr>
              <a:t>Single-stage detectors lag behind two-stage</a:t>
            </a:r>
            <a:endParaRPr lang="en-US" sz="1000" dirty="0"/>
          </a:p>
        </p:txBody>
      </p:sp>
      <p:sp>
        <p:nvSpPr>
          <p:cNvPr id="11" name="Shape 8"/>
          <p:cNvSpPr/>
          <p:nvPr/>
        </p:nvSpPr>
        <p:spPr>
          <a:xfrm>
            <a:off x="4572000" y="1755648"/>
            <a:ext cx="4297680" cy="457200"/>
          </a:xfrm>
          <a:prstGeom prst="roundRect">
            <a:avLst>
              <a:gd name="adj" fmla="val 10000"/>
            </a:avLst>
          </a:prstGeom>
          <a:solidFill>
            <a:srgbClr val="FAF8F0"/>
          </a:solidFill>
          <a:ln w="3810">
            <a:solidFill>
              <a:srgbClr val="E8E4DC"/>
            </a:solidFill>
            <a:prstDash val="solid"/>
          </a:ln>
        </p:spPr>
      </p:sp>
      <p:sp>
        <p:nvSpPr>
          <p:cNvPr id="12" name="Text 9"/>
          <p:cNvSpPr/>
          <p:nvPr/>
        </p:nvSpPr>
        <p:spPr>
          <a:xfrm>
            <a:off x="4754880" y="1755648"/>
            <a:ext cx="3931920" cy="457200"/>
          </a:xfrm>
          <a:prstGeom prst="rect">
            <a:avLst/>
          </a:prstGeom>
          <a:noFill/>
          <a:ln/>
        </p:spPr>
        <p:txBody>
          <a:bodyPr wrap="square" rtlCol="0" anchor="ctr">
            <a:normAutofit/>
          </a:bodyPr>
          <a:lstStyle/>
          <a:p>
            <a:pPr indent="0" marL="0">
              <a:buNone/>
            </a:pPr>
            <a:r>
              <a:rPr lang="en-US" sz="1000" dirty="0">
                <a:solidFill>
                  <a:srgbClr val="333333"/>
                </a:solidFill>
                <a:latin typeface="Calibri" pitchFamily="34" charset="0"/>
                <a:ea typeface="Calibri" pitchFamily="34" charset="-122"/>
                <a:cs typeface="Calibri" pitchFamily="34" charset="-120"/>
              </a:rPr>
              <a:t>Root cause: extreme foreground-background imbalance</a:t>
            </a:r>
            <a:endParaRPr lang="en-US" sz="1000" dirty="0"/>
          </a:p>
        </p:txBody>
      </p:sp>
      <p:sp>
        <p:nvSpPr>
          <p:cNvPr id="13" name="Shape 10"/>
          <p:cNvSpPr/>
          <p:nvPr/>
        </p:nvSpPr>
        <p:spPr>
          <a:xfrm>
            <a:off x="4572000" y="2322576"/>
            <a:ext cx="4297680" cy="457200"/>
          </a:xfrm>
          <a:prstGeom prst="roundRect">
            <a:avLst>
              <a:gd name="adj" fmla="val 10000"/>
            </a:avLst>
          </a:prstGeom>
          <a:solidFill>
            <a:srgbClr val="F5F2E8"/>
          </a:solidFill>
          <a:ln w="3810">
            <a:solidFill>
              <a:srgbClr val="E8E4DC"/>
            </a:solidFill>
            <a:prstDash val="solid"/>
          </a:ln>
        </p:spPr>
      </p:sp>
      <p:sp>
        <p:nvSpPr>
          <p:cNvPr id="14" name="Text 11"/>
          <p:cNvSpPr/>
          <p:nvPr/>
        </p:nvSpPr>
        <p:spPr>
          <a:xfrm>
            <a:off x="4754880" y="2322576"/>
            <a:ext cx="3931920" cy="457200"/>
          </a:xfrm>
          <a:prstGeom prst="rect">
            <a:avLst/>
          </a:prstGeom>
          <a:noFill/>
          <a:ln/>
        </p:spPr>
        <p:txBody>
          <a:bodyPr wrap="square" rtlCol="0" anchor="ctr">
            <a:normAutofit/>
          </a:bodyPr>
          <a:lstStyle/>
          <a:p>
            <a:pPr indent="0" marL="0">
              <a:buNone/>
            </a:pPr>
            <a:r>
              <a:rPr lang="en-US" sz="1000" dirty="0">
                <a:solidFill>
                  <a:srgbClr val="333333"/>
                </a:solidFill>
                <a:latin typeface="Calibri" pitchFamily="34" charset="0"/>
                <a:ea typeface="Calibri" pitchFamily="34" charset="-122"/>
                <a:cs typeface="Calibri" pitchFamily="34" charset="-120"/>
              </a:rPr>
              <a:t>Most anchors are easy negatives</a:t>
            </a:r>
            <a:endParaRPr lang="en-US" sz="1000" dirty="0"/>
          </a:p>
        </p:txBody>
      </p:sp>
      <p:sp>
        <p:nvSpPr>
          <p:cNvPr id="15" name="Shape 12"/>
          <p:cNvSpPr/>
          <p:nvPr/>
        </p:nvSpPr>
        <p:spPr>
          <a:xfrm>
            <a:off x="4572000" y="2889504"/>
            <a:ext cx="4297680" cy="457200"/>
          </a:xfrm>
          <a:prstGeom prst="roundRect">
            <a:avLst>
              <a:gd name="adj" fmla="val 10000"/>
            </a:avLst>
          </a:prstGeom>
          <a:solidFill>
            <a:srgbClr val="FAF8F0"/>
          </a:solidFill>
          <a:ln w="3810">
            <a:solidFill>
              <a:srgbClr val="E8E4DC"/>
            </a:solidFill>
            <a:prstDash val="solid"/>
          </a:ln>
        </p:spPr>
      </p:sp>
      <p:sp>
        <p:nvSpPr>
          <p:cNvPr id="16" name="Text 13"/>
          <p:cNvSpPr/>
          <p:nvPr/>
        </p:nvSpPr>
        <p:spPr>
          <a:xfrm>
            <a:off x="4754880" y="2889504"/>
            <a:ext cx="3931920" cy="457200"/>
          </a:xfrm>
          <a:prstGeom prst="rect">
            <a:avLst/>
          </a:prstGeom>
          <a:noFill/>
          <a:ln/>
        </p:spPr>
        <p:txBody>
          <a:bodyPr wrap="square" rtlCol="0" anchor="ctr">
            <a:normAutofit/>
          </a:bodyPr>
          <a:lstStyle/>
          <a:p>
            <a:pPr indent="0" marL="0">
              <a:buNone/>
            </a:pPr>
            <a:r>
              <a:rPr lang="en-US" sz="1000" dirty="0">
                <a:solidFill>
                  <a:srgbClr val="333333"/>
                </a:solidFill>
                <a:latin typeface="Calibri" pitchFamily="34" charset="0"/>
                <a:ea typeface="Calibri" pitchFamily="34" charset="-122"/>
                <a:cs typeface="Calibri" pitchFamily="34" charset="-120"/>
              </a:rPr>
              <a:t>Easy negatives overwhelm the loss</a:t>
            </a:r>
            <a:endParaRPr lang="en-US" sz="1000" dirty="0"/>
          </a:p>
        </p:txBody>
      </p:sp>
      <p:sp>
        <p:nvSpPr>
          <p:cNvPr id="17" name="Shape 14"/>
          <p:cNvSpPr/>
          <p:nvPr/>
        </p:nvSpPr>
        <p:spPr>
          <a:xfrm>
            <a:off x="4572000" y="3456432"/>
            <a:ext cx="4297680" cy="457200"/>
          </a:xfrm>
          <a:prstGeom prst="roundRect">
            <a:avLst>
              <a:gd name="adj" fmla="val 10000"/>
            </a:avLst>
          </a:prstGeom>
          <a:solidFill>
            <a:srgbClr val="F5F2E8"/>
          </a:solidFill>
          <a:ln w="3810">
            <a:solidFill>
              <a:srgbClr val="E8E4DC"/>
            </a:solidFill>
            <a:prstDash val="solid"/>
          </a:ln>
        </p:spPr>
      </p:sp>
      <p:sp>
        <p:nvSpPr>
          <p:cNvPr id="18" name="Text 15"/>
          <p:cNvSpPr/>
          <p:nvPr/>
        </p:nvSpPr>
        <p:spPr>
          <a:xfrm>
            <a:off x="4754880" y="3456432"/>
            <a:ext cx="3931920" cy="457200"/>
          </a:xfrm>
          <a:prstGeom prst="rect">
            <a:avLst/>
          </a:prstGeom>
          <a:noFill/>
          <a:ln/>
        </p:spPr>
        <p:txBody>
          <a:bodyPr wrap="square" rtlCol="0" anchor="ctr">
            <a:normAutofit/>
          </a:bodyPr>
          <a:lstStyle/>
          <a:p>
            <a:pPr indent="0" marL="0">
              <a:buNone/>
            </a:pPr>
            <a:r>
              <a:rPr lang="en-US" sz="1000" dirty="0">
                <a:solidFill>
                  <a:srgbClr val="333333"/>
                </a:solidFill>
                <a:latin typeface="Calibri" pitchFamily="34" charset="0"/>
                <a:ea typeface="Calibri" pitchFamily="34" charset="-122"/>
                <a:cs typeface="Calibri" pitchFamily="34" charset="-120"/>
              </a:rPr>
              <a:t>Focal Loss down-weights easy examples</a:t>
            </a:r>
            <a:endParaRPr lang="en-US" sz="1000" dirty="0"/>
          </a:p>
        </p:txBody>
      </p:sp>
      <p:sp>
        <p:nvSpPr>
          <p:cNvPr id="19" name="Shape 16"/>
          <p:cNvSpPr/>
          <p:nvPr/>
        </p:nvSpPr>
        <p:spPr>
          <a:xfrm>
            <a:off x="4572000" y="4023360"/>
            <a:ext cx="4297680" cy="457200"/>
          </a:xfrm>
          <a:prstGeom prst="roundRect">
            <a:avLst>
              <a:gd name="adj" fmla="val 10000"/>
            </a:avLst>
          </a:prstGeom>
          <a:solidFill>
            <a:srgbClr val="FAF8F0"/>
          </a:solidFill>
          <a:ln w="3810">
            <a:solidFill>
              <a:srgbClr val="E8E4DC"/>
            </a:solidFill>
            <a:prstDash val="solid"/>
          </a:ln>
        </p:spPr>
      </p:sp>
      <p:sp>
        <p:nvSpPr>
          <p:cNvPr id="20" name="Text 17"/>
          <p:cNvSpPr/>
          <p:nvPr/>
        </p:nvSpPr>
        <p:spPr>
          <a:xfrm>
            <a:off x="4754880" y="4023360"/>
            <a:ext cx="3931920" cy="457200"/>
          </a:xfrm>
          <a:prstGeom prst="rect">
            <a:avLst/>
          </a:prstGeom>
          <a:noFill/>
          <a:ln/>
        </p:spPr>
        <p:txBody>
          <a:bodyPr wrap="square" rtlCol="0" anchor="ctr">
            <a:normAutofit/>
          </a:bodyPr>
          <a:lstStyle/>
          <a:p>
            <a:pPr indent="0" marL="0">
              <a:buNone/>
            </a:pPr>
            <a:r>
              <a:rPr lang="en-US" sz="1000" dirty="0">
                <a:solidFill>
                  <a:srgbClr val="333333"/>
                </a:solidFill>
                <a:latin typeface="Calibri" pitchFamily="34" charset="0"/>
                <a:ea typeface="Calibri" pitchFamily="34" charset="-122"/>
                <a:cs typeface="Calibri" pitchFamily="34" charset="-120"/>
              </a:rPr>
              <a:t>RetinaNet: FPN backbone + Focal Loss</a:t>
            </a:r>
            <a:endParaRPr lang="en-US" sz="1000" dirty="0"/>
          </a:p>
        </p:txBody>
      </p:sp>
      <p:sp>
        <p:nvSpPr>
          <p:cNvPr id="21" name="Text 18"/>
          <p:cNvSpPr/>
          <p:nvPr/>
        </p:nvSpPr>
        <p:spPr>
          <a:xfrm>
            <a:off x="8046720" y="4754880"/>
            <a:ext cx="914400" cy="274320"/>
          </a:xfrm>
          <a:prstGeom prst="rect">
            <a:avLst/>
          </a:prstGeom>
          <a:noFill/>
          <a:ln/>
        </p:spPr>
        <p:txBody>
          <a:bodyPr wrap="square" rtlCol="0" anchor="ctr">
            <a:normAutofit/>
          </a:bodyPr>
          <a:lstStyle/>
          <a:p>
            <a:pPr algn="r" indent="0" marL="0">
              <a:buNone/>
            </a:pPr>
            <a:r>
              <a:rPr lang="en-US" sz="900" dirty="0">
                <a:solidFill>
                  <a:srgbClr val="666666"/>
                </a:solidFill>
                <a:latin typeface="Calibri" pitchFamily="34" charset="0"/>
                <a:ea typeface="Calibri" pitchFamily="34" charset="-122"/>
                <a:cs typeface="Calibri" pitchFamily="34" charset="-120"/>
              </a:rPr>
              <a:t>10 / 16</a:t>
            </a:r>
            <a:endParaRPr lang="en-US" sz="900" dirty="0"/>
          </a:p>
        </p:txBody>
      </p:sp>
      <p:sp>
        <p:nvSpPr>
          <p:cNvPr id="22"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365760" y="182880"/>
            <a:ext cx="8412480" cy="502920"/>
          </a:xfrm>
          <a:prstGeom prst="rect">
            <a:avLst/>
          </a:prstGeom>
          <a:noFill/>
          <a:ln/>
        </p:spPr>
        <p:txBody>
          <a:bodyPr wrap="square" rtlCol="0" anchor="ctr">
            <a:normAutofit/>
          </a:bodyPr>
          <a:lstStyle/>
          <a:p>
            <a:pPr indent="0" marL="0">
              <a:buNone/>
            </a:pPr>
            <a:r>
              <a:rPr lang="en-US" sz="2400" b="1" dirty="0">
                <a:solidFill>
                  <a:srgbClr val="2C5F2D"/>
                </a:solidFill>
                <a:latin typeface="Georgia" pitchFamily="34" charset="0"/>
                <a:ea typeface="Georgia" pitchFamily="34" charset="-122"/>
                <a:cs typeface="Georgia" pitchFamily="34" charset="-120"/>
              </a:rPr>
              <a:t>Focal Loss: Formula &amp; Intuition</a:t>
            </a:r>
            <a:endParaRPr lang="en-US" sz="2400" dirty="0"/>
          </a:p>
        </p:txBody>
      </p:sp>
      <p:sp>
        <p:nvSpPr>
          <p:cNvPr id="4" name="Text 2"/>
          <p:cNvSpPr/>
          <p:nvPr/>
        </p:nvSpPr>
        <p:spPr>
          <a:xfrm>
            <a:off x="365760" y="685800"/>
            <a:ext cx="8412480" cy="274320"/>
          </a:xfrm>
          <a:prstGeom prst="rect">
            <a:avLst/>
          </a:prstGeom>
          <a:noFill/>
          <a:ln/>
        </p:spPr>
        <p:txBody>
          <a:bodyPr wrap="square" rtlCol="0" anchor="ctr">
            <a:normAutofit/>
          </a:bodyPr>
          <a:lstStyle/>
          <a:p>
            <a:pPr indent="0" marL="0">
              <a:buNone/>
            </a:pPr>
            <a:r>
              <a:rPr lang="en-US" sz="1200" i="1" dirty="0">
                <a:solidFill>
                  <a:srgbClr val="666666"/>
                </a:solidFill>
                <a:latin typeface="Calibri" pitchFamily="34" charset="0"/>
                <a:ea typeface="Calibri" pitchFamily="34" charset="-122"/>
                <a:cs typeface="Calibri" pitchFamily="34" charset="-120"/>
              </a:rPr>
              <a:t>FL(pt) = -(1 - pt)^gamma * log(pt)</a:t>
            </a:r>
            <a:endParaRPr lang="en-US" sz="1200" dirty="0"/>
          </a:p>
        </p:txBody>
      </p:sp>
      <p:sp>
        <p:nvSpPr>
          <p:cNvPr id="5" name="Shape 3"/>
          <p:cNvSpPr/>
          <p:nvPr/>
        </p:nvSpPr>
        <p:spPr>
          <a:xfrm>
            <a:off x="0" y="5106924"/>
            <a:ext cx="9144000" cy="36576"/>
          </a:xfrm>
          <a:prstGeom prst="rect">
            <a:avLst/>
          </a:prstGeom>
          <a:solidFill>
            <a:srgbClr val="97BC62"/>
          </a:solidFill>
          <a:ln/>
        </p:spPr>
      </p:sp>
      <p:sp>
        <p:nvSpPr>
          <p:cNvPr id="6" name="Shape 4"/>
          <p:cNvSpPr/>
          <p:nvPr/>
        </p:nvSpPr>
        <p:spPr>
          <a:xfrm>
            <a:off x="7680960" y="137160"/>
            <a:ext cx="1188720" cy="274320"/>
          </a:xfrm>
          <a:prstGeom prst="roundRect">
            <a:avLst>
              <a:gd name="adj" fmla="val 16667"/>
            </a:avLst>
          </a:prstGeom>
          <a:solidFill>
            <a:srgbClr val="D4A843"/>
          </a:solidFill>
          <a:ln/>
        </p:spPr>
      </p:sp>
      <p:sp>
        <p:nvSpPr>
          <p:cNvPr id="7" name="Text 5"/>
          <p:cNvSpPr/>
          <p:nvPr/>
        </p:nvSpPr>
        <p:spPr>
          <a:xfrm>
            <a:off x="7680960" y="137160"/>
            <a:ext cx="1188720" cy="274320"/>
          </a:xfrm>
          <a:prstGeom prst="rect">
            <a:avLst/>
          </a:prstGeom>
          <a:noFill/>
          <a:ln/>
        </p:spPr>
        <p:txBody>
          <a:bodyPr wrap="square"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Focal Loss</a:t>
            </a:r>
            <a:endParaRPr lang="en-US" sz="900" dirty="0"/>
          </a:p>
        </p:txBody>
      </p:sp>
      <p:sp>
        <p:nvSpPr>
          <p:cNvPr id="8" name="Shape 6"/>
          <p:cNvSpPr/>
          <p:nvPr/>
        </p:nvSpPr>
        <p:spPr>
          <a:xfrm>
            <a:off x="731520" y="1234440"/>
            <a:ext cx="7680960" cy="1097280"/>
          </a:xfrm>
          <a:prstGeom prst="roundRect">
            <a:avLst>
              <a:gd name="adj" fmla="val 8333"/>
            </a:avLst>
          </a:prstGeom>
          <a:solidFill>
            <a:srgbClr val="2C5F2D"/>
          </a:solidFill>
          <a:ln/>
          <a:effectLst>
            <a:outerShdw sx="100000" sy="100000" kx="0" ky="0" algn="bl" rotWithShape="0" blurRad="63500" dist="25400" dir="2700000">
              <a:srgbClr val="000000">
                <a:alpha val="20000"/>
              </a:srgbClr>
            </a:outerShdw>
          </a:effectLst>
        </p:spPr>
      </p:sp>
      <p:sp>
        <p:nvSpPr>
          <p:cNvPr id="9" name="Text 7"/>
          <p:cNvSpPr/>
          <p:nvPr/>
        </p:nvSpPr>
        <p:spPr>
          <a:xfrm>
            <a:off x="731520" y="1234440"/>
            <a:ext cx="7680960" cy="548640"/>
          </a:xfrm>
          <a:prstGeom prst="rect">
            <a:avLst/>
          </a:prstGeom>
          <a:noFill/>
          <a:ln/>
        </p:spPr>
        <p:txBody>
          <a:bodyPr wrap="square" rtlCol="0" anchor="ctr">
            <a:normAutofit/>
          </a:bodyPr>
          <a:lstStyle/>
          <a:p>
            <a:pPr algn="ctr" indent="0" marL="0">
              <a:buNone/>
            </a:pPr>
            <a:r>
              <a:rPr lang="en-US" sz="2600" b="1" dirty="0">
                <a:solidFill>
                  <a:srgbClr val="FFFFFF"/>
                </a:solidFill>
                <a:latin typeface="Georgia" pitchFamily="34" charset="0"/>
                <a:ea typeface="Georgia" pitchFamily="34" charset="-122"/>
                <a:cs typeface="Georgia" pitchFamily="34" charset="-120"/>
              </a:rPr>
              <a:t>FL(pt) = -(1 - pt)^gamma  *  log(pt)</a:t>
            </a:r>
            <a:endParaRPr lang="en-US" sz="2600" dirty="0"/>
          </a:p>
        </p:txBody>
      </p:sp>
      <p:sp>
        <p:nvSpPr>
          <p:cNvPr id="10" name="Text 8"/>
          <p:cNvSpPr/>
          <p:nvPr/>
        </p:nvSpPr>
        <p:spPr>
          <a:xfrm>
            <a:off x="731520" y="1737360"/>
            <a:ext cx="7680960" cy="365760"/>
          </a:xfrm>
          <a:prstGeom prst="rect">
            <a:avLst/>
          </a:prstGeom>
          <a:noFill/>
          <a:ln/>
        </p:spPr>
        <p:txBody>
          <a:bodyPr wrap="square" rtlCol="0" anchor="ctr">
            <a:normAutofit/>
          </a:bodyPr>
          <a:lstStyle/>
          <a:p>
            <a:pPr algn="ctr" indent="0" marL="0">
              <a:buNone/>
            </a:pPr>
            <a:r>
              <a:rPr lang="en-US" sz="1200" dirty="0">
                <a:solidFill>
                  <a:srgbClr val="97BC62"/>
                </a:solidFill>
                <a:latin typeface="Calibri" pitchFamily="34" charset="0"/>
                <a:ea typeface="Calibri" pitchFamily="34" charset="-122"/>
                <a:cs typeface="Calibri" pitchFamily="34" charset="-120"/>
              </a:rPr>
              <a:t>Standard cross-entropy when gamma = 0  |  Default: gamma = 2.0</a:t>
            </a:r>
            <a:endParaRPr lang="en-US" sz="1200" dirty="0"/>
          </a:p>
        </p:txBody>
      </p:sp>
      <p:sp>
        <p:nvSpPr>
          <p:cNvPr id="11" name="Shape 9"/>
          <p:cNvSpPr/>
          <p:nvPr/>
        </p:nvSpPr>
        <p:spPr>
          <a:xfrm>
            <a:off x="457200" y="2606040"/>
            <a:ext cx="2697480" cy="2103120"/>
          </a:xfrm>
          <a:prstGeom prst="roundRect">
            <a:avLst>
              <a:gd name="adj" fmla="val 4348"/>
            </a:avLst>
          </a:prstGeom>
          <a:solidFill>
            <a:srgbClr val="F5F2E8"/>
          </a:solidFill>
          <a:ln w="6350">
            <a:solidFill>
              <a:srgbClr val="E8E4DC"/>
            </a:solidFill>
            <a:prstDash val="solid"/>
          </a:ln>
          <a:effectLst>
            <a:outerShdw sx="100000" sy="100000" kx="0" ky="0" algn="bl" rotWithShape="0" blurRad="50800" dist="25400" dir="2700000">
              <a:srgbClr val="000000">
                <a:alpha val="15000"/>
              </a:srgbClr>
            </a:outerShdw>
          </a:effectLst>
        </p:spPr>
      </p:sp>
      <p:sp>
        <p:nvSpPr>
          <p:cNvPr id="12" name="Text 10"/>
          <p:cNvSpPr/>
          <p:nvPr/>
        </p:nvSpPr>
        <p:spPr>
          <a:xfrm>
            <a:off x="594360" y="2697480"/>
            <a:ext cx="2423160" cy="320040"/>
          </a:xfrm>
          <a:prstGeom prst="rect">
            <a:avLst/>
          </a:prstGeom>
          <a:noFill/>
          <a:ln/>
        </p:spPr>
        <p:txBody>
          <a:bodyPr wrap="square" rtlCol="0" anchor="ctr">
            <a:normAutofit/>
          </a:bodyPr>
          <a:lstStyle/>
          <a:p>
            <a:pPr indent="0" marL="0">
              <a:buNone/>
            </a:pPr>
            <a:r>
              <a:rPr lang="en-US" sz="1200" b="1" dirty="0">
                <a:solidFill>
                  <a:srgbClr val="97BC62"/>
                </a:solidFill>
                <a:latin typeface="Georgia" pitchFamily="34" charset="0"/>
                <a:ea typeface="Georgia" pitchFamily="34" charset="-122"/>
                <a:cs typeface="Georgia" pitchFamily="34" charset="-120"/>
              </a:rPr>
              <a:t>Easy Examples</a:t>
            </a:r>
            <a:endParaRPr lang="en-US" sz="1200" dirty="0"/>
          </a:p>
        </p:txBody>
      </p:sp>
      <p:sp>
        <p:nvSpPr>
          <p:cNvPr id="13" name="Text 11"/>
          <p:cNvSpPr/>
          <p:nvPr/>
        </p:nvSpPr>
        <p:spPr>
          <a:xfrm>
            <a:off x="594360" y="3017520"/>
            <a:ext cx="2423160" cy="1600200"/>
          </a:xfrm>
          <a:prstGeom prst="rect">
            <a:avLst/>
          </a:prstGeom>
          <a:noFill/>
          <a:ln/>
        </p:spPr>
        <p:txBody>
          <a:bodyPr wrap="square" rtlCol="0" anchor="t">
            <a:normAutofit/>
          </a:bodyPr>
          <a:lstStyle/>
          <a:p>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High pt (e.g., 0.9)</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(1-pt)^2 = 0.01</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Loss weighted by 0.01</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=&gt; Effectively ignored</a:t>
            </a:r>
            <a:endParaRPr lang="en-US" sz="1000" dirty="0"/>
          </a:p>
        </p:txBody>
      </p:sp>
      <p:sp>
        <p:nvSpPr>
          <p:cNvPr id="14" name="Shape 12"/>
          <p:cNvSpPr/>
          <p:nvPr/>
        </p:nvSpPr>
        <p:spPr>
          <a:xfrm>
            <a:off x="3337560" y="2606040"/>
            <a:ext cx="2697480" cy="2103120"/>
          </a:xfrm>
          <a:prstGeom prst="roundRect">
            <a:avLst>
              <a:gd name="adj" fmla="val 4348"/>
            </a:avLst>
          </a:prstGeom>
          <a:solidFill>
            <a:srgbClr val="F5F2E8"/>
          </a:solidFill>
          <a:ln w="6350">
            <a:solidFill>
              <a:srgbClr val="E8E4DC"/>
            </a:solidFill>
            <a:prstDash val="solid"/>
          </a:ln>
          <a:effectLst>
            <a:outerShdw sx="100000" sy="100000" kx="0" ky="0" algn="bl" rotWithShape="0" blurRad="50800" dist="25400" dir="2700000">
              <a:srgbClr val="000000">
                <a:alpha val="15000"/>
              </a:srgbClr>
            </a:outerShdw>
          </a:effectLst>
        </p:spPr>
      </p:sp>
      <p:sp>
        <p:nvSpPr>
          <p:cNvPr id="15" name="Text 13"/>
          <p:cNvSpPr/>
          <p:nvPr/>
        </p:nvSpPr>
        <p:spPr>
          <a:xfrm>
            <a:off x="3474720" y="2697480"/>
            <a:ext cx="2423160" cy="320040"/>
          </a:xfrm>
          <a:prstGeom prst="rect">
            <a:avLst/>
          </a:prstGeom>
          <a:noFill/>
          <a:ln/>
        </p:spPr>
        <p:txBody>
          <a:bodyPr wrap="square" rtlCol="0" anchor="ctr">
            <a:normAutofit/>
          </a:bodyPr>
          <a:lstStyle/>
          <a:p>
            <a:pPr indent="0" marL="0">
              <a:buNone/>
            </a:pPr>
            <a:r>
              <a:rPr lang="en-US" sz="1200" b="1" dirty="0">
                <a:solidFill>
                  <a:srgbClr val="D4A843"/>
                </a:solidFill>
                <a:latin typeface="Georgia" pitchFamily="34" charset="0"/>
                <a:ea typeface="Georgia" pitchFamily="34" charset="-122"/>
                <a:cs typeface="Georgia" pitchFamily="34" charset="-120"/>
              </a:rPr>
              <a:t>Hard Examples</a:t>
            </a:r>
            <a:endParaRPr lang="en-US" sz="1200" dirty="0"/>
          </a:p>
        </p:txBody>
      </p:sp>
      <p:sp>
        <p:nvSpPr>
          <p:cNvPr id="16" name="Text 14"/>
          <p:cNvSpPr/>
          <p:nvPr/>
        </p:nvSpPr>
        <p:spPr>
          <a:xfrm>
            <a:off x="3474720" y="3017520"/>
            <a:ext cx="2423160" cy="1600200"/>
          </a:xfrm>
          <a:prstGeom prst="rect">
            <a:avLst/>
          </a:prstGeom>
          <a:noFill/>
          <a:ln/>
        </p:spPr>
        <p:txBody>
          <a:bodyPr wrap="square" rtlCol="0" anchor="t">
            <a:normAutofit/>
          </a:bodyPr>
          <a:lstStyle/>
          <a:p>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Low pt (e.g., 0.1)</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(1-pt)^2 = 0.81</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Loss nearly unchanged</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=&gt; Focus on these</a:t>
            </a:r>
            <a:endParaRPr lang="en-US" sz="1000" dirty="0"/>
          </a:p>
        </p:txBody>
      </p:sp>
      <p:sp>
        <p:nvSpPr>
          <p:cNvPr id="17" name="Shape 15"/>
          <p:cNvSpPr/>
          <p:nvPr/>
        </p:nvSpPr>
        <p:spPr>
          <a:xfrm>
            <a:off x="6217920" y="2606040"/>
            <a:ext cx="2697480" cy="2103120"/>
          </a:xfrm>
          <a:prstGeom prst="roundRect">
            <a:avLst>
              <a:gd name="adj" fmla="val 4348"/>
            </a:avLst>
          </a:prstGeom>
          <a:solidFill>
            <a:srgbClr val="F5F2E8"/>
          </a:solidFill>
          <a:ln w="6350">
            <a:solidFill>
              <a:srgbClr val="E8E4DC"/>
            </a:solidFill>
            <a:prstDash val="solid"/>
          </a:ln>
          <a:effectLst>
            <a:outerShdw sx="100000" sy="100000" kx="0" ky="0" algn="bl" rotWithShape="0" blurRad="50800" dist="25400" dir="2700000">
              <a:srgbClr val="000000">
                <a:alpha val="15000"/>
              </a:srgbClr>
            </a:outerShdw>
          </a:effectLst>
        </p:spPr>
      </p:sp>
      <p:sp>
        <p:nvSpPr>
          <p:cNvPr id="18" name="Text 16"/>
          <p:cNvSpPr/>
          <p:nvPr/>
        </p:nvSpPr>
        <p:spPr>
          <a:xfrm>
            <a:off x="6355080" y="2697480"/>
            <a:ext cx="2423160" cy="32004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Alpha Balancing</a:t>
            </a:r>
            <a:endParaRPr lang="en-US" sz="1200" dirty="0"/>
          </a:p>
        </p:txBody>
      </p:sp>
      <p:sp>
        <p:nvSpPr>
          <p:cNvPr id="19" name="Text 17"/>
          <p:cNvSpPr/>
          <p:nvPr/>
        </p:nvSpPr>
        <p:spPr>
          <a:xfrm>
            <a:off x="6355080" y="3017520"/>
            <a:ext cx="2423160" cy="1600200"/>
          </a:xfrm>
          <a:prstGeom prst="rect">
            <a:avLst/>
          </a:prstGeom>
          <a:noFill/>
          <a:ln/>
        </p:spPr>
        <p:txBody>
          <a:bodyPr wrap="square" rtlCol="0" anchor="t">
            <a:normAutofit/>
          </a:bodyPr>
          <a:lstStyle/>
          <a:p>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alpha_t balances pos/neg ratio</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Typically alpha = 0.25</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Works with gamma = 2</a:t>
            </a:r>
            <a:pPr indent="0" marL="0">
              <a:lnSpc>
                <a:spcPct val="110000"/>
              </a:lnSpc>
              <a:buNone/>
            </a:pPr>
            <a:r>
              <a:rPr lang="en-US" sz="1000" dirty="0">
                <a:solidFill>
                  <a:srgbClr val="333333"/>
                </a:solidFill>
                <a:latin typeface="Calibri" pitchFamily="34" charset="0"/>
                <a:ea typeface="Calibri" pitchFamily="34" charset="-122"/>
                <a:cs typeface="Calibri" pitchFamily="34" charset="-120"/>
              </a:rPr>
              <a:t>Complementary effect</a:t>
            </a:r>
            <a:endParaRPr lang="en-US" sz="1000" dirty="0"/>
          </a:p>
        </p:txBody>
      </p:sp>
      <p:sp>
        <p:nvSpPr>
          <p:cNvPr id="20" name="Text 18"/>
          <p:cNvSpPr/>
          <p:nvPr/>
        </p:nvSpPr>
        <p:spPr>
          <a:xfrm>
            <a:off x="8046720" y="4754880"/>
            <a:ext cx="914400" cy="274320"/>
          </a:xfrm>
          <a:prstGeom prst="rect">
            <a:avLst/>
          </a:prstGeom>
          <a:noFill/>
          <a:ln/>
        </p:spPr>
        <p:txBody>
          <a:bodyPr wrap="square" rtlCol="0" anchor="ctr">
            <a:normAutofit/>
          </a:bodyPr>
          <a:lstStyle/>
          <a:p>
            <a:pPr algn="r" indent="0" marL="0">
              <a:buNone/>
            </a:pPr>
            <a:r>
              <a:rPr lang="en-US" sz="900" dirty="0">
                <a:solidFill>
                  <a:srgbClr val="666666"/>
                </a:solidFill>
                <a:latin typeface="Calibri" pitchFamily="34" charset="0"/>
                <a:ea typeface="Calibri" pitchFamily="34" charset="-122"/>
                <a:cs typeface="Calibri" pitchFamily="34" charset="-120"/>
              </a:rPr>
              <a:t>11 / 16</a:t>
            </a:r>
            <a:endParaRPr lang="en-US" sz="900" dirty="0"/>
          </a:p>
        </p:txBody>
      </p:sp>
      <p:sp>
        <p:nvSpPr>
          <p:cNvPr id="21"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365760" y="182880"/>
            <a:ext cx="8412480" cy="502920"/>
          </a:xfrm>
          <a:prstGeom prst="rect">
            <a:avLst/>
          </a:prstGeom>
          <a:noFill/>
          <a:ln/>
        </p:spPr>
        <p:txBody>
          <a:bodyPr wrap="square" rtlCol="0" anchor="ctr">
            <a:normAutofit/>
          </a:bodyPr>
          <a:lstStyle/>
          <a:p>
            <a:pPr indent="0" marL="0">
              <a:buNone/>
            </a:pPr>
            <a:r>
              <a:rPr lang="en-US" sz="2400" b="1" dirty="0">
                <a:solidFill>
                  <a:srgbClr val="2C5F2D"/>
                </a:solidFill>
                <a:latin typeface="Georgia" pitchFamily="34" charset="0"/>
                <a:ea typeface="Georgia" pitchFamily="34" charset="-122"/>
                <a:cs typeface="Georgia" pitchFamily="34" charset="-120"/>
              </a:rPr>
              <a:t>Performance Benchmarks</a:t>
            </a:r>
            <a:endParaRPr lang="en-US" sz="2400" dirty="0"/>
          </a:p>
        </p:txBody>
      </p:sp>
      <p:sp>
        <p:nvSpPr>
          <p:cNvPr id="4" name="Text 2"/>
          <p:cNvSpPr/>
          <p:nvPr/>
        </p:nvSpPr>
        <p:spPr>
          <a:xfrm>
            <a:off x="365760" y="685800"/>
            <a:ext cx="8412480" cy="274320"/>
          </a:xfrm>
          <a:prstGeom prst="rect">
            <a:avLst/>
          </a:prstGeom>
          <a:noFill/>
          <a:ln/>
        </p:spPr>
        <p:txBody>
          <a:bodyPr wrap="square" rtlCol="0" anchor="ctr">
            <a:normAutofit/>
          </a:bodyPr>
          <a:lstStyle/>
          <a:p>
            <a:pPr indent="0" marL="0">
              <a:buNone/>
            </a:pPr>
            <a:r>
              <a:rPr lang="en-US" sz="1200" i="1" dirty="0">
                <a:solidFill>
                  <a:srgbClr val="666666"/>
                </a:solidFill>
                <a:latin typeface="Calibri" pitchFamily="34" charset="0"/>
                <a:ea typeface="Calibri" pitchFamily="34" charset="-122"/>
                <a:cs typeface="Calibri" pitchFamily="34" charset="-120"/>
              </a:rPr>
              <a:t>COCO test-dev results comparison</a:t>
            </a:r>
            <a:endParaRPr lang="en-US" sz="1200" dirty="0"/>
          </a:p>
        </p:txBody>
      </p:sp>
      <p:sp>
        <p:nvSpPr>
          <p:cNvPr id="5" name="Shape 3"/>
          <p:cNvSpPr/>
          <p:nvPr/>
        </p:nvSpPr>
        <p:spPr>
          <a:xfrm>
            <a:off x="0" y="5106924"/>
            <a:ext cx="9144000" cy="36576"/>
          </a:xfrm>
          <a:prstGeom prst="rect">
            <a:avLst/>
          </a:prstGeom>
          <a:solidFill>
            <a:srgbClr val="97BC62"/>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94560"/>
                <a:gridCol w="1371600"/>
                <a:gridCol w="1188720"/>
                <a:gridCol w="822960"/>
                <a:gridCol w="822960"/>
              </a:tblGrid>
              <a:tr h="411480">
                <a:tc>
                  <a:txBody>
                    <a:bodyPr/>
                    <a:lstStyle/>
                    <a:p>
                      <a:pPr algn="ctr" indent="0" marL="0">
                        <a:buNone/>
                      </a:pPr>
                      <a:r>
                        <a:rPr lang="en-US" sz="1000" b="1" dirty="0">
                          <a:solidFill>
                            <a:srgbClr val="FFFFFF"/>
                          </a:solidFill>
                          <a:latin typeface="Georgia" pitchFamily="34" charset="0"/>
                          <a:ea typeface="Georgia" pitchFamily="34" charset="-122"/>
                          <a:cs typeface="Georgia" pitchFamily="34" charset="-120"/>
                        </a:rPr>
                        <a:t>Model</a:t>
                      </a:r>
                      <a:endParaRPr lang="en-US" sz="1000" dirty="0">
                        <a:latin typeface="Georgia" charset="0"/>
                        <a:ea typeface="Georgia" charset="0"/>
                        <a:cs typeface="Georgi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2C5F2D"/>
                    </a:solidFill>
                  </a:tcPr>
                </a:tc>
                <a:tc>
                  <a:txBody>
                    <a:bodyPr/>
                    <a:lstStyle/>
                    <a:p>
                      <a:pPr algn="ctr" indent="0" marL="0">
                        <a:buNone/>
                      </a:pPr>
                      <a:r>
                        <a:rPr lang="en-US" sz="1000" b="1" dirty="0">
                          <a:solidFill>
                            <a:srgbClr val="FFFFFF"/>
                          </a:solidFill>
                          <a:latin typeface="Georgia" pitchFamily="34" charset="0"/>
                          <a:ea typeface="Georgia" pitchFamily="34" charset="-122"/>
                          <a:cs typeface="Georgia" pitchFamily="34" charset="-120"/>
                        </a:rPr>
                        <a:t>Backbone</a:t>
                      </a:r>
                      <a:endParaRPr lang="en-US" sz="1000" dirty="0">
                        <a:latin typeface="Georgia" charset="0"/>
                        <a:ea typeface="Georgia" charset="0"/>
                        <a:cs typeface="Georgi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2C5F2D"/>
                    </a:solidFill>
                  </a:tcPr>
                </a:tc>
                <a:tc>
                  <a:txBody>
                    <a:bodyPr/>
                    <a:lstStyle/>
                    <a:p>
                      <a:pPr algn="ctr" indent="0" marL="0">
                        <a:buNone/>
                      </a:pPr>
                      <a:r>
                        <a:rPr lang="en-US" sz="1000" b="1" dirty="0">
                          <a:solidFill>
                            <a:srgbClr val="FFFFFF"/>
                          </a:solidFill>
                          <a:latin typeface="Georgia" pitchFamily="34" charset="0"/>
                          <a:ea typeface="Georgia" pitchFamily="34" charset="-122"/>
                          <a:cs typeface="Georgia" pitchFamily="34" charset="-120"/>
                        </a:rPr>
                        <a:t>Input Size</a:t>
                      </a:r>
                      <a:endParaRPr lang="en-US" sz="1000" dirty="0">
                        <a:latin typeface="Georgia" charset="0"/>
                        <a:ea typeface="Georgia" charset="0"/>
                        <a:cs typeface="Georgi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2C5F2D"/>
                    </a:solidFill>
                  </a:tcPr>
                </a:tc>
                <a:tc>
                  <a:txBody>
                    <a:bodyPr/>
                    <a:lstStyle/>
                    <a:p>
                      <a:pPr algn="ctr" indent="0" marL="0">
                        <a:buNone/>
                      </a:pPr>
                      <a:r>
                        <a:rPr lang="en-US" sz="1000" b="1" dirty="0">
                          <a:solidFill>
                            <a:srgbClr val="FFFFFF"/>
                          </a:solidFill>
                          <a:latin typeface="Georgia" pitchFamily="34" charset="0"/>
                          <a:ea typeface="Georgia" pitchFamily="34" charset="-122"/>
                          <a:cs typeface="Georgia" pitchFamily="34" charset="-120"/>
                        </a:rPr>
                        <a:t>mAP</a:t>
                      </a:r>
                      <a:endParaRPr lang="en-US" sz="1000" dirty="0">
                        <a:latin typeface="Georgia" charset="0"/>
                        <a:ea typeface="Georgia" charset="0"/>
                        <a:cs typeface="Georgi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2C5F2D"/>
                    </a:solidFill>
                  </a:tcPr>
                </a:tc>
                <a:tc>
                  <a:txBody>
                    <a:bodyPr/>
                    <a:lstStyle/>
                    <a:p>
                      <a:pPr algn="ctr" indent="0" marL="0">
                        <a:buNone/>
                      </a:pPr>
                      <a:r>
                        <a:rPr lang="en-US" sz="1000" b="1" dirty="0">
                          <a:solidFill>
                            <a:srgbClr val="FFFFFF"/>
                          </a:solidFill>
                          <a:latin typeface="Georgia" pitchFamily="34" charset="0"/>
                          <a:ea typeface="Georgia" pitchFamily="34" charset="-122"/>
                          <a:cs typeface="Georgia" pitchFamily="34" charset="-120"/>
                        </a:rPr>
                        <a:t>FPS</a:t>
                      </a:r>
                      <a:endParaRPr lang="en-US" sz="1000" dirty="0">
                        <a:latin typeface="Georgia" charset="0"/>
                        <a:ea typeface="Georgia" charset="0"/>
                        <a:cs typeface="Georgia"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solidFill>
                      <a:srgbClr val="2C5F2D"/>
                    </a:solidFill>
                  </a:tcPr>
                </a:tc>
              </a:tr>
              <a:tr h="411480">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SSD300</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VGG16</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300x300</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b="1" dirty="0">
                          <a:solidFill>
                            <a:srgbClr val="333333"/>
                          </a:solidFill>
                          <a:latin typeface="Calibri" pitchFamily="34" charset="0"/>
                          <a:ea typeface="Calibri" pitchFamily="34" charset="-122"/>
                          <a:cs typeface="Calibri" pitchFamily="34" charset="-120"/>
                        </a:rPr>
                        <a:t>25.1</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b="1" dirty="0">
                          <a:solidFill>
                            <a:srgbClr val="97BC62"/>
                          </a:solidFill>
                          <a:latin typeface="Calibri" pitchFamily="34" charset="0"/>
                          <a:ea typeface="Calibri" pitchFamily="34" charset="-122"/>
                          <a:cs typeface="Calibri" pitchFamily="34" charset="-120"/>
                        </a:rPr>
                        <a:t>59</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411480">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SSD512</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VGG16</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512x512</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b="1" dirty="0">
                          <a:solidFill>
                            <a:srgbClr val="333333"/>
                          </a:solidFill>
                          <a:latin typeface="Calibri" pitchFamily="34" charset="0"/>
                          <a:ea typeface="Calibri" pitchFamily="34" charset="-122"/>
                          <a:cs typeface="Calibri" pitchFamily="34" charset="-120"/>
                        </a:rPr>
                        <a:t>28.8</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b="1" dirty="0">
                          <a:solidFill>
                            <a:srgbClr val="97BC62"/>
                          </a:solidFill>
                          <a:latin typeface="Calibri" pitchFamily="34" charset="0"/>
                          <a:ea typeface="Calibri" pitchFamily="34" charset="-122"/>
                          <a:cs typeface="Calibri" pitchFamily="34" charset="-120"/>
                        </a:rPr>
                        <a:t>22</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411480">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FPN+Faster RCNN</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ResNet-101</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800x1333</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b="1" dirty="0">
                          <a:solidFill>
                            <a:srgbClr val="D4A843"/>
                          </a:solidFill>
                          <a:latin typeface="Calibri" pitchFamily="34" charset="0"/>
                          <a:ea typeface="Calibri" pitchFamily="34" charset="-122"/>
                          <a:cs typeface="Calibri" pitchFamily="34" charset="-120"/>
                        </a:rPr>
                        <a:t>36.2</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b="1" dirty="0">
                          <a:solidFill>
                            <a:srgbClr val="97BC62"/>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r h="411480">
                <a:tc>
                  <a:txBody>
                    <a:bodyPr/>
                    <a:lstStyle/>
                    <a:p>
                      <a:pPr indent="0" marL="0">
                        <a:buNone/>
                      </a:pPr>
                      <a:r>
                        <a:rPr lang="en-US" sz="1000" dirty="0">
                          <a:solidFill>
                            <a:srgbClr val="333333"/>
                          </a:solidFill>
                          <a:latin typeface="Calibri" pitchFamily="34" charset="0"/>
                          <a:ea typeface="Calibri" pitchFamily="34" charset="-122"/>
                          <a:cs typeface="Calibri" pitchFamily="34" charset="-120"/>
                        </a:rPr>
                        <a:t>RetinaNet-101</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ResNet-101-FPN</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dirty="0">
                          <a:solidFill>
                            <a:srgbClr val="333333"/>
                          </a:solidFill>
                          <a:latin typeface="Calibri" pitchFamily="34" charset="0"/>
                          <a:ea typeface="Calibri" pitchFamily="34" charset="-122"/>
                          <a:cs typeface="Calibri" pitchFamily="34" charset="-120"/>
                        </a:rPr>
                        <a:t>800x1333</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b="1" dirty="0">
                          <a:solidFill>
                            <a:srgbClr val="D4A843"/>
                          </a:solidFill>
                          <a:latin typeface="Calibri" pitchFamily="34" charset="0"/>
                          <a:ea typeface="Calibri" pitchFamily="34" charset="-122"/>
                          <a:cs typeface="Calibri" pitchFamily="34" charset="-120"/>
                        </a:rPr>
                        <a:t>39.1</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c>
                  <a:txBody>
                    <a:bodyPr/>
                    <a:lstStyle/>
                    <a:p>
                      <a:pPr algn="ctr" indent="0" marL="0">
                        <a:buNone/>
                      </a:pPr>
                      <a:r>
                        <a:rPr lang="en-US" sz="1000" b="1" dirty="0">
                          <a:solidFill>
                            <a:srgbClr val="97BC62"/>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lnL w="6350" cap="flat" cmpd="sng" algn="ctr">
                      <a:solidFill>
                        <a:srgbClr val="E8E4DC"/>
                      </a:solidFill>
                      <a:prstDash val="solid"/>
                      <a:round/>
                      <a:headEnd type="none" w="med" len="med"/>
                      <a:tailEnd type="none" w="med" len="med"/>
                    </a:lnL>
                    <a:lnR w="6350" cap="flat" cmpd="sng" algn="ctr">
                      <a:solidFill>
                        <a:srgbClr val="E8E4DC"/>
                      </a:solidFill>
                      <a:prstDash val="solid"/>
                      <a:round/>
                      <a:headEnd type="none" w="med" len="med"/>
                      <a:tailEnd type="none" w="med" len="med"/>
                    </a:lnR>
                    <a:lnT w="6350" cap="flat" cmpd="sng" algn="ctr">
                      <a:solidFill>
                        <a:srgbClr val="E8E4DC"/>
                      </a:solidFill>
                      <a:prstDash val="solid"/>
                      <a:round/>
                      <a:headEnd type="none" w="med" len="med"/>
                      <a:tailEnd type="none" w="med" len="med"/>
                    </a:lnT>
                    <a:lnB w="6350" cap="flat" cmpd="sng" algn="ctr">
                      <a:solidFill>
                        <a:srgbClr val="E8E4DC"/>
                      </a:solidFill>
                      <a:prstDash val="solid"/>
                      <a:round/>
                      <a:headEnd type="none" w="med" len="med"/>
                      <a:tailEnd type="none" w="med" len="med"/>
                    </a:lnB>
                  </a:tcPr>
                </a:tc>
              </a:tr>
            </a:tbl>
          </a:graphicData>
        </a:graphic>
      </p:graphicFrame>
      <p:sp>
        <p:nvSpPr>
          <p:cNvPr id="7" name="Shape 4"/>
          <p:cNvSpPr/>
          <p:nvPr/>
        </p:nvSpPr>
        <p:spPr>
          <a:xfrm>
            <a:off x="914400" y="3474720"/>
            <a:ext cx="7315200" cy="1188720"/>
          </a:xfrm>
          <a:prstGeom prst="roundRect">
            <a:avLst>
              <a:gd name="adj" fmla="val 7692"/>
            </a:avLst>
          </a:prstGeom>
          <a:solidFill>
            <a:srgbClr val="F5F2E8"/>
          </a:solidFill>
          <a:ln/>
          <a:effectLst>
            <a:outerShdw sx="100000" sy="100000" kx="0" ky="0" algn="bl" rotWithShape="0" blurRad="50800" dist="25400" dir="2700000">
              <a:srgbClr val="000000">
                <a:alpha val="12000"/>
              </a:srgbClr>
            </a:outerShdw>
          </a:effectLst>
        </p:spPr>
      </p:sp>
      <p:sp>
        <p:nvSpPr>
          <p:cNvPr id="8" name="Text 5"/>
          <p:cNvSpPr/>
          <p:nvPr/>
        </p:nvSpPr>
        <p:spPr>
          <a:xfrm>
            <a:off x="914400" y="3520440"/>
            <a:ext cx="7315200" cy="32004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Key Takeaways</a:t>
            </a:r>
            <a:endParaRPr lang="en-US" sz="1300" dirty="0"/>
          </a:p>
        </p:txBody>
      </p:sp>
      <p:sp>
        <p:nvSpPr>
          <p:cNvPr id="9" name="Text 6"/>
          <p:cNvSpPr/>
          <p:nvPr/>
        </p:nvSpPr>
        <p:spPr>
          <a:xfrm>
            <a:off x="1097280" y="3840480"/>
            <a:ext cx="6949440" cy="731520"/>
          </a:xfrm>
          <a:prstGeom prst="rect">
            <a:avLst/>
          </a:prstGeom>
          <a:noFill/>
          <a:ln/>
        </p:spPr>
        <p:txBody>
          <a:bodyPr wrap="square" rtlCol="0" anchor="t">
            <a:normAutofit/>
          </a:bodyPr>
          <a:lstStyle/>
          <a:p>
            <a:pPr indent="0" marL="0">
              <a:buNone/>
            </a:pPr>
            <a:r>
              <a:rPr lang="en-US" sz="1000" b="1" dirty="0">
                <a:solidFill>
                  <a:srgbClr val="2C5F2D"/>
                </a:solidFill>
                <a:latin typeface="Calibri" pitchFamily="34" charset="0"/>
                <a:ea typeface="Calibri" pitchFamily="34" charset="-122"/>
                <a:cs typeface="Calibri" pitchFamily="34" charset="-120"/>
              </a:rPr>
              <a:t>SSD: </a:t>
            </a:r>
            <a:pPr indent="0" marL="0">
              <a:buNone/>
            </a:pPr>
            <a:r>
              <a:rPr lang="en-US" sz="1000" dirty="0">
                <a:solidFill>
                  <a:srgbClr val="333333"/>
                </a:solidFill>
                <a:latin typeface="Calibri" pitchFamily="34" charset="0"/>
                <a:ea typeface="Calibri" pitchFamily="34" charset="-122"/>
                <a:cs typeface="Calibri" pitchFamily="34" charset="-120"/>
              </a:rPr>
              <a:t>Best real-time performance, good accuracy
</a:t>
            </a:r>
            <a:pPr indent="0" marL="0">
              <a:buNone/>
            </a:pPr>
            <a:r>
              <a:rPr lang="en-US" sz="1000" b="1" dirty="0">
                <a:solidFill>
                  <a:srgbClr val="2C5F2D"/>
                </a:solidFill>
                <a:latin typeface="Calibri" pitchFamily="34" charset="0"/>
                <a:ea typeface="Calibri" pitchFamily="34" charset="-122"/>
                <a:cs typeface="Calibri" pitchFamily="34" charset="-120"/>
              </a:rPr>
              <a:t>FPN: </a:t>
            </a:r>
            <a:pPr indent="0" marL="0">
              <a:buNone/>
            </a:pPr>
            <a:r>
              <a:rPr lang="en-US" sz="1000" dirty="0">
                <a:solidFill>
                  <a:srgbClr val="333333"/>
                </a:solidFill>
                <a:latin typeface="Calibri" pitchFamily="34" charset="0"/>
                <a:ea typeface="Calibri" pitchFamily="34" charset="-122"/>
                <a:cs typeface="Calibri" pitchFamily="34" charset="-120"/>
              </a:rPr>
              <a:t>Boosts any detector's multi-scale capability
</a:t>
            </a:r>
            <a:pPr indent="0" marL="0">
              <a:buNone/>
            </a:pPr>
            <a:r>
              <a:rPr lang="en-US" sz="1000" b="1" dirty="0">
                <a:solidFill>
                  <a:srgbClr val="2C5F2D"/>
                </a:solidFill>
                <a:latin typeface="Calibri" pitchFamily="34" charset="0"/>
                <a:ea typeface="Calibri" pitchFamily="34" charset="-122"/>
                <a:cs typeface="Calibri" pitchFamily="34" charset="-120"/>
              </a:rPr>
              <a:t>RetinaNet: </a:t>
            </a:r>
            <a:pPr indent="0" marL="0">
              <a:buNone/>
            </a:pPr>
            <a:r>
              <a:rPr lang="en-US" sz="1000" dirty="0">
                <a:solidFill>
                  <a:srgbClr val="333333"/>
                </a:solidFill>
                <a:latin typeface="Calibri" pitchFamily="34" charset="0"/>
                <a:ea typeface="Calibri" pitchFamily="34" charset="-122"/>
                <a:cs typeface="Calibri" pitchFamily="34" charset="-120"/>
              </a:rPr>
              <a:t>First single-stage to surpass two-stage detectors</a:t>
            </a:r>
            <a:endParaRPr lang="en-US" sz="1000" dirty="0"/>
          </a:p>
        </p:txBody>
      </p:sp>
      <p:sp>
        <p:nvSpPr>
          <p:cNvPr id="10" name="Text 7"/>
          <p:cNvSpPr/>
          <p:nvPr/>
        </p:nvSpPr>
        <p:spPr>
          <a:xfrm>
            <a:off x="8046720" y="4754880"/>
            <a:ext cx="914400" cy="274320"/>
          </a:xfrm>
          <a:prstGeom prst="rect">
            <a:avLst/>
          </a:prstGeom>
          <a:noFill/>
          <a:ln/>
        </p:spPr>
        <p:txBody>
          <a:bodyPr wrap="square" rtlCol="0" anchor="ctr">
            <a:normAutofit/>
          </a:bodyPr>
          <a:lstStyle/>
          <a:p>
            <a:pPr algn="r" indent="0" marL="0">
              <a:buNone/>
            </a:pPr>
            <a:r>
              <a:rPr lang="en-US" sz="900" dirty="0">
                <a:solidFill>
                  <a:srgbClr val="666666"/>
                </a:solidFill>
                <a:latin typeface="Calibri" pitchFamily="34" charset="0"/>
                <a:ea typeface="Calibri" pitchFamily="34" charset="-122"/>
                <a:cs typeface="Calibri" pitchFamily="34" charset="-120"/>
              </a:rPr>
              <a:t>12 / 16</a:t>
            </a:r>
            <a:endParaRPr lang="en-US" sz="900" dirty="0"/>
          </a:p>
        </p:txBody>
      </p:sp>
      <p:sp>
        <p:nvSpPr>
          <p:cNvPr id="14"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365760" y="182880"/>
            <a:ext cx="8412480" cy="502920"/>
          </a:xfrm>
          <a:prstGeom prst="rect">
            <a:avLst/>
          </a:prstGeom>
          <a:noFill/>
          <a:ln/>
        </p:spPr>
        <p:txBody>
          <a:bodyPr wrap="square" rtlCol="0" anchor="ctr">
            <a:normAutofit/>
          </a:bodyPr>
          <a:lstStyle/>
          <a:p>
            <a:pPr indent="0" marL="0">
              <a:buNone/>
            </a:pPr>
            <a:r>
              <a:rPr lang="en-US" sz="2400" b="1" dirty="0">
                <a:solidFill>
                  <a:srgbClr val="2C5F2D"/>
                </a:solidFill>
                <a:latin typeface="Georgia" pitchFamily="34" charset="0"/>
                <a:ea typeface="Georgia" pitchFamily="34" charset="-122"/>
                <a:cs typeface="Georgia" pitchFamily="34" charset="-120"/>
              </a:rPr>
              <a:t>Key Contributors</a:t>
            </a:r>
            <a:endParaRPr lang="en-US" sz="2400" dirty="0"/>
          </a:p>
        </p:txBody>
      </p:sp>
      <p:sp>
        <p:nvSpPr>
          <p:cNvPr id="4" name="Text 2"/>
          <p:cNvSpPr/>
          <p:nvPr/>
        </p:nvSpPr>
        <p:spPr>
          <a:xfrm>
            <a:off x="365760" y="685800"/>
            <a:ext cx="8412480" cy="274320"/>
          </a:xfrm>
          <a:prstGeom prst="rect">
            <a:avLst/>
          </a:prstGeom>
          <a:noFill/>
          <a:ln/>
        </p:spPr>
        <p:txBody>
          <a:bodyPr wrap="square" rtlCol="0" anchor="ctr">
            <a:normAutofit/>
          </a:bodyPr>
          <a:lstStyle/>
          <a:p>
            <a:pPr indent="0" marL="0">
              <a:buNone/>
            </a:pPr>
            <a:r>
              <a:rPr lang="en-US" sz="1200" i="1" dirty="0">
                <a:solidFill>
                  <a:srgbClr val="666666"/>
                </a:solidFill>
                <a:latin typeface="Calibri" pitchFamily="34" charset="0"/>
                <a:ea typeface="Calibri" pitchFamily="34" charset="-122"/>
                <a:cs typeface="Calibri" pitchFamily="34" charset="-120"/>
              </a:rPr>
              <a:t>The researchers behind the breakthroughs</a:t>
            </a:r>
            <a:endParaRPr lang="en-US" sz="1200" dirty="0"/>
          </a:p>
        </p:txBody>
      </p:sp>
      <p:sp>
        <p:nvSpPr>
          <p:cNvPr id="5" name="Shape 3"/>
          <p:cNvSpPr/>
          <p:nvPr/>
        </p:nvSpPr>
        <p:spPr>
          <a:xfrm>
            <a:off x="0" y="5106924"/>
            <a:ext cx="9144000" cy="36576"/>
          </a:xfrm>
          <a:prstGeom prst="rect">
            <a:avLst/>
          </a:prstGeom>
          <a:solidFill>
            <a:srgbClr val="97BC62"/>
          </a:solidFill>
          <a:ln/>
        </p:spPr>
      </p:sp>
      <p:sp>
        <p:nvSpPr>
          <p:cNvPr id="6" name="Shape 4"/>
          <p:cNvSpPr/>
          <p:nvPr/>
        </p:nvSpPr>
        <p:spPr>
          <a:xfrm>
            <a:off x="731520" y="1188720"/>
            <a:ext cx="3474720" cy="3291840"/>
          </a:xfrm>
          <a:prstGeom prst="roundRect">
            <a:avLst>
              <a:gd name="adj" fmla="val 2778"/>
            </a:avLst>
          </a:prstGeom>
          <a:solidFill>
            <a:srgbClr val="F5F2E8"/>
          </a:solidFill>
          <a:ln w="6350">
            <a:solidFill>
              <a:srgbClr val="E8E4DC"/>
            </a:solidFill>
            <a:prstDash val="solid"/>
          </a:ln>
          <a:effectLst>
            <a:outerShdw sx="100000" sy="100000" kx="0" ky="0" algn="bl" rotWithShape="0" blurRad="63500" dist="25400" dir="2700000">
              <a:srgbClr val="000000">
                <a:alpha val="15000"/>
              </a:srgbClr>
            </a:outerShdw>
          </a:effectLst>
        </p:spPr>
      </p:sp>
      <p:sp>
        <p:nvSpPr>
          <p:cNvPr id="7" name="Shape 5"/>
          <p:cNvSpPr/>
          <p:nvPr/>
        </p:nvSpPr>
        <p:spPr>
          <a:xfrm>
            <a:off x="1645920" y="1371600"/>
            <a:ext cx="1463040" cy="1463040"/>
          </a:xfrm>
          <a:prstGeom prst="ellipse">
            <a:avLst/>
          </a:prstGeom>
          <a:solidFill>
            <a:srgbClr val="2C5F2D"/>
          </a:solidFill>
          <a:ln/>
        </p:spPr>
      </p:sp>
      <p:sp>
        <p:nvSpPr>
          <p:cNvPr id="8" name="Text 6"/>
          <p:cNvSpPr/>
          <p:nvPr/>
        </p:nvSpPr>
        <p:spPr>
          <a:xfrm>
            <a:off x="1645920" y="1371600"/>
            <a:ext cx="1463040" cy="1463040"/>
          </a:xfrm>
          <a:prstGeom prst="rect">
            <a:avLst/>
          </a:prstGeom>
          <a:noFill/>
          <a:ln/>
        </p:spPr>
        <p:txBody>
          <a:bodyPr wrap="square" rtlCol="0" anchor="ctr">
            <a:normAutofit/>
          </a:bodyPr>
          <a:lstStyle/>
          <a:p>
            <a:pPr algn="ctr" indent="0" marL="0">
              <a:buNone/>
            </a:pPr>
            <a:r>
              <a:rPr lang="en-US" sz="3600" b="1" dirty="0">
                <a:solidFill>
                  <a:srgbClr val="FFFFFF"/>
                </a:solidFill>
                <a:latin typeface="Georgia" pitchFamily="34" charset="0"/>
                <a:ea typeface="Georgia" pitchFamily="34" charset="-122"/>
                <a:cs typeface="Georgia" pitchFamily="34" charset="-120"/>
              </a:rPr>
              <a:t>WL</a:t>
            </a:r>
            <a:endParaRPr lang="en-US" sz="3600" dirty="0"/>
          </a:p>
        </p:txBody>
      </p:sp>
      <p:sp>
        <p:nvSpPr>
          <p:cNvPr id="9" name="Text 7"/>
          <p:cNvSpPr/>
          <p:nvPr/>
        </p:nvSpPr>
        <p:spPr>
          <a:xfrm>
            <a:off x="731520" y="2880360"/>
            <a:ext cx="3474720" cy="365760"/>
          </a:xfrm>
          <a:prstGeom prst="rect">
            <a:avLst/>
          </a:prstGeom>
          <a:noFill/>
          <a:ln/>
        </p:spPr>
        <p:txBody>
          <a:bodyPr wrap="square" rtlCol="0" anchor="ctr">
            <a:normAutofit/>
          </a:bodyPr>
          <a:lstStyle/>
          <a:p>
            <a:pPr algn="ctr" indent="0" marL="0">
              <a:buNone/>
            </a:pPr>
            <a:r>
              <a:rPr lang="en-US" sz="1600" b="1" dirty="0">
                <a:solidFill>
                  <a:srgbClr val="2C5F2D"/>
                </a:solidFill>
                <a:latin typeface="Georgia" pitchFamily="34" charset="0"/>
                <a:ea typeface="Georgia" pitchFamily="34" charset="-122"/>
                <a:cs typeface="Georgia" pitchFamily="34" charset="-120"/>
              </a:rPr>
              <a:t>Wei Liu</a:t>
            </a:r>
            <a:endParaRPr lang="en-US" sz="1600" dirty="0"/>
          </a:p>
        </p:txBody>
      </p:sp>
      <p:sp>
        <p:nvSpPr>
          <p:cNvPr id="10" name="Text 8"/>
          <p:cNvSpPr/>
          <p:nvPr/>
        </p:nvSpPr>
        <p:spPr>
          <a:xfrm>
            <a:off x="731520" y="3200400"/>
            <a:ext cx="3474720" cy="274320"/>
          </a:xfrm>
          <a:prstGeom prst="rect">
            <a:avLst/>
          </a:prstGeom>
          <a:noFill/>
          <a:ln/>
        </p:spPr>
        <p:txBody>
          <a:bodyPr wrap="square" rtlCol="0" anchor="ctr">
            <a:normAutofit/>
          </a:bodyPr>
          <a:lstStyle/>
          <a:p>
            <a:pPr algn="ctr" indent="0" marL="0">
              <a:buNone/>
            </a:pPr>
            <a:r>
              <a:rPr lang="en-US" sz="1000" dirty="0">
                <a:solidFill>
                  <a:srgbClr val="666666"/>
                </a:solidFill>
                <a:latin typeface="Calibri" pitchFamily="34" charset="0"/>
                <a:ea typeface="Calibri" pitchFamily="34" charset="-122"/>
                <a:cs typeface="Calibri" pitchFamily="34" charset="-120"/>
              </a:rPr>
              <a:t>UNC Chapel Hill</a:t>
            </a:r>
            <a:endParaRPr lang="en-US" sz="1000" dirty="0"/>
          </a:p>
        </p:txBody>
      </p:sp>
      <p:sp>
        <p:nvSpPr>
          <p:cNvPr id="11" name="Text 9"/>
          <p:cNvSpPr/>
          <p:nvPr/>
        </p:nvSpPr>
        <p:spPr>
          <a:xfrm>
            <a:off x="914400" y="3520440"/>
            <a:ext cx="3108960" cy="822960"/>
          </a:xfrm>
          <a:prstGeom prst="rect">
            <a:avLst/>
          </a:prstGeom>
          <a:noFill/>
          <a:ln/>
        </p:spPr>
        <p:txBody>
          <a:bodyPr wrap="square" rtlCol="0" anchor="t">
            <a:normAutofit/>
          </a:bodyPr>
          <a:lstStyle/>
          <a:p>
            <a:pPr indent="0" marL="0">
              <a:buNone/>
            </a:pPr>
            <a:r>
              <a:rPr lang="en-US" sz="1000" b="1" dirty="0">
                <a:solidFill>
                  <a:srgbClr val="333333"/>
                </a:solidFill>
                <a:latin typeface="Calibri" pitchFamily="34" charset="0"/>
                <a:ea typeface="Calibri" pitchFamily="34" charset="-122"/>
                <a:cs typeface="Calibri" pitchFamily="34" charset="-120"/>
              </a:rPr>
              <a:t>SSD (ECCV 2016)
</a:t>
            </a:r>
            <a:pPr indent="0" marL="0">
              <a:buNone/>
            </a:pPr>
            <a:r>
              <a:rPr lang="en-US" sz="900" dirty="0">
                <a:solidFill>
                  <a:srgbClr val="666666"/>
                </a:solidFill>
                <a:latin typeface="Calibri" pitchFamily="34" charset="0"/>
                <a:ea typeface="Calibri" pitchFamily="34" charset="-122"/>
                <a:cs typeface="Calibri" pitchFamily="34" charset="-120"/>
              </a:rPr>
              <a:t>Pioneered multi-scale</a:t>
            </a:r>
            <a:endParaRPr lang="en-US" sz="1000" dirty="0"/>
          </a:p>
          <a:p>
            <a:pPr indent="0" marL="0">
              <a:buNone/>
            </a:pPr>
            <a:r>
              <a:rPr lang="en-US" sz="900" dirty="0">
                <a:solidFill>
                  <a:srgbClr val="666666"/>
                </a:solidFill>
                <a:latin typeface="Calibri" pitchFamily="34" charset="0"/>
                <a:ea typeface="Calibri" pitchFamily="34" charset="-122"/>
                <a:cs typeface="Calibri" pitchFamily="34" charset="-120"/>
              </a:rPr>
              <a:t>feature map detection</a:t>
            </a:r>
            <a:endParaRPr lang="en-US" sz="1000" dirty="0"/>
          </a:p>
        </p:txBody>
      </p:sp>
      <p:sp>
        <p:nvSpPr>
          <p:cNvPr id="12" name="Shape 10"/>
          <p:cNvSpPr/>
          <p:nvPr/>
        </p:nvSpPr>
        <p:spPr>
          <a:xfrm>
            <a:off x="4937760" y="1188720"/>
            <a:ext cx="3474720" cy="3291840"/>
          </a:xfrm>
          <a:prstGeom prst="roundRect">
            <a:avLst>
              <a:gd name="adj" fmla="val 2778"/>
            </a:avLst>
          </a:prstGeom>
          <a:solidFill>
            <a:srgbClr val="F5F2E8"/>
          </a:solidFill>
          <a:ln w="6350">
            <a:solidFill>
              <a:srgbClr val="E8E4DC"/>
            </a:solidFill>
            <a:prstDash val="solid"/>
          </a:ln>
          <a:effectLst>
            <a:outerShdw sx="100000" sy="100000" kx="0" ky="0" algn="bl" rotWithShape="0" blurRad="63500" dist="25400" dir="2700000">
              <a:srgbClr val="000000">
                <a:alpha val="15000"/>
              </a:srgbClr>
            </a:outerShdw>
          </a:effectLst>
        </p:spPr>
      </p:sp>
      <p:sp>
        <p:nvSpPr>
          <p:cNvPr id="13" name="Shape 11"/>
          <p:cNvSpPr/>
          <p:nvPr/>
        </p:nvSpPr>
        <p:spPr>
          <a:xfrm>
            <a:off x="5852160" y="1371600"/>
            <a:ext cx="1463040" cy="1463040"/>
          </a:xfrm>
          <a:prstGeom prst="ellipse">
            <a:avLst/>
          </a:prstGeom>
          <a:solidFill>
            <a:srgbClr val="D4A843"/>
          </a:solidFill>
          <a:ln/>
        </p:spPr>
      </p:sp>
      <p:sp>
        <p:nvSpPr>
          <p:cNvPr id="14" name="Text 12"/>
          <p:cNvSpPr/>
          <p:nvPr/>
        </p:nvSpPr>
        <p:spPr>
          <a:xfrm>
            <a:off x="5852160" y="1371600"/>
            <a:ext cx="1463040" cy="1463040"/>
          </a:xfrm>
          <a:prstGeom prst="rect">
            <a:avLst/>
          </a:prstGeom>
          <a:noFill/>
          <a:ln/>
        </p:spPr>
        <p:txBody>
          <a:bodyPr wrap="square" rtlCol="0" anchor="ctr">
            <a:normAutofit/>
          </a:bodyPr>
          <a:lstStyle/>
          <a:p>
            <a:pPr algn="ctr" indent="0" marL="0">
              <a:buNone/>
            </a:pPr>
            <a:r>
              <a:rPr lang="en-US" sz="3600" b="1" dirty="0">
                <a:solidFill>
                  <a:srgbClr val="FFFFFF"/>
                </a:solidFill>
                <a:latin typeface="Georgia" pitchFamily="34" charset="0"/>
                <a:ea typeface="Georgia" pitchFamily="34" charset="-122"/>
                <a:cs typeface="Georgia" pitchFamily="34" charset="-120"/>
              </a:rPr>
              <a:t>TL</a:t>
            </a:r>
            <a:endParaRPr lang="en-US" sz="3600" dirty="0"/>
          </a:p>
        </p:txBody>
      </p:sp>
      <p:sp>
        <p:nvSpPr>
          <p:cNvPr id="15" name="Text 13"/>
          <p:cNvSpPr/>
          <p:nvPr/>
        </p:nvSpPr>
        <p:spPr>
          <a:xfrm>
            <a:off x="4937760" y="2880360"/>
            <a:ext cx="3474720" cy="365760"/>
          </a:xfrm>
          <a:prstGeom prst="rect">
            <a:avLst/>
          </a:prstGeom>
          <a:noFill/>
          <a:ln/>
        </p:spPr>
        <p:txBody>
          <a:bodyPr wrap="square" rtlCol="0" anchor="ctr">
            <a:normAutofit/>
          </a:bodyPr>
          <a:lstStyle/>
          <a:p>
            <a:pPr algn="ctr" indent="0" marL="0">
              <a:buNone/>
            </a:pPr>
            <a:r>
              <a:rPr lang="en-US" sz="1600" b="1" dirty="0">
                <a:solidFill>
                  <a:srgbClr val="2C5F2D"/>
                </a:solidFill>
                <a:latin typeface="Georgia" pitchFamily="34" charset="0"/>
                <a:ea typeface="Georgia" pitchFamily="34" charset="-122"/>
                <a:cs typeface="Georgia" pitchFamily="34" charset="-120"/>
              </a:rPr>
              <a:t>Tsung-Yi Lin</a:t>
            </a:r>
            <a:endParaRPr lang="en-US" sz="1600" dirty="0"/>
          </a:p>
        </p:txBody>
      </p:sp>
      <p:sp>
        <p:nvSpPr>
          <p:cNvPr id="16" name="Text 14"/>
          <p:cNvSpPr/>
          <p:nvPr/>
        </p:nvSpPr>
        <p:spPr>
          <a:xfrm>
            <a:off x="4937760" y="3200400"/>
            <a:ext cx="3474720" cy="274320"/>
          </a:xfrm>
          <a:prstGeom prst="rect">
            <a:avLst/>
          </a:prstGeom>
          <a:noFill/>
          <a:ln/>
        </p:spPr>
        <p:txBody>
          <a:bodyPr wrap="square" rtlCol="0" anchor="ctr">
            <a:normAutofit/>
          </a:bodyPr>
          <a:lstStyle/>
          <a:p>
            <a:pPr algn="ctr" indent="0" marL="0">
              <a:buNone/>
            </a:pPr>
            <a:r>
              <a:rPr lang="en-US" sz="1000" dirty="0">
                <a:solidFill>
                  <a:srgbClr val="666666"/>
                </a:solidFill>
                <a:latin typeface="Calibri" pitchFamily="34" charset="0"/>
                <a:ea typeface="Calibri" pitchFamily="34" charset="-122"/>
                <a:cs typeface="Calibri" pitchFamily="34" charset="-120"/>
              </a:rPr>
              <a:t>Facebook AI Research</a:t>
            </a:r>
            <a:endParaRPr lang="en-US" sz="1000" dirty="0"/>
          </a:p>
        </p:txBody>
      </p:sp>
      <p:sp>
        <p:nvSpPr>
          <p:cNvPr id="17" name="Text 15"/>
          <p:cNvSpPr/>
          <p:nvPr/>
        </p:nvSpPr>
        <p:spPr>
          <a:xfrm>
            <a:off x="5120640" y="3520440"/>
            <a:ext cx="3108960" cy="822960"/>
          </a:xfrm>
          <a:prstGeom prst="rect">
            <a:avLst/>
          </a:prstGeom>
          <a:noFill/>
          <a:ln/>
        </p:spPr>
        <p:txBody>
          <a:bodyPr wrap="square" rtlCol="0" anchor="t">
            <a:normAutofit/>
          </a:bodyPr>
          <a:lstStyle/>
          <a:p>
            <a:pPr indent="0" marL="0">
              <a:buNone/>
            </a:pPr>
            <a:r>
              <a:rPr lang="en-US" sz="1000" b="1" dirty="0">
                <a:solidFill>
                  <a:srgbClr val="333333"/>
                </a:solidFill>
                <a:latin typeface="Calibri" pitchFamily="34" charset="0"/>
                <a:ea typeface="Calibri" pitchFamily="34" charset="-122"/>
                <a:cs typeface="Calibri" pitchFamily="34" charset="-120"/>
              </a:rPr>
              <a:t>FPN (CVPR 2017)
</a:t>
            </a:r>
            <a:pPr indent="0" marL="0">
              <a:buNone/>
            </a:pPr>
            <a:r>
              <a:rPr lang="en-US" sz="900" dirty="0">
                <a:solidFill>
                  <a:srgbClr val="666666"/>
                </a:solidFill>
                <a:latin typeface="Calibri" pitchFamily="34" charset="0"/>
                <a:ea typeface="Calibri" pitchFamily="34" charset="-122"/>
                <a:cs typeface="Calibri" pitchFamily="34" charset="-120"/>
              </a:rPr>
              <a:t>Also: RetinaNet, COCO</a:t>
            </a:r>
            <a:endParaRPr lang="en-US" sz="1000" dirty="0"/>
          </a:p>
          <a:p>
            <a:pPr indent="0" marL="0">
              <a:buNone/>
            </a:pPr>
            <a:r>
              <a:rPr lang="en-US" sz="900" dirty="0">
                <a:solidFill>
                  <a:srgbClr val="666666"/>
                </a:solidFill>
                <a:latin typeface="Calibri" pitchFamily="34" charset="0"/>
                <a:ea typeface="Calibri" pitchFamily="34" charset="-122"/>
                <a:cs typeface="Calibri" pitchFamily="34" charset="-120"/>
              </a:rPr>
              <a:t>author, Mask R-CNN</a:t>
            </a:r>
            <a:endParaRPr lang="en-US" sz="1000" dirty="0"/>
          </a:p>
        </p:txBody>
      </p:sp>
      <p:sp>
        <p:nvSpPr>
          <p:cNvPr id="18" name="Text 16"/>
          <p:cNvSpPr/>
          <p:nvPr/>
        </p:nvSpPr>
        <p:spPr>
          <a:xfrm>
            <a:off x="8046720" y="4754880"/>
            <a:ext cx="914400" cy="274320"/>
          </a:xfrm>
          <a:prstGeom prst="rect">
            <a:avLst/>
          </a:prstGeom>
          <a:noFill/>
          <a:ln/>
        </p:spPr>
        <p:txBody>
          <a:bodyPr wrap="square" rtlCol="0" anchor="ctr">
            <a:normAutofit/>
          </a:bodyPr>
          <a:lstStyle/>
          <a:p>
            <a:pPr algn="r" indent="0" marL="0">
              <a:buNone/>
            </a:pPr>
            <a:r>
              <a:rPr lang="en-US" sz="900" dirty="0">
                <a:solidFill>
                  <a:srgbClr val="666666"/>
                </a:solidFill>
                <a:latin typeface="Calibri" pitchFamily="34" charset="0"/>
                <a:ea typeface="Calibri" pitchFamily="34" charset="-122"/>
                <a:cs typeface="Calibri" pitchFamily="34" charset="-120"/>
              </a:rPr>
              <a:t>13 / 16</a:t>
            </a:r>
            <a:endParaRPr lang="en-US" sz="900" dirty="0"/>
          </a:p>
        </p:txBody>
      </p:sp>
      <p:sp>
        <p:nvSpPr>
          <p:cNvPr id="19"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365760" y="182880"/>
            <a:ext cx="8412480" cy="502920"/>
          </a:xfrm>
          <a:prstGeom prst="rect">
            <a:avLst/>
          </a:prstGeom>
          <a:noFill/>
          <a:ln/>
        </p:spPr>
        <p:txBody>
          <a:bodyPr wrap="square" rtlCol="0" anchor="ctr">
            <a:normAutofit/>
          </a:bodyPr>
          <a:lstStyle/>
          <a:p>
            <a:pPr indent="0" marL="0">
              <a:buNone/>
            </a:pPr>
            <a:r>
              <a:rPr lang="en-US" sz="2400" b="1" dirty="0">
                <a:solidFill>
                  <a:srgbClr val="2C5F2D"/>
                </a:solidFill>
                <a:latin typeface="Georgia" pitchFamily="34" charset="0"/>
                <a:ea typeface="Georgia" pitchFamily="34" charset="-122"/>
                <a:cs typeface="Georgia" pitchFamily="34" charset="-120"/>
              </a:rPr>
              <a:t>Focal Loss: PyTorch Implementation</a:t>
            </a:r>
            <a:endParaRPr lang="en-US" sz="2400" dirty="0"/>
          </a:p>
        </p:txBody>
      </p:sp>
      <p:sp>
        <p:nvSpPr>
          <p:cNvPr id="4" name="Text 2"/>
          <p:cNvSpPr/>
          <p:nvPr/>
        </p:nvSpPr>
        <p:spPr>
          <a:xfrm>
            <a:off x="365760" y="685800"/>
            <a:ext cx="8412480" cy="274320"/>
          </a:xfrm>
          <a:prstGeom prst="rect">
            <a:avLst/>
          </a:prstGeom>
          <a:noFill/>
          <a:ln/>
        </p:spPr>
        <p:txBody>
          <a:bodyPr wrap="square" rtlCol="0" anchor="ctr">
            <a:normAutofit/>
          </a:bodyPr>
          <a:lstStyle/>
          <a:p>
            <a:pPr indent="0" marL="0">
              <a:buNone/>
            </a:pPr>
            <a:r>
              <a:rPr lang="en-US" sz="1200" i="1" dirty="0">
                <a:solidFill>
                  <a:srgbClr val="666666"/>
                </a:solidFill>
                <a:latin typeface="Calibri" pitchFamily="34" charset="0"/>
                <a:ea typeface="Calibri" pitchFamily="34" charset="-122"/>
                <a:cs typeface="Calibri" pitchFamily="34" charset="-120"/>
              </a:rPr>
              <a:t>Clean, production-ready code</a:t>
            </a:r>
            <a:endParaRPr lang="en-US" sz="1200" dirty="0"/>
          </a:p>
        </p:txBody>
      </p:sp>
      <p:sp>
        <p:nvSpPr>
          <p:cNvPr id="5" name="Shape 3"/>
          <p:cNvSpPr/>
          <p:nvPr/>
        </p:nvSpPr>
        <p:spPr>
          <a:xfrm>
            <a:off x="0" y="5106924"/>
            <a:ext cx="9144000" cy="36576"/>
          </a:xfrm>
          <a:prstGeom prst="rect">
            <a:avLst/>
          </a:prstGeom>
          <a:solidFill>
            <a:srgbClr val="97BC62"/>
          </a:solidFill>
          <a:ln/>
        </p:spPr>
      </p:sp>
      <p:sp>
        <p:nvSpPr>
          <p:cNvPr id="6" name="Shape 4"/>
          <p:cNvSpPr/>
          <p:nvPr/>
        </p:nvSpPr>
        <p:spPr>
          <a:xfrm>
            <a:off x="365760" y="1097280"/>
            <a:ext cx="8412480" cy="3520440"/>
          </a:xfrm>
          <a:prstGeom prst="roundRect">
            <a:avLst>
              <a:gd name="adj" fmla="val 2597"/>
            </a:avLst>
          </a:prstGeom>
          <a:solidFill>
            <a:srgbClr val="2D2D2D"/>
          </a:solidFill>
          <a:ln/>
          <a:effectLst>
            <a:outerShdw sx="100000" sy="100000" kx="0" ky="0" algn="bl" rotWithShape="0" blurRad="63500" dist="25400" dir="2700000">
              <a:srgbClr val="000000">
                <a:alpha val="20000"/>
              </a:srgbClr>
            </a:outerShdw>
          </a:effectLst>
        </p:spPr>
      </p:sp>
      <p:sp>
        <p:nvSpPr>
          <p:cNvPr id="7" name="Text 5"/>
          <p:cNvSpPr/>
          <p:nvPr/>
        </p:nvSpPr>
        <p:spPr>
          <a:xfrm>
            <a:off x="457200" y="117043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1</a:t>
            </a:r>
            <a:endParaRPr lang="en-US" sz="700" dirty="0"/>
          </a:p>
        </p:txBody>
      </p:sp>
      <p:sp>
        <p:nvSpPr>
          <p:cNvPr id="8" name="Text 6"/>
          <p:cNvSpPr/>
          <p:nvPr/>
        </p:nvSpPr>
        <p:spPr>
          <a:xfrm>
            <a:off x="914400" y="117043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import torch</a:t>
            </a:r>
            <a:endParaRPr lang="en-US" sz="700" dirty="0"/>
          </a:p>
        </p:txBody>
      </p:sp>
      <p:sp>
        <p:nvSpPr>
          <p:cNvPr id="9" name="Text 7"/>
          <p:cNvSpPr/>
          <p:nvPr/>
        </p:nvSpPr>
        <p:spPr>
          <a:xfrm>
            <a:off x="457200" y="135331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2</a:t>
            </a:r>
            <a:endParaRPr lang="en-US" sz="700" dirty="0"/>
          </a:p>
        </p:txBody>
      </p:sp>
      <p:sp>
        <p:nvSpPr>
          <p:cNvPr id="10" name="Text 8"/>
          <p:cNvSpPr/>
          <p:nvPr/>
        </p:nvSpPr>
        <p:spPr>
          <a:xfrm>
            <a:off x="914400" y="135331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import torch.nn as nn</a:t>
            </a:r>
            <a:endParaRPr lang="en-US" sz="700" dirty="0"/>
          </a:p>
        </p:txBody>
      </p:sp>
      <p:sp>
        <p:nvSpPr>
          <p:cNvPr id="11" name="Text 9"/>
          <p:cNvSpPr/>
          <p:nvPr/>
        </p:nvSpPr>
        <p:spPr>
          <a:xfrm>
            <a:off x="457200" y="153619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3</a:t>
            </a:r>
            <a:endParaRPr lang="en-US" sz="700" dirty="0"/>
          </a:p>
        </p:txBody>
      </p:sp>
      <p:sp>
        <p:nvSpPr>
          <p:cNvPr id="12" name="Text 10"/>
          <p:cNvSpPr/>
          <p:nvPr/>
        </p:nvSpPr>
        <p:spPr>
          <a:xfrm>
            <a:off x="914400" y="153619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import torch.nn.functional as F</a:t>
            </a:r>
            <a:endParaRPr lang="en-US" sz="700" dirty="0"/>
          </a:p>
        </p:txBody>
      </p:sp>
      <p:sp>
        <p:nvSpPr>
          <p:cNvPr id="13" name="Text 11"/>
          <p:cNvSpPr/>
          <p:nvPr/>
        </p:nvSpPr>
        <p:spPr>
          <a:xfrm>
            <a:off x="457200" y="171907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4</a:t>
            </a:r>
            <a:endParaRPr lang="en-US" sz="700" dirty="0"/>
          </a:p>
        </p:txBody>
      </p:sp>
      <p:sp>
        <p:nvSpPr>
          <p:cNvPr id="14" name="Text 12"/>
          <p:cNvSpPr/>
          <p:nvPr/>
        </p:nvSpPr>
        <p:spPr>
          <a:xfrm>
            <a:off x="914400" y="171907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 </a:t>
            </a:r>
            <a:endParaRPr lang="en-US" sz="700" dirty="0"/>
          </a:p>
        </p:txBody>
      </p:sp>
      <p:sp>
        <p:nvSpPr>
          <p:cNvPr id="15" name="Text 13"/>
          <p:cNvSpPr/>
          <p:nvPr/>
        </p:nvSpPr>
        <p:spPr>
          <a:xfrm>
            <a:off x="457200" y="190195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5</a:t>
            </a:r>
            <a:endParaRPr lang="en-US" sz="700" dirty="0"/>
          </a:p>
        </p:txBody>
      </p:sp>
      <p:sp>
        <p:nvSpPr>
          <p:cNvPr id="16" name="Text 14"/>
          <p:cNvSpPr/>
          <p:nvPr/>
        </p:nvSpPr>
        <p:spPr>
          <a:xfrm>
            <a:off x="914400" y="190195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class FocalLoss(nn.Module):</a:t>
            </a:r>
            <a:endParaRPr lang="en-US" sz="700" dirty="0"/>
          </a:p>
        </p:txBody>
      </p:sp>
      <p:sp>
        <p:nvSpPr>
          <p:cNvPr id="17" name="Text 15"/>
          <p:cNvSpPr/>
          <p:nvPr/>
        </p:nvSpPr>
        <p:spPr>
          <a:xfrm>
            <a:off x="457200" y="208483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6</a:t>
            </a:r>
            <a:endParaRPr lang="en-US" sz="700" dirty="0"/>
          </a:p>
        </p:txBody>
      </p:sp>
      <p:sp>
        <p:nvSpPr>
          <p:cNvPr id="18" name="Text 16"/>
          <p:cNvSpPr/>
          <p:nvPr/>
        </p:nvSpPr>
        <p:spPr>
          <a:xfrm>
            <a:off x="914400" y="208483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    def __init__(self, alpha=0.25, gamma=2.0):</a:t>
            </a:r>
            <a:endParaRPr lang="en-US" sz="700" dirty="0"/>
          </a:p>
        </p:txBody>
      </p:sp>
      <p:sp>
        <p:nvSpPr>
          <p:cNvPr id="19" name="Text 17"/>
          <p:cNvSpPr/>
          <p:nvPr/>
        </p:nvSpPr>
        <p:spPr>
          <a:xfrm>
            <a:off x="457200" y="226771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7</a:t>
            </a:r>
            <a:endParaRPr lang="en-US" sz="700" dirty="0"/>
          </a:p>
        </p:txBody>
      </p:sp>
      <p:sp>
        <p:nvSpPr>
          <p:cNvPr id="20" name="Text 18"/>
          <p:cNvSpPr/>
          <p:nvPr/>
        </p:nvSpPr>
        <p:spPr>
          <a:xfrm>
            <a:off x="914400" y="226771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        super().__init__()</a:t>
            </a:r>
            <a:endParaRPr lang="en-US" sz="700" dirty="0"/>
          </a:p>
        </p:txBody>
      </p:sp>
      <p:sp>
        <p:nvSpPr>
          <p:cNvPr id="21" name="Text 19"/>
          <p:cNvSpPr/>
          <p:nvPr/>
        </p:nvSpPr>
        <p:spPr>
          <a:xfrm>
            <a:off x="457200" y="245059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8</a:t>
            </a:r>
            <a:endParaRPr lang="en-US" sz="700" dirty="0"/>
          </a:p>
        </p:txBody>
      </p:sp>
      <p:sp>
        <p:nvSpPr>
          <p:cNvPr id="22" name="Text 20"/>
          <p:cNvSpPr/>
          <p:nvPr/>
        </p:nvSpPr>
        <p:spPr>
          <a:xfrm>
            <a:off x="914400" y="245059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        self.alpha = alpha</a:t>
            </a:r>
            <a:endParaRPr lang="en-US" sz="700" dirty="0"/>
          </a:p>
        </p:txBody>
      </p:sp>
      <p:sp>
        <p:nvSpPr>
          <p:cNvPr id="23" name="Text 21"/>
          <p:cNvSpPr/>
          <p:nvPr/>
        </p:nvSpPr>
        <p:spPr>
          <a:xfrm>
            <a:off x="457200" y="263347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9</a:t>
            </a:r>
            <a:endParaRPr lang="en-US" sz="700" dirty="0"/>
          </a:p>
        </p:txBody>
      </p:sp>
      <p:sp>
        <p:nvSpPr>
          <p:cNvPr id="24" name="Text 22"/>
          <p:cNvSpPr/>
          <p:nvPr/>
        </p:nvSpPr>
        <p:spPr>
          <a:xfrm>
            <a:off x="914400" y="263347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        self.gamma = gamma</a:t>
            </a:r>
            <a:endParaRPr lang="en-US" sz="700" dirty="0"/>
          </a:p>
        </p:txBody>
      </p:sp>
      <p:sp>
        <p:nvSpPr>
          <p:cNvPr id="25" name="Text 23"/>
          <p:cNvSpPr/>
          <p:nvPr/>
        </p:nvSpPr>
        <p:spPr>
          <a:xfrm>
            <a:off x="457200" y="281635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10</a:t>
            </a:r>
            <a:endParaRPr lang="en-US" sz="700" dirty="0"/>
          </a:p>
        </p:txBody>
      </p:sp>
      <p:sp>
        <p:nvSpPr>
          <p:cNvPr id="26" name="Text 24"/>
          <p:cNvSpPr/>
          <p:nvPr/>
        </p:nvSpPr>
        <p:spPr>
          <a:xfrm>
            <a:off x="914400" y="281635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 </a:t>
            </a:r>
            <a:endParaRPr lang="en-US" sz="700" dirty="0"/>
          </a:p>
        </p:txBody>
      </p:sp>
      <p:sp>
        <p:nvSpPr>
          <p:cNvPr id="27" name="Text 25"/>
          <p:cNvSpPr/>
          <p:nvPr/>
        </p:nvSpPr>
        <p:spPr>
          <a:xfrm>
            <a:off x="457200" y="299923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11</a:t>
            </a:r>
            <a:endParaRPr lang="en-US" sz="700" dirty="0"/>
          </a:p>
        </p:txBody>
      </p:sp>
      <p:sp>
        <p:nvSpPr>
          <p:cNvPr id="28" name="Text 26"/>
          <p:cNvSpPr/>
          <p:nvPr/>
        </p:nvSpPr>
        <p:spPr>
          <a:xfrm>
            <a:off x="914400" y="299923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    def forward(self, inputs, targets):</a:t>
            </a:r>
            <a:endParaRPr lang="en-US" sz="700" dirty="0"/>
          </a:p>
        </p:txBody>
      </p:sp>
      <p:sp>
        <p:nvSpPr>
          <p:cNvPr id="29" name="Text 27"/>
          <p:cNvSpPr/>
          <p:nvPr/>
        </p:nvSpPr>
        <p:spPr>
          <a:xfrm>
            <a:off x="457200" y="318211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12</a:t>
            </a:r>
            <a:endParaRPr lang="en-US" sz="700" dirty="0"/>
          </a:p>
        </p:txBody>
      </p:sp>
      <p:sp>
        <p:nvSpPr>
          <p:cNvPr id="30" name="Text 28"/>
          <p:cNvSpPr/>
          <p:nvPr/>
        </p:nvSpPr>
        <p:spPr>
          <a:xfrm>
            <a:off x="914400" y="318211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        BCE = F.binary_cross_entropy_with_logits(</a:t>
            </a:r>
            <a:endParaRPr lang="en-US" sz="700" dirty="0"/>
          </a:p>
        </p:txBody>
      </p:sp>
      <p:sp>
        <p:nvSpPr>
          <p:cNvPr id="31" name="Text 29"/>
          <p:cNvSpPr/>
          <p:nvPr/>
        </p:nvSpPr>
        <p:spPr>
          <a:xfrm>
            <a:off x="457200" y="336499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13</a:t>
            </a:r>
            <a:endParaRPr lang="en-US" sz="700" dirty="0"/>
          </a:p>
        </p:txBody>
      </p:sp>
      <p:sp>
        <p:nvSpPr>
          <p:cNvPr id="32" name="Text 30"/>
          <p:cNvSpPr/>
          <p:nvPr/>
        </p:nvSpPr>
        <p:spPr>
          <a:xfrm>
            <a:off x="914400" y="336499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            inputs, targets, reduction='none')</a:t>
            </a:r>
            <a:endParaRPr lang="en-US" sz="700" dirty="0"/>
          </a:p>
        </p:txBody>
      </p:sp>
      <p:sp>
        <p:nvSpPr>
          <p:cNvPr id="33" name="Text 31"/>
          <p:cNvSpPr/>
          <p:nvPr/>
        </p:nvSpPr>
        <p:spPr>
          <a:xfrm>
            <a:off x="457200" y="354787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14</a:t>
            </a:r>
            <a:endParaRPr lang="en-US" sz="700" dirty="0"/>
          </a:p>
        </p:txBody>
      </p:sp>
      <p:sp>
        <p:nvSpPr>
          <p:cNvPr id="34" name="Text 32"/>
          <p:cNvSpPr/>
          <p:nvPr/>
        </p:nvSpPr>
        <p:spPr>
          <a:xfrm>
            <a:off x="914400" y="354787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        pt = torch.exp(-BCE)</a:t>
            </a:r>
            <a:endParaRPr lang="en-US" sz="700" dirty="0"/>
          </a:p>
        </p:txBody>
      </p:sp>
      <p:sp>
        <p:nvSpPr>
          <p:cNvPr id="35" name="Text 33"/>
          <p:cNvSpPr/>
          <p:nvPr/>
        </p:nvSpPr>
        <p:spPr>
          <a:xfrm>
            <a:off x="457200" y="373075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15</a:t>
            </a:r>
            <a:endParaRPr lang="en-US" sz="700" dirty="0"/>
          </a:p>
        </p:txBody>
      </p:sp>
      <p:sp>
        <p:nvSpPr>
          <p:cNvPr id="36" name="Text 34"/>
          <p:cNvSpPr/>
          <p:nvPr/>
        </p:nvSpPr>
        <p:spPr>
          <a:xfrm>
            <a:off x="914400" y="373075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        focal = self.alpha * (1-pt)**self.gamma * BCE</a:t>
            </a:r>
            <a:endParaRPr lang="en-US" sz="700" dirty="0"/>
          </a:p>
        </p:txBody>
      </p:sp>
      <p:sp>
        <p:nvSpPr>
          <p:cNvPr id="37" name="Text 35"/>
          <p:cNvSpPr/>
          <p:nvPr/>
        </p:nvSpPr>
        <p:spPr>
          <a:xfrm>
            <a:off x="457200" y="391363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16</a:t>
            </a:r>
            <a:endParaRPr lang="en-US" sz="700" dirty="0"/>
          </a:p>
        </p:txBody>
      </p:sp>
      <p:sp>
        <p:nvSpPr>
          <p:cNvPr id="38" name="Text 36"/>
          <p:cNvSpPr/>
          <p:nvPr/>
        </p:nvSpPr>
        <p:spPr>
          <a:xfrm>
            <a:off x="914400" y="391363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        return focal.mean()</a:t>
            </a:r>
            <a:endParaRPr lang="en-US" sz="700" dirty="0"/>
          </a:p>
        </p:txBody>
      </p:sp>
      <p:sp>
        <p:nvSpPr>
          <p:cNvPr id="39" name="Text 37"/>
          <p:cNvSpPr/>
          <p:nvPr/>
        </p:nvSpPr>
        <p:spPr>
          <a:xfrm>
            <a:off x="457200" y="409651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17</a:t>
            </a:r>
            <a:endParaRPr lang="en-US" sz="700" dirty="0"/>
          </a:p>
        </p:txBody>
      </p:sp>
      <p:sp>
        <p:nvSpPr>
          <p:cNvPr id="40" name="Text 38"/>
          <p:cNvSpPr/>
          <p:nvPr/>
        </p:nvSpPr>
        <p:spPr>
          <a:xfrm>
            <a:off x="914400" y="409651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 </a:t>
            </a:r>
            <a:endParaRPr lang="en-US" sz="700" dirty="0"/>
          </a:p>
        </p:txBody>
      </p:sp>
      <p:sp>
        <p:nvSpPr>
          <p:cNvPr id="41" name="Text 39"/>
          <p:cNvSpPr/>
          <p:nvPr/>
        </p:nvSpPr>
        <p:spPr>
          <a:xfrm>
            <a:off x="457200" y="427939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18</a:t>
            </a:r>
            <a:endParaRPr lang="en-US" sz="700" dirty="0"/>
          </a:p>
        </p:txBody>
      </p:sp>
      <p:sp>
        <p:nvSpPr>
          <p:cNvPr id="42" name="Text 40"/>
          <p:cNvSpPr/>
          <p:nvPr/>
        </p:nvSpPr>
        <p:spPr>
          <a:xfrm>
            <a:off x="914400" y="427939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 Usage</a:t>
            </a:r>
            <a:endParaRPr lang="en-US" sz="700" dirty="0"/>
          </a:p>
        </p:txBody>
      </p:sp>
      <p:sp>
        <p:nvSpPr>
          <p:cNvPr id="43" name="Text 41"/>
          <p:cNvSpPr/>
          <p:nvPr/>
        </p:nvSpPr>
        <p:spPr>
          <a:xfrm>
            <a:off x="457200" y="446227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19</a:t>
            </a:r>
            <a:endParaRPr lang="en-US" sz="700" dirty="0"/>
          </a:p>
        </p:txBody>
      </p:sp>
      <p:sp>
        <p:nvSpPr>
          <p:cNvPr id="44" name="Text 42"/>
          <p:cNvSpPr/>
          <p:nvPr/>
        </p:nvSpPr>
        <p:spPr>
          <a:xfrm>
            <a:off x="914400" y="446227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criterion = FocalLoss(alpha=0.25, gamma=2.0)</a:t>
            </a:r>
            <a:endParaRPr lang="en-US" sz="700" dirty="0"/>
          </a:p>
        </p:txBody>
      </p:sp>
      <p:sp>
        <p:nvSpPr>
          <p:cNvPr id="45" name="Text 43"/>
          <p:cNvSpPr/>
          <p:nvPr/>
        </p:nvSpPr>
        <p:spPr>
          <a:xfrm>
            <a:off x="457200" y="4645152"/>
            <a:ext cx="365760" cy="182880"/>
          </a:xfrm>
          <a:prstGeom prst="rect">
            <a:avLst/>
          </a:prstGeom>
          <a:noFill/>
          <a:ln/>
        </p:spPr>
        <p:txBody>
          <a:bodyPr wrap="square" rtlCol="0" anchor="t">
            <a:normAutofit/>
          </a:bodyPr>
          <a:lstStyle/>
          <a:p>
            <a:pPr algn="r" indent="0" marL="0">
              <a:buNone/>
            </a:pPr>
            <a:r>
              <a:rPr lang="en-US" sz="700" dirty="0">
                <a:solidFill>
                  <a:srgbClr val="888888"/>
                </a:solidFill>
                <a:latin typeface="Courier New" pitchFamily="34" charset="0"/>
                <a:ea typeface="Courier New" pitchFamily="34" charset="-122"/>
                <a:cs typeface="Courier New" pitchFamily="34" charset="-120"/>
              </a:rPr>
              <a:t>20</a:t>
            </a:r>
            <a:endParaRPr lang="en-US" sz="700" dirty="0"/>
          </a:p>
        </p:txBody>
      </p:sp>
      <p:sp>
        <p:nvSpPr>
          <p:cNvPr id="46" name="Text 44"/>
          <p:cNvSpPr/>
          <p:nvPr/>
        </p:nvSpPr>
        <p:spPr>
          <a:xfrm>
            <a:off x="914400" y="4645152"/>
            <a:ext cx="7680960" cy="182880"/>
          </a:xfrm>
          <a:prstGeom prst="rect">
            <a:avLst/>
          </a:prstGeom>
          <a:noFill/>
          <a:ln/>
        </p:spPr>
        <p:txBody>
          <a:bodyPr wrap="square" rtlCol="0" anchor="t">
            <a:normAutofit/>
          </a:bodyPr>
          <a:lstStyle/>
          <a:p>
            <a:pPr indent="0" marL="0">
              <a:buNone/>
            </a:pPr>
            <a:r>
              <a:rPr lang="en-US" sz="700" dirty="0">
                <a:solidFill>
                  <a:srgbClr val="E8E8E8"/>
                </a:solidFill>
                <a:latin typeface="Courier New" pitchFamily="34" charset="0"/>
                <a:ea typeface="Courier New" pitchFamily="34" charset="-122"/>
                <a:cs typeface="Courier New" pitchFamily="34" charset="-120"/>
              </a:rPr>
              <a:t>loss = criterion(preds, targets)</a:t>
            </a:r>
            <a:endParaRPr lang="en-US" sz="700" dirty="0"/>
          </a:p>
        </p:txBody>
      </p:sp>
      <p:sp>
        <p:nvSpPr>
          <p:cNvPr id="47" name="Text 45"/>
          <p:cNvSpPr/>
          <p:nvPr/>
        </p:nvSpPr>
        <p:spPr>
          <a:xfrm>
            <a:off x="8046720" y="4754880"/>
            <a:ext cx="914400" cy="274320"/>
          </a:xfrm>
          <a:prstGeom prst="rect">
            <a:avLst/>
          </a:prstGeom>
          <a:noFill/>
          <a:ln/>
        </p:spPr>
        <p:txBody>
          <a:bodyPr wrap="square" rtlCol="0" anchor="ctr">
            <a:normAutofit/>
          </a:bodyPr>
          <a:lstStyle/>
          <a:p>
            <a:pPr algn="r" indent="0" marL="0">
              <a:buNone/>
            </a:pPr>
            <a:r>
              <a:rPr lang="en-US" sz="900" dirty="0">
                <a:solidFill>
                  <a:srgbClr val="666666"/>
                </a:solidFill>
                <a:latin typeface="Calibri" pitchFamily="34" charset="0"/>
                <a:ea typeface="Calibri" pitchFamily="34" charset="-122"/>
                <a:cs typeface="Calibri" pitchFamily="34" charset="-120"/>
              </a:rPr>
              <a:t>14 / 16</a:t>
            </a:r>
            <a:endParaRPr lang="en-US" sz="900" dirty="0"/>
          </a:p>
        </p:txBody>
      </p:sp>
      <p:sp>
        <p:nvSpPr>
          <p:cNvPr id="48"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365760" y="182880"/>
            <a:ext cx="8412480" cy="502920"/>
          </a:xfrm>
          <a:prstGeom prst="rect">
            <a:avLst/>
          </a:prstGeom>
          <a:noFill/>
          <a:ln/>
        </p:spPr>
        <p:txBody>
          <a:bodyPr wrap="square" rtlCol="0" anchor="ctr">
            <a:normAutofit/>
          </a:bodyPr>
          <a:lstStyle/>
          <a:p>
            <a:pPr indent="0" marL="0">
              <a:buNone/>
            </a:pPr>
            <a:r>
              <a:rPr lang="en-US" sz="2400" b="1" dirty="0">
                <a:solidFill>
                  <a:srgbClr val="2C5F2D"/>
                </a:solidFill>
                <a:latin typeface="Georgia" pitchFamily="34" charset="0"/>
                <a:ea typeface="Georgia" pitchFamily="34" charset="-122"/>
                <a:cs typeface="Georgia" pitchFamily="34" charset="-120"/>
              </a:rPr>
              <a:t>Discussion Questions</a:t>
            </a:r>
            <a:endParaRPr lang="en-US" sz="2400" dirty="0"/>
          </a:p>
        </p:txBody>
      </p:sp>
      <p:sp>
        <p:nvSpPr>
          <p:cNvPr id="4" name="Text 2"/>
          <p:cNvSpPr/>
          <p:nvPr/>
        </p:nvSpPr>
        <p:spPr>
          <a:xfrm>
            <a:off x="365760" y="685800"/>
            <a:ext cx="8412480" cy="274320"/>
          </a:xfrm>
          <a:prstGeom prst="rect">
            <a:avLst/>
          </a:prstGeom>
          <a:noFill/>
          <a:ln/>
        </p:spPr>
        <p:txBody>
          <a:bodyPr wrap="square" rtlCol="0" anchor="ctr">
            <a:normAutofit/>
          </a:bodyPr>
          <a:lstStyle/>
          <a:p>
            <a:pPr indent="0" marL="0">
              <a:buNone/>
            </a:pPr>
            <a:r>
              <a:rPr lang="en-US" sz="1200" i="1" dirty="0">
                <a:solidFill>
                  <a:srgbClr val="666666"/>
                </a:solidFill>
                <a:latin typeface="Calibri" pitchFamily="34" charset="0"/>
                <a:ea typeface="Calibri" pitchFamily="34" charset="-122"/>
                <a:cs typeface="Calibri" pitchFamily="34" charset="-120"/>
              </a:rPr>
              <a:t>Think about these before Day 40</a:t>
            </a:r>
            <a:endParaRPr lang="en-US" sz="1200" dirty="0"/>
          </a:p>
        </p:txBody>
      </p:sp>
      <p:sp>
        <p:nvSpPr>
          <p:cNvPr id="5" name="Shape 3"/>
          <p:cNvSpPr/>
          <p:nvPr/>
        </p:nvSpPr>
        <p:spPr>
          <a:xfrm>
            <a:off x="0" y="5106924"/>
            <a:ext cx="9144000" cy="36576"/>
          </a:xfrm>
          <a:prstGeom prst="rect">
            <a:avLst/>
          </a:prstGeom>
          <a:solidFill>
            <a:srgbClr val="97BC62"/>
          </a:solidFill>
          <a:ln/>
        </p:spPr>
      </p:sp>
      <p:sp>
        <p:nvSpPr>
          <p:cNvPr id="6" name="Shape 4"/>
          <p:cNvSpPr/>
          <p:nvPr/>
        </p:nvSpPr>
        <p:spPr>
          <a:xfrm>
            <a:off x="457200" y="1234440"/>
            <a:ext cx="8229600" cy="868680"/>
          </a:xfrm>
          <a:prstGeom prst="roundRect">
            <a:avLst>
              <a:gd name="adj" fmla="val 8421"/>
            </a:avLst>
          </a:prstGeom>
          <a:solidFill>
            <a:srgbClr val="F5F2E8"/>
          </a:solidFill>
          <a:ln/>
          <a:effectLst>
            <a:outerShdw sx="100000" sy="100000" kx="0" ky="0" algn="bl" rotWithShape="0" blurRad="38100" dist="25400" dir="2700000">
              <a:srgbClr val="000000">
                <a:alpha val="10000"/>
              </a:srgbClr>
            </a:outerShdw>
          </a:effectLst>
        </p:spPr>
      </p:sp>
      <p:sp>
        <p:nvSpPr>
          <p:cNvPr id="7" name="Text 5"/>
          <p:cNvSpPr/>
          <p:nvPr/>
        </p:nvSpPr>
        <p:spPr>
          <a:xfrm>
            <a:off x="640080" y="1280160"/>
            <a:ext cx="7863840" cy="36576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Q1: Why does FPN improve small object detection more than large?</a:t>
            </a:r>
            <a:endParaRPr lang="en-US" sz="1200" dirty="0"/>
          </a:p>
        </p:txBody>
      </p:sp>
      <p:sp>
        <p:nvSpPr>
          <p:cNvPr id="8" name="Text 6"/>
          <p:cNvSpPr/>
          <p:nvPr/>
        </p:nvSpPr>
        <p:spPr>
          <a:xfrm>
            <a:off x="640080" y="1691640"/>
            <a:ext cx="7863840" cy="320040"/>
          </a:xfrm>
          <a:prstGeom prst="rect">
            <a:avLst/>
          </a:prstGeom>
          <a:noFill/>
          <a:ln/>
        </p:spPr>
        <p:txBody>
          <a:bodyPr wrap="square" rtlCol="0" anchor="ctr">
            <a:normAutofit/>
          </a:bodyPr>
          <a:lstStyle/>
          <a:p>
            <a:pPr indent="0" marL="0">
              <a:buNone/>
            </a:pPr>
            <a:r>
              <a:rPr lang="en-US" sz="1000" i="1" dirty="0">
                <a:solidFill>
                  <a:srgbClr val="666666"/>
                </a:solidFill>
                <a:latin typeface="Calibri" pitchFamily="34" charset="0"/>
                <a:ea typeface="Calibri" pitchFamily="34" charset="-122"/>
                <a:cs typeface="Calibri" pitchFamily="34" charset="-120"/>
              </a:rPr>
              <a:t>Hint: Think about feature resolution vs semantics</a:t>
            </a:r>
            <a:endParaRPr lang="en-US" sz="1000" dirty="0"/>
          </a:p>
        </p:txBody>
      </p:sp>
      <p:sp>
        <p:nvSpPr>
          <p:cNvPr id="9" name="Shape 7"/>
          <p:cNvSpPr/>
          <p:nvPr/>
        </p:nvSpPr>
        <p:spPr>
          <a:xfrm>
            <a:off x="457200" y="2286000"/>
            <a:ext cx="8229600" cy="868680"/>
          </a:xfrm>
          <a:prstGeom prst="roundRect">
            <a:avLst>
              <a:gd name="adj" fmla="val 8421"/>
            </a:avLst>
          </a:prstGeom>
          <a:solidFill>
            <a:srgbClr val="F5F2E8"/>
          </a:solidFill>
          <a:ln/>
          <a:effectLst>
            <a:outerShdw sx="100000" sy="100000" kx="0" ky="0" algn="bl" rotWithShape="0" blurRad="38100" dist="25400" dir="2700000">
              <a:srgbClr val="000000">
                <a:alpha val="10000"/>
              </a:srgbClr>
            </a:outerShdw>
          </a:effectLst>
        </p:spPr>
      </p:sp>
      <p:sp>
        <p:nvSpPr>
          <p:cNvPr id="10" name="Text 8"/>
          <p:cNvSpPr/>
          <p:nvPr/>
        </p:nvSpPr>
        <p:spPr>
          <a:xfrm>
            <a:off x="640080" y="2331720"/>
            <a:ext cx="7863840" cy="36576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Q2: Can we design detectors without predefined anchors?</a:t>
            </a:r>
            <a:endParaRPr lang="en-US" sz="1200" dirty="0"/>
          </a:p>
        </p:txBody>
      </p:sp>
      <p:sp>
        <p:nvSpPr>
          <p:cNvPr id="11" name="Text 9"/>
          <p:cNvSpPr/>
          <p:nvPr/>
        </p:nvSpPr>
        <p:spPr>
          <a:xfrm>
            <a:off x="640080" y="2743200"/>
            <a:ext cx="7863840" cy="320040"/>
          </a:xfrm>
          <a:prstGeom prst="rect">
            <a:avLst/>
          </a:prstGeom>
          <a:noFill/>
          <a:ln/>
        </p:spPr>
        <p:txBody>
          <a:bodyPr wrap="square" rtlCol="0" anchor="ctr">
            <a:normAutofit/>
          </a:bodyPr>
          <a:lstStyle/>
          <a:p>
            <a:pPr indent="0" marL="0">
              <a:buNone/>
            </a:pPr>
            <a:r>
              <a:rPr lang="en-US" sz="1000" i="1" dirty="0">
                <a:solidFill>
                  <a:srgbClr val="666666"/>
                </a:solidFill>
                <a:latin typeface="Calibri" pitchFamily="34" charset="0"/>
                <a:ea typeface="Calibri" pitchFamily="34" charset="-122"/>
                <a:cs typeface="Calibri" pitchFamily="34" charset="-120"/>
              </a:rPr>
              <a:t>Hint: Anchor-Free detection is coming next...</a:t>
            </a:r>
            <a:endParaRPr lang="en-US" sz="1000" dirty="0"/>
          </a:p>
        </p:txBody>
      </p:sp>
      <p:sp>
        <p:nvSpPr>
          <p:cNvPr id="12" name="Shape 10"/>
          <p:cNvSpPr/>
          <p:nvPr/>
        </p:nvSpPr>
        <p:spPr>
          <a:xfrm>
            <a:off x="457200" y="3337560"/>
            <a:ext cx="8229600" cy="868680"/>
          </a:xfrm>
          <a:prstGeom prst="roundRect">
            <a:avLst>
              <a:gd name="adj" fmla="val 8421"/>
            </a:avLst>
          </a:prstGeom>
          <a:solidFill>
            <a:srgbClr val="F5F2E8"/>
          </a:solidFill>
          <a:ln/>
          <a:effectLst>
            <a:outerShdw sx="100000" sy="100000" kx="0" ky="0" algn="bl" rotWithShape="0" blurRad="38100" dist="25400" dir="2700000">
              <a:srgbClr val="000000">
                <a:alpha val="10000"/>
              </a:srgbClr>
            </a:outerShdw>
          </a:effectLst>
        </p:spPr>
      </p:sp>
      <p:sp>
        <p:nvSpPr>
          <p:cNvPr id="13" name="Text 11"/>
          <p:cNvSpPr/>
          <p:nvPr/>
        </p:nvSpPr>
        <p:spPr>
          <a:xfrm>
            <a:off x="640080" y="3383280"/>
            <a:ext cx="7863840" cy="36576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Q3: What are the limitations of SSD's independent layer approach?</a:t>
            </a:r>
            <a:endParaRPr lang="en-US" sz="1200" dirty="0"/>
          </a:p>
        </p:txBody>
      </p:sp>
      <p:sp>
        <p:nvSpPr>
          <p:cNvPr id="14" name="Text 12"/>
          <p:cNvSpPr/>
          <p:nvPr/>
        </p:nvSpPr>
        <p:spPr>
          <a:xfrm>
            <a:off x="640080" y="3794760"/>
            <a:ext cx="7863840" cy="320040"/>
          </a:xfrm>
          <a:prstGeom prst="rect">
            <a:avLst/>
          </a:prstGeom>
          <a:noFill/>
          <a:ln/>
        </p:spPr>
        <p:txBody>
          <a:bodyPr wrap="square" rtlCol="0" anchor="ctr">
            <a:normAutofit/>
          </a:bodyPr>
          <a:lstStyle/>
          <a:p>
            <a:pPr indent="0" marL="0">
              <a:buNone/>
            </a:pPr>
            <a:r>
              <a:rPr lang="en-US" sz="1000" i="1" dirty="0">
                <a:solidFill>
                  <a:srgbClr val="666666"/>
                </a:solidFill>
                <a:latin typeface="Calibri" pitchFamily="34" charset="0"/>
                <a:ea typeface="Calibri" pitchFamily="34" charset="-122"/>
                <a:cs typeface="Calibri" pitchFamily="34" charset="-120"/>
              </a:rPr>
              <a:t>Hint: No cross-layer feature reuse</a:t>
            </a:r>
            <a:endParaRPr lang="en-US" sz="1000" dirty="0"/>
          </a:p>
        </p:txBody>
      </p:sp>
      <p:sp>
        <p:nvSpPr>
          <p:cNvPr id="15" name="Shape 13"/>
          <p:cNvSpPr/>
          <p:nvPr/>
        </p:nvSpPr>
        <p:spPr>
          <a:xfrm>
            <a:off x="1371600" y="4206240"/>
            <a:ext cx="6400800" cy="594360"/>
          </a:xfrm>
          <a:prstGeom prst="roundRect">
            <a:avLst>
              <a:gd name="adj" fmla="val 12308"/>
            </a:avLst>
          </a:prstGeom>
          <a:solidFill>
            <a:srgbClr val="D4A843"/>
          </a:solidFill>
          <a:ln/>
          <a:effectLst>
            <a:outerShdw sx="100000" sy="100000" kx="0" ky="0" algn="bl" rotWithShape="0" blurRad="50800" dist="25400" dir="2700000">
              <a:srgbClr val="000000">
                <a:alpha val="20000"/>
              </a:srgbClr>
            </a:outerShdw>
          </a:effectLst>
        </p:spPr>
      </p:sp>
      <p:sp>
        <p:nvSpPr>
          <p:cNvPr id="16" name="Text 14"/>
          <p:cNvSpPr/>
          <p:nvPr/>
        </p:nvSpPr>
        <p:spPr>
          <a:xfrm>
            <a:off x="1371600" y="4206240"/>
            <a:ext cx="6400800" cy="594360"/>
          </a:xfrm>
          <a:prstGeom prst="rect">
            <a:avLst/>
          </a:prstGeom>
          <a:noFill/>
          <a:ln/>
        </p:spPr>
        <p:txBody>
          <a:bodyPr wrap="square" rtlCol="0" anchor="ctr">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Day 40 Preview: Anchor-Free Detection  |  CornerNet, CenterNet, FCOS</a:t>
            </a:r>
            <a:endParaRPr lang="en-US" sz="1300" dirty="0"/>
          </a:p>
        </p:txBody>
      </p:sp>
      <p:sp>
        <p:nvSpPr>
          <p:cNvPr id="17" name="Text 15"/>
          <p:cNvSpPr/>
          <p:nvPr/>
        </p:nvSpPr>
        <p:spPr>
          <a:xfrm>
            <a:off x="8046720" y="4754880"/>
            <a:ext cx="914400" cy="274320"/>
          </a:xfrm>
          <a:prstGeom prst="rect">
            <a:avLst/>
          </a:prstGeom>
          <a:noFill/>
          <a:ln/>
        </p:spPr>
        <p:txBody>
          <a:bodyPr wrap="square" rtlCol="0" anchor="ctr">
            <a:normAutofit/>
          </a:bodyPr>
          <a:lstStyle/>
          <a:p>
            <a:pPr algn="r" indent="0" marL="0">
              <a:buNone/>
            </a:pPr>
            <a:r>
              <a:rPr lang="en-US" sz="900" dirty="0">
                <a:solidFill>
                  <a:srgbClr val="666666"/>
                </a:solidFill>
                <a:latin typeface="Calibri" pitchFamily="34" charset="0"/>
                <a:ea typeface="Calibri" pitchFamily="34" charset="-122"/>
                <a:cs typeface="Calibri" pitchFamily="34" charset="-120"/>
              </a:rPr>
              <a:t>15 / 16</a:t>
            </a:r>
            <a:endParaRPr lang="en-US" sz="900" dirty="0"/>
          </a:p>
        </p:txBody>
      </p:sp>
      <p:sp>
        <p:nvSpPr>
          <p:cNvPr id="18"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C5F2D">
              <a:alpha val="70000"/>
            </a:srgbClr>
          </a:solidFill>
          <a:ln/>
        </p:spPr>
      </p:sp>
      <p:sp>
        <p:nvSpPr>
          <p:cNvPr id="3" name="Shape 1"/>
          <p:cNvSpPr/>
          <p:nvPr/>
        </p:nvSpPr>
        <p:spPr>
          <a:xfrm>
            <a:off x="457200" y="731520"/>
            <a:ext cx="8229600" cy="3931920"/>
          </a:xfrm>
          <a:prstGeom prst="roundRect">
            <a:avLst>
              <a:gd name="adj" fmla="val 3488"/>
            </a:avLst>
          </a:prstGeom>
          <a:solidFill>
            <a:srgbClr val="333333">
              <a:alpha val="60000"/>
            </a:srgbClr>
          </a:solidFill>
          <a:ln/>
        </p:spPr>
      </p:sp>
      <p:sp>
        <p:nvSpPr>
          <p:cNvPr id="4" name="Text 2"/>
          <p:cNvSpPr/>
          <p:nvPr/>
        </p:nvSpPr>
        <p:spPr>
          <a:xfrm>
            <a:off x="914400" y="1097280"/>
            <a:ext cx="7315200" cy="731520"/>
          </a:xfrm>
          <a:prstGeom prst="rect">
            <a:avLst/>
          </a:prstGeom>
          <a:noFill/>
          <a:ln/>
        </p:spPr>
        <p:txBody>
          <a:bodyPr wrap="square" rtlCol="0" anchor="ctr">
            <a:normAutofit/>
          </a:bodyPr>
          <a:lstStyle/>
          <a:p>
            <a:pPr algn="ctr" indent="0" marL="0">
              <a:buNone/>
            </a:pPr>
            <a:r>
              <a:rPr lang="en-US" sz="3600" b="1" dirty="0">
                <a:solidFill>
                  <a:srgbClr val="FFFFFF"/>
                </a:solidFill>
                <a:latin typeface="Georgia" pitchFamily="34" charset="0"/>
                <a:ea typeface="Georgia" pitchFamily="34" charset="-122"/>
                <a:cs typeface="Georgia" pitchFamily="34" charset="-120"/>
              </a:rPr>
              <a:t>Thank You!</a:t>
            </a:r>
            <a:endParaRPr lang="en-US" sz="3600" dirty="0"/>
          </a:p>
        </p:txBody>
      </p:sp>
      <p:sp>
        <p:nvSpPr>
          <p:cNvPr id="5" name="Text 3"/>
          <p:cNvSpPr/>
          <p:nvPr/>
        </p:nvSpPr>
        <p:spPr>
          <a:xfrm>
            <a:off x="914400" y="1828800"/>
            <a:ext cx="7315200" cy="365760"/>
          </a:xfrm>
          <a:prstGeom prst="rect">
            <a:avLst/>
          </a:prstGeom>
          <a:noFill/>
          <a:ln/>
        </p:spPr>
        <p:txBody>
          <a:bodyPr wrap="square" rtlCol="0" anchor="ctr">
            <a:normAutofit/>
          </a:bodyPr>
          <a:lstStyle/>
          <a:p>
            <a:pPr algn="ctr" indent="0" marL="0">
              <a:buNone/>
            </a:pPr>
            <a:r>
              <a:rPr lang="en-US" sz="1400" dirty="0">
                <a:solidFill>
                  <a:srgbClr val="FFFFFF"/>
                </a:solidFill>
                <a:latin typeface="Calibri" pitchFamily="34" charset="0"/>
                <a:ea typeface="Calibri" pitchFamily="34" charset="-122"/>
                <a:cs typeface="Calibri" pitchFamily="34" charset="-120"/>
              </a:rPr>
              <a:t>Day 39: SSD &amp; FPN - Multi-scale Object Detection Milestones</a:t>
            </a:r>
            <a:endParaRPr lang="en-US" sz="1400" dirty="0"/>
          </a:p>
        </p:txBody>
      </p:sp>
      <p:sp>
        <p:nvSpPr>
          <p:cNvPr id="6" name="Shape 4"/>
          <p:cNvSpPr/>
          <p:nvPr/>
        </p:nvSpPr>
        <p:spPr>
          <a:xfrm>
            <a:off x="3200400" y="2377440"/>
            <a:ext cx="2743200" cy="36576"/>
          </a:xfrm>
          <a:prstGeom prst="rect">
            <a:avLst/>
          </a:prstGeom>
          <a:solidFill>
            <a:srgbClr val="D4A843"/>
          </a:solidFill>
          <a:ln/>
        </p:spPr>
      </p:sp>
      <p:sp>
        <p:nvSpPr>
          <p:cNvPr id="7" name="Text 5"/>
          <p:cNvSpPr/>
          <p:nvPr/>
        </p:nvSpPr>
        <p:spPr>
          <a:xfrm>
            <a:off x="1371600" y="2651760"/>
            <a:ext cx="6400800" cy="365760"/>
          </a:xfrm>
          <a:prstGeom prst="rect">
            <a:avLst/>
          </a:prstGeom>
          <a:noFill/>
          <a:ln/>
        </p:spPr>
        <p:txBody>
          <a:bodyPr wrap="square" rtlCol="0" anchor="ctr">
            <a:normAutofit/>
          </a:bodyPr>
          <a:lstStyle/>
          <a:p>
            <a:pPr algn="ctr" indent="0" marL="0">
              <a:buNone/>
            </a:pPr>
            <a:r>
              <a:rPr lang="en-US" sz="1000" dirty="0">
                <a:solidFill>
                  <a:srgbClr val="E8E4DC"/>
                </a:solidFill>
                <a:latin typeface="Calibri" pitchFamily="34" charset="0"/>
                <a:ea typeface="Calibri" pitchFamily="34" charset="-122"/>
                <a:cs typeface="Calibri" pitchFamily="34" charset="-120"/>
              </a:rPr>
              <a:t>SSD: Liu et al., "SSD: Single Shot MultiBox Detector", ECCV 2016</a:t>
            </a:r>
            <a:endParaRPr lang="en-US" sz="1000" dirty="0"/>
          </a:p>
        </p:txBody>
      </p:sp>
      <p:sp>
        <p:nvSpPr>
          <p:cNvPr id="8" name="Text 6"/>
          <p:cNvSpPr/>
          <p:nvPr/>
        </p:nvSpPr>
        <p:spPr>
          <a:xfrm>
            <a:off x="1371600" y="3063240"/>
            <a:ext cx="6400800" cy="365760"/>
          </a:xfrm>
          <a:prstGeom prst="rect">
            <a:avLst/>
          </a:prstGeom>
          <a:noFill/>
          <a:ln/>
        </p:spPr>
        <p:txBody>
          <a:bodyPr wrap="square" rtlCol="0" anchor="ctr">
            <a:normAutofit/>
          </a:bodyPr>
          <a:lstStyle/>
          <a:p>
            <a:pPr algn="ctr" indent="0" marL="0">
              <a:buNone/>
            </a:pPr>
            <a:r>
              <a:rPr lang="en-US" sz="1000" dirty="0">
                <a:solidFill>
                  <a:srgbClr val="E8E4DC"/>
                </a:solidFill>
                <a:latin typeface="Calibri" pitchFamily="34" charset="0"/>
                <a:ea typeface="Calibri" pitchFamily="34" charset="-122"/>
                <a:cs typeface="Calibri" pitchFamily="34" charset="-120"/>
              </a:rPr>
              <a:t>FPN: Lin et al., "Feature Pyramid Networks", CVPR 2017</a:t>
            </a:r>
            <a:endParaRPr lang="en-US" sz="1000" dirty="0"/>
          </a:p>
        </p:txBody>
      </p:sp>
      <p:sp>
        <p:nvSpPr>
          <p:cNvPr id="9" name="Text 7"/>
          <p:cNvSpPr/>
          <p:nvPr/>
        </p:nvSpPr>
        <p:spPr>
          <a:xfrm>
            <a:off x="1371600" y="3474720"/>
            <a:ext cx="6400800" cy="365760"/>
          </a:xfrm>
          <a:prstGeom prst="rect">
            <a:avLst/>
          </a:prstGeom>
          <a:noFill/>
          <a:ln/>
        </p:spPr>
        <p:txBody>
          <a:bodyPr wrap="square" rtlCol="0" anchor="ctr">
            <a:normAutofit/>
          </a:bodyPr>
          <a:lstStyle/>
          <a:p>
            <a:pPr algn="ctr" indent="0" marL="0">
              <a:buNone/>
            </a:pPr>
            <a:r>
              <a:rPr lang="en-US" sz="1000" dirty="0">
                <a:solidFill>
                  <a:srgbClr val="E8E4DC"/>
                </a:solidFill>
                <a:latin typeface="Calibri" pitchFamily="34" charset="0"/>
                <a:ea typeface="Calibri" pitchFamily="34" charset="-122"/>
                <a:cs typeface="Calibri" pitchFamily="34" charset="-120"/>
              </a:rPr>
              <a:t>RetinaNet: Lin et al., "Focal Loss for Dense Object Detection", ICCV 2017</a:t>
            </a:r>
            <a:endParaRPr lang="en-US" sz="1000" dirty="0"/>
          </a:p>
        </p:txBody>
      </p:sp>
      <p:sp>
        <p:nvSpPr>
          <p:cNvPr id="10" name="Text 8"/>
          <p:cNvSpPr/>
          <p:nvPr/>
        </p:nvSpPr>
        <p:spPr>
          <a:xfrm>
            <a:off x="914400" y="4297680"/>
            <a:ext cx="7315200" cy="274320"/>
          </a:xfrm>
          <a:prstGeom prst="rect">
            <a:avLst/>
          </a:prstGeom>
          <a:noFill/>
          <a:ln/>
        </p:spPr>
        <p:txBody>
          <a:bodyPr wrap="square" rtlCol="0" anchor="ctr">
            <a:normAutofit/>
          </a:bodyPr>
          <a:lstStyle/>
          <a:p>
            <a:pPr algn="ctr" indent="0" marL="0">
              <a:buNone/>
            </a:pPr>
            <a:r>
              <a:rPr lang="en-US" sz="1100" dirty="0">
                <a:solidFill>
                  <a:srgbClr val="D4A843"/>
                </a:solidFill>
                <a:latin typeface="Calibri" pitchFamily="34" charset="0"/>
                <a:ea typeface="Calibri" pitchFamily="34" charset="-122"/>
                <a:cs typeface="Calibri" pitchFamily="34" charset="-120"/>
              </a:rPr>
              <a:t>Computer Vision 100-Day Learning Plan</a:t>
            </a:r>
            <a:endParaRPr lang="en-US" sz="1100" dirty="0"/>
          </a:p>
        </p:txBody>
      </p:sp>
      <p:sp>
        <p:nvSpPr>
          <p:cNvPr id="11"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AI 生成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Day 39: SSD &amp; FPN</dc:subject>
  <dc:creator>CV 100-Day Learning</dc:creator>
  <cp:lastModifiedBy>CV 100-Day Learning</cp:lastModifiedBy>
  <cp:revision>1</cp:revision>
  <dcterms:created xsi:type="dcterms:W3CDTF">2026-07-03T05:15:41Z</dcterms:created>
  <dcterms:modified xsi:type="dcterms:W3CDTF">2026-07-03T05:15:41Z</dcterms:modified>
</cp:coreProperties>
</file>