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1A">
              <a:alpha val="70000"/>
            </a:srgbClr>
          </a:solidFill>
          <a:ln/>
        </p:spPr>
      </p:sp>
      <p:sp>
        <p:nvSpPr>
          <p:cNvPr id="3" name="Shape 1"/>
          <p:cNvSpPr/>
          <p:nvPr/>
        </p:nvSpPr>
        <p:spPr>
          <a:xfrm>
            <a:off x="731520" y="1097280"/>
            <a:ext cx="73152" cy="2377440"/>
          </a:xfrm>
          <a:prstGeom prst="rect">
            <a:avLst/>
          </a:prstGeom>
          <a:solidFill>
            <a:srgbClr val="D4A843"/>
          </a:solidFill>
          <a:ln/>
        </p:spPr>
      </p:sp>
      <p:sp>
        <p:nvSpPr>
          <p:cNvPr id="4" name="Text 2"/>
          <p:cNvSpPr/>
          <p:nvPr/>
        </p:nvSpPr>
        <p:spPr>
          <a:xfrm>
            <a:off x="1097280" y="1097280"/>
            <a:ext cx="6400800" cy="640080"/>
          </a:xfrm>
          <a:prstGeom prst="rect">
            <a:avLst/>
          </a:prstGeom>
          <a:noFill/>
          <a:ln/>
        </p:spPr>
        <p:txBody>
          <a:bodyPr wrap="square" rtlCol="0" anchor="ctr">
            <a:normAutofit/>
          </a:bodyPr>
          <a:lstStyle/>
          <a:p>
            <a:pPr indent="0" marL="0">
              <a:buNone/>
            </a:pPr>
            <a:r>
              <a:rPr lang="en-US" sz="2000" b="1" spc="300" kern="0" dirty="0">
                <a:solidFill>
                  <a:srgbClr val="E8F5E2"/>
                </a:solidFill>
                <a:latin typeface="Calibri" pitchFamily="34" charset="0"/>
                <a:ea typeface="Calibri" pitchFamily="34" charset="-122"/>
                <a:cs typeface="Calibri" pitchFamily="34" charset="-120"/>
              </a:rPr>
              <a:t>Day 3</a:t>
            </a:r>
            <a:endParaRPr lang="en-US" sz="2000" dirty="0"/>
          </a:p>
        </p:txBody>
      </p:sp>
      <p:sp>
        <p:nvSpPr>
          <p:cNvPr id="5" name="Text 3"/>
          <p:cNvSpPr/>
          <p:nvPr/>
        </p:nvSpPr>
        <p:spPr>
          <a:xfrm>
            <a:off x="1097280" y="1737360"/>
            <a:ext cx="6400800" cy="1463040"/>
          </a:xfrm>
          <a:prstGeom prst="rect">
            <a:avLst/>
          </a:prstGeom>
          <a:noFill/>
          <a:ln/>
        </p:spPr>
        <p:txBody>
          <a:bodyPr wrap="square" rtlCol="0" anchor="ctr">
            <a:normAutofit/>
          </a:bodyPr>
          <a:lstStyle/>
          <a:p>
            <a:pPr indent="0" marL="0">
              <a:lnSpc>
                <a:spcPct val="115000"/>
              </a:lnSpc>
              <a:buNone/>
            </a:pPr>
            <a:r>
              <a:rPr lang="en-US" sz="3800" b="1" spc="250" kern="0" dirty="0">
                <a:solidFill>
                  <a:srgbClr val="FFFFFF"/>
                </a:solidFill>
                <a:latin typeface="Georgia" pitchFamily="34" charset="0"/>
                <a:ea typeface="Georgia" pitchFamily="34" charset="-122"/>
                <a:cs typeface="Georgia" pitchFamily="34" charset="-120"/>
              </a:rPr>
              <a:t>Image Drawing &amp;</a:t>
            </a:r>
            <a:endParaRPr lang="en-US" sz="3800" dirty="0"/>
          </a:p>
          <a:p>
            <a:pPr indent="0" marL="0">
              <a:lnSpc>
                <a:spcPct val="115000"/>
              </a:lnSpc>
              <a:buNone/>
            </a:pPr>
            <a:r>
              <a:rPr lang="en-US" sz="3800" b="1" spc="250" kern="0" dirty="0">
                <a:solidFill>
                  <a:srgbClr val="FFFFFF"/>
                </a:solidFill>
                <a:latin typeface="Georgia" pitchFamily="34" charset="0"/>
                <a:ea typeface="Georgia" pitchFamily="34" charset="-122"/>
                <a:cs typeface="Georgia" pitchFamily="34" charset="-120"/>
              </a:rPr>
              <a:t>Geometric Transformations</a:t>
            </a:r>
            <a:endParaRPr lang="en-US" sz="3800" dirty="0"/>
          </a:p>
        </p:txBody>
      </p:sp>
      <p:sp>
        <p:nvSpPr>
          <p:cNvPr id="6" name="Text 4"/>
          <p:cNvSpPr/>
          <p:nvPr/>
        </p:nvSpPr>
        <p:spPr>
          <a:xfrm>
            <a:off x="1097280" y="3383280"/>
            <a:ext cx="4572000" cy="365760"/>
          </a:xfrm>
          <a:prstGeom prst="rect">
            <a:avLst/>
          </a:prstGeom>
          <a:noFill/>
          <a:ln/>
        </p:spPr>
        <p:txBody>
          <a:bodyPr wrap="square" rtlCol="0" anchor="ctr">
            <a:normAutofit/>
          </a:bodyPr>
          <a:lstStyle/>
          <a:p>
            <a:pPr indent="0" marL="0">
              <a:buNone/>
            </a:pPr>
            <a:r>
              <a:rPr lang="en-US" sz="1400" dirty="0">
                <a:solidFill>
                  <a:srgbClr val="D4A843"/>
                </a:solidFill>
                <a:latin typeface="Calibri" pitchFamily="34" charset="0"/>
                <a:ea typeface="Calibri" pitchFamily="34" charset="-122"/>
                <a:cs typeface="Calibri" pitchFamily="34" charset="-120"/>
              </a:rPr>
              <a:t>Computer Vision 100-Day Learning Plan</a:t>
            </a:r>
            <a:endParaRPr lang="en-US" sz="1400" dirty="0"/>
          </a:p>
        </p:txBody>
      </p:sp>
      <p:sp>
        <p:nvSpPr>
          <p:cNvPr id="7" name="Shape 5"/>
          <p:cNvSpPr/>
          <p:nvPr/>
        </p:nvSpPr>
        <p:spPr>
          <a:xfrm>
            <a:off x="1097280" y="3931920"/>
            <a:ext cx="2286000" cy="36576"/>
          </a:xfrm>
          <a:prstGeom prst="rect">
            <a:avLst/>
          </a:prstGeom>
          <a:solidFill>
            <a:srgbClr val="97BC62"/>
          </a:solidFill>
          <a:ln/>
        </p:spPr>
      </p:sp>
      <p:sp>
        <p:nvSpPr>
          <p:cNvPr id="8" name="Text 6"/>
          <p:cNvSpPr/>
          <p:nvPr/>
        </p:nvSpPr>
        <p:spPr>
          <a:xfrm>
            <a:off x="1097280" y="4114800"/>
            <a:ext cx="2743200" cy="320040"/>
          </a:xfrm>
          <a:prstGeom prst="rect">
            <a:avLst/>
          </a:prstGeom>
          <a:noFill/>
          <a:ln/>
        </p:spPr>
        <p:txBody>
          <a:bodyPr wrap="square" rtlCol="0" anchor="ctr">
            <a:normAutofit/>
          </a:bodyPr>
          <a:lstStyle/>
          <a:p>
            <a:pPr indent="0" marL="0">
              <a:buNone/>
            </a:pPr>
            <a:r>
              <a:rPr lang="en-US" sz="1200" dirty="0">
                <a:solidFill>
                  <a:srgbClr val="D0D0D0"/>
                </a:solidFill>
                <a:latin typeface="Calibri" pitchFamily="34" charset="0"/>
                <a:ea typeface="Calibri" pitchFamily="34" charset="-122"/>
                <a:cs typeface="Calibri" pitchFamily="34" charset="-120"/>
              </a:rPr>
              <a:t>2026-05-28</a:t>
            </a:r>
            <a:endParaRPr lang="en-US" sz="1200" dirty="0"/>
          </a:p>
        </p:txBody>
      </p:sp>
      <p:sp>
        <p:nvSpPr>
          <p:cNvPr id="9"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1F2329"/>
                </a:solidFill>
                <a:latin typeface="Georgia" pitchFamily="34" charset="0"/>
                <a:ea typeface="Georgia" pitchFamily="34" charset="-122"/>
                <a:cs typeface="Georgia" pitchFamily="34" charset="-120"/>
              </a:rPr>
              <a:t>Agenda</a:t>
            </a:r>
            <a:endParaRPr lang="en-US" sz="2800" dirty="0"/>
          </a:p>
        </p:txBody>
      </p:sp>
      <p:sp>
        <p:nvSpPr>
          <p:cNvPr id="4"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280"/>
                </a:solidFill>
                <a:latin typeface="Calibri" pitchFamily="34" charset="0"/>
                <a:ea typeface="Calibri" pitchFamily="34" charset="-122"/>
                <a:cs typeface="Calibri" pitchFamily="34" charset="-120"/>
              </a:rPr>
              <a:t>Today's learning roadmap</a:t>
            </a:r>
            <a:endParaRPr lang="en-US" sz="1300" dirty="0"/>
          </a:p>
        </p:txBody>
      </p:sp>
      <p:sp>
        <p:nvSpPr>
          <p:cNvPr id="5" name="Shape 3"/>
          <p:cNvSpPr/>
          <p:nvPr/>
        </p:nvSpPr>
        <p:spPr>
          <a:xfrm>
            <a:off x="457200" y="1188720"/>
            <a:ext cx="192024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6" name="Shape 4"/>
          <p:cNvSpPr/>
          <p:nvPr/>
        </p:nvSpPr>
        <p:spPr>
          <a:xfrm>
            <a:off x="457200" y="1188720"/>
            <a:ext cx="1920240" cy="54864"/>
          </a:xfrm>
          <a:prstGeom prst="rect">
            <a:avLst/>
          </a:prstGeom>
          <a:solidFill>
            <a:srgbClr val="2C5F2D"/>
          </a:solidFill>
          <a:ln/>
        </p:spPr>
      </p:sp>
      <p:sp>
        <p:nvSpPr>
          <p:cNvPr id="7" name="Text 5"/>
          <p:cNvSpPr/>
          <p:nvPr/>
        </p:nvSpPr>
        <p:spPr>
          <a:xfrm>
            <a:off x="685800" y="1371600"/>
            <a:ext cx="548640" cy="457200"/>
          </a:xfrm>
          <a:prstGeom prst="rect">
            <a:avLst/>
          </a:prstGeom>
          <a:noFill/>
          <a:ln/>
        </p:spPr>
        <p:txBody>
          <a:bodyPr wrap="square" rtlCol="0" anchor="ctr">
            <a:normAutofit/>
          </a:bodyPr>
          <a:lstStyle/>
          <a:p>
            <a:pPr indent="0" marL="0">
              <a:buNone/>
            </a:pPr>
            <a:r>
              <a:rPr lang="en-US" sz="2200" b="1" dirty="0">
                <a:solidFill>
                  <a:srgbClr val="D4A843"/>
                </a:solidFill>
                <a:latin typeface="Georgia" pitchFamily="34" charset="0"/>
                <a:ea typeface="Georgia" pitchFamily="34" charset="-122"/>
                <a:cs typeface="Georgia" pitchFamily="34" charset="-120"/>
              </a:rPr>
              <a:t>01</a:t>
            </a:r>
            <a:endParaRPr lang="en-US" sz="2200" dirty="0"/>
          </a:p>
        </p:txBody>
      </p:sp>
      <p:sp>
        <p:nvSpPr>
          <p:cNvPr id="8" name="Text 6"/>
          <p:cNvSpPr/>
          <p:nvPr/>
        </p:nvSpPr>
        <p:spPr>
          <a:xfrm>
            <a:off x="685800" y="1828800"/>
            <a:ext cx="1463040" cy="36576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Historical Background</a:t>
            </a:r>
            <a:endParaRPr lang="en-US" sz="1400" dirty="0"/>
          </a:p>
        </p:txBody>
      </p:sp>
      <p:sp>
        <p:nvSpPr>
          <p:cNvPr id="9" name="Text 7"/>
          <p:cNvSpPr/>
          <p:nvPr/>
        </p:nvSpPr>
        <p:spPr>
          <a:xfrm>
            <a:off x="685800" y="2240280"/>
            <a:ext cx="1463040" cy="457200"/>
          </a:xfrm>
          <a:prstGeom prst="rect">
            <a:avLst/>
          </a:prstGeom>
          <a:noFill/>
          <a:ln/>
        </p:spPr>
        <p:txBody>
          <a:bodyPr wrap="square" rtlCol="0" anchor="ctr">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From Euclid to OpenCV</a:t>
            </a:r>
            <a:endParaRPr lang="en-US" sz="1100" dirty="0"/>
          </a:p>
        </p:txBody>
      </p:sp>
      <p:sp>
        <p:nvSpPr>
          <p:cNvPr id="10" name="Shape 8"/>
          <p:cNvSpPr/>
          <p:nvPr/>
        </p:nvSpPr>
        <p:spPr>
          <a:xfrm>
            <a:off x="2560320" y="1188720"/>
            <a:ext cx="192024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11" name="Shape 9"/>
          <p:cNvSpPr/>
          <p:nvPr/>
        </p:nvSpPr>
        <p:spPr>
          <a:xfrm>
            <a:off x="2560320" y="1188720"/>
            <a:ext cx="1920240" cy="54864"/>
          </a:xfrm>
          <a:prstGeom prst="rect">
            <a:avLst/>
          </a:prstGeom>
          <a:solidFill>
            <a:srgbClr val="97BC62"/>
          </a:solidFill>
          <a:ln/>
        </p:spPr>
      </p:sp>
      <p:sp>
        <p:nvSpPr>
          <p:cNvPr id="12" name="Text 10"/>
          <p:cNvSpPr/>
          <p:nvPr/>
        </p:nvSpPr>
        <p:spPr>
          <a:xfrm>
            <a:off x="2788920" y="1371600"/>
            <a:ext cx="548640" cy="457200"/>
          </a:xfrm>
          <a:prstGeom prst="rect">
            <a:avLst/>
          </a:prstGeom>
          <a:noFill/>
          <a:ln/>
        </p:spPr>
        <p:txBody>
          <a:bodyPr wrap="square" rtlCol="0" anchor="ctr">
            <a:normAutofit/>
          </a:bodyPr>
          <a:lstStyle/>
          <a:p>
            <a:pPr indent="0" marL="0">
              <a:buNone/>
            </a:pPr>
            <a:r>
              <a:rPr lang="en-US" sz="2200" b="1" dirty="0">
                <a:solidFill>
                  <a:srgbClr val="D4A843"/>
                </a:solidFill>
                <a:latin typeface="Georgia" pitchFamily="34" charset="0"/>
                <a:ea typeface="Georgia" pitchFamily="34" charset="-122"/>
                <a:cs typeface="Georgia" pitchFamily="34" charset="-120"/>
              </a:rPr>
              <a:t>02</a:t>
            </a:r>
            <a:endParaRPr lang="en-US" sz="2200" dirty="0"/>
          </a:p>
        </p:txBody>
      </p:sp>
      <p:sp>
        <p:nvSpPr>
          <p:cNvPr id="13" name="Text 11"/>
          <p:cNvSpPr/>
          <p:nvPr/>
        </p:nvSpPr>
        <p:spPr>
          <a:xfrm>
            <a:off x="2788920" y="1828800"/>
            <a:ext cx="1463040" cy="36576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Image Drawing</a:t>
            </a:r>
            <a:endParaRPr lang="en-US" sz="1400" dirty="0"/>
          </a:p>
        </p:txBody>
      </p:sp>
      <p:sp>
        <p:nvSpPr>
          <p:cNvPr id="14" name="Text 12"/>
          <p:cNvSpPr/>
          <p:nvPr/>
        </p:nvSpPr>
        <p:spPr>
          <a:xfrm>
            <a:off x="2788920" y="2240280"/>
            <a:ext cx="1463040" cy="457200"/>
          </a:xfrm>
          <a:prstGeom prst="rect">
            <a:avLst/>
          </a:prstGeom>
          <a:noFill/>
          <a:ln/>
        </p:spPr>
        <p:txBody>
          <a:bodyPr wrap="square" rtlCol="0" anchor="ctr">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line / rectangle / circle / ellipse / putText</a:t>
            </a:r>
            <a:endParaRPr lang="en-US" sz="1100" dirty="0"/>
          </a:p>
        </p:txBody>
      </p:sp>
      <p:sp>
        <p:nvSpPr>
          <p:cNvPr id="15" name="Shape 13"/>
          <p:cNvSpPr/>
          <p:nvPr/>
        </p:nvSpPr>
        <p:spPr>
          <a:xfrm>
            <a:off x="4663440" y="1188720"/>
            <a:ext cx="192024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16" name="Shape 14"/>
          <p:cNvSpPr/>
          <p:nvPr/>
        </p:nvSpPr>
        <p:spPr>
          <a:xfrm>
            <a:off x="4663440" y="1188720"/>
            <a:ext cx="1920240" cy="54864"/>
          </a:xfrm>
          <a:prstGeom prst="rect">
            <a:avLst/>
          </a:prstGeom>
          <a:solidFill>
            <a:srgbClr val="2C5F2D"/>
          </a:solidFill>
          <a:ln/>
        </p:spPr>
      </p:sp>
      <p:sp>
        <p:nvSpPr>
          <p:cNvPr id="17" name="Text 15"/>
          <p:cNvSpPr/>
          <p:nvPr/>
        </p:nvSpPr>
        <p:spPr>
          <a:xfrm>
            <a:off x="4892040" y="1371600"/>
            <a:ext cx="548640" cy="457200"/>
          </a:xfrm>
          <a:prstGeom prst="rect">
            <a:avLst/>
          </a:prstGeom>
          <a:noFill/>
          <a:ln/>
        </p:spPr>
        <p:txBody>
          <a:bodyPr wrap="square" rtlCol="0" anchor="ctr">
            <a:normAutofit/>
          </a:bodyPr>
          <a:lstStyle/>
          <a:p>
            <a:pPr indent="0" marL="0">
              <a:buNone/>
            </a:pPr>
            <a:r>
              <a:rPr lang="en-US" sz="2200" b="1" dirty="0">
                <a:solidFill>
                  <a:srgbClr val="D4A843"/>
                </a:solidFill>
                <a:latin typeface="Georgia" pitchFamily="34" charset="0"/>
                <a:ea typeface="Georgia" pitchFamily="34" charset="-122"/>
                <a:cs typeface="Georgia" pitchFamily="34" charset="-120"/>
              </a:rPr>
              <a:t>03</a:t>
            </a:r>
            <a:endParaRPr lang="en-US" sz="2200" dirty="0"/>
          </a:p>
        </p:txBody>
      </p:sp>
      <p:sp>
        <p:nvSpPr>
          <p:cNvPr id="18" name="Text 16"/>
          <p:cNvSpPr/>
          <p:nvPr/>
        </p:nvSpPr>
        <p:spPr>
          <a:xfrm>
            <a:off x="4892040" y="1828800"/>
            <a:ext cx="1463040" cy="36576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Scaling &amp; Rotation</a:t>
            </a:r>
            <a:endParaRPr lang="en-US" sz="1400" dirty="0"/>
          </a:p>
        </p:txBody>
      </p:sp>
      <p:sp>
        <p:nvSpPr>
          <p:cNvPr id="19" name="Text 17"/>
          <p:cNvSpPr/>
          <p:nvPr/>
        </p:nvSpPr>
        <p:spPr>
          <a:xfrm>
            <a:off x="4892040" y="2240280"/>
            <a:ext cx="1463040" cy="457200"/>
          </a:xfrm>
          <a:prstGeom prst="rect">
            <a:avLst/>
          </a:prstGeom>
          <a:noFill/>
          <a:ln/>
        </p:spPr>
        <p:txBody>
          <a:bodyPr wrap="square" rtlCol="0" anchor="ctr">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Interpolation methods &amp; rotation matrix</a:t>
            </a:r>
            <a:endParaRPr lang="en-US" sz="1100" dirty="0"/>
          </a:p>
        </p:txBody>
      </p:sp>
      <p:sp>
        <p:nvSpPr>
          <p:cNvPr id="20" name="Shape 18"/>
          <p:cNvSpPr/>
          <p:nvPr/>
        </p:nvSpPr>
        <p:spPr>
          <a:xfrm>
            <a:off x="6766560" y="1188720"/>
            <a:ext cx="192024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21" name="Shape 19"/>
          <p:cNvSpPr/>
          <p:nvPr/>
        </p:nvSpPr>
        <p:spPr>
          <a:xfrm>
            <a:off x="6766560" y="1188720"/>
            <a:ext cx="1920240" cy="54864"/>
          </a:xfrm>
          <a:prstGeom prst="rect">
            <a:avLst/>
          </a:prstGeom>
          <a:solidFill>
            <a:srgbClr val="97BC62"/>
          </a:solidFill>
          <a:ln/>
        </p:spPr>
      </p:sp>
      <p:sp>
        <p:nvSpPr>
          <p:cNvPr id="22" name="Text 20"/>
          <p:cNvSpPr/>
          <p:nvPr/>
        </p:nvSpPr>
        <p:spPr>
          <a:xfrm>
            <a:off x="6995160" y="1371600"/>
            <a:ext cx="548640" cy="457200"/>
          </a:xfrm>
          <a:prstGeom prst="rect">
            <a:avLst/>
          </a:prstGeom>
          <a:noFill/>
          <a:ln/>
        </p:spPr>
        <p:txBody>
          <a:bodyPr wrap="square" rtlCol="0" anchor="ctr">
            <a:normAutofit/>
          </a:bodyPr>
          <a:lstStyle/>
          <a:p>
            <a:pPr indent="0" marL="0">
              <a:buNone/>
            </a:pPr>
            <a:r>
              <a:rPr lang="en-US" sz="2200" b="1" dirty="0">
                <a:solidFill>
                  <a:srgbClr val="D4A843"/>
                </a:solidFill>
                <a:latin typeface="Georgia" pitchFamily="34" charset="0"/>
                <a:ea typeface="Georgia" pitchFamily="34" charset="-122"/>
                <a:cs typeface="Georgia" pitchFamily="34" charset="-120"/>
              </a:rPr>
              <a:t>04</a:t>
            </a:r>
            <a:endParaRPr lang="en-US" sz="2200" dirty="0"/>
          </a:p>
        </p:txBody>
      </p:sp>
      <p:sp>
        <p:nvSpPr>
          <p:cNvPr id="23" name="Text 21"/>
          <p:cNvSpPr/>
          <p:nvPr/>
        </p:nvSpPr>
        <p:spPr>
          <a:xfrm>
            <a:off x="6995160" y="1828800"/>
            <a:ext cx="1463040" cy="36576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Translation &amp; Affine</a:t>
            </a:r>
            <a:endParaRPr lang="en-US" sz="1400" dirty="0"/>
          </a:p>
        </p:txBody>
      </p:sp>
      <p:sp>
        <p:nvSpPr>
          <p:cNvPr id="24" name="Text 22"/>
          <p:cNvSpPr/>
          <p:nvPr/>
        </p:nvSpPr>
        <p:spPr>
          <a:xfrm>
            <a:off x="6995160" y="2240280"/>
            <a:ext cx="1463040" cy="457200"/>
          </a:xfrm>
          <a:prstGeom prst="rect">
            <a:avLst/>
          </a:prstGeom>
          <a:noFill/>
          <a:ln/>
        </p:spPr>
        <p:txBody>
          <a:bodyPr wrap="square" rtlCol="0" anchor="ctr">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Transformation matrices</a:t>
            </a:r>
            <a:endParaRPr lang="en-US" sz="1100" dirty="0"/>
          </a:p>
        </p:txBody>
      </p:sp>
      <p:sp>
        <p:nvSpPr>
          <p:cNvPr id="25" name="Shape 23"/>
          <p:cNvSpPr/>
          <p:nvPr/>
        </p:nvSpPr>
        <p:spPr>
          <a:xfrm>
            <a:off x="457200" y="3017520"/>
            <a:ext cx="192024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26" name="Shape 24"/>
          <p:cNvSpPr/>
          <p:nvPr/>
        </p:nvSpPr>
        <p:spPr>
          <a:xfrm>
            <a:off x="457200" y="3017520"/>
            <a:ext cx="1920240" cy="54864"/>
          </a:xfrm>
          <a:prstGeom prst="rect">
            <a:avLst/>
          </a:prstGeom>
          <a:solidFill>
            <a:srgbClr val="2C5F2D"/>
          </a:solidFill>
          <a:ln/>
        </p:spPr>
      </p:sp>
      <p:sp>
        <p:nvSpPr>
          <p:cNvPr id="27" name="Text 25"/>
          <p:cNvSpPr/>
          <p:nvPr/>
        </p:nvSpPr>
        <p:spPr>
          <a:xfrm>
            <a:off x="685800" y="3200400"/>
            <a:ext cx="548640" cy="457200"/>
          </a:xfrm>
          <a:prstGeom prst="rect">
            <a:avLst/>
          </a:prstGeom>
          <a:noFill/>
          <a:ln/>
        </p:spPr>
        <p:txBody>
          <a:bodyPr wrap="square" rtlCol="0" anchor="ctr">
            <a:normAutofit/>
          </a:bodyPr>
          <a:lstStyle/>
          <a:p>
            <a:pPr indent="0" marL="0">
              <a:buNone/>
            </a:pPr>
            <a:r>
              <a:rPr lang="en-US" sz="2200" b="1" dirty="0">
                <a:solidFill>
                  <a:srgbClr val="D4A843"/>
                </a:solidFill>
                <a:latin typeface="Georgia" pitchFamily="34" charset="0"/>
                <a:ea typeface="Georgia" pitchFamily="34" charset="-122"/>
                <a:cs typeface="Georgia" pitchFamily="34" charset="-120"/>
              </a:rPr>
              <a:t>05</a:t>
            </a:r>
            <a:endParaRPr lang="en-US" sz="2200" dirty="0"/>
          </a:p>
        </p:txBody>
      </p:sp>
      <p:sp>
        <p:nvSpPr>
          <p:cNvPr id="28" name="Text 26"/>
          <p:cNvSpPr/>
          <p:nvPr/>
        </p:nvSpPr>
        <p:spPr>
          <a:xfrm>
            <a:off x="685800" y="3657600"/>
            <a:ext cx="1463040" cy="36576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Perspective Transform</a:t>
            </a:r>
            <a:endParaRPr lang="en-US" sz="1400" dirty="0"/>
          </a:p>
        </p:txBody>
      </p:sp>
      <p:sp>
        <p:nvSpPr>
          <p:cNvPr id="29" name="Text 27"/>
          <p:cNvSpPr/>
          <p:nvPr/>
        </p:nvSpPr>
        <p:spPr>
          <a:xfrm>
            <a:off x="685800" y="4069080"/>
            <a:ext cx="1463040" cy="457200"/>
          </a:xfrm>
          <a:prstGeom prst="rect">
            <a:avLst/>
          </a:prstGeom>
          <a:noFill/>
          <a:ln/>
        </p:spPr>
        <p:txBody>
          <a:bodyPr wrap="square" rtlCol="0" anchor="ctr">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4-point homography</a:t>
            </a:r>
            <a:endParaRPr lang="en-US" sz="1100" dirty="0"/>
          </a:p>
        </p:txBody>
      </p:sp>
      <p:sp>
        <p:nvSpPr>
          <p:cNvPr id="30" name="Shape 28"/>
          <p:cNvSpPr/>
          <p:nvPr/>
        </p:nvSpPr>
        <p:spPr>
          <a:xfrm>
            <a:off x="2560320" y="3017520"/>
            <a:ext cx="192024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31" name="Shape 29"/>
          <p:cNvSpPr/>
          <p:nvPr/>
        </p:nvSpPr>
        <p:spPr>
          <a:xfrm>
            <a:off x="2560320" y="3017520"/>
            <a:ext cx="1920240" cy="54864"/>
          </a:xfrm>
          <a:prstGeom prst="rect">
            <a:avLst/>
          </a:prstGeom>
          <a:solidFill>
            <a:srgbClr val="97BC62"/>
          </a:solidFill>
          <a:ln/>
        </p:spPr>
      </p:sp>
      <p:sp>
        <p:nvSpPr>
          <p:cNvPr id="32" name="Text 30"/>
          <p:cNvSpPr/>
          <p:nvPr/>
        </p:nvSpPr>
        <p:spPr>
          <a:xfrm>
            <a:off x="2788920" y="3200400"/>
            <a:ext cx="548640" cy="457200"/>
          </a:xfrm>
          <a:prstGeom prst="rect">
            <a:avLst/>
          </a:prstGeom>
          <a:noFill/>
          <a:ln/>
        </p:spPr>
        <p:txBody>
          <a:bodyPr wrap="square" rtlCol="0" anchor="ctr">
            <a:normAutofit/>
          </a:bodyPr>
          <a:lstStyle/>
          <a:p>
            <a:pPr indent="0" marL="0">
              <a:buNone/>
            </a:pPr>
            <a:r>
              <a:rPr lang="en-US" sz="2200" b="1" dirty="0">
                <a:solidFill>
                  <a:srgbClr val="D4A843"/>
                </a:solidFill>
                <a:latin typeface="Georgia" pitchFamily="34" charset="0"/>
                <a:ea typeface="Georgia" pitchFamily="34" charset="-122"/>
                <a:cs typeface="Georgia" pitchFamily="34" charset="-120"/>
              </a:rPr>
              <a:t>06</a:t>
            </a:r>
            <a:endParaRPr lang="en-US" sz="2200" dirty="0"/>
          </a:p>
        </p:txBody>
      </p:sp>
      <p:sp>
        <p:nvSpPr>
          <p:cNvPr id="33" name="Text 31"/>
          <p:cNvSpPr/>
          <p:nvPr/>
        </p:nvSpPr>
        <p:spPr>
          <a:xfrm>
            <a:off x="2788920" y="3657600"/>
            <a:ext cx="1463040" cy="36576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Crop &amp; Border Padding</a:t>
            </a:r>
            <a:endParaRPr lang="en-US" sz="1400" dirty="0"/>
          </a:p>
        </p:txBody>
      </p:sp>
      <p:sp>
        <p:nvSpPr>
          <p:cNvPr id="34" name="Text 32"/>
          <p:cNvSpPr/>
          <p:nvPr/>
        </p:nvSpPr>
        <p:spPr>
          <a:xfrm>
            <a:off x="2788920" y="4069080"/>
            <a:ext cx="1463040" cy="457200"/>
          </a:xfrm>
          <a:prstGeom prst="rect">
            <a:avLst/>
          </a:prstGeom>
          <a:noFill/>
          <a:ln/>
        </p:spPr>
        <p:txBody>
          <a:bodyPr wrap="square" rtlCol="0" anchor="ctr">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ROI extraction &amp; border types</a:t>
            </a:r>
            <a:endParaRPr lang="en-US" sz="1100" dirty="0"/>
          </a:p>
        </p:txBody>
      </p:sp>
      <p:sp>
        <p:nvSpPr>
          <p:cNvPr id="35" name="Shape 33"/>
          <p:cNvSpPr/>
          <p:nvPr/>
        </p:nvSpPr>
        <p:spPr>
          <a:xfrm>
            <a:off x="4663440" y="3017520"/>
            <a:ext cx="192024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36" name="Shape 34"/>
          <p:cNvSpPr/>
          <p:nvPr/>
        </p:nvSpPr>
        <p:spPr>
          <a:xfrm>
            <a:off x="4663440" y="3017520"/>
            <a:ext cx="1920240" cy="54864"/>
          </a:xfrm>
          <a:prstGeom prst="rect">
            <a:avLst/>
          </a:prstGeom>
          <a:solidFill>
            <a:srgbClr val="2C5F2D"/>
          </a:solidFill>
          <a:ln/>
        </p:spPr>
      </p:sp>
      <p:sp>
        <p:nvSpPr>
          <p:cNvPr id="37" name="Text 35"/>
          <p:cNvSpPr/>
          <p:nvPr/>
        </p:nvSpPr>
        <p:spPr>
          <a:xfrm>
            <a:off x="4892040" y="3200400"/>
            <a:ext cx="548640" cy="457200"/>
          </a:xfrm>
          <a:prstGeom prst="rect">
            <a:avLst/>
          </a:prstGeom>
          <a:noFill/>
          <a:ln/>
        </p:spPr>
        <p:txBody>
          <a:bodyPr wrap="square" rtlCol="0" anchor="ctr">
            <a:normAutofit/>
          </a:bodyPr>
          <a:lstStyle/>
          <a:p>
            <a:pPr indent="0" marL="0">
              <a:buNone/>
            </a:pPr>
            <a:r>
              <a:rPr lang="en-US" sz="2200" b="1" dirty="0">
                <a:solidFill>
                  <a:srgbClr val="D4A843"/>
                </a:solidFill>
                <a:latin typeface="Georgia" pitchFamily="34" charset="0"/>
                <a:ea typeface="Georgia" pitchFamily="34" charset="-122"/>
                <a:cs typeface="Georgia" pitchFamily="34" charset="-120"/>
              </a:rPr>
              <a:t>07</a:t>
            </a:r>
            <a:endParaRPr lang="en-US" sz="2200" dirty="0"/>
          </a:p>
        </p:txBody>
      </p:sp>
      <p:sp>
        <p:nvSpPr>
          <p:cNvPr id="38" name="Text 36"/>
          <p:cNvSpPr/>
          <p:nvPr/>
        </p:nvSpPr>
        <p:spPr>
          <a:xfrm>
            <a:off x="4892040" y="3657600"/>
            <a:ext cx="1463040" cy="36576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Scientists &amp; Experiments</a:t>
            </a:r>
            <a:endParaRPr lang="en-US" sz="1400" dirty="0"/>
          </a:p>
        </p:txBody>
      </p:sp>
      <p:sp>
        <p:nvSpPr>
          <p:cNvPr id="39" name="Text 37"/>
          <p:cNvSpPr/>
          <p:nvPr/>
        </p:nvSpPr>
        <p:spPr>
          <a:xfrm>
            <a:off x="4892040" y="4069080"/>
            <a:ext cx="1463040" cy="457200"/>
          </a:xfrm>
          <a:prstGeom prst="rect">
            <a:avLst/>
          </a:prstGeom>
          <a:noFill/>
          <a:ln/>
        </p:spPr>
        <p:txBody>
          <a:bodyPr wrap="square" rtlCol="0" anchor="ctr">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Durer, Bradski &amp; document scanner</a:t>
            </a:r>
            <a:endParaRPr lang="en-US" sz="1100" dirty="0"/>
          </a:p>
        </p:txBody>
      </p:sp>
      <p:sp>
        <p:nvSpPr>
          <p:cNvPr id="40" name="Shape 38"/>
          <p:cNvSpPr/>
          <p:nvPr/>
        </p:nvSpPr>
        <p:spPr>
          <a:xfrm>
            <a:off x="6766560" y="3017520"/>
            <a:ext cx="192024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41" name="Shape 39"/>
          <p:cNvSpPr/>
          <p:nvPr/>
        </p:nvSpPr>
        <p:spPr>
          <a:xfrm>
            <a:off x="6766560" y="3017520"/>
            <a:ext cx="1920240" cy="54864"/>
          </a:xfrm>
          <a:prstGeom prst="rect">
            <a:avLst/>
          </a:prstGeom>
          <a:solidFill>
            <a:srgbClr val="97BC62"/>
          </a:solidFill>
          <a:ln/>
        </p:spPr>
      </p:sp>
      <p:sp>
        <p:nvSpPr>
          <p:cNvPr id="42" name="Text 40"/>
          <p:cNvSpPr/>
          <p:nvPr/>
        </p:nvSpPr>
        <p:spPr>
          <a:xfrm>
            <a:off x="6995160" y="3200400"/>
            <a:ext cx="548640" cy="457200"/>
          </a:xfrm>
          <a:prstGeom prst="rect">
            <a:avLst/>
          </a:prstGeom>
          <a:noFill/>
          <a:ln/>
        </p:spPr>
        <p:txBody>
          <a:bodyPr wrap="square" rtlCol="0" anchor="ctr">
            <a:normAutofit/>
          </a:bodyPr>
          <a:lstStyle/>
          <a:p>
            <a:pPr indent="0" marL="0">
              <a:buNone/>
            </a:pPr>
            <a:r>
              <a:rPr lang="en-US" sz="2200" b="1" dirty="0">
                <a:solidFill>
                  <a:srgbClr val="D4A843"/>
                </a:solidFill>
                <a:latin typeface="Georgia" pitchFamily="34" charset="0"/>
                <a:ea typeface="Georgia" pitchFamily="34" charset="-122"/>
                <a:cs typeface="Georgia" pitchFamily="34" charset="-120"/>
              </a:rPr>
              <a:t>08</a:t>
            </a:r>
            <a:endParaRPr lang="en-US" sz="2200" dirty="0"/>
          </a:p>
        </p:txBody>
      </p:sp>
      <p:sp>
        <p:nvSpPr>
          <p:cNvPr id="43" name="Text 41"/>
          <p:cNvSpPr/>
          <p:nvPr/>
        </p:nvSpPr>
        <p:spPr>
          <a:xfrm>
            <a:off x="6995160" y="3657600"/>
            <a:ext cx="1463040" cy="36576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Review &amp; Preview</a:t>
            </a:r>
            <a:endParaRPr lang="en-US" sz="1400" dirty="0"/>
          </a:p>
        </p:txBody>
      </p:sp>
      <p:sp>
        <p:nvSpPr>
          <p:cNvPr id="44" name="Text 42"/>
          <p:cNvSpPr/>
          <p:nvPr/>
        </p:nvSpPr>
        <p:spPr>
          <a:xfrm>
            <a:off x="6995160" y="4069080"/>
            <a:ext cx="1463040" cy="457200"/>
          </a:xfrm>
          <a:prstGeom prst="rect">
            <a:avLst/>
          </a:prstGeom>
          <a:noFill/>
          <a:ln/>
        </p:spPr>
        <p:txBody>
          <a:bodyPr wrap="square" rtlCol="0" anchor="ctr">
            <a:normAutofit/>
          </a:bodyPr>
          <a:lstStyle/>
          <a:p>
            <a:pPr indent="0" marL="0">
              <a:buNone/>
            </a:pPr>
            <a:r>
              <a:rPr lang="en-US" sz="1100" dirty="0">
                <a:solidFill>
                  <a:srgbClr val="6B7280"/>
                </a:solidFill>
                <a:latin typeface="Calibri" pitchFamily="34" charset="0"/>
                <a:ea typeface="Calibri" pitchFamily="34" charset="-122"/>
                <a:cs typeface="Calibri" pitchFamily="34" charset="-120"/>
              </a:rPr>
              <a:t>Exercises, glossary &amp; Day 4 preview</a:t>
            </a:r>
            <a:endParaRPr lang="en-US" sz="1100" dirty="0"/>
          </a:p>
        </p:txBody>
      </p:sp>
      <p:sp>
        <p:nvSpPr>
          <p:cNvPr id="45"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1F2329"/>
                </a:solidFill>
                <a:latin typeface="Georgia" pitchFamily="34" charset="0"/>
                <a:ea typeface="Georgia" pitchFamily="34" charset="-122"/>
                <a:cs typeface="Georgia" pitchFamily="34" charset="-120"/>
              </a:rPr>
              <a:t>Historical Background</a:t>
            </a:r>
            <a:endParaRPr lang="en-US" sz="2800" dirty="0"/>
          </a:p>
        </p:txBody>
      </p:sp>
      <p:sp>
        <p:nvSpPr>
          <p:cNvPr id="4"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280"/>
                </a:solidFill>
                <a:latin typeface="Calibri" pitchFamily="34" charset="0"/>
                <a:ea typeface="Calibri" pitchFamily="34" charset="-122"/>
                <a:cs typeface="Calibri" pitchFamily="34" charset="-120"/>
              </a:rPr>
              <a:t>From Euclid to OpenCV</a:t>
            </a:r>
            <a:endParaRPr lang="en-US" sz="1300" dirty="0"/>
          </a:p>
        </p:txBody>
      </p:sp>
      <p:sp>
        <p:nvSpPr>
          <p:cNvPr id="5" name="Shape 3"/>
          <p:cNvSpPr/>
          <p:nvPr/>
        </p:nvSpPr>
        <p:spPr>
          <a:xfrm>
            <a:off x="457200" y="1188720"/>
            <a:ext cx="262128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6" name="Shape 4"/>
          <p:cNvSpPr/>
          <p:nvPr/>
        </p:nvSpPr>
        <p:spPr>
          <a:xfrm>
            <a:off x="685800" y="1371600"/>
            <a:ext cx="411480" cy="411480"/>
          </a:xfrm>
          <a:prstGeom prst="ellipse">
            <a:avLst/>
          </a:prstGeom>
          <a:solidFill>
            <a:srgbClr val="2C5F2D"/>
          </a:solidFill>
          <a:ln/>
        </p:spPr>
      </p:sp>
      <p:sp>
        <p:nvSpPr>
          <p:cNvPr id="7" name="Text 5"/>
          <p:cNvSpPr/>
          <p:nvPr/>
        </p:nvSpPr>
        <p:spPr>
          <a:xfrm>
            <a:off x="685800" y="1371600"/>
            <a:ext cx="411480" cy="411480"/>
          </a:xfrm>
          <a:prstGeom prst="rect">
            <a:avLst/>
          </a:prstGeom>
          <a:noFill/>
          <a:ln/>
        </p:spPr>
        <p:txBody>
          <a:bodyPr wrap="square"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~300 BC</a:t>
            </a:r>
            <a:endParaRPr lang="en-US" sz="800" dirty="0"/>
          </a:p>
        </p:txBody>
      </p:sp>
      <p:sp>
        <p:nvSpPr>
          <p:cNvPr id="8" name="Text 6"/>
          <p:cNvSpPr/>
          <p:nvPr/>
        </p:nvSpPr>
        <p:spPr>
          <a:xfrm>
            <a:off x="1234440" y="1371600"/>
            <a:ext cx="1615440" cy="320040"/>
          </a:xfrm>
          <a:prstGeom prst="rect">
            <a:avLst/>
          </a:prstGeom>
          <a:noFill/>
          <a:ln/>
        </p:spPr>
        <p:txBody>
          <a:bodyPr wrap="square" rtlCol="0" anchor="ctr">
            <a:normAutofit/>
          </a:bodyPr>
          <a:lstStyle/>
          <a:p>
            <a:pPr indent="0" marL="0">
              <a:buNone/>
            </a:pPr>
            <a:r>
              <a:rPr lang="en-US" sz="1300" b="1" dirty="0">
                <a:solidFill>
                  <a:srgbClr val="1F2329"/>
                </a:solidFill>
                <a:latin typeface="Georgia" pitchFamily="34" charset="0"/>
                <a:ea typeface="Georgia" pitchFamily="34" charset="-122"/>
                <a:cs typeface="Georgia" pitchFamily="34" charset="-120"/>
              </a:rPr>
              <a:t>Euclidean Geometry</a:t>
            </a:r>
            <a:endParaRPr lang="en-US" sz="1300" dirty="0"/>
          </a:p>
        </p:txBody>
      </p:sp>
      <p:sp>
        <p:nvSpPr>
          <p:cNvPr id="9" name="Text 7"/>
          <p:cNvSpPr/>
          <p:nvPr/>
        </p:nvSpPr>
        <p:spPr>
          <a:xfrm>
            <a:off x="1234440" y="1691640"/>
            <a:ext cx="1615440" cy="365760"/>
          </a:xfrm>
          <a:prstGeom prst="rect">
            <a:avLst/>
          </a:prstGeom>
          <a:noFill/>
          <a:ln/>
        </p:spPr>
        <p:txBody>
          <a:bodyPr wrap="square" rtlCol="0" anchor="ctr">
            <a:normAutofit/>
          </a:bodyPr>
          <a:lstStyle/>
          <a:p>
            <a:pPr indent="0" marL="0">
              <a:buNone/>
            </a:pPr>
            <a:r>
              <a:rPr lang="en-US" sz="1000" dirty="0">
                <a:solidFill>
                  <a:srgbClr val="6B7280"/>
                </a:solidFill>
                <a:latin typeface="Calibri" pitchFamily="34" charset="0"/>
                <a:ea typeface="Calibri" pitchFamily="34" charset="-122"/>
                <a:cs typeface="Calibri" pitchFamily="34" charset="-120"/>
              </a:rPr>
              <a:t>Foundation of geometric transformations</a:t>
            </a:r>
            <a:endParaRPr lang="en-US" sz="1000" dirty="0"/>
          </a:p>
        </p:txBody>
      </p:sp>
      <p:sp>
        <p:nvSpPr>
          <p:cNvPr id="10" name="Shape 8"/>
          <p:cNvSpPr/>
          <p:nvPr/>
        </p:nvSpPr>
        <p:spPr>
          <a:xfrm>
            <a:off x="3261360" y="1188720"/>
            <a:ext cx="262128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11" name="Shape 9"/>
          <p:cNvSpPr/>
          <p:nvPr/>
        </p:nvSpPr>
        <p:spPr>
          <a:xfrm>
            <a:off x="3489960" y="1371600"/>
            <a:ext cx="411480" cy="411480"/>
          </a:xfrm>
          <a:prstGeom prst="ellipse">
            <a:avLst/>
          </a:prstGeom>
          <a:solidFill>
            <a:srgbClr val="2C5F2D"/>
          </a:solidFill>
          <a:ln/>
        </p:spPr>
      </p:sp>
      <p:sp>
        <p:nvSpPr>
          <p:cNvPr id="12" name="Text 10"/>
          <p:cNvSpPr/>
          <p:nvPr/>
        </p:nvSpPr>
        <p:spPr>
          <a:xfrm>
            <a:off x="3489960" y="1371600"/>
            <a:ext cx="411480" cy="411480"/>
          </a:xfrm>
          <a:prstGeom prst="rect">
            <a:avLst/>
          </a:prstGeom>
          <a:noFill/>
          <a:ln/>
        </p:spPr>
        <p:txBody>
          <a:bodyPr wrap="square"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17th C.</a:t>
            </a:r>
            <a:endParaRPr lang="en-US" sz="800" dirty="0"/>
          </a:p>
        </p:txBody>
      </p:sp>
      <p:sp>
        <p:nvSpPr>
          <p:cNvPr id="13" name="Text 11"/>
          <p:cNvSpPr/>
          <p:nvPr/>
        </p:nvSpPr>
        <p:spPr>
          <a:xfrm>
            <a:off x="4038600" y="1371600"/>
            <a:ext cx="1615440" cy="320040"/>
          </a:xfrm>
          <a:prstGeom prst="rect">
            <a:avLst/>
          </a:prstGeom>
          <a:noFill/>
          <a:ln/>
        </p:spPr>
        <p:txBody>
          <a:bodyPr wrap="square" rtlCol="0" anchor="ctr">
            <a:normAutofit/>
          </a:bodyPr>
          <a:lstStyle/>
          <a:p>
            <a:pPr indent="0" marL="0">
              <a:buNone/>
            </a:pPr>
            <a:r>
              <a:rPr lang="en-US" sz="1300" b="1" dirty="0">
                <a:solidFill>
                  <a:srgbClr val="1F2329"/>
                </a:solidFill>
                <a:latin typeface="Georgia" pitchFamily="34" charset="0"/>
                <a:ea typeface="Georgia" pitchFamily="34" charset="-122"/>
                <a:cs typeface="Georgia" pitchFamily="34" charset="-120"/>
              </a:rPr>
              <a:t>Cartesian Coordinates</a:t>
            </a:r>
            <a:endParaRPr lang="en-US" sz="1300" dirty="0"/>
          </a:p>
        </p:txBody>
      </p:sp>
      <p:sp>
        <p:nvSpPr>
          <p:cNvPr id="14" name="Text 12"/>
          <p:cNvSpPr/>
          <p:nvPr/>
        </p:nvSpPr>
        <p:spPr>
          <a:xfrm>
            <a:off x="4038600" y="1691640"/>
            <a:ext cx="1615440" cy="365760"/>
          </a:xfrm>
          <a:prstGeom prst="rect">
            <a:avLst/>
          </a:prstGeom>
          <a:noFill/>
          <a:ln/>
        </p:spPr>
        <p:txBody>
          <a:bodyPr wrap="square" rtlCol="0" anchor="ctr">
            <a:normAutofit/>
          </a:bodyPr>
          <a:lstStyle/>
          <a:p>
            <a:pPr indent="0" marL="0">
              <a:buNone/>
            </a:pPr>
            <a:r>
              <a:rPr lang="en-US" sz="1000" dirty="0">
                <a:solidFill>
                  <a:srgbClr val="6B7280"/>
                </a:solidFill>
                <a:latin typeface="Calibri" pitchFamily="34" charset="0"/>
                <a:ea typeface="Calibri" pitchFamily="34" charset="-122"/>
                <a:cs typeface="Calibri" pitchFamily="34" charset="-120"/>
              </a:rPr>
              <a:t>Algebra meets geometry</a:t>
            </a:r>
            <a:endParaRPr lang="en-US" sz="1000" dirty="0"/>
          </a:p>
        </p:txBody>
      </p:sp>
      <p:sp>
        <p:nvSpPr>
          <p:cNvPr id="15" name="Shape 13"/>
          <p:cNvSpPr/>
          <p:nvPr/>
        </p:nvSpPr>
        <p:spPr>
          <a:xfrm>
            <a:off x="6065520" y="1188720"/>
            <a:ext cx="262128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16" name="Shape 14"/>
          <p:cNvSpPr/>
          <p:nvPr/>
        </p:nvSpPr>
        <p:spPr>
          <a:xfrm>
            <a:off x="6294120" y="1371600"/>
            <a:ext cx="411480" cy="411480"/>
          </a:xfrm>
          <a:prstGeom prst="ellipse">
            <a:avLst/>
          </a:prstGeom>
          <a:solidFill>
            <a:srgbClr val="2C5F2D"/>
          </a:solidFill>
          <a:ln/>
        </p:spPr>
      </p:sp>
      <p:sp>
        <p:nvSpPr>
          <p:cNvPr id="17" name="Text 15"/>
          <p:cNvSpPr/>
          <p:nvPr/>
        </p:nvSpPr>
        <p:spPr>
          <a:xfrm>
            <a:off x="6294120" y="1371600"/>
            <a:ext cx="411480" cy="411480"/>
          </a:xfrm>
          <a:prstGeom prst="rect">
            <a:avLst/>
          </a:prstGeom>
          <a:noFill/>
          <a:ln/>
        </p:spPr>
        <p:txBody>
          <a:bodyPr wrap="square"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18-19th C.</a:t>
            </a:r>
            <a:endParaRPr lang="en-US" sz="800" dirty="0"/>
          </a:p>
        </p:txBody>
      </p:sp>
      <p:sp>
        <p:nvSpPr>
          <p:cNvPr id="18" name="Text 16"/>
          <p:cNvSpPr/>
          <p:nvPr/>
        </p:nvSpPr>
        <p:spPr>
          <a:xfrm>
            <a:off x="6842760" y="1371600"/>
            <a:ext cx="1615440" cy="320040"/>
          </a:xfrm>
          <a:prstGeom prst="rect">
            <a:avLst/>
          </a:prstGeom>
          <a:noFill/>
          <a:ln/>
        </p:spPr>
        <p:txBody>
          <a:bodyPr wrap="square" rtlCol="0" anchor="ctr">
            <a:normAutofit/>
          </a:bodyPr>
          <a:lstStyle/>
          <a:p>
            <a:pPr indent="0" marL="0">
              <a:buNone/>
            </a:pPr>
            <a:r>
              <a:rPr lang="en-US" sz="1300" b="1" dirty="0">
                <a:solidFill>
                  <a:srgbClr val="1F2329"/>
                </a:solidFill>
                <a:latin typeface="Georgia" pitchFamily="34" charset="0"/>
                <a:ea typeface="Georgia" pitchFamily="34" charset="-122"/>
                <a:cs typeface="Georgia" pitchFamily="34" charset="-120"/>
              </a:rPr>
              <a:t>Projective Geometry</a:t>
            </a:r>
            <a:endParaRPr lang="en-US" sz="1300" dirty="0"/>
          </a:p>
        </p:txBody>
      </p:sp>
      <p:sp>
        <p:nvSpPr>
          <p:cNvPr id="19" name="Text 17"/>
          <p:cNvSpPr/>
          <p:nvPr/>
        </p:nvSpPr>
        <p:spPr>
          <a:xfrm>
            <a:off x="6842760" y="1691640"/>
            <a:ext cx="1615440" cy="365760"/>
          </a:xfrm>
          <a:prstGeom prst="rect">
            <a:avLst/>
          </a:prstGeom>
          <a:noFill/>
          <a:ln/>
        </p:spPr>
        <p:txBody>
          <a:bodyPr wrap="square" rtlCol="0" anchor="ctr">
            <a:normAutofit/>
          </a:bodyPr>
          <a:lstStyle/>
          <a:p>
            <a:pPr indent="0" marL="0">
              <a:buNone/>
            </a:pPr>
            <a:r>
              <a:rPr lang="en-US" sz="1000" dirty="0">
                <a:solidFill>
                  <a:srgbClr val="6B7280"/>
                </a:solidFill>
                <a:latin typeface="Calibri" pitchFamily="34" charset="0"/>
                <a:ea typeface="Calibri" pitchFamily="34" charset="-122"/>
                <a:cs typeface="Calibri" pitchFamily="34" charset="-120"/>
              </a:rPr>
              <a:t>Theoretical framework for perspective</a:t>
            </a:r>
            <a:endParaRPr lang="en-US" sz="1000" dirty="0"/>
          </a:p>
        </p:txBody>
      </p:sp>
      <p:sp>
        <p:nvSpPr>
          <p:cNvPr id="20" name="Shape 18"/>
          <p:cNvSpPr/>
          <p:nvPr/>
        </p:nvSpPr>
        <p:spPr>
          <a:xfrm>
            <a:off x="457200" y="3017520"/>
            <a:ext cx="262128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21" name="Shape 19"/>
          <p:cNvSpPr/>
          <p:nvPr/>
        </p:nvSpPr>
        <p:spPr>
          <a:xfrm>
            <a:off x="685800" y="3200400"/>
            <a:ext cx="411480" cy="411480"/>
          </a:xfrm>
          <a:prstGeom prst="ellipse">
            <a:avLst/>
          </a:prstGeom>
          <a:solidFill>
            <a:srgbClr val="2C5F2D"/>
          </a:solidFill>
          <a:ln/>
        </p:spPr>
      </p:sp>
      <p:sp>
        <p:nvSpPr>
          <p:cNvPr id="22" name="Text 20"/>
          <p:cNvSpPr/>
          <p:nvPr/>
        </p:nvSpPr>
        <p:spPr>
          <a:xfrm>
            <a:off x="685800" y="3200400"/>
            <a:ext cx="411480" cy="411480"/>
          </a:xfrm>
          <a:prstGeom prst="rect">
            <a:avLst/>
          </a:prstGeom>
          <a:noFill/>
          <a:ln/>
        </p:spPr>
        <p:txBody>
          <a:bodyPr wrap="square"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1960s</a:t>
            </a:r>
            <a:endParaRPr lang="en-US" sz="800" dirty="0"/>
          </a:p>
        </p:txBody>
      </p:sp>
      <p:sp>
        <p:nvSpPr>
          <p:cNvPr id="23" name="Text 21"/>
          <p:cNvSpPr/>
          <p:nvPr/>
        </p:nvSpPr>
        <p:spPr>
          <a:xfrm>
            <a:off x="1234440" y="3200400"/>
            <a:ext cx="1615440" cy="320040"/>
          </a:xfrm>
          <a:prstGeom prst="rect">
            <a:avLst/>
          </a:prstGeom>
          <a:noFill/>
          <a:ln/>
        </p:spPr>
        <p:txBody>
          <a:bodyPr wrap="square" rtlCol="0" anchor="ctr">
            <a:normAutofit/>
          </a:bodyPr>
          <a:lstStyle/>
          <a:p>
            <a:pPr indent="0" marL="0">
              <a:buNone/>
            </a:pPr>
            <a:r>
              <a:rPr lang="en-US" sz="1300" b="1" dirty="0">
                <a:solidFill>
                  <a:srgbClr val="1F2329"/>
                </a:solidFill>
                <a:latin typeface="Georgia" pitchFamily="34" charset="0"/>
                <a:ea typeface="Georgia" pitchFamily="34" charset="-122"/>
                <a:cs typeface="Georgia" pitchFamily="34" charset="-120"/>
              </a:rPr>
              <a:t>NASA Apollo Program</a:t>
            </a:r>
            <a:endParaRPr lang="en-US" sz="1300" dirty="0"/>
          </a:p>
        </p:txBody>
      </p:sp>
      <p:sp>
        <p:nvSpPr>
          <p:cNvPr id="24" name="Text 22"/>
          <p:cNvSpPr/>
          <p:nvPr/>
        </p:nvSpPr>
        <p:spPr>
          <a:xfrm>
            <a:off x="1234440" y="3520440"/>
            <a:ext cx="1615440" cy="365760"/>
          </a:xfrm>
          <a:prstGeom prst="rect">
            <a:avLst/>
          </a:prstGeom>
          <a:noFill/>
          <a:ln/>
        </p:spPr>
        <p:txBody>
          <a:bodyPr wrap="square" rtlCol="0" anchor="ctr">
            <a:normAutofit/>
          </a:bodyPr>
          <a:lstStyle/>
          <a:p>
            <a:pPr indent="0" marL="0">
              <a:buNone/>
            </a:pPr>
            <a:r>
              <a:rPr lang="en-US" sz="1000" dirty="0">
                <a:solidFill>
                  <a:srgbClr val="6B7280"/>
                </a:solidFill>
                <a:latin typeface="Calibri" pitchFamily="34" charset="0"/>
                <a:ea typeface="Calibri" pitchFamily="34" charset="-122"/>
                <a:cs typeface="Calibri" pitchFamily="34" charset="-120"/>
              </a:rPr>
              <a:t>First large-scale use of affine transforms</a:t>
            </a:r>
            <a:endParaRPr lang="en-US" sz="1000" dirty="0"/>
          </a:p>
        </p:txBody>
      </p:sp>
      <p:sp>
        <p:nvSpPr>
          <p:cNvPr id="25" name="Shape 23"/>
          <p:cNvSpPr/>
          <p:nvPr/>
        </p:nvSpPr>
        <p:spPr>
          <a:xfrm>
            <a:off x="3261360" y="3017520"/>
            <a:ext cx="262128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26" name="Shape 24"/>
          <p:cNvSpPr/>
          <p:nvPr/>
        </p:nvSpPr>
        <p:spPr>
          <a:xfrm>
            <a:off x="3489960" y="3200400"/>
            <a:ext cx="411480" cy="411480"/>
          </a:xfrm>
          <a:prstGeom prst="ellipse">
            <a:avLst/>
          </a:prstGeom>
          <a:solidFill>
            <a:srgbClr val="2C5F2D"/>
          </a:solidFill>
          <a:ln/>
        </p:spPr>
      </p:sp>
      <p:sp>
        <p:nvSpPr>
          <p:cNvPr id="27" name="Text 25"/>
          <p:cNvSpPr/>
          <p:nvPr/>
        </p:nvSpPr>
        <p:spPr>
          <a:xfrm>
            <a:off x="3489960" y="3200400"/>
            <a:ext cx="411480" cy="411480"/>
          </a:xfrm>
          <a:prstGeom prst="rect">
            <a:avLst/>
          </a:prstGeom>
          <a:noFill/>
          <a:ln/>
        </p:spPr>
        <p:txBody>
          <a:bodyPr wrap="square"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1999</a:t>
            </a:r>
            <a:endParaRPr lang="en-US" sz="800" dirty="0"/>
          </a:p>
        </p:txBody>
      </p:sp>
      <p:sp>
        <p:nvSpPr>
          <p:cNvPr id="28" name="Text 26"/>
          <p:cNvSpPr/>
          <p:nvPr/>
        </p:nvSpPr>
        <p:spPr>
          <a:xfrm>
            <a:off x="4038600" y="3200400"/>
            <a:ext cx="1615440" cy="320040"/>
          </a:xfrm>
          <a:prstGeom prst="rect">
            <a:avLst/>
          </a:prstGeom>
          <a:noFill/>
          <a:ln/>
        </p:spPr>
        <p:txBody>
          <a:bodyPr wrap="square" rtlCol="0" anchor="ctr">
            <a:normAutofit/>
          </a:bodyPr>
          <a:lstStyle/>
          <a:p>
            <a:pPr indent="0" marL="0">
              <a:buNone/>
            </a:pPr>
            <a:r>
              <a:rPr lang="en-US" sz="1300" b="1" dirty="0">
                <a:solidFill>
                  <a:srgbClr val="1F2329"/>
                </a:solidFill>
                <a:latin typeface="Georgia" pitchFamily="34" charset="0"/>
                <a:ea typeface="Georgia" pitchFamily="34" charset="-122"/>
                <a:cs typeface="Georgia" pitchFamily="34" charset="-120"/>
              </a:rPr>
              <a:t>OpenCV Founded</a:t>
            </a:r>
            <a:endParaRPr lang="en-US" sz="1300" dirty="0"/>
          </a:p>
        </p:txBody>
      </p:sp>
      <p:sp>
        <p:nvSpPr>
          <p:cNvPr id="29" name="Text 27"/>
          <p:cNvSpPr/>
          <p:nvPr/>
        </p:nvSpPr>
        <p:spPr>
          <a:xfrm>
            <a:off x="4038600" y="3520440"/>
            <a:ext cx="1615440" cy="365760"/>
          </a:xfrm>
          <a:prstGeom prst="rect">
            <a:avLst/>
          </a:prstGeom>
          <a:noFill/>
          <a:ln/>
        </p:spPr>
        <p:txBody>
          <a:bodyPr wrap="square" rtlCol="0" anchor="ctr">
            <a:normAutofit/>
          </a:bodyPr>
          <a:lstStyle/>
          <a:p>
            <a:pPr indent="0" marL="0">
              <a:buNone/>
            </a:pPr>
            <a:r>
              <a:rPr lang="en-US" sz="1000" dirty="0">
                <a:solidFill>
                  <a:srgbClr val="6B7280"/>
                </a:solidFill>
                <a:latin typeface="Calibri" pitchFamily="34" charset="0"/>
                <a:ea typeface="Calibri" pitchFamily="34" charset="-122"/>
                <a:cs typeface="Calibri" pitchFamily="34" charset="-120"/>
              </a:rPr>
              <a:t>Bradski creates the open-source CV library</a:t>
            </a:r>
            <a:endParaRPr lang="en-US" sz="1000" dirty="0"/>
          </a:p>
        </p:txBody>
      </p:sp>
      <p:sp>
        <p:nvSpPr>
          <p:cNvPr id="30" name="Shape 28"/>
          <p:cNvSpPr/>
          <p:nvPr/>
        </p:nvSpPr>
        <p:spPr>
          <a:xfrm>
            <a:off x="6065520" y="3017520"/>
            <a:ext cx="262128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31" name="Shape 29"/>
          <p:cNvSpPr/>
          <p:nvPr/>
        </p:nvSpPr>
        <p:spPr>
          <a:xfrm>
            <a:off x="6294120" y="3200400"/>
            <a:ext cx="411480" cy="411480"/>
          </a:xfrm>
          <a:prstGeom prst="ellipse">
            <a:avLst/>
          </a:prstGeom>
          <a:solidFill>
            <a:srgbClr val="2C5F2D"/>
          </a:solidFill>
          <a:ln/>
        </p:spPr>
      </p:sp>
      <p:sp>
        <p:nvSpPr>
          <p:cNvPr id="32" name="Text 30"/>
          <p:cNvSpPr/>
          <p:nvPr/>
        </p:nvSpPr>
        <p:spPr>
          <a:xfrm>
            <a:off x="6294120" y="3200400"/>
            <a:ext cx="411480" cy="411480"/>
          </a:xfrm>
          <a:prstGeom prst="rect">
            <a:avLst/>
          </a:prstGeom>
          <a:noFill/>
          <a:ln/>
        </p:spPr>
        <p:txBody>
          <a:bodyPr wrap="square" rtlCol="0" anchor="ctr">
            <a:normAutofit/>
          </a:bodyPr>
          <a:lstStyle/>
          <a:p>
            <a:pPr algn="ctr" indent="0" marL="0">
              <a:buNone/>
            </a:pPr>
            <a:r>
              <a:rPr lang="en-US" sz="800" b="1" dirty="0">
                <a:solidFill>
                  <a:srgbClr val="FFFFFF"/>
                </a:solidFill>
                <a:latin typeface="Calibri" pitchFamily="34" charset="0"/>
                <a:ea typeface="Calibri" pitchFamily="34" charset="-122"/>
                <a:cs typeface="Calibri" pitchFamily="34" charset="-120"/>
              </a:rPr>
              <a:t>2000s+</a:t>
            </a:r>
            <a:endParaRPr lang="en-US" sz="800" dirty="0"/>
          </a:p>
        </p:txBody>
      </p:sp>
      <p:sp>
        <p:nvSpPr>
          <p:cNvPr id="33" name="Text 31"/>
          <p:cNvSpPr/>
          <p:nvPr/>
        </p:nvSpPr>
        <p:spPr>
          <a:xfrm>
            <a:off x="6842760" y="3200400"/>
            <a:ext cx="1615440" cy="320040"/>
          </a:xfrm>
          <a:prstGeom prst="rect">
            <a:avLst/>
          </a:prstGeom>
          <a:noFill/>
          <a:ln/>
        </p:spPr>
        <p:txBody>
          <a:bodyPr wrap="square" rtlCol="0" anchor="ctr">
            <a:normAutofit/>
          </a:bodyPr>
          <a:lstStyle/>
          <a:p>
            <a:pPr indent="0" marL="0">
              <a:buNone/>
            </a:pPr>
            <a:r>
              <a:rPr lang="en-US" sz="1300" b="1" dirty="0">
                <a:solidFill>
                  <a:srgbClr val="1F2329"/>
                </a:solidFill>
                <a:latin typeface="Georgia" pitchFamily="34" charset="0"/>
                <a:ea typeface="Georgia" pitchFamily="34" charset="-122"/>
                <a:cs typeface="Georgia" pitchFamily="34" charset="-120"/>
              </a:rPr>
              <a:t>AR &amp; Autonomous Driving</a:t>
            </a:r>
            <a:endParaRPr lang="en-US" sz="1300" dirty="0"/>
          </a:p>
        </p:txBody>
      </p:sp>
      <p:sp>
        <p:nvSpPr>
          <p:cNvPr id="34" name="Text 32"/>
          <p:cNvSpPr/>
          <p:nvPr/>
        </p:nvSpPr>
        <p:spPr>
          <a:xfrm>
            <a:off x="6842760" y="3520440"/>
            <a:ext cx="1615440" cy="365760"/>
          </a:xfrm>
          <a:prstGeom prst="rect">
            <a:avLst/>
          </a:prstGeom>
          <a:noFill/>
          <a:ln/>
        </p:spPr>
        <p:txBody>
          <a:bodyPr wrap="square" rtlCol="0" anchor="ctr">
            <a:normAutofit/>
          </a:bodyPr>
          <a:lstStyle/>
          <a:p>
            <a:pPr indent="0" marL="0">
              <a:buNone/>
            </a:pPr>
            <a:r>
              <a:rPr lang="en-US" sz="1000" dirty="0">
                <a:solidFill>
                  <a:srgbClr val="6B7280"/>
                </a:solidFill>
                <a:latin typeface="Calibri" pitchFamily="34" charset="0"/>
                <a:ea typeface="Calibri" pitchFamily="34" charset="-122"/>
                <a:cs typeface="Calibri" pitchFamily="34" charset="-120"/>
              </a:rPr>
              <a:t>Geometric transforms everywhere</a:t>
            </a:r>
            <a:endParaRPr lang="en-US" sz="1000" dirty="0"/>
          </a:p>
        </p:txBody>
      </p:sp>
      <p:sp>
        <p:nvSpPr>
          <p:cNvPr id="35"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1F2329"/>
                </a:solidFill>
                <a:latin typeface="Georgia" pitchFamily="34" charset="0"/>
                <a:ea typeface="Georgia" pitchFamily="34" charset="-122"/>
                <a:cs typeface="Georgia" pitchFamily="34" charset="-120"/>
              </a:rPr>
              <a:t>Image Drawing</a:t>
            </a:r>
            <a:endParaRPr lang="en-US" sz="2800" dirty="0"/>
          </a:p>
        </p:txBody>
      </p:sp>
      <p:sp>
        <p:nvSpPr>
          <p:cNvPr id="4"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280"/>
                </a:solidFill>
                <a:latin typeface="Calibri" pitchFamily="34" charset="0"/>
                <a:ea typeface="Calibri" pitchFamily="34" charset="-122"/>
                <a:cs typeface="Calibri" pitchFamily="34" charset="-120"/>
              </a:rPr>
              <a:t>OpenCV drawing primitives</a:t>
            </a:r>
            <a:endParaRPr lang="en-US" sz="1300" dirty="0"/>
          </a:p>
        </p:txBody>
      </p:sp>
      <p:sp>
        <p:nvSpPr>
          <p:cNvPr id="5" name="Shape 3"/>
          <p:cNvSpPr/>
          <p:nvPr/>
        </p:nvSpPr>
        <p:spPr>
          <a:xfrm>
            <a:off x="457200" y="1188720"/>
            <a:ext cx="262128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6" name="Shape 4"/>
          <p:cNvSpPr/>
          <p:nvPr/>
        </p:nvSpPr>
        <p:spPr>
          <a:xfrm>
            <a:off x="457200" y="1188720"/>
            <a:ext cx="2621280" cy="54864"/>
          </a:xfrm>
          <a:prstGeom prst="rect">
            <a:avLst/>
          </a:prstGeom>
          <a:solidFill>
            <a:srgbClr val="97BC62"/>
          </a:solidFill>
          <a:ln/>
        </p:spPr>
      </p:sp>
      <p:sp>
        <p:nvSpPr>
          <p:cNvPr id="7" name="Text 5"/>
          <p:cNvSpPr/>
          <p:nvPr/>
        </p:nvSpPr>
        <p:spPr>
          <a:xfrm>
            <a:off x="685800" y="1371600"/>
            <a:ext cx="2164080" cy="320040"/>
          </a:xfrm>
          <a:prstGeom prst="rect">
            <a:avLst/>
          </a:prstGeom>
          <a:noFill/>
          <a:ln/>
        </p:spPr>
        <p:txBody>
          <a:bodyPr wrap="square" rtlCol="0" anchor="ctr">
            <a:normAutofit/>
          </a:bodyPr>
          <a:lstStyle/>
          <a:p>
            <a:pPr indent="0" marL="0">
              <a:buNone/>
            </a:pPr>
            <a:r>
              <a:rPr lang="en-US" sz="1300" b="1" dirty="0">
                <a:solidFill>
                  <a:srgbClr val="2C5F2D"/>
                </a:solidFill>
                <a:latin typeface="Calibri" pitchFamily="34" charset="0"/>
                <a:ea typeface="Calibri" pitchFamily="34" charset="-122"/>
                <a:cs typeface="Calibri" pitchFamily="34" charset="-120"/>
              </a:rPr>
              <a:t>cv2.line()</a:t>
            </a:r>
            <a:endParaRPr lang="en-US" sz="1300" dirty="0"/>
          </a:p>
        </p:txBody>
      </p:sp>
      <p:sp>
        <p:nvSpPr>
          <p:cNvPr id="8" name="Text 6"/>
          <p:cNvSpPr/>
          <p:nvPr/>
        </p:nvSpPr>
        <p:spPr>
          <a:xfrm>
            <a:off x="685800" y="1691640"/>
            <a:ext cx="2164080" cy="411480"/>
          </a:xfrm>
          <a:prstGeom prst="rect">
            <a:avLst/>
          </a:prstGeom>
          <a:noFill/>
          <a:ln/>
        </p:spPr>
        <p:txBody>
          <a:bodyPr wrap="square" rtlCol="0" anchor="ctr">
            <a:normAutofit/>
          </a:bodyPr>
          <a:lstStyle/>
          <a:p>
            <a:pPr indent="0" marL="0">
              <a:buNone/>
            </a:pPr>
            <a:r>
              <a:rPr lang="en-US" sz="900" i="1" dirty="0">
                <a:solidFill>
                  <a:srgbClr val="6B7280"/>
                </a:solidFill>
                <a:latin typeface="Calibri" pitchFamily="34" charset="0"/>
                <a:ea typeface="Calibri" pitchFamily="34" charset="-122"/>
                <a:cs typeface="Calibri" pitchFamily="34" charset="-120"/>
              </a:rPr>
              <a:t>img, pt1, pt2, color, thickness</a:t>
            </a:r>
            <a:endParaRPr lang="en-US" sz="900" dirty="0"/>
          </a:p>
        </p:txBody>
      </p:sp>
      <p:sp>
        <p:nvSpPr>
          <p:cNvPr id="9" name="Text 7"/>
          <p:cNvSpPr/>
          <p:nvPr/>
        </p:nvSpPr>
        <p:spPr>
          <a:xfrm>
            <a:off x="685800" y="2148840"/>
            <a:ext cx="2164080" cy="457200"/>
          </a:xfrm>
          <a:prstGeom prst="rect">
            <a:avLst/>
          </a:prstGeom>
          <a:noFill/>
          <a:ln/>
        </p:spPr>
        <p:txBody>
          <a:bodyPr wrap="square" rtlCol="0" anchor="ctr">
            <a:normAutofit/>
          </a:bodyPr>
          <a:lstStyle/>
          <a:p>
            <a:pPr indent="0" marL="0">
              <a:buNone/>
            </a:pPr>
            <a:r>
              <a:rPr lang="en-US" sz="1100" dirty="0">
                <a:solidFill>
                  <a:srgbClr val="1F2329"/>
                </a:solidFill>
                <a:latin typeface="Calibri" pitchFamily="34" charset="0"/>
                <a:ea typeface="Calibri" pitchFamily="34" charset="-122"/>
                <a:cs typeface="Calibri" pitchFamily="34" charset="-120"/>
              </a:rPr>
              <a:t>Draw a straight line between two points</a:t>
            </a:r>
            <a:endParaRPr lang="en-US" sz="1100" dirty="0"/>
          </a:p>
        </p:txBody>
      </p:sp>
      <p:sp>
        <p:nvSpPr>
          <p:cNvPr id="10" name="Shape 8"/>
          <p:cNvSpPr/>
          <p:nvPr/>
        </p:nvSpPr>
        <p:spPr>
          <a:xfrm>
            <a:off x="3261360" y="1188720"/>
            <a:ext cx="262128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11" name="Shape 9"/>
          <p:cNvSpPr/>
          <p:nvPr/>
        </p:nvSpPr>
        <p:spPr>
          <a:xfrm>
            <a:off x="3261360" y="1188720"/>
            <a:ext cx="2621280" cy="54864"/>
          </a:xfrm>
          <a:prstGeom prst="rect">
            <a:avLst/>
          </a:prstGeom>
          <a:solidFill>
            <a:srgbClr val="97BC62"/>
          </a:solidFill>
          <a:ln/>
        </p:spPr>
      </p:sp>
      <p:sp>
        <p:nvSpPr>
          <p:cNvPr id="12" name="Text 10"/>
          <p:cNvSpPr/>
          <p:nvPr/>
        </p:nvSpPr>
        <p:spPr>
          <a:xfrm>
            <a:off x="3489960" y="1371600"/>
            <a:ext cx="2164080" cy="320040"/>
          </a:xfrm>
          <a:prstGeom prst="rect">
            <a:avLst/>
          </a:prstGeom>
          <a:noFill/>
          <a:ln/>
        </p:spPr>
        <p:txBody>
          <a:bodyPr wrap="square" rtlCol="0" anchor="ctr">
            <a:normAutofit/>
          </a:bodyPr>
          <a:lstStyle/>
          <a:p>
            <a:pPr indent="0" marL="0">
              <a:buNone/>
            </a:pPr>
            <a:r>
              <a:rPr lang="en-US" sz="1300" b="1" dirty="0">
                <a:solidFill>
                  <a:srgbClr val="2C5F2D"/>
                </a:solidFill>
                <a:latin typeface="Calibri" pitchFamily="34" charset="0"/>
                <a:ea typeface="Calibri" pitchFamily="34" charset="-122"/>
                <a:cs typeface="Calibri" pitchFamily="34" charset="-120"/>
              </a:rPr>
              <a:t>cv2.rectangle()</a:t>
            </a:r>
            <a:endParaRPr lang="en-US" sz="1300" dirty="0"/>
          </a:p>
        </p:txBody>
      </p:sp>
      <p:sp>
        <p:nvSpPr>
          <p:cNvPr id="13" name="Text 11"/>
          <p:cNvSpPr/>
          <p:nvPr/>
        </p:nvSpPr>
        <p:spPr>
          <a:xfrm>
            <a:off x="3489960" y="1691640"/>
            <a:ext cx="2164080" cy="411480"/>
          </a:xfrm>
          <a:prstGeom prst="rect">
            <a:avLst/>
          </a:prstGeom>
          <a:noFill/>
          <a:ln/>
        </p:spPr>
        <p:txBody>
          <a:bodyPr wrap="square" rtlCol="0" anchor="ctr">
            <a:normAutofit/>
          </a:bodyPr>
          <a:lstStyle/>
          <a:p>
            <a:pPr indent="0" marL="0">
              <a:buNone/>
            </a:pPr>
            <a:r>
              <a:rPr lang="en-US" sz="900" i="1" dirty="0">
                <a:solidFill>
                  <a:srgbClr val="6B7280"/>
                </a:solidFill>
                <a:latin typeface="Calibri" pitchFamily="34" charset="0"/>
                <a:ea typeface="Calibri" pitchFamily="34" charset="-122"/>
                <a:cs typeface="Calibri" pitchFamily="34" charset="-120"/>
              </a:rPr>
              <a:t>img, pt1, pt2, color, thickness</a:t>
            </a:r>
            <a:endParaRPr lang="en-US" sz="900" dirty="0"/>
          </a:p>
        </p:txBody>
      </p:sp>
      <p:sp>
        <p:nvSpPr>
          <p:cNvPr id="14" name="Text 12"/>
          <p:cNvSpPr/>
          <p:nvPr/>
        </p:nvSpPr>
        <p:spPr>
          <a:xfrm>
            <a:off x="3489960" y="2148840"/>
            <a:ext cx="2164080" cy="457200"/>
          </a:xfrm>
          <a:prstGeom prst="rect">
            <a:avLst/>
          </a:prstGeom>
          <a:noFill/>
          <a:ln/>
        </p:spPr>
        <p:txBody>
          <a:bodyPr wrap="square" rtlCol="0" anchor="ctr">
            <a:normAutofit/>
          </a:bodyPr>
          <a:lstStyle/>
          <a:p>
            <a:pPr indent="0" marL="0">
              <a:buNone/>
            </a:pPr>
            <a:r>
              <a:rPr lang="en-US" sz="1100" dirty="0">
                <a:solidFill>
                  <a:srgbClr val="1F2329"/>
                </a:solidFill>
                <a:latin typeface="Calibri" pitchFamily="34" charset="0"/>
                <a:ea typeface="Calibri" pitchFamily="34" charset="-122"/>
                <a:cs typeface="Calibri" pitchFamily="34" charset="-120"/>
              </a:rPr>
              <a:t>Draw rectangle; -1 for filled</a:t>
            </a:r>
            <a:endParaRPr lang="en-US" sz="1100" dirty="0"/>
          </a:p>
        </p:txBody>
      </p:sp>
      <p:sp>
        <p:nvSpPr>
          <p:cNvPr id="15" name="Shape 13"/>
          <p:cNvSpPr/>
          <p:nvPr/>
        </p:nvSpPr>
        <p:spPr>
          <a:xfrm>
            <a:off x="6065520" y="1188720"/>
            <a:ext cx="262128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16" name="Shape 14"/>
          <p:cNvSpPr/>
          <p:nvPr/>
        </p:nvSpPr>
        <p:spPr>
          <a:xfrm>
            <a:off x="6065520" y="1188720"/>
            <a:ext cx="2621280" cy="54864"/>
          </a:xfrm>
          <a:prstGeom prst="rect">
            <a:avLst/>
          </a:prstGeom>
          <a:solidFill>
            <a:srgbClr val="97BC62"/>
          </a:solidFill>
          <a:ln/>
        </p:spPr>
      </p:sp>
      <p:sp>
        <p:nvSpPr>
          <p:cNvPr id="17" name="Text 15"/>
          <p:cNvSpPr/>
          <p:nvPr/>
        </p:nvSpPr>
        <p:spPr>
          <a:xfrm>
            <a:off x="6294120" y="1371600"/>
            <a:ext cx="2164080" cy="320040"/>
          </a:xfrm>
          <a:prstGeom prst="rect">
            <a:avLst/>
          </a:prstGeom>
          <a:noFill/>
          <a:ln/>
        </p:spPr>
        <p:txBody>
          <a:bodyPr wrap="square" rtlCol="0" anchor="ctr">
            <a:normAutofit/>
          </a:bodyPr>
          <a:lstStyle/>
          <a:p>
            <a:pPr indent="0" marL="0">
              <a:buNone/>
            </a:pPr>
            <a:r>
              <a:rPr lang="en-US" sz="1300" b="1" dirty="0">
                <a:solidFill>
                  <a:srgbClr val="2C5F2D"/>
                </a:solidFill>
                <a:latin typeface="Calibri" pitchFamily="34" charset="0"/>
                <a:ea typeface="Calibri" pitchFamily="34" charset="-122"/>
                <a:cs typeface="Calibri" pitchFamily="34" charset="-120"/>
              </a:rPr>
              <a:t>cv2.circle()</a:t>
            </a:r>
            <a:endParaRPr lang="en-US" sz="1300" dirty="0"/>
          </a:p>
        </p:txBody>
      </p:sp>
      <p:sp>
        <p:nvSpPr>
          <p:cNvPr id="18" name="Text 16"/>
          <p:cNvSpPr/>
          <p:nvPr/>
        </p:nvSpPr>
        <p:spPr>
          <a:xfrm>
            <a:off x="6294120" y="1691640"/>
            <a:ext cx="2164080" cy="411480"/>
          </a:xfrm>
          <a:prstGeom prst="rect">
            <a:avLst/>
          </a:prstGeom>
          <a:noFill/>
          <a:ln/>
        </p:spPr>
        <p:txBody>
          <a:bodyPr wrap="square" rtlCol="0" anchor="ctr">
            <a:normAutofit/>
          </a:bodyPr>
          <a:lstStyle/>
          <a:p>
            <a:pPr indent="0" marL="0">
              <a:buNone/>
            </a:pPr>
            <a:r>
              <a:rPr lang="en-US" sz="900" i="1" dirty="0">
                <a:solidFill>
                  <a:srgbClr val="6B7280"/>
                </a:solidFill>
                <a:latin typeface="Calibri" pitchFamily="34" charset="0"/>
                <a:ea typeface="Calibri" pitchFamily="34" charset="-122"/>
                <a:cs typeface="Calibri" pitchFamily="34" charset="-120"/>
              </a:rPr>
              <a:t>img, center, radius, color, thickness</a:t>
            </a:r>
            <a:endParaRPr lang="en-US" sz="900" dirty="0"/>
          </a:p>
        </p:txBody>
      </p:sp>
      <p:sp>
        <p:nvSpPr>
          <p:cNvPr id="19" name="Text 17"/>
          <p:cNvSpPr/>
          <p:nvPr/>
        </p:nvSpPr>
        <p:spPr>
          <a:xfrm>
            <a:off x="6294120" y="2148840"/>
            <a:ext cx="2164080" cy="457200"/>
          </a:xfrm>
          <a:prstGeom prst="rect">
            <a:avLst/>
          </a:prstGeom>
          <a:noFill/>
          <a:ln/>
        </p:spPr>
        <p:txBody>
          <a:bodyPr wrap="square" rtlCol="0" anchor="ctr">
            <a:normAutofit/>
          </a:bodyPr>
          <a:lstStyle/>
          <a:p>
            <a:pPr indent="0" marL="0">
              <a:buNone/>
            </a:pPr>
            <a:r>
              <a:rPr lang="en-US" sz="1100" dirty="0">
                <a:solidFill>
                  <a:srgbClr val="1F2329"/>
                </a:solidFill>
                <a:latin typeface="Calibri" pitchFamily="34" charset="0"/>
                <a:ea typeface="Calibri" pitchFamily="34" charset="-122"/>
                <a:cs typeface="Calibri" pitchFamily="34" charset="-120"/>
              </a:rPr>
              <a:t>Draw circle at given center</a:t>
            </a:r>
            <a:endParaRPr lang="en-US" sz="1100" dirty="0"/>
          </a:p>
        </p:txBody>
      </p:sp>
      <p:sp>
        <p:nvSpPr>
          <p:cNvPr id="20" name="Shape 18"/>
          <p:cNvSpPr/>
          <p:nvPr/>
        </p:nvSpPr>
        <p:spPr>
          <a:xfrm>
            <a:off x="457200" y="3017520"/>
            <a:ext cx="262128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21" name="Shape 19"/>
          <p:cNvSpPr/>
          <p:nvPr/>
        </p:nvSpPr>
        <p:spPr>
          <a:xfrm>
            <a:off x="457200" y="3017520"/>
            <a:ext cx="2621280" cy="54864"/>
          </a:xfrm>
          <a:prstGeom prst="rect">
            <a:avLst/>
          </a:prstGeom>
          <a:solidFill>
            <a:srgbClr val="97BC62"/>
          </a:solidFill>
          <a:ln/>
        </p:spPr>
      </p:sp>
      <p:sp>
        <p:nvSpPr>
          <p:cNvPr id="22" name="Text 20"/>
          <p:cNvSpPr/>
          <p:nvPr/>
        </p:nvSpPr>
        <p:spPr>
          <a:xfrm>
            <a:off x="685800" y="3200400"/>
            <a:ext cx="2164080" cy="320040"/>
          </a:xfrm>
          <a:prstGeom prst="rect">
            <a:avLst/>
          </a:prstGeom>
          <a:noFill/>
          <a:ln/>
        </p:spPr>
        <p:txBody>
          <a:bodyPr wrap="square" rtlCol="0" anchor="ctr">
            <a:normAutofit/>
          </a:bodyPr>
          <a:lstStyle/>
          <a:p>
            <a:pPr indent="0" marL="0">
              <a:buNone/>
            </a:pPr>
            <a:r>
              <a:rPr lang="en-US" sz="1300" b="1" dirty="0">
                <a:solidFill>
                  <a:srgbClr val="2C5F2D"/>
                </a:solidFill>
                <a:latin typeface="Calibri" pitchFamily="34" charset="0"/>
                <a:ea typeface="Calibri" pitchFamily="34" charset="-122"/>
                <a:cs typeface="Calibri" pitchFamily="34" charset="-120"/>
              </a:rPr>
              <a:t>cv2.ellipse()</a:t>
            </a:r>
            <a:endParaRPr lang="en-US" sz="1300" dirty="0"/>
          </a:p>
        </p:txBody>
      </p:sp>
      <p:sp>
        <p:nvSpPr>
          <p:cNvPr id="23" name="Text 21"/>
          <p:cNvSpPr/>
          <p:nvPr/>
        </p:nvSpPr>
        <p:spPr>
          <a:xfrm>
            <a:off x="685800" y="3520440"/>
            <a:ext cx="2164080" cy="411480"/>
          </a:xfrm>
          <a:prstGeom prst="rect">
            <a:avLst/>
          </a:prstGeom>
          <a:noFill/>
          <a:ln/>
        </p:spPr>
        <p:txBody>
          <a:bodyPr wrap="square" rtlCol="0" anchor="ctr">
            <a:normAutofit/>
          </a:bodyPr>
          <a:lstStyle/>
          <a:p>
            <a:pPr indent="0" marL="0">
              <a:buNone/>
            </a:pPr>
            <a:r>
              <a:rPr lang="en-US" sz="900" i="1" dirty="0">
                <a:solidFill>
                  <a:srgbClr val="6B7280"/>
                </a:solidFill>
                <a:latin typeface="Calibri" pitchFamily="34" charset="0"/>
                <a:ea typeface="Calibri" pitchFamily="34" charset="-122"/>
                <a:cs typeface="Calibri" pitchFamily="34" charset="-120"/>
              </a:rPr>
              <a:t>img, center, axes, angle, start, end</a:t>
            </a:r>
            <a:endParaRPr lang="en-US" sz="900" dirty="0"/>
          </a:p>
        </p:txBody>
      </p:sp>
      <p:sp>
        <p:nvSpPr>
          <p:cNvPr id="24" name="Text 22"/>
          <p:cNvSpPr/>
          <p:nvPr/>
        </p:nvSpPr>
        <p:spPr>
          <a:xfrm>
            <a:off x="685800" y="3977640"/>
            <a:ext cx="2164080" cy="457200"/>
          </a:xfrm>
          <a:prstGeom prst="rect">
            <a:avLst/>
          </a:prstGeom>
          <a:noFill/>
          <a:ln/>
        </p:spPr>
        <p:txBody>
          <a:bodyPr wrap="square" rtlCol="0" anchor="ctr">
            <a:normAutofit/>
          </a:bodyPr>
          <a:lstStyle/>
          <a:p>
            <a:pPr indent="0" marL="0">
              <a:buNone/>
            </a:pPr>
            <a:r>
              <a:rPr lang="en-US" sz="1100" dirty="0">
                <a:solidFill>
                  <a:srgbClr val="1F2329"/>
                </a:solidFill>
                <a:latin typeface="Calibri" pitchFamily="34" charset="0"/>
                <a:ea typeface="Calibri" pitchFamily="34" charset="-122"/>
                <a:cs typeface="Calibri" pitchFamily="34" charset="-120"/>
              </a:rPr>
              <a:t>Draw ellipse with rotation</a:t>
            </a:r>
            <a:endParaRPr lang="en-US" sz="1100" dirty="0"/>
          </a:p>
        </p:txBody>
      </p:sp>
      <p:sp>
        <p:nvSpPr>
          <p:cNvPr id="25" name="Shape 23"/>
          <p:cNvSpPr/>
          <p:nvPr/>
        </p:nvSpPr>
        <p:spPr>
          <a:xfrm>
            <a:off x="3261360" y="3017520"/>
            <a:ext cx="2621280" cy="1645920"/>
          </a:xfrm>
          <a:prstGeom prst="roundRect">
            <a:avLst>
              <a:gd name="adj" fmla="val 5556"/>
            </a:avLst>
          </a:prstGeom>
          <a:solidFill>
            <a:srgbClr val="FFFFFF"/>
          </a:solidFill>
          <a:ln/>
          <a:effectLst>
            <a:outerShdw sx="100000" sy="100000" kx="0" ky="0" algn="bl" rotWithShape="0" blurRad="152400" dist="50800" dir="8100000">
              <a:srgbClr val="000000">
                <a:alpha val="28000"/>
              </a:srgbClr>
            </a:outerShdw>
          </a:effectLst>
        </p:spPr>
      </p:sp>
      <p:sp>
        <p:nvSpPr>
          <p:cNvPr id="26" name="Shape 24"/>
          <p:cNvSpPr/>
          <p:nvPr/>
        </p:nvSpPr>
        <p:spPr>
          <a:xfrm>
            <a:off x="3261360" y="3017520"/>
            <a:ext cx="2621280" cy="54864"/>
          </a:xfrm>
          <a:prstGeom prst="rect">
            <a:avLst/>
          </a:prstGeom>
          <a:solidFill>
            <a:srgbClr val="97BC62"/>
          </a:solidFill>
          <a:ln/>
        </p:spPr>
      </p:sp>
      <p:sp>
        <p:nvSpPr>
          <p:cNvPr id="27" name="Text 25"/>
          <p:cNvSpPr/>
          <p:nvPr/>
        </p:nvSpPr>
        <p:spPr>
          <a:xfrm>
            <a:off x="3489960" y="3200400"/>
            <a:ext cx="2164080" cy="320040"/>
          </a:xfrm>
          <a:prstGeom prst="rect">
            <a:avLst/>
          </a:prstGeom>
          <a:noFill/>
          <a:ln/>
        </p:spPr>
        <p:txBody>
          <a:bodyPr wrap="square" rtlCol="0" anchor="ctr">
            <a:normAutofit/>
          </a:bodyPr>
          <a:lstStyle/>
          <a:p>
            <a:pPr indent="0" marL="0">
              <a:buNone/>
            </a:pPr>
            <a:r>
              <a:rPr lang="en-US" sz="1300" b="1" dirty="0">
                <a:solidFill>
                  <a:srgbClr val="2C5F2D"/>
                </a:solidFill>
                <a:latin typeface="Calibri" pitchFamily="34" charset="0"/>
                <a:ea typeface="Calibri" pitchFamily="34" charset="-122"/>
                <a:cs typeface="Calibri" pitchFamily="34" charset="-120"/>
              </a:rPr>
              <a:t>cv2.putText()</a:t>
            </a:r>
            <a:endParaRPr lang="en-US" sz="1300" dirty="0"/>
          </a:p>
        </p:txBody>
      </p:sp>
      <p:sp>
        <p:nvSpPr>
          <p:cNvPr id="28" name="Text 26"/>
          <p:cNvSpPr/>
          <p:nvPr/>
        </p:nvSpPr>
        <p:spPr>
          <a:xfrm>
            <a:off x="3489960" y="3520440"/>
            <a:ext cx="2164080" cy="411480"/>
          </a:xfrm>
          <a:prstGeom prst="rect">
            <a:avLst/>
          </a:prstGeom>
          <a:noFill/>
          <a:ln/>
        </p:spPr>
        <p:txBody>
          <a:bodyPr wrap="square" rtlCol="0" anchor="ctr">
            <a:normAutofit/>
          </a:bodyPr>
          <a:lstStyle/>
          <a:p>
            <a:pPr indent="0" marL="0">
              <a:buNone/>
            </a:pPr>
            <a:r>
              <a:rPr lang="en-US" sz="900" i="1" dirty="0">
                <a:solidFill>
                  <a:srgbClr val="6B7280"/>
                </a:solidFill>
                <a:latin typeface="Calibri" pitchFamily="34" charset="0"/>
                <a:ea typeface="Calibri" pitchFamily="34" charset="-122"/>
                <a:cs typeface="Calibri" pitchFamily="34" charset="-120"/>
              </a:rPr>
              <a:t>img, text, org, font, scale, color</a:t>
            </a:r>
            <a:endParaRPr lang="en-US" sz="900" dirty="0"/>
          </a:p>
        </p:txBody>
      </p:sp>
      <p:sp>
        <p:nvSpPr>
          <p:cNvPr id="29" name="Text 27"/>
          <p:cNvSpPr/>
          <p:nvPr/>
        </p:nvSpPr>
        <p:spPr>
          <a:xfrm>
            <a:off x="3489960" y="3977640"/>
            <a:ext cx="2164080" cy="457200"/>
          </a:xfrm>
          <a:prstGeom prst="rect">
            <a:avLst/>
          </a:prstGeom>
          <a:noFill/>
          <a:ln/>
        </p:spPr>
        <p:txBody>
          <a:bodyPr wrap="square" rtlCol="0" anchor="ctr">
            <a:normAutofit/>
          </a:bodyPr>
          <a:lstStyle/>
          <a:p>
            <a:pPr indent="0" marL="0">
              <a:buNone/>
            </a:pPr>
            <a:r>
              <a:rPr lang="en-US" sz="1100" dirty="0">
                <a:solidFill>
                  <a:srgbClr val="1F2329"/>
                </a:solidFill>
                <a:latin typeface="Calibri" pitchFamily="34" charset="0"/>
                <a:ea typeface="Calibri" pitchFamily="34" charset="-122"/>
                <a:cs typeface="Calibri" pitchFamily="34" charset="-120"/>
              </a:rPr>
              <a:t>Render text on image (Hershey fonts)</a:t>
            </a:r>
            <a:endParaRPr lang="en-US" sz="1100" dirty="0"/>
          </a:p>
        </p:txBody>
      </p:sp>
      <p:sp>
        <p:nvSpPr>
          <p:cNvPr id="30"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1F2329"/>
                </a:solidFill>
                <a:latin typeface="Georgia" pitchFamily="34" charset="0"/>
                <a:ea typeface="Georgia" pitchFamily="34" charset="-122"/>
                <a:cs typeface="Georgia" pitchFamily="34" charset="-120"/>
              </a:rPr>
              <a:t>Image Scaling</a:t>
            </a:r>
            <a:endParaRPr lang="en-US" sz="2800" dirty="0"/>
          </a:p>
        </p:txBody>
      </p:sp>
      <p:sp>
        <p:nvSpPr>
          <p:cNvPr id="4"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280"/>
                </a:solidFill>
                <a:latin typeface="Calibri" pitchFamily="34" charset="0"/>
                <a:ea typeface="Calibri" pitchFamily="34" charset="-122"/>
                <a:cs typeface="Calibri" pitchFamily="34" charset="-120"/>
              </a:rPr>
              <a:t>Interpolation methods comparison</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1463040"/>
                <a:gridCol w="2011680"/>
                <a:gridCol w="2560320"/>
                <a:gridCol w="1645920"/>
              </a:tblGrid>
              <a:tr h="365760">
                <a:tc>
                  <a:txBody>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Method</a:t>
                      </a:r>
                      <a:endParaRPr lang="en-US" sz="1100" dirty="0">
                        <a:latin typeface="Georgia" charset="0"/>
                        <a:ea typeface="Georgia" charset="0"/>
                        <a:cs typeface="Georg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Constant</a:t>
                      </a:r>
                      <a:endParaRPr lang="en-US" sz="1100" dirty="0">
                        <a:latin typeface="Georgia" charset="0"/>
                        <a:ea typeface="Georgia" charset="0"/>
                        <a:cs typeface="Georg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Best For</a:t>
                      </a:r>
                      <a:endParaRPr lang="en-US" sz="1100" dirty="0">
                        <a:latin typeface="Georgia" charset="0"/>
                        <a:ea typeface="Georgia" charset="0"/>
                        <a:cs typeface="Georg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Quality</a:t>
                      </a:r>
                      <a:endParaRPr lang="en-US" sz="1100" dirty="0">
                        <a:latin typeface="Georgia" charset="0"/>
                        <a:ea typeface="Georgia" charset="0"/>
                        <a:cs typeface="Georg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r>
              <a:tr h="347472">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Nearest</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b="1" dirty="0">
                          <a:solidFill>
                            <a:srgbClr val="2C5F2D"/>
                          </a:solidFill>
                          <a:latin typeface="Calibri" pitchFamily="34" charset="0"/>
                          <a:ea typeface="Calibri" pitchFamily="34" charset="-122"/>
                          <a:cs typeface="Calibri" pitchFamily="34" charset="-120"/>
                        </a:rPr>
                        <a:t>INTER_NEAREST</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Speed priority</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000" dirty="0">
                          <a:solidFill>
                            <a:srgbClr val="6B7280"/>
                          </a:solidFill>
                          <a:latin typeface="Calibri" pitchFamily="34" charset="0"/>
                          <a:ea typeface="Calibri" pitchFamily="34" charset="-122"/>
                          <a:cs typeface="Calibri" pitchFamily="34" charset="-120"/>
                        </a:rPr>
                        <a:t>Lowest</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47472">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Bilinear</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b="1" dirty="0">
                          <a:solidFill>
                            <a:srgbClr val="2C5F2D"/>
                          </a:solidFill>
                          <a:latin typeface="Calibri" pitchFamily="34" charset="0"/>
                          <a:ea typeface="Calibri" pitchFamily="34" charset="-122"/>
                          <a:cs typeface="Calibri" pitchFamily="34" charset="-120"/>
                        </a:rPr>
                        <a:t>INTER_LINEAR</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General use (default)</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000" dirty="0">
                          <a:solidFill>
                            <a:srgbClr val="6B7280"/>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47472">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Bicubic</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b="1" dirty="0">
                          <a:solidFill>
                            <a:srgbClr val="2C5F2D"/>
                          </a:solidFill>
                          <a:latin typeface="Calibri" pitchFamily="34" charset="0"/>
                          <a:ea typeface="Calibri" pitchFamily="34" charset="-122"/>
                          <a:cs typeface="Calibri" pitchFamily="34" charset="-120"/>
                        </a:rPr>
                        <a:t>INTER_CUBIC</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Enlargement</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000" dirty="0">
                          <a:solidFill>
                            <a:srgbClr val="6B7280"/>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47472">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Lanczos</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b="1" dirty="0">
                          <a:solidFill>
                            <a:srgbClr val="2C5F2D"/>
                          </a:solidFill>
                          <a:latin typeface="Calibri" pitchFamily="34" charset="0"/>
                          <a:ea typeface="Calibri" pitchFamily="34" charset="-122"/>
                          <a:cs typeface="Calibri" pitchFamily="34" charset="-120"/>
                        </a:rPr>
                        <a:t>INTER_LANCZOS4</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High-quality enlarge</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000" dirty="0">
                          <a:solidFill>
                            <a:srgbClr val="6B7280"/>
                          </a:solidFill>
                          <a:latin typeface="Calibri" pitchFamily="34" charset="0"/>
                          <a:ea typeface="Calibri" pitchFamily="34" charset="-122"/>
                          <a:cs typeface="Calibri" pitchFamily="34" charset="-120"/>
                        </a:rPr>
                        <a:t>Highest</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47472">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b="1" dirty="0">
                          <a:solidFill>
                            <a:srgbClr val="2C5F2D"/>
                          </a:solidFill>
                          <a:latin typeface="Calibri" pitchFamily="34" charset="0"/>
                          <a:ea typeface="Calibri" pitchFamily="34" charset="-122"/>
                          <a:cs typeface="Calibri" pitchFamily="34" charset="-120"/>
                        </a:rPr>
                        <a:t>INTER_AREA</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Shrinking (anti-alias)</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000" dirty="0">
                          <a:solidFill>
                            <a:srgbClr val="6B7280"/>
                          </a:solidFill>
                          <a:latin typeface="Calibri" pitchFamily="34" charset="0"/>
                          <a:ea typeface="Calibri" pitchFamily="34" charset="-122"/>
                          <a:cs typeface="Calibri" pitchFamily="34" charset="-120"/>
                        </a:rPr>
                        <a:t>Best for shrink</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6" name="Shape 3"/>
          <p:cNvSpPr/>
          <p:nvPr/>
        </p:nvSpPr>
        <p:spPr>
          <a:xfrm>
            <a:off x="457200" y="3840480"/>
            <a:ext cx="8229600" cy="822960"/>
          </a:xfrm>
          <a:prstGeom prst="roundRect">
            <a:avLst>
              <a:gd name="adj" fmla="val 8889"/>
            </a:avLst>
          </a:prstGeom>
          <a:solidFill>
            <a:srgbClr val="E8F5E2"/>
          </a:solidFill>
          <a:ln/>
        </p:spPr>
      </p:sp>
      <p:sp>
        <p:nvSpPr>
          <p:cNvPr id="7" name="Text 4"/>
          <p:cNvSpPr/>
          <p:nvPr/>
        </p:nvSpPr>
        <p:spPr>
          <a:xfrm>
            <a:off x="640080" y="3931920"/>
            <a:ext cx="7863840" cy="640080"/>
          </a:xfrm>
          <a:prstGeom prst="rect">
            <a:avLst/>
          </a:prstGeom>
          <a:noFill/>
          <a:ln/>
        </p:spPr>
        <p:txBody>
          <a:bodyPr wrap="square" rtlCol="0" anchor="ctr">
            <a:normAutofit/>
          </a:bodyPr>
          <a:lstStyle/>
          <a:p>
            <a:pPr indent="0" marL="0">
              <a:buNone/>
            </a:pPr>
            <a:r>
              <a:rPr lang="en-US" sz="1100" dirty="0">
                <a:solidFill>
                  <a:srgbClr val="1F2329"/>
                </a:solidFill>
                <a:latin typeface="Calibri" pitchFamily="34" charset="0"/>
                <a:ea typeface="Calibri" pitchFamily="34" charset="-122"/>
                <a:cs typeface="Calibri" pitchFamily="34" charset="-120"/>
              </a:rPr>
              <a:t>Rule of thumb: Use INTER_AREA for shrinking, INTER_CUBIC or INTER_LANCZOS4 for enlarging. INTER_LINEAR is the safe default.</a:t>
            </a:r>
            <a:endParaRPr lang="en-US" sz="1100" dirty="0"/>
          </a:p>
        </p:txBody>
      </p:sp>
      <p:sp>
        <p:nvSpPr>
          <p:cNvPr id="8"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1F2329"/>
                </a:solidFill>
                <a:latin typeface="Georgia" pitchFamily="34" charset="0"/>
                <a:ea typeface="Georgia" pitchFamily="34" charset="-122"/>
                <a:cs typeface="Georgia" pitchFamily="34" charset="-120"/>
              </a:rPr>
              <a:t>Image Rotation</a:t>
            </a:r>
            <a:endParaRPr lang="en-US" sz="2800" dirty="0"/>
          </a:p>
        </p:txBody>
      </p:sp>
      <p:sp>
        <p:nvSpPr>
          <p:cNvPr id="4"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280"/>
                </a:solidFill>
                <a:latin typeface="Calibri" pitchFamily="34" charset="0"/>
                <a:ea typeface="Calibri" pitchFamily="34" charset="-122"/>
                <a:cs typeface="Calibri" pitchFamily="34" charset="-120"/>
              </a:rPr>
              <a:t>Rotation matrix &amp; full-image rotation</a:t>
            </a:r>
            <a:endParaRPr lang="en-US" sz="1300" dirty="0"/>
          </a:p>
        </p:txBody>
      </p:sp>
      <p:sp>
        <p:nvSpPr>
          <p:cNvPr id="5" name="Shape 3"/>
          <p:cNvSpPr/>
          <p:nvPr/>
        </p:nvSpPr>
        <p:spPr>
          <a:xfrm>
            <a:off x="457200" y="1188720"/>
            <a:ext cx="3977640" cy="1828800"/>
          </a:xfrm>
          <a:prstGeom prst="roundRect">
            <a:avLst>
              <a:gd name="adj" fmla="val 5000"/>
            </a:avLst>
          </a:prstGeom>
          <a:solidFill>
            <a:srgbClr val="FFFFFF"/>
          </a:solidFill>
          <a:ln/>
          <a:effectLst>
            <a:outerShdw sx="100000" sy="100000" kx="0" ky="0" algn="bl" rotWithShape="0" blurRad="152400" dist="50800" dir="8100000">
              <a:srgbClr val="000000">
                <a:alpha val="28000"/>
              </a:srgbClr>
            </a:outerShdw>
          </a:effectLst>
        </p:spPr>
      </p:sp>
      <p:sp>
        <p:nvSpPr>
          <p:cNvPr id="6" name="Shape 4"/>
          <p:cNvSpPr/>
          <p:nvPr/>
        </p:nvSpPr>
        <p:spPr>
          <a:xfrm>
            <a:off x="457200" y="1188720"/>
            <a:ext cx="3977640" cy="54864"/>
          </a:xfrm>
          <a:prstGeom prst="rect">
            <a:avLst/>
          </a:prstGeom>
          <a:solidFill>
            <a:srgbClr val="2C5F2D"/>
          </a:solidFill>
          <a:ln/>
        </p:spPr>
      </p:sp>
      <p:sp>
        <p:nvSpPr>
          <p:cNvPr id="7" name="Text 5"/>
          <p:cNvSpPr/>
          <p:nvPr/>
        </p:nvSpPr>
        <p:spPr>
          <a:xfrm>
            <a:off x="685800" y="1325880"/>
            <a:ext cx="3520440" cy="32004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Standard Rotation</a:t>
            </a:r>
            <a:endParaRPr lang="en-US" sz="1400" dirty="0"/>
          </a:p>
        </p:txBody>
      </p:sp>
      <p:sp>
        <p:nvSpPr>
          <p:cNvPr id="8" name="Text 6"/>
          <p:cNvSpPr/>
          <p:nvPr/>
        </p:nvSpPr>
        <p:spPr>
          <a:xfrm>
            <a:off x="685800" y="1691640"/>
            <a:ext cx="3520440" cy="777240"/>
          </a:xfrm>
          <a:prstGeom prst="rect">
            <a:avLst/>
          </a:prstGeom>
          <a:noFill/>
          <a:ln/>
        </p:spPr>
        <p:txBody>
          <a:bodyPr wrap="square" rtlCol="0" anchor="ctr">
            <a:normAutofit/>
          </a:bodyPr>
          <a:lstStyle/>
          <a:p>
            <a:pPr indent="0" marL="0">
              <a:buNone/>
            </a:pPr>
            <a:r>
              <a:rPr lang="en-US" sz="1000" dirty="0">
                <a:solidFill>
                  <a:srgbClr val="2C5F2D"/>
                </a:solidFill>
                <a:latin typeface="Calibri" pitchFamily="34" charset="0"/>
                <a:ea typeface="Calibri" pitchFamily="34" charset="-122"/>
                <a:cs typeface="Calibri" pitchFamily="34" charset="-120"/>
              </a:rPr>
              <a:t>M = cv2.getRotationMatrix2D(center, angle, scale)</a:t>
            </a:r>
            <a:endParaRPr lang="en-US" sz="1000" dirty="0"/>
          </a:p>
          <a:p>
            <a:pPr indent="0" marL="0">
              <a:buNone/>
            </a:pPr>
            <a:r>
              <a:rPr lang="en-US" sz="1000" dirty="0">
                <a:solidFill>
                  <a:srgbClr val="2C5F2D"/>
                </a:solidFill>
                <a:latin typeface="Calibri" pitchFamily="34" charset="0"/>
                <a:ea typeface="Calibri" pitchFamily="34" charset="-122"/>
                <a:cs typeface="Calibri" pitchFamily="34" charset="-120"/>
              </a:rPr>
              <a:t>rotated = cv2.warpAffine(img, M, (w, h))</a:t>
            </a:r>
            <a:endParaRPr lang="en-US" sz="1000" dirty="0"/>
          </a:p>
        </p:txBody>
      </p:sp>
      <p:sp>
        <p:nvSpPr>
          <p:cNvPr id="9" name="Text 7"/>
          <p:cNvSpPr/>
          <p:nvPr/>
        </p:nvSpPr>
        <p:spPr>
          <a:xfrm>
            <a:off x="685800" y="2514600"/>
            <a:ext cx="3520440" cy="320040"/>
          </a:xfrm>
          <a:prstGeom prst="rect">
            <a:avLst/>
          </a:prstGeom>
          <a:noFill/>
          <a:ln/>
        </p:spPr>
        <p:txBody>
          <a:bodyPr wrap="square" rtlCol="0" anchor="ctr">
            <a:normAutofit/>
          </a:bodyPr>
          <a:lstStyle/>
          <a:p>
            <a:pPr indent="0" marL="0">
              <a:buNone/>
            </a:pPr>
            <a:r>
              <a:rPr lang="en-US" sz="1000" i="1" dirty="0">
                <a:solidFill>
                  <a:srgbClr val="6B7280"/>
                </a:solidFill>
                <a:latin typeface="Calibri" pitchFamily="34" charset="0"/>
                <a:ea typeface="Calibri" pitchFamily="34" charset="-122"/>
                <a:cs typeface="Calibri" pitchFamily="34" charset="-120"/>
              </a:rPr>
              <a:t>May crop corners when rotating large angles</a:t>
            </a:r>
            <a:endParaRPr lang="en-US" sz="1000" dirty="0"/>
          </a:p>
        </p:txBody>
      </p:sp>
      <p:sp>
        <p:nvSpPr>
          <p:cNvPr id="10" name="Shape 8"/>
          <p:cNvSpPr/>
          <p:nvPr/>
        </p:nvSpPr>
        <p:spPr>
          <a:xfrm>
            <a:off x="4709160" y="1188720"/>
            <a:ext cx="3977640" cy="1828800"/>
          </a:xfrm>
          <a:prstGeom prst="roundRect">
            <a:avLst>
              <a:gd name="adj" fmla="val 5000"/>
            </a:avLst>
          </a:prstGeom>
          <a:solidFill>
            <a:srgbClr val="FFFFFF"/>
          </a:solidFill>
          <a:ln/>
          <a:effectLst>
            <a:outerShdw sx="100000" sy="100000" kx="0" ky="0" algn="bl" rotWithShape="0" blurRad="152400" dist="50800" dir="8100000">
              <a:srgbClr val="000000">
                <a:alpha val="28000"/>
              </a:srgbClr>
            </a:outerShdw>
          </a:effectLst>
        </p:spPr>
      </p:sp>
      <p:sp>
        <p:nvSpPr>
          <p:cNvPr id="11" name="Shape 9"/>
          <p:cNvSpPr/>
          <p:nvPr/>
        </p:nvSpPr>
        <p:spPr>
          <a:xfrm>
            <a:off x="4709160" y="1188720"/>
            <a:ext cx="3977640" cy="54864"/>
          </a:xfrm>
          <a:prstGeom prst="rect">
            <a:avLst/>
          </a:prstGeom>
          <a:solidFill>
            <a:srgbClr val="D4A843"/>
          </a:solidFill>
          <a:ln/>
        </p:spPr>
      </p:sp>
      <p:sp>
        <p:nvSpPr>
          <p:cNvPr id="12" name="Text 10"/>
          <p:cNvSpPr/>
          <p:nvPr/>
        </p:nvSpPr>
        <p:spPr>
          <a:xfrm>
            <a:off x="4937760" y="1325880"/>
            <a:ext cx="3520440" cy="32004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Full-Image Rotation</a:t>
            </a:r>
            <a:endParaRPr lang="en-US" sz="1400" dirty="0"/>
          </a:p>
        </p:txBody>
      </p:sp>
      <p:sp>
        <p:nvSpPr>
          <p:cNvPr id="13" name="Text 11"/>
          <p:cNvSpPr/>
          <p:nvPr/>
        </p:nvSpPr>
        <p:spPr>
          <a:xfrm>
            <a:off x="4937760" y="1691640"/>
            <a:ext cx="3520440" cy="777240"/>
          </a:xfrm>
          <a:prstGeom prst="rect">
            <a:avLst/>
          </a:prstGeom>
          <a:noFill/>
          <a:ln/>
        </p:spPr>
        <p:txBody>
          <a:bodyPr wrap="square" rtlCol="0" anchor="ctr">
            <a:normAutofit/>
          </a:bodyPr>
          <a:lstStyle/>
          <a:p>
            <a:pPr indent="0" marL="0">
              <a:buNone/>
            </a:pPr>
            <a:r>
              <a:rPr lang="en-US" sz="1000" dirty="0">
                <a:solidFill>
                  <a:srgbClr val="2C5F2D"/>
                </a:solidFill>
                <a:latin typeface="Calibri" pitchFamily="34" charset="0"/>
                <a:ea typeface="Calibri" pitchFamily="34" charset="-122"/>
                <a:cs typeface="Calibri" pitchFamily="34" charset="-120"/>
              </a:rPr>
              <a:t>cos = abs(M[0,0]); sin = abs(M[0,1])</a:t>
            </a:r>
            <a:endParaRPr lang="en-US" sz="1000" dirty="0"/>
          </a:p>
          <a:p>
            <a:pPr indent="0" marL="0">
              <a:buNone/>
            </a:pPr>
            <a:r>
              <a:rPr lang="en-US" sz="1000" dirty="0">
                <a:solidFill>
                  <a:srgbClr val="2C5F2D"/>
                </a:solidFill>
                <a:latin typeface="Calibri" pitchFamily="34" charset="0"/>
                <a:ea typeface="Calibri" pitchFamily="34" charset="-122"/>
                <a:cs typeface="Calibri" pitchFamily="34" charset="-120"/>
              </a:rPr>
              <a:t>new_w = int(h*sin + w*cos)</a:t>
            </a:r>
            <a:endParaRPr lang="en-US" sz="1000" dirty="0"/>
          </a:p>
          <a:p>
            <a:pPr indent="0" marL="0">
              <a:buNone/>
            </a:pPr>
            <a:r>
              <a:rPr lang="en-US" sz="1000" dirty="0">
                <a:solidFill>
                  <a:srgbClr val="2C5F2D"/>
                </a:solidFill>
                <a:latin typeface="Calibri" pitchFamily="34" charset="0"/>
                <a:ea typeface="Calibri" pitchFamily="34" charset="-122"/>
                <a:cs typeface="Calibri" pitchFamily="34" charset="-120"/>
              </a:rPr>
              <a:t>new_h = int(h*cos + w*sin)</a:t>
            </a:r>
            <a:endParaRPr lang="en-US" sz="1000" dirty="0"/>
          </a:p>
        </p:txBody>
      </p:sp>
      <p:sp>
        <p:nvSpPr>
          <p:cNvPr id="14" name="Text 12"/>
          <p:cNvSpPr/>
          <p:nvPr/>
        </p:nvSpPr>
        <p:spPr>
          <a:xfrm>
            <a:off x="4937760" y="2514600"/>
            <a:ext cx="3520440" cy="320040"/>
          </a:xfrm>
          <a:prstGeom prst="rect">
            <a:avLst/>
          </a:prstGeom>
          <a:noFill/>
          <a:ln/>
        </p:spPr>
        <p:txBody>
          <a:bodyPr wrap="square" rtlCol="0" anchor="ctr">
            <a:normAutofit/>
          </a:bodyPr>
          <a:lstStyle/>
          <a:p>
            <a:pPr indent="0" marL="0">
              <a:buNone/>
            </a:pPr>
            <a:r>
              <a:rPr lang="en-US" sz="1000" i="1" dirty="0">
                <a:solidFill>
                  <a:srgbClr val="6B7280"/>
                </a:solidFill>
                <a:latin typeface="Calibri" pitchFamily="34" charset="0"/>
                <a:ea typeface="Calibri" pitchFamily="34" charset="-122"/>
                <a:cs typeface="Calibri" pitchFamily="34" charset="-120"/>
              </a:rPr>
              <a:t>Adjusts canvas size to keep all content</a:t>
            </a:r>
            <a:endParaRPr lang="en-US" sz="1000" dirty="0"/>
          </a:p>
        </p:txBody>
      </p:sp>
      <p:sp>
        <p:nvSpPr>
          <p:cNvPr id="15" name="Shape 13"/>
          <p:cNvSpPr/>
          <p:nvPr/>
        </p:nvSpPr>
        <p:spPr>
          <a:xfrm>
            <a:off x="457200" y="3291840"/>
            <a:ext cx="8229600" cy="1371600"/>
          </a:xfrm>
          <a:prstGeom prst="roundRect">
            <a:avLst>
              <a:gd name="adj" fmla="val 6667"/>
            </a:avLst>
          </a:prstGeom>
          <a:solidFill>
            <a:srgbClr val="2C5F2D"/>
          </a:solidFill>
          <a:ln/>
          <a:effectLst>
            <a:outerShdw sx="100000" sy="100000" kx="0" ky="0" algn="bl" rotWithShape="0" blurRad="152400" dist="50800" dir="8100000">
              <a:srgbClr val="000000">
                <a:alpha val="28000"/>
              </a:srgbClr>
            </a:outerShdw>
          </a:effectLst>
        </p:spPr>
      </p:sp>
      <p:sp>
        <p:nvSpPr>
          <p:cNvPr id="16" name="Text 14"/>
          <p:cNvSpPr/>
          <p:nvPr/>
        </p:nvSpPr>
        <p:spPr>
          <a:xfrm>
            <a:off x="685800" y="3429000"/>
            <a:ext cx="3657600" cy="320040"/>
          </a:xfrm>
          <a:prstGeom prst="rect">
            <a:avLst/>
          </a:prstGeom>
          <a:noFill/>
          <a:ln/>
        </p:spPr>
        <p:txBody>
          <a:bodyPr wrap="square" rtlCol="0" anchor="ctr">
            <a:normAutofit/>
          </a:bodyPr>
          <a:lstStyle/>
          <a:p>
            <a:pPr indent="0" marL="0">
              <a:buNone/>
            </a:pPr>
            <a:r>
              <a:rPr lang="en-US" sz="1300" b="1" dirty="0">
                <a:solidFill>
                  <a:srgbClr val="D4A843"/>
                </a:solidFill>
                <a:latin typeface="Georgia" pitchFamily="34" charset="0"/>
                <a:ea typeface="Georgia" pitchFamily="34" charset="-122"/>
                <a:cs typeface="Georgia" pitchFamily="34" charset="-120"/>
              </a:rPr>
              <a:t>Rotation Matrix (2x3)</a:t>
            </a:r>
            <a:endParaRPr lang="en-US" sz="1300" dirty="0"/>
          </a:p>
        </p:txBody>
      </p:sp>
      <p:sp>
        <p:nvSpPr>
          <p:cNvPr id="17" name="Text 15"/>
          <p:cNvSpPr/>
          <p:nvPr/>
        </p:nvSpPr>
        <p:spPr>
          <a:xfrm>
            <a:off x="685800" y="3794760"/>
            <a:ext cx="4572000" cy="731520"/>
          </a:xfrm>
          <a:prstGeom prst="rect">
            <a:avLst/>
          </a:prstGeom>
          <a:noFill/>
          <a:ln/>
        </p:spPr>
        <p:txBody>
          <a:bodyPr wrap="square" rtlCol="0" anchor="ctr">
            <a:normAutofit/>
          </a:bodyPr>
          <a:lstStyle/>
          <a:p>
            <a:pPr indent="0" marL="0">
              <a:buNone/>
            </a:pPr>
            <a:r>
              <a:rPr lang="en-US" sz="1200" dirty="0">
                <a:solidFill>
                  <a:srgbClr val="FFFFFF"/>
                </a:solidFill>
                <a:latin typeface="Calibri" pitchFamily="34" charset="0"/>
                <a:ea typeface="Calibri" pitchFamily="34" charset="-122"/>
                <a:cs typeface="Calibri" pitchFamily="34" charset="-120"/>
              </a:rPr>
              <a:t>M = [ cos(theta)  sin(theta)  tx ]</a:t>
            </a:r>
            <a:endParaRPr lang="en-US" sz="1200" dirty="0"/>
          </a:p>
          <a:p>
            <a:pPr indent="0" marL="0">
              <a:buNone/>
            </a:pPr>
            <a:r>
              <a:rPr lang="en-US" sz="1200" dirty="0">
                <a:solidFill>
                  <a:srgbClr val="FFFFFF"/>
                </a:solidFill>
                <a:latin typeface="Calibri" pitchFamily="34" charset="0"/>
                <a:ea typeface="Calibri" pitchFamily="34" charset="-122"/>
                <a:cs typeface="Calibri" pitchFamily="34" charset="-120"/>
              </a:rPr>
              <a:t>    [ -sin(theta) cos(theta)  ty ]</a:t>
            </a:r>
            <a:endParaRPr lang="en-US" sz="1200" dirty="0"/>
          </a:p>
        </p:txBody>
      </p:sp>
      <p:sp>
        <p:nvSpPr>
          <p:cNvPr id="18" name="Text 16"/>
          <p:cNvSpPr/>
          <p:nvPr/>
        </p:nvSpPr>
        <p:spPr>
          <a:xfrm>
            <a:off x="5486400" y="3794760"/>
            <a:ext cx="3200400" cy="731520"/>
          </a:xfrm>
          <a:prstGeom prst="rect">
            <a:avLst/>
          </a:prstGeom>
          <a:noFill/>
          <a:ln/>
        </p:spPr>
        <p:txBody>
          <a:bodyPr wrap="square" rtlCol="0" anchor="ctr">
            <a:normAutofit/>
          </a:bodyPr>
          <a:lstStyle/>
          <a:p>
            <a:pPr indent="0" marL="0">
              <a:buNone/>
            </a:pPr>
            <a:r>
              <a:rPr lang="en-US" sz="1100" dirty="0">
                <a:solidFill>
                  <a:srgbClr val="97BC62"/>
                </a:solidFill>
                <a:latin typeface="Calibri" pitchFamily="34" charset="0"/>
                <a:ea typeface="Calibri" pitchFamily="34" charset="-122"/>
                <a:cs typeface="Calibri" pitchFamily="34" charset="-120"/>
              </a:rPr>
              <a:t>Positive angle = counter-clockwise</a:t>
            </a:r>
            <a:endParaRPr lang="en-US" sz="1100" dirty="0"/>
          </a:p>
        </p:txBody>
      </p:sp>
      <p:sp>
        <p:nvSpPr>
          <p:cNvPr id="19"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1F2329"/>
                </a:solidFill>
                <a:latin typeface="Georgia" pitchFamily="34" charset="0"/>
                <a:ea typeface="Georgia" pitchFamily="34" charset="-122"/>
                <a:cs typeface="Georgia" pitchFamily="34" charset="-120"/>
              </a:rPr>
              <a:t>Image Translation</a:t>
            </a:r>
            <a:endParaRPr lang="en-US" sz="2800" dirty="0"/>
          </a:p>
        </p:txBody>
      </p:sp>
      <p:sp>
        <p:nvSpPr>
          <p:cNvPr id="4"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280"/>
                </a:solidFill>
                <a:latin typeface="Calibri" pitchFamily="34" charset="0"/>
                <a:ea typeface="Calibri" pitchFamily="34" charset="-122"/>
                <a:cs typeface="Calibri" pitchFamily="34" charset="-120"/>
              </a:rPr>
              <a:t>Shifting images along X and Y axes</a:t>
            </a:r>
            <a:endParaRPr lang="en-US" sz="1300" dirty="0"/>
          </a:p>
        </p:txBody>
      </p:sp>
      <p:sp>
        <p:nvSpPr>
          <p:cNvPr id="5" name="Shape 3"/>
          <p:cNvSpPr/>
          <p:nvPr/>
        </p:nvSpPr>
        <p:spPr>
          <a:xfrm>
            <a:off x="457200" y="1188720"/>
            <a:ext cx="3977640" cy="2011680"/>
          </a:xfrm>
          <a:prstGeom prst="roundRect">
            <a:avLst>
              <a:gd name="adj" fmla="val 4545"/>
            </a:avLst>
          </a:prstGeom>
          <a:solidFill>
            <a:srgbClr val="FFFFFF"/>
          </a:solidFill>
          <a:ln/>
          <a:effectLst>
            <a:outerShdw sx="100000" sy="100000" kx="0" ky="0" algn="bl" rotWithShape="0" blurRad="152400" dist="50800" dir="8100000">
              <a:srgbClr val="000000">
                <a:alpha val="28000"/>
              </a:srgbClr>
            </a:outerShdw>
          </a:effectLst>
        </p:spPr>
      </p:sp>
      <p:sp>
        <p:nvSpPr>
          <p:cNvPr id="6" name="Shape 4"/>
          <p:cNvSpPr/>
          <p:nvPr/>
        </p:nvSpPr>
        <p:spPr>
          <a:xfrm>
            <a:off x="457200" y="1188720"/>
            <a:ext cx="3977640" cy="54864"/>
          </a:xfrm>
          <a:prstGeom prst="rect">
            <a:avLst/>
          </a:prstGeom>
          <a:solidFill>
            <a:srgbClr val="97BC62"/>
          </a:solidFill>
          <a:ln/>
        </p:spPr>
      </p:sp>
      <p:sp>
        <p:nvSpPr>
          <p:cNvPr id="7" name="Text 5"/>
          <p:cNvSpPr/>
          <p:nvPr/>
        </p:nvSpPr>
        <p:spPr>
          <a:xfrm>
            <a:off x="685800" y="1325880"/>
            <a:ext cx="3520440" cy="32004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Translation Matrix</a:t>
            </a:r>
            <a:endParaRPr lang="en-US" sz="1400" dirty="0"/>
          </a:p>
        </p:txBody>
      </p:sp>
      <p:sp>
        <p:nvSpPr>
          <p:cNvPr id="8" name="Text 6"/>
          <p:cNvSpPr/>
          <p:nvPr/>
        </p:nvSpPr>
        <p:spPr>
          <a:xfrm>
            <a:off x="685800" y="1691640"/>
            <a:ext cx="3520440" cy="1371600"/>
          </a:xfrm>
          <a:prstGeom prst="rect">
            <a:avLst/>
          </a:prstGeom>
          <a:noFill/>
          <a:ln/>
        </p:spPr>
        <p:txBody>
          <a:bodyPr wrap="square" rtlCol="0" anchor="ctr">
            <a:normAutofit/>
          </a:bodyPr>
          <a:lstStyle/>
          <a:p>
            <a:pPr indent="0" marL="0">
              <a:buNone/>
            </a:pPr>
            <a:r>
              <a:rPr lang="en-US" sz="1300" dirty="0">
                <a:solidFill>
                  <a:srgbClr val="2C5F2D"/>
                </a:solidFill>
                <a:latin typeface="Calibri" pitchFamily="34" charset="0"/>
                <a:ea typeface="Calibri" pitchFamily="34" charset="-122"/>
                <a:cs typeface="Calibri" pitchFamily="34" charset="-120"/>
              </a:rPr>
              <a:t>T = [[1, 0, tx],</a:t>
            </a:r>
            <a:endParaRPr lang="en-US" sz="1200" dirty="0"/>
          </a:p>
          <a:p>
            <a:pPr indent="0" marL="0">
              <a:buNone/>
            </a:pPr>
            <a:r>
              <a:rPr lang="en-US" sz="1300" dirty="0">
                <a:solidFill>
                  <a:srgbClr val="2C5F2D"/>
                </a:solidFill>
                <a:latin typeface="Calibri" pitchFamily="34" charset="0"/>
                <a:ea typeface="Calibri" pitchFamily="34" charset="-122"/>
                <a:cs typeface="Calibri" pitchFamily="34" charset="-120"/>
              </a:rPr>
              <a:t>     [0, 1, ty]]</a:t>
            </a:r>
            <a:endParaRPr lang="en-US" sz="1200" dirty="0"/>
          </a:p>
          <a:p>
            <a:pPr indent="0" marL="0">
              <a:buNone/>
            </a:pPr>
            <a:endParaRPr lang="en-US" sz="1200" dirty="0"/>
          </a:p>
          <a:p>
            <a:pPr indent="0" marL="0">
              <a:buNone/>
            </a:pPr>
            <a:r>
              <a:rPr lang="en-US" sz="1100" dirty="0">
                <a:solidFill>
                  <a:srgbClr val="1F2329"/>
                </a:solidFill>
                <a:latin typeface="Calibri" pitchFamily="34" charset="0"/>
                <a:ea typeface="Calibri" pitchFamily="34" charset="-122"/>
                <a:cs typeface="Calibri" pitchFamily="34" charset="-120"/>
              </a:rPr>
              <a:t>tx &gt; 0 : shift right</a:t>
            </a:r>
            <a:endParaRPr lang="en-US" sz="1200" dirty="0"/>
          </a:p>
          <a:p>
            <a:pPr indent="0" marL="0">
              <a:buNone/>
            </a:pPr>
            <a:r>
              <a:rPr lang="en-US" sz="1100" dirty="0">
                <a:solidFill>
                  <a:srgbClr val="1F2329"/>
                </a:solidFill>
                <a:latin typeface="Calibri" pitchFamily="34" charset="0"/>
                <a:ea typeface="Calibri" pitchFamily="34" charset="-122"/>
                <a:cs typeface="Calibri" pitchFamily="34" charset="-120"/>
              </a:rPr>
              <a:t>ty &gt; 0 : shift down</a:t>
            </a:r>
            <a:endParaRPr lang="en-US" sz="1200" dirty="0"/>
          </a:p>
        </p:txBody>
      </p:sp>
      <p:sp>
        <p:nvSpPr>
          <p:cNvPr id="9" name="Shape 7"/>
          <p:cNvSpPr/>
          <p:nvPr/>
        </p:nvSpPr>
        <p:spPr>
          <a:xfrm>
            <a:off x="4709160" y="1188720"/>
            <a:ext cx="3977640" cy="2011680"/>
          </a:xfrm>
          <a:prstGeom prst="roundRect">
            <a:avLst>
              <a:gd name="adj" fmla="val 4545"/>
            </a:avLst>
          </a:prstGeom>
          <a:solidFill>
            <a:srgbClr val="FFFFFF"/>
          </a:solidFill>
          <a:ln/>
          <a:effectLst>
            <a:outerShdw sx="100000" sy="100000" kx="0" ky="0" algn="bl" rotWithShape="0" blurRad="152400" dist="50800" dir="8100000">
              <a:srgbClr val="000000">
                <a:alpha val="28000"/>
              </a:srgbClr>
            </a:outerShdw>
          </a:effectLst>
        </p:spPr>
      </p:sp>
      <p:sp>
        <p:nvSpPr>
          <p:cNvPr id="10" name="Shape 8"/>
          <p:cNvSpPr/>
          <p:nvPr/>
        </p:nvSpPr>
        <p:spPr>
          <a:xfrm>
            <a:off x="4709160" y="1188720"/>
            <a:ext cx="3977640" cy="54864"/>
          </a:xfrm>
          <a:prstGeom prst="rect">
            <a:avLst/>
          </a:prstGeom>
          <a:solidFill>
            <a:srgbClr val="97BC62"/>
          </a:solidFill>
          <a:ln/>
        </p:spPr>
      </p:sp>
      <p:sp>
        <p:nvSpPr>
          <p:cNvPr id="11" name="Text 9"/>
          <p:cNvSpPr/>
          <p:nvPr/>
        </p:nvSpPr>
        <p:spPr>
          <a:xfrm>
            <a:off x="4937760" y="1325880"/>
            <a:ext cx="3520440" cy="32004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Code Example</a:t>
            </a:r>
            <a:endParaRPr lang="en-US" sz="1400" dirty="0"/>
          </a:p>
        </p:txBody>
      </p:sp>
      <p:sp>
        <p:nvSpPr>
          <p:cNvPr id="12" name="Text 10"/>
          <p:cNvSpPr/>
          <p:nvPr/>
        </p:nvSpPr>
        <p:spPr>
          <a:xfrm>
            <a:off x="4937760" y="1691640"/>
            <a:ext cx="3520440" cy="1371600"/>
          </a:xfrm>
          <a:prstGeom prst="rect">
            <a:avLst/>
          </a:prstGeom>
          <a:noFill/>
          <a:ln/>
        </p:spPr>
        <p:txBody>
          <a:bodyPr wrap="square" rtlCol="0" anchor="ctr">
            <a:normAutofit/>
          </a:bodyPr>
          <a:lstStyle/>
          <a:p>
            <a:pPr indent="0" marL="0">
              <a:buNone/>
            </a:pPr>
            <a:r>
              <a:rPr lang="en-US" sz="1200" dirty="0">
                <a:solidFill>
                  <a:srgbClr val="2C5F2D"/>
                </a:solidFill>
                <a:latin typeface="Calibri" pitchFamily="34" charset="0"/>
                <a:ea typeface="Calibri" pitchFamily="34" charset="-122"/>
                <a:cs typeface="Calibri" pitchFamily="34" charset="-120"/>
              </a:rPr>
              <a:t>tx, ty = 100, 50</a:t>
            </a:r>
            <a:endParaRPr lang="en-US" sz="1200" dirty="0"/>
          </a:p>
          <a:p>
            <a:pPr indent="0" marL="0">
              <a:buNone/>
            </a:pPr>
            <a:r>
              <a:rPr lang="en-US" sz="1200" dirty="0">
                <a:solidFill>
                  <a:srgbClr val="2C5F2D"/>
                </a:solidFill>
                <a:latin typeface="Calibri" pitchFamily="34" charset="0"/>
                <a:ea typeface="Calibri" pitchFamily="34" charset="-122"/>
                <a:cs typeface="Calibri" pitchFamily="34" charset="-120"/>
              </a:rPr>
              <a:t>M = np.float32([[1,0,tx],</a:t>
            </a:r>
            <a:endParaRPr lang="en-US" sz="1200" dirty="0"/>
          </a:p>
          <a:p>
            <a:pPr indent="0" marL="0">
              <a:buNone/>
            </a:pPr>
            <a:r>
              <a:rPr lang="en-US" sz="1200" dirty="0">
                <a:solidFill>
                  <a:srgbClr val="2C5F2D"/>
                </a:solidFill>
                <a:latin typeface="Calibri" pitchFamily="34" charset="0"/>
                <a:ea typeface="Calibri" pitchFamily="34" charset="-122"/>
                <a:cs typeface="Calibri" pitchFamily="34" charset="-120"/>
              </a:rPr>
              <a:t>                [0,1,ty]])</a:t>
            </a:r>
            <a:endParaRPr lang="en-US" sz="1200" dirty="0"/>
          </a:p>
          <a:p>
            <a:pPr indent="0" marL="0">
              <a:buNone/>
            </a:pPr>
            <a:endParaRPr lang="en-US" sz="1200" dirty="0"/>
          </a:p>
          <a:p>
            <a:pPr indent="0" marL="0">
              <a:buNone/>
            </a:pPr>
            <a:r>
              <a:rPr lang="en-US" sz="1200" dirty="0">
                <a:solidFill>
                  <a:srgbClr val="2C5F2D"/>
                </a:solidFill>
                <a:latin typeface="Calibri" pitchFamily="34" charset="0"/>
                <a:ea typeface="Calibri" pitchFamily="34" charset="-122"/>
                <a:cs typeface="Calibri" pitchFamily="34" charset="-120"/>
              </a:rPr>
              <a:t>result = cv2.warpAffine(</a:t>
            </a:r>
            <a:endParaRPr lang="en-US" sz="1200" dirty="0"/>
          </a:p>
          <a:p>
            <a:pPr indent="0" marL="0">
              <a:buNone/>
            </a:pPr>
            <a:r>
              <a:rPr lang="en-US" sz="1200" dirty="0">
                <a:solidFill>
                  <a:srgbClr val="2C5F2D"/>
                </a:solidFill>
                <a:latin typeface="Calibri" pitchFamily="34" charset="0"/>
                <a:ea typeface="Calibri" pitchFamily="34" charset="-122"/>
                <a:cs typeface="Calibri" pitchFamily="34" charset="-120"/>
              </a:rPr>
              <a:t>    img, M, (w, h))</a:t>
            </a:r>
            <a:endParaRPr lang="en-US" sz="1200" dirty="0"/>
          </a:p>
        </p:txBody>
      </p:sp>
      <p:sp>
        <p:nvSpPr>
          <p:cNvPr id="13" name="Shape 11"/>
          <p:cNvSpPr/>
          <p:nvPr/>
        </p:nvSpPr>
        <p:spPr>
          <a:xfrm>
            <a:off x="457200" y="3474720"/>
            <a:ext cx="8229600" cy="1188720"/>
          </a:xfrm>
          <a:prstGeom prst="roundRect">
            <a:avLst>
              <a:gd name="adj" fmla="val 6154"/>
            </a:avLst>
          </a:prstGeom>
          <a:solidFill>
            <a:srgbClr val="E8F5E2"/>
          </a:solidFill>
          <a:ln/>
        </p:spPr>
      </p:sp>
      <p:sp>
        <p:nvSpPr>
          <p:cNvPr id="14" name="Text 12"/>
          <p:cNvSpPr/>
          <p:nvPr/>
        </p:nvSpPr>
        <p:spPr>
          <a:xfrm>
            <a:off x="685800" y="3566160"/>
            <a:ext cx="1828800" cy="274320"/>
          </a:xfrm>
          <a:prstGeom prst="rect">
            <a:avLst/>
          </a:prstGeom>
          <a:noFill/>
          <a:ln/>
        </p:spPr>
        <p:txBody>
          <a:bodyPr wrap="square" rtlCol="0" anchor="ctr">
            <a:normAutofit/>
          </a:bodyPr>
          <a:lstStyle/>
          <a:p>
            <a:pPr indent="0" marL="0">
              <a:buNone/>
            </a:pPr>
            <a:r>
              <a:rPr lang="en-US" sz="1200" b="1" dirty="0">
                <a:solidFill>
                  <a:srgbClr val="2C5F2D"/>
                </a:solidFill>
                <a:latin typeface="Georgia" pitchFamily="34" charset="0"/>
                <a:ea typeface="Georgia" pitchFamily="34" charset="-122"/>
                <a:cs typeface="Georgia" pitchFamily="34" charset="-120"/>
              </a:rPr>
              <a:t>Key Insight</a:t>
            </a:r>
            <a:endParaRPr lang="en-US" sz="1200" dirty="0"/>
          </a:p>
        </p:txBody>
      </p:sp>
      <p:sp>
        <p:nvSpPr>
          <p:cNvPr id="15" name="Text 13"/>
          <p:cNvSpPr/>
          <p:nvPr/>
        </p:nvSpPr>
        <p:spPr>
          <a:xfrm>
            <a:off x="685800" y="3886200"/>
            <a:ext cx="7772400" cy="640080"/>
          </a:xfrm>
          <a:prstGeom prst="rect">
            <a:avLst/>
          </a:prstGeom>
          <a:noFill/>
          <a:ln/>
        </p:spPr>
        <p:txBody>
          <a:bodyPr wrap="square" rtlCol="0" anchor="ctr">
            <a:normAutofit/>
          </a:bodyPr>
          <a:lstStyle/>
          <a:p>
            <a:pPr indent="0" marL="0">
              <a:buNone/>
            </a:pPr>
            <a:r>
              <a:rPr lang="en-US" sz="1100" dirty="0">
                <a:solidFill>
                  <a:srgbClr val="1F2329"/>
                </a:solidFill>
                <a:latin typeface="Calibri" pitchFamily="34" charset="0"/>
                <a:ea typeface="Calibri" pitchFamily="34" charset="-122"/>
                <a:cs typeface="Calibri" pitchFamily="34" charset="-120"/>
              </a:rPr>
              <a:t>Translation is the simplest affine transform. Pixels shifted outside the image boundary are either discarded or filled based on border mode (BORDER_CONSTANT, BORDER_REFLECT, etc.).</a:t>
            </a:r>
            <a:endParaRPr lang="en-US" sz="1100" dirty="0"/>
          </a:p>
        </p:txBody>
      </p:sp>
      <p:sp>
        <p:nvSpPr>
          <p:cNvPr id="16"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1F2329"/>
                </a:solidFill>
                <a:latin typeface="Georgia" pitchFamily="34" charset="0"/>
                <a:ea typeface="Georgia" pitchFamily="34" charset="-122"/>
                <a:cs typeface="Georgia" pitchFamily="34" charset="-120"/>
              </a:rPr>
              <a:t>Affine Transformation</a:t>
            </a:r>
            <a:endParaRPr lang="en-US" sz="2800" dirty="0"/>
          </a:p>
        </p:txBody>
      </p:sp>
      <p:sp>
        <p:nvSpPr>
          <p:cNvPr id="4"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280"/>
                </a:solidFill>
                <a:latin typeface="Calibri" pitchFamily="34" charset="0"/>
                <a:ea typeface="Calibri" pitchFamily="34" charset="-122"/>
                <a:cs typeface="Calibri" pitchFamily="34" charset="-120"/>
              </a:rPr>
              <a:t>Three points determine the transform</a:t>
            </a:r>
            <a:endParaRPr lang="en-US" sz="1300" dirty="0"/>
          </a:p>
        </p:txBody>
      </p:sp>
      <p:sp>
        <p:nvSpPr>
          <p:cNvPr id="5" name="Shape 3"/>
          <p:cNvSpPr/>
          <p:nvPr/>
        </p:nvSpPr>
        <p:spPr>
          <a:xfrm>
            <a:off x="457200" y="1188720"/>
            <a:ext cx="3977640" cy="2286000"/>
          </a:xfrm>
          <a:prstGeom prst="roundRect">
            <a:avLst>
              <a:gd name="adj" fmla="val 4000"/>
            </a:avLst>
          </a:prstGeom>
          <a:solidFill>
            <a:srgbClr val="FFFFFF"/>
          </a:solidFill>
          <a:ln/>
          <a:effectLst>
            <a:outerShdw sx="100000" sy="100000" kx="0" ky="0" algn="bl" rotWithShape="0" blurRad="152400" dist="50800" dir="8100000">
              <a:srgbClr val="000000">
                <a:alpha val="28000"/>
              </a:srgbClr>
            </a:outerShdw>
          </a:effectLst>
        </p:spPr>
      </p:sp>
      <p:sp>
        <p:nvSpPr>
          <p:cNvPr id="6" name="Shape 4"/>
          <p:cNvSpPr/>
          <p:nvPr/>
        </p:nvSpPr>
        <p:spPr>
          <a:xfrm>
            <a:off x="457200" y="1188720"/>
            <a:ext cx="3977640" cy="54864"/>
          </a:xfrm>
          <a:prstGeom prst="rect">
            <a:avLst/>
          </a:prstGeom>
          <a:solidFill>
            <a:srgbClr val="2C5F2D"/>
          </a:solidFill>
          <a:ln/>
        </p:spPr>
      </p:sp>
      <p:sp>
        <p:nvSpPr>
          <p:cNvPr id="7" name="Text 5"/>
          <p:cNvSpPr/>
          <p:nvPr/>
        </p:nvSpPr>
        <p:spPr>
          <a:xfrm>
            <a:off x="685800" y="1325880"/>
            <a:ext cx="3520440" cy="32004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Properties</a:t>
            </a:r>
            <a:endParaRPr lang="en-US" sz="1400" dirty="0"/>
          </a:p>
        </p:txBody>
      </p:sp>
      <p:sp>
        <p:nvSpPr>
          <p:cNvPr id="8" name="Text 6"/>
          <p:cNvSpPr/>
          <p:nvPr/>
        </p:nvSpPr>
        <p:spPr>
          <a:xfrm>
            <a:off x="685800" y="1691640"/>
            <a:ext cx="3520440" cy="1645920"/>
          </a:xfrm>
          <a:prstGeom prst="rect">
            <a:avLst/>
          </a:prstGeom>
          <a:noFill/>
          <a:ln/>
        </p:spPr>
        <p:txBody>
          <a:bodyPr wrap="square" rtlCol="0" anchor="ctr">
            <a:normAutofit/>
          </a:bodyPr>
          <a:lstStyle/>
          <a:p>
            <a:pPr indent="0" marL="0">
              <a:buNone/>
            </a:pPr>
            <a:r>
              <a:rPr lang="en-US" sz="1200" b="1" dirty="0">
                <a:solidFill>
                  <a:srgbClr val="1F2329"/>
                </a:solidFill>
                <a:latin typeface="Calibri" pitchFamily="34" charset="0"/>
                <a:ea typeface="Calibri" pitchFamily="34" charset="-122"/>
                <a:cs typeface="Calibri" pitchFamily="34" charset="-120"/>
              </a:rPr>
              <a:t>Preserves:</a:t>
            </a:r>
            <a:endParaRPr lang="en-US" sz="1100" dirty="0"/>
          </a:p>
          <a:p>
            <a:pPr marL="342900" indent="-342900">
              <a:buSzPct val="100000"/>
              <a:buChar char="•"/>
            </a:pPr>
            <a:r>
              <a:rPr lang="en-US" sz="1100" dirty="0">
                <a:solidFill>
                  <a:srgbClr val="1F2329"/>
                </a:solidFill>
                <a:latin typeface="Calibri" pitchFamily="34" charset="0"/>
                <a:ea typeface="Calibri" pitchFamily="34" charset="-122"/>
                <a:cs typeface="Calibri" pitchFamily="34" charset="-120"/>
              </a:rPr>
              <a:t>  Straight lines (collinearity)</a:t>
            </a:r>
            <a:endParaRPr lang="en-US" sz="1100" dirty="0"/>
          </a:p>
          <a:p>
            <a:pPr marL="342900" indent="-342900">
              <a:buSzPct val="100000"/>
              <a:buChar char="•"/>
            </a:pPr>
            <a:r>
              <a:rPr lang="en-US" sz="1100" dirty="0">
                <a:solidFill>
                  <a:srgbClr val="1F2329"/>
                </a:solidFill>
                <a:latin typeface="Calibri" pitchFamily="34" charset="0"/>
                <a:ea typeface="Calibri" pitchFamily="34" charset="-122"/>
                <a:cs typeface="Calibri" pitchFamily="34" charset="-120"/>
              </a:rPr>
              <a:t>  Parallelism</a:t>
            </a:r>
            <a:endParaRPr lang="en-US" sz="1100" dirty="0"/>
          </a:p>
          <a:p>
            <a:pPr marL="342900" indent="-342900">
              <a:buSzPct val="100000"/>
              <a:buChar char="•"/>
            </a:pPr>
            <a:r>
              <a:rPr lang="en-US" sz="1100" dirty="0">
                <a:solidFill>
                  <a:srgbClr val="1F2329"/>
                </a:solidFill>
                <a:latin typeface="Calibri" pitchFamily="34" charset="0"/>
                <a:ea typeface="Calibri" pitchFamily="34" charset="-122"/>
                <a:cs typeface="Calibri" pitchFamily="34" charset="-120"/>
              </a:rPr>
              <a:t>  Ratios of distances</a:t>
            </a:r>
            <a:endParaRPr lang="en-US" sz="1100" dirty="0"/>
          </a:p>
          <a:p>
            <a:pPr indent="0" marL="0">
              <a:buNone/>
            </a:pPr>
            <a:endParaRPr lang="en-US" sz="1100" dirty="0"/>
          </a:p>
          <a:p>
            <a:pPr indent="0" marL="0">
              <a:buNone/>
            </a:pPr>
            <a:r>
              <a:rPr lang="en-US" sz="1100" dirty="0">
                <a:solidFill>
                  <a:srgbClr val="6B7280"/>
                </a:solidFill>
                <a:latin typeface="Calibri" pitchFamily="34" charset="0"/>
                <a:ea typeface="Calibri" pitchFamily="34" charset="-122"/>
                <a:cs typeface="Calibri" pitchFamily="34" charset="-120"/>
              </a:rPr>
              <a:t>Includes: translation, rotation,</a:t>
            </a:r>
            <a:endParaRPr lang="en-US" sz="1100" dirty="0"/>
          </a:p>
          <a:p>
            <a:pPr indent="0" marL="0">
              <a:buNone/>
            </a:pPr>
            <a:r>
              <a:rPr lang="en-US" sz="1100" dirty="0">
                <a:solidFill>
                  <a:srgbClr val="6B7280"/>
                </a:solidFill>
                <a:latin typeface="Calibri" pitchFamily="34" charset="0"/>
                <a:ea typeface="Calibri" pitchFamily="34" charset="-122"/>
                <a:cs typeface="Calibri" pitchFamily="34" charset="-120"/>
              </a:rPr>
              <a:t>scaling, shearing &amp; combinations</a:t>
            </a:r>
            <a:endParaRPr lang="en-US" sz="1100" dirty="0"/>
          </a:p>
        </p:txBody>
      </p:sp>
      <p:sp>
        <p:nvSpPr>
          <p:cNvPr id="9" name="Shape 7"/>
          <p:cNvSpPr/>
          <p:nvPr/>
        </p:nvSpPr>
        <p:spPr>
          <a:xfrm>
            <a:off x="4709160" y="1188720"/>
            <a:ext cx="3977640" cy="2286000"/>
          </a:xfrm>
          <a:prstGeom prst="roundRect">
            <a:avLst>
              <a:gd name="adj" fmla="val 4000"/>
            </a:avLst>
          </a:prstGeom>
          <a:solidFill>
            <a:srgbClr val="FFFFFF"/>
          </a:solidFill>
          <a:ln/>
          <a:effectLst>
            <a:outerShdw sx="100000" sy="100000" kx="0" ky="0" algn="bl" rotWithShape="0" blurRad="152400" dist="50800" dir="8100000">
              <a:srgbClr val="000000">
                <a:alpha val="28000"/>
              </a:srgbClr>
            </a:outerShdw>
          </a:effectLst>
        </p:spPr>
      </p:sp>
      <p:sp>
        <p:nvSpPr>
          <p:cNvPr id="10" name="Shape 8"/>
          <p:cNvSpPr/>
          <p:nvPr/>
        </p:nvSpPr>
        <p:spPr>
          <a:xfrm>
            <a:off x="4709160" y="1188720"/>
            <a:ext cx="3977640" cy="54864"/>
          </a:xfrm>
          <a:prstGeom prst="rect">
            <a:avLst/>
          </a:prstGeom>
          <a:solidFill>
            <a:srgbClr val="2C5F2D"/>
          </a:solidFill>
          <a:ln/>
        </p:spPr>
      </p:sp>
      <p:sp>
        <p:nvSpPr>
          <p:cNvPr id="11" name="Text 9"/>
          <p:cNvSpPr/>
          <p:nvPr/>
        </p:nvSpPr>
        <p:spPr>
          <a:xfrm>
            <a:off x="4937760" y="1325880"/>
            <a:ext cx="3520440" cy="32004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Code</a:t>
            </a:r>
            <a:endParaRPr lang="en-US" sz="1400" dirty="0"/>
          </a:p>
        </p:txBody>
      </p:sp>
      <p:sp>
        <p:nvSpPr>
          <p:cNvPr id="12" name="Text 10"/>
          <p:cNvSpPr/>
          <p:nvPr/>
        </p:nvSpPr>
        <p:spPr>
          <a:xfrm>
            <a:off x="4937760" y="1691640"/>
            <a:ext cx="3520440" cy="1645920"/>
          </a:xfrm>
          <a:prstGeom prst="rect">
            <a:avLst/>
          </a:prstGeom>
          <a:noFill/>
          <a:ln/>
        </p:spPr>
        <p:txBody>
          <a:bodyPr wrap="square" rtlCol="0" anchor="ctr">
            <a:normAutofit/>
          </a:bodyPr>
          <a:lstStyle/>
          <a:p>
            <a:pPr indent="0" marL="0">
              <a:buNone/>
            </a:pPr>
            <a:r>
              <a:rPr lang="en-US" sz="1100" dirty="0">
                <a:solidFill>
                  <a:srgbClr val="2C5F2D"/>
                </a:solidFill>
                <a:latin typeface="Calibri" pitchFamily="34" charset="0"/>
                <a:ea typeface="Calibri" pitchFamily="34" charset="-122"/>
                <a:cs typeface="Calibri" pitchFamily="34" charset="-120"/>
              </a:rPr>
              <a:t>pts1 = np.float32([[50,50],</a:t>
            </a:r>
            <a:endParaRPr lang="en-US" sz="1100" dirty="0"/>
          </a:p>
          <a:p>
            <a:pPr indent="0" marL="0">
              <a:buNone/>
            </a:pPr>
            <a:r>
              <a:rPr lang="en-US" sz="1100" dirty="0">
                <a:solidFill>
                  <a:srgbClr val="2C5F2D"/>
                </a:solidFill>
                <a:latin typeface="Calibri" pitchFamily="34" charset="0"/>
                <a:ea typeface="Calibri" pitchFamily="34" charset="-122"/>
                <a:cs typeface="Calibri" pitchFamily="34" charset="-120"/>
              </a:rPr>
              <a:t>                  [200,50],</a:t>
            </a:r>
            <a:endParaRPr lang="en-US" sz="1100" dirty="0"/>
          </a:p>
          <a:p>
            <a:pPr indent="0" marL="0">
              <a:buNone/>
            </a:pPr>
            <a:r>
              <a:rPr lang="en-US" sz="1100" dirty="0">
                <a:solidFill>
                  <a:srgbClr val="2C5F2D"/>
                </a:solidFill>
                <a:latin typeface="Calibri" pitchFamily="34" charset="0"/>
                <a:ea typeface="Calibri" pitchFamily="34" charset="-122"/>
                <a:cs typeface="Calibri" pitchFamily="34" charset="-120"/>
              </a:rPr>
              <a:t>                  [50,200]])</a:t>
            </a:r>
            <a:endParaRPr lang="en-US" sz="1100" dirty="0"/>
          </a:p>
          <a:p>
            <a:pPr indent="0" marL="0">
              <a:buNone/>
            </a:pPr>
            <a:r>
              <a:rPr lang="en-US" sz="1100" dirty="0">
                <a:solidFill>
                  <a:srgbClr val="2C5F2D"/>
                </a:solidFill>
                <a:latin typeface="Calibri" pitchFamily="34" charset="0"/>
                <a:ea typeface="Calibri" pitchFamily="34" charset="-122"/>
                <a:cs typeface="Calibri" pitchFamily="34" charset="-120"/>
              </a:rPr>
              <a:t>pts2 = np.float32([[10,100],</a:t>
            </a:r>
            <a:endParaRPr lang="en-US" sz="1100" dirty="0"/>
          </a:p>
          <a:p>
            <a:pPr indent="0" marL="0">
              <a:buNone/>
            </a:pPr>
            <a:r>
              <a:rPr lang="en-US" sz="1100" dirty="0">
                <a:solidFill>
                  <a:srgbClr val="2C5F2D"/>
                </a:solidFill>
                <a:latin typeface="Calibri" pitchFamily="34" charset="0"/>
                <a:ea typeface="Calibri" pitchFamily="34" charset="-122"/>
                <a:cs typeface="Calibri" pitchFamily="34" charset="-120"/>
              </a:rPr>
              <a:t>                  [200,50],</a:t>
            </a:r>
            <a:endParaRPr lang="en-US" sz="1100" dirty="0"/>
          </a:p>
          <a:p>
            <a:pPr indent="0" marL="0">
              <a:buNone/>
            </a:pPr>
            <a:r>
              <a:rPr lang="en-US" sz="1100" dirty="0">
                <a:solidFill>
                  <a:srgbClr val="2C5F2D"/>
                </a:solidFill>
                <a:latin typeface="Calibri" pitchFamily="34" charset="0"/>
                <a:ea typeface="Calibri" pitchFamily="34" charset="-122"/>
                <a:cs typeface="Calibri" pitchFamily="34" charset="-120"/>
              </a:rPr>
              <a:t>                  [100,250]])</a:t>
            </a:r>
            <a:endParaRPr lang="en-US" sz="1100" dirty="0"/>
          </a:p>
          <a:p>
            <a:pPr indent="0" marL="0">
              <a:buNone/>
            </a:pPr>
            <a:r>
              <a:rPr lang="en-US" sz="1100" b="1" dirty="0">
                <a:solidFill>
                  <a:srgbClr val="D4A843"/>
                </a:solidFill>
                <a:latin typeface="Calibri" pitchFamily="34" charset="0"/>
                <a:ea typeface="Calibri" pitchFamily="34" charset="-122"/>
                <a:cs typeface="Calibri" pitchFamily="34" charset="-120"/>
              </a:rPr>
              <a:t>M = cv2.getAffineTransform(pts1,pts2)</a:t>
            </a:r>
            <a:endParaRPr lang="en-US" sz="1100" dirty="0"/>
          </a:p>
          <a:p>
            <a:pPr indent="0" marL="0">
              <a:buNone/>
            </a:pPr>
            <a:r>
              <a:rPr lang="en-US" sz="1100" b="1" dirty="0">
                <a:solidFill>
                  <a:srgbClr val="D4A843"/>
                </a:solidFill>
                <a:latin typeface="Calibri" pitchFamily="34" charset="0"/>
                <a:ea typeface="Calibri" pitchFamily="34" charset="-122"/>
                <a:cs typeface="Calibri" pitchFamily="34" charset="-120"/>
              </a:rPr>
              <a:t>result = cv2.warpAffine(img,M,(w,h))</a:t>
            </a:r>
            <a:endParaRPr lang="en-US" sz="1100" dirty="0"/>
          </a:p>
        </p:txBody>
      </p:sp>
      <p:sp>
        <p:nvSpPr>
          <p:cNvPr id="13" name="Shape 11"/>
          <p:cNvSpPr/>
          <p:nvPr/>
        </p:nvSpPr>
        <p:spPr>
          <a:xfrm>
            <a:off x="457200" y="3749040"/>
            <a:ext cx="8229600" cy="914400"/>
          </a:xfrm>
          <a:prstGeom prst="roundRect">
            <a:avLst>
              <a:gd name="adj" fmla="val 8000"/>
            </a:avLst>
          </a:prstGeom>
          <a:solidFill>
            <a:srgbClr val="2C5F2D"/>
          </a:solidFill>
          <a:ln/>
        </p:spPr>
      </p:sp>
      <p:sp>
        <p:nvSpPr>
          <p:cNvPr id="14" name="Text 12"/>
          <p:cNvSpPr/>
          <p:nvPr/>
        </p:nvSpPr>
        <p:spPr>
          <a:xfrm>
            <a:off x="685800" y="3840480"/>
            <a:ext cx="7772400" cy="731520"/>
          </a:xfrm>
          <a:prstGeom prst="rect">
            <a:avLst/>
          </a:prstGeom>
          <a:noFill/>
          <a:ln/>
        </p:spPr>
        <p:txBody>
          <a:bodyPr wrap="square" rtlCol="0" anchor="ctr">
            <a:normAutofit/>
          </a:bodyPr>
          <a:lstStyle/>
          <a:p>
            <a:pPr indent="0" marL="0">
              <a:buNone/>
            </a:pPr>
            <a:r>
              <a:rPr lang="en-US" sz="1200" dirty="0">
                <a:solidFill>
                  <a:srgbClr val="FFFFFF"/>
                </a:solidFill>
                <a:latin typeface="Calibri" pitchFamily="34" charset="0"/>
                <a:ea typeface="Calibri" pitchFamily="34" charset="-122"/>
                <a:cs typeface="Calibri" pitchFamily="34" charset="-120"/>
              </a:rPr>
              <a:t>Matrix: 2x3  |  Degrees of Freedom: 6  |  Function: cv2.getAffineTransform() + cv2.warpAffine()</a:t>
            </a:r>
            <a:endParaRPr lang="en-US" sz="1200" dirty="0"/>
          </a:p>
        </p:txBody>
      </p:sp>
      <p:sp>
        <p:nvSpPr>
          <p:cNvPr id="15"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1F2329"/>
                </a:solidFill>
                <a:latin typeface="Georgia" pitchFamily="34" charset="0"/>
                <a:ea typeface="Georgia" pitchFamily="34" charset="-122"/>
                <a:cs typeface="Georgia" pitchFamily="34" charset="-120"/>
              </a:rPr>
              <a:t>Perspective Transformation</a:t>
            </a:r>
            <a:endParaRPr lang="en-US" sz="2800" dirty="0"/>
          </a:p>
        </p:txBody>
      </p:sp>
      <p:sp>
        <p:nvSpPr>
          <p:cNvPr id="4"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280"/>
                </a:solidFill>
                <a:latin typeface="Calibri" pitchFamily="34" charset="0"/>
                <a:ea typeface="Calibri" pitchFamily="34" charset="-122"/>
                <a:cs typeface="Calibri" pitchFamily="34" charset="-120"/>
              </a:rPr>
              <a:t>Four points determine the homography</a:t>
            </a:r>
            <a:endParaRPr lang="en-US" sz="1300" dirty="0"/>
          </a:p>
        </p:txBody>
      </p:sp>
      <p:sp>
        <p:nvSpPr>
          <p:cNvPr id="5" name="Shape 3"/>
          <p:cNvSpPr/>
          <p:nvPr/>
        </p:nvSpPr>
        <p:spPr>
          <a:xfrm>
            <a:off x="457200" y="1188720"/>
            <a:ext cx="3977640" cy="2286000"/>
          </a:xfrm>
          <a:prstGeom prst="roundRect">
            <a:avLst>
              <a:gd name="adj" fmla="val 4000"/>
            </a:avLst>
          </a:prstGeom>
          <a:solidFill>
            <a:srgbClr val="FFFFFF"/>
          </a:solidFill>
          <a:ln/>
          <a:effectLst>
            <a:outerShdw sx="100000" sy="100000" kx="0" ky="0" algn="bl" rotWithShape="0" blurRad="152400" dist="50800" dir="8100000">
              <a:srgbClr val="000000">
                <a:alpha val="28000"/>
              </a:srgbClr>
            </a:outerShdw>
          </a:effectLst>
        </p:spPr>
      </p:sp>
      <p:sp>
        <p:nvSpPr>
          <p:cNvPr id="6" name="Shape 4"/>
          <p:cNvSpPr/>
          <p:nvPr/>
        </p:nvSpPr>
        <p:spPr>
          <a:xfrm>
            <a:off x="457200" y="1188720"/>
            <a:ext cx="3977640" cy="54864"/>
          </a:xfrm>
          <a:prstGeom prst="rect">
            <a:avLst/>
          </a:prstGeom>
          <a:solidFill>
            <a:srgbClr val="D4A843"/>
          </a:solidFill>
          <a:ln/>
        </p:spPr>
      </p:sp>
      <p:sp>
        <p:nvSpPr>
          <p:cNvPr id="7" name="Text 5"/>
          <p:cNvSpPr/>
          <p:nvPr/>
        </p:nvSpPr>
        <p:spPr>
          <a:xfrm>
            <a:off x="685800" y="1325880"/>
            <a:ext cx="3520440" cy="32004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Key Properties</a:t>
            </a:r>
            <a:endParaRPr lang="en-US" sz="1400" dirty="0"/>
          </a:p>
        </p:txBody>
      </p:sp>
      <p:sp>
        <p:nvSpPr>
          <p:cNvPr id="8" name="Text 6"/>
          <p:cNvSpPr/>
          <p:nvPr/>
        </p:nvSpPr>
        <p:spPr>
          <a:xfrm>
            <a:off x="685800" y="1691640"/>
            <a:ext cx="3520440" cy="1645920"/>
          </a:xfrm>
          <a:prstGeom prst="rect">
            <a:avLst/>
          </a:prstGeom>
          <a:noFill/>
          <a:ln/>
        </p:spPr>
        <p:txBody>
          <a:bodyPr wrap="square" rtlCol="0" anchor="ctr">
            <a:normAutofit/>
          </a:bodyPr>
          <a:lstStyle/>
          <a:p>
            <a:pPr indent="0" marL="0">
              <a:buNone/>
            </a:pPr>
            <a:r>
              <a:rPr lang="en-US" sz="1100" dirty="0">
                <a:solidFill>
                  <a:srgbClr val="1F2329"/>
                </a:solidFill>
                <a:latin typeface="Calibri" pitchFamily="34" charset="0"/>
                <a:ea typeface="Calibri" pitchFamily="34" charset="-122"/>
                <a:cs typeface="Calibri" pitchFamily="34" charset="-120"/>
              </a:rPr>
              <a:t>Can represent "near = large, far = small"</a:t>
            </a:r>
            <a:endParaRPr lang="en-US" sz="1100" dirty="0"/>
          </a:p>
          <a:p>
            <a:pPr indent="0" marL="0">
              <a:buNone/>
            </a:pPr>
            <a:endParaRPr lang="en-US" sz="1100" dirty="0"/>
          </a:p>
          <a:p>
            <a:pPr marL="342900" indent="-342900">
              <a:buSzPct val="100000"/>
              <a:buChar char="•"/>
            </a:pPr>
            <a:r>
              <a:rPr lang="en-US" sz="1100" dirty="0">
                <a:solidFill>
                  <a:srgbClr val="1F2329"/>
                </a:solidFill>
                <a:latin typeface="Calibri" pitchFamily="34" charset="0"/>
                <a:ea typeface="Calibri" pitchFamily="34" charset="-122"/>
                <a:cs typeface="Calibri" pitchFamily="34" charset="-120"/>
              </a:rPr>
              <a:t>  Preserves: straight lines</a:t>
            </a:r>
            <a:endParaRPr lang="en-US" sz="1100" dirty="0"/>
          </a:p>
          <a:p>
            <a:pPr marL="342900" indent="-342900">
              <a:buSzPct val="100000"/>
              <a:buChar char="•"/>
            </a:pPr>
            <a:r>
              <a:rPr lang="en-US" sz="1100" dirty="0">
                <a:solidFill>
                  <a:srgbClr val="1F2329"/>
                </a:solidFill>
                <a:latin typeface="Calibri" pitchFamily="34" charset="0"/>
                <a:ea typeface="Calibri" pitchFamily="34" charset="-122"/>
                <a:cs typeface="Calibri" pitchFamily="34" charset="-120"/>
              </a:rPr>
              <a:t>  May break: parallelism</a:t>
            </a:r>
            <a:endParaRPr lang="en-US" sz="1100" dirty="0"/>
          </a:p>
          <a:p>
            <a:pPr indent="0" marL="0">
              <a:buNone/>
            </a:pPr>
            <a:endParaRPr lang="en-US" sz="1100" dirty="0"/>
          </a:p>
          <a:p>
            <a:pPr indent="0" marL="0">
              <a:buNone/>
            </a:pPr>
            <a:r>
              <a:rPr lang="en-US" sz="1200" b="1" dirty="0">
                <a:solidFill>
                  <a:srgbClr val="D4A843"/>
                </a:solidFill>
                <a:latin typeface="Calibri" pitchFamily="34" charset="0"/>
                <a:ea typeface="Calibri" pitchFamily="34" charset="-122"/>
                <a:cs typeface="Calibri" pitchFamily="34" charset="-120"/>
              </a:rPr>
              <a:t>Matrix: 3x3 (8 DOF)</a:t>
            </a:r>
            <a:endParaRPr lang="en-US" sz="1100" dirty="0"/>
          </a:p>
          <a:p>
            <a:pPr indent="0" marL="0">
              <a:buNone/>
            </a:pPr>
            <a:r>
              <a:rPr lang="en-US" sz="1200" b="1" dirty="0">
                <a:solidFill>
                  <a:srgbClr val="D4A843"/>
                </a:solidFill>
                <a:latin typeface="Calibri" pitchFamily="34" charset="0"/>
                <a:ea typeface="Calibri" pitchFamily="34" charset="-122"/>
                <a:cs typeface="Calibri" pitchFamily="34" charset="-120"/>
              </a:rPr>
              <a:t>Also called: Homography</a:t>
            </a:r>
            <a:endParaRPr lang="en-US" sz="1100" dirty="0"/>
          </a:p>
        </p:txBody>
      </p:sp>
      <p:sp>
        <p:nvSpPr>
          <p:cNvPr id="9" name="Shape 7"/>
          <p:cNvSpPr/>
          <p:nvPr/>
        </p:nvSpPr>
        <p:spPr>
          <a:xfrm>
            <a:off x="4709160" y="1188720"/>
            <a:ext cx="3977640" cy="2286000"/>
          </a:xfrm>
          <a:prstGeom prst="roundRect">
            <a:avLst>
              <a:gd name="adj" fmla="val 4000"/>
            </a:avLst>
          </a:prstGeom>
          <a:solidFill>
            <a:srgbClr val="FFFFFF"/>
          </a:solidFill>
          <a:ln/>
          <a:effectLst>
            <a:outerShdw sx="100000" sy="100000" kx="0" ky="0" algn="bl" rotWithShape="0" blurRad="152400" dist="50800" dir="8100000">
              <a:srgbClr val="000000">
                <a:alpha val="28000"/>
              </a:srgbClr>
            </a:outerShdw>
          </a:effectLst>
        </p:spPr>
      </p:sp>
      <p:sp>
        <p:nvSpPr>
          <p:cNvPr id="10" name="Shape 8"/>
          <p:cNvSpPr/>
          <p:nvPr/>
        </p:nvSpPr>
        <p:spPr>
          <a:xfrm>
            <a:off x="4709160" y="1188720"/>
            <a:ext cx="3977640" cy="54864"/>
          </a:xfrm>
          <a:prstGeom prst="rect">
            <a:avLst/>
          </a:prstGeom>
          <a:solidFill>
            <a:srgbClr val="D4A843"/>
          </a:solidFill>
          <a:ln/>
        </p:spPr>
      </p:sp>
      <p:sp>
        <p:nvSpPr>
          <p:cNvPr id="11" name="Text 9"/>
          <p:cNvSpPr/>
          <p:nvPr/>
        </p:nvSpPr>
        <p:spPr>
          <a:xfrm>
            <a:off x="4937760" y="1325880"/>
            <a:ext cx="3520440" cy="320040"/>
          </a:xfrm>
          <a:prstGeom prst="rect">
            <a:avLst/>
          </a:prstGeom>
          <a:noFill/>
          <a:ln/>
        </p:spPr>
        <p:txBody>
          <a:bodyPr wrap="square" rtlCol="0" anchor="ctr">
            <a:normAutofit/>
          </a:bodyPr>
          <a:lstStyle/>
          <a:p>
            <a:pPr indent="0" marL="0">
              <a:buNone/>
            </a:pPr>
            <a:r>
              <a:rPr lang="en-US" sz="1400" b="1" dirty="0">
                <a:solidFill>
                  <a:srgbClr val="1F2329"/>
                </a:solidFill>
                <a:latin typeface="Georgia" pitchFamily="34" charset="0"/>
                <a:ea typeface="Georgia" pitchFamily="34" charset="-122"/>
                <a:cs typeface="Georgia" pitchFamily="34" charset="-120"/>
              </a:rPr>
              <a:t>Code Example</a:t>
            </a:r>
            <a:endParaRPr lang="en-US" sz="1400" dirty="0"/>
          </a:p>
        </p:txBody>
      </p:sp>
      <p:sp>
        <p:nvSpPr>
          <p:cNvPr id="12" name="Text 10"/>
          <p:cNvSpPr/>
          <p:nvPr/>
        </p:nvSpPr>
        <p:spPr>
          <a:xfrm>
            <a:off x="4937760" y="1691640"/>
            <a:ext cx="3520440" cy="1645920"/>
          </a:xfrm>
          <a:prstGeom prst="rect">
            <a:avLst/>
          </a:prstGeom>
          <a:noFill/>
          <a:ln/>
        </p:spPr>
        <p:txBody>
          <a:bodyPr wrap="square" rtlCol="0" anchor="ctr">
            <a:normAutofit/>
          </a:bodyPr>
          <a:lstStyle/>
          <a:p>
            <a:pPr indent="0" marL="0">
              <a:buNone/>
            </a:pPr>
            <a:r>
              <a:rPr lang="en-US" sz="1100" dirty="0">
                <a:solidFill>
                  <a:srgbClr val="2C5F2D"/>
                </a:solidFill>
                <a:latin typeface="Calibri" pitchFamily="34" charset="0"/>
                <a:ea typeface="Calibri" pitchFamily="34" charset="-122"/>
                <a:cs typeface="Calibri" pitchFamily="34" charset="-120"/>
              </a:rPr>
              <a:t>pts1 = np.float32([</a:t>
            </a:r>
            <a:endParaRPr lang="en-US" sz="1100" dirty="0"/>
          </a:p>
          <a:p>
            <a:pPr indent="0" marL="0">
              <a:buNone/>
            </a:pPr>
            <a:r>
              <a:rPr lang="en-US" sz="1100" dirty="0">
                <a:solidFill>
                  <a:srgbClr val="2C5F2D"/>
                </a:solidFill>
                <a:latin typeface="Calibri" pitchFamily="34" charset="0"/>
                <a:ea typeface="Calibri" pitchFamily="34" charset="-122"/>
                <a:cs typeface="Calibri" pitchFamily="34" charset="-120"/>
              </a:rPr>
              <a:t>  [56,65],[368,52],</a:t>
            </a:r>
            <a:endParaRPr lang="en-US" sz="1100" dirty="0"/>
          </a:p>
          <a:p>
            <a:pPr indent="0" marL="0">
              <a:buNone/>
            </a:pPr>
            <a:r>
              <a:rPr lang="en-US" sz="1100" dirty="0">
                <a:solidFill>
                  <a:srgbClr val="2C5F2D"/>
                </a:solidFill>
                <a:latin typeface="Calibri" pitchFamily="34" charset="0"/>
                <a:ea typeface="Calibri" pitchFamily="34" charset="-122"/>
                <a:cs typeface="Calibri" pitchFamily="34" charset="-120"/>
              </a:rPr>
              <a:t>  [28,387],[389,390]])</a:t>
            </a:r>
            <a:endParaRPr lang="en-US" sz="1100" dirty="0"/>
          </a:p>
          <a:p>
            <a:pPr indent="0" marL="0">
              <a:buNone/>
            </a:pPr>
            <a:r>
              <a:rPr lang="en-US" sz="1100" dirty="0">
                <a:solidFill>
                  <a:srgbClr val="2C5F2D"/>
                </a:solidFill>
                <a:latin typeface="Calibri" pitchFamily="34" charset="0"/>
                <a:ea typeface="Calibri" pitchFamily="34" charset="-122"/>
                <a:cs typeface="Calibri" pitchFamily="34" charset="-120"/>
              </a:rPr>
              <a:t>pts2 = np.float32([</a:t>
            </a:r>
            <a:endParaRPr lang="en-US" sz="1100" dirty="0"/>
          </a:p>
          <a:p>
            <a:pPr indent="0" marL="0">
              <a:buNone/>
            </a:pPr>
            <a:r>
              <a:rPr lang="en-US" sz="1100" dirty="0">
                <a:solidFill>
                  <a:srgbClr val="2C5F2D"/>
                </a:solidFill>
                <a:latin typeface="Calibri" pitchFamily="34" charset="0"/>
                <a:ea typeface="Calibri" pitchFamily="34" charset="-122"/>
                <a:cs typeface="Calibri" pitchFamily="34" charset="-120"/>
              </a:rPr>
              <a:t>  [0,0],[300,0],</a:t>
            </a:r>
            <a:endParaRPr lang="en-US" sz="1100" dirty="0"/>
          </a:p>
          <a:p>
            <a:pPr indent="0" marL="0">
              <a:buNone/>
            </a:pPr>
            <a:r>
              <a:rPr lang="en-US" sz="1100" dirty="0">
                <a:solidFill>
                  <a:srgbClr val="2C5F2D"/>
                </a:solidFill>
                <a:latin typeface="Calibri" pitchFamily="34" charset="0"/>
                <a:ea typeface="Calibri" pitchFamily="34" charset="-122"/>
                <a:cs typeface="Calibri" pitchFamily="34" charset="-120"/>
              </a:rPr>
              <a:t>  [0,300],[300,300]])</a:t>
            </a:r>
            <a:endParaRPr lang="en-US" sz="1100" dirty="0"/>
          </a:p>
          <a:p>
            <a:pPr indent="0" marL="0">
              <a:buNone/>
            </a:pPr>
            <a:r>
              <a:rPr lang="en-US" sz="1100" b="1" dirty="0">
                <a:solidFill>
                  <a:srgbClr val="D4A843"/>
                </a:solidFill>
                <a:latin typeface="Calibri" pitchFamily="34" charset="0"/>
                <a:ea typeface="Calibri" pitchFamily="34" charset="-122"/>
                <a:cs typeface="Calibri" pitchFamily="34" charset="-120"/>
              </a:rPr>
              <a:t>M = cv2.getPerspectiveTransform(pts1,pts2)</a:t>
            </a:r>
            <a:endParaRPr lang="en-US" sz="1100" dirty="0"/>
          </a:p>
          <a:p>
            <a:pPr indent="0" marL="0">
              <a:buNone/>
            </a:pPr>
            <a:r>
              <a:rPr lang="en-US" sz="1100" b="1" dirty="0">
                <a:solidFill>
                  <a:srgbClr val="D4A843"/>
                </a:solidFill>
                <a:latin typeface="Calibri" pitchFamily="34" charset="0"/>
                <a:ea typeface="Calibri" pitchFamily="34" charset="-122"/>
                <a:cs typeface="Calibri" pitchFamily="34" charset="-120"/>
              </a:rPr>
              <a:t>result = cv2.warpPerspective(img,M,(300,300))</a:t>
            </a:r>
            <a:endParaRPr lang="en-US" sz="1100" dirty="0"/>
          </a:p>
        </p:txBody>
      </p:sp>
      <p:sp>
        <p:nvSpPr>
          <p:cNvPr id="13" name="Shape 11"/>
          <p:cNvSpPr/>
          <p:nvPr/>
        </p:nvSpPr>
        <p:spPr>
          <a:xfrm>
            <a:off x="457200" y="3749040"/>
            <a:ext cx="8229600" cy="914400"/>
          </a:xfrm>
          <a:prstGeom prst="roundRect">
            <a:avLst>
              <a:gd name="adj" fmla="val 8000"/>
            </a:avLst>
          </a:prstGeom>
          <a:solidFill>
            <a:srgbClr val="E8F5E2"/>
          </a:solidFill>
          <a:ln/>
        </p:spPr>
      </p:sp>
      <p:sp>
        <p:nvSpPr>
          <p:cNvPr id="14" name="Text 12"/>
          <p:cNvSpPr/>
          <p:nvPr/>
        </p:nvSpPr>
        <p:spPr>
          <a:xfrm>
            <a:off x="685800" y="3840480"/>
            <a:ext cx="7772400" cy="731520"/>
          </a:xfrm>
          <a:prstGeom prst="rect">
            <a:avLst/>
          </a:prstGeom>
          <a:noFill/>
          <a:ln/>
        </p:spPr>
        <p:txBody>
          <a:bodyPr wrap="square" rtlCol="0" anchor="ctr">
            <a:normAutofit/>
          </a:bodyPr>
          <a:lstStyle/>
          <a:p>
            <a:pPr indent="0" marL="0">
              <a:buNone/>
            </a:pPr>
            <a:r>
              <a:rPr lang="en-US" sz="1100" dirty="0">
                <a:solidFill>
                  <a:srgbClr val="1F2329"/>
                </a:solidFill>
                <a:latin typeface="Calibri" pitchFamily="34" charset="0"/>
                <a:ea typeface="Calibri" pitchFamily="34" charset="-122"/>
                <a:cs typeface="Calibri" pitchFamily="34" charset="-120"/>
              </a:rPr>
              <a:t>Applications: document scanning, QR code rectification, augmented reality, panorama stitching, sports analytics</a:t>
            </a:r>
            <a:endParaRPr lang="en-US" sz="1100" dirty="0"/>
          </a:p>
        </p:txBody>
      </p:sp>
      <p:sp>
        <p:nvSpPr>
          <p:cNvPr id="15"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1F2329"/>
                </a:solidFill>
                <a:latin typeface="Georgia" pitchFamily="34" charset="0"/>
                <a:ea typeface="Georgia" pitchFamily="34" charset="-122"/>
                <a:cs typeface="Georgia" pitchFamily="34" charset="-120"/>
              </a:rPr>
              <a:t>Affine vs Perspective</a:t>
            </a:r>
            <a:endParaRPr lang="en-US" sz="2800" dirty="0"/>
          </a:p>
        </p:txBody>
      </p:sp>
      <p:sp>
        <p:nvSpPr>
          <p:cNvPr id="4"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280"/>
                </a:solidFill>
                <a:latin typeface="Calibri" pitchFamily="34" charset="0"/>
                <a:ea typeface="Calibri" pitchFamily="34" charset="-122"/>
                <a:cs typeface="Calibri" pitchFamily="34" charset="-120"/>
              </a:rPr>
              <a:t>Side-by-side comparison</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2926080"/>
                <a:gridCol w="2926080"/>
              </a:tblGrid>
              <a:tr h="365760">
                <a:tc>
                  <a:txBody>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Feature</a:t>
                      </a:r>
                      <a:endParaRPr lang="en-US" sz="1100" dirty="0">
                        <a:latin typeface="Georgia" charset="0"/>
                        <a:ea typeface="Georgia" charset="0"/>
                        <a:cs typeface="Georg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Affine Transform</a:t>
                      </a:r>
                      <a:endParaRPr lang="en-US" sz="1100" dirty="0">
                        <a:latin typeface="Georgia" charset="0"/>
                        <a:ea typeface="Georgia" charset="0"/>
                        <a:cs typeface="Georg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Perspective Transform</a:t>
                      </a:r>
                      <a:endParaRPr lang="en-US" sz="1100" dirty="0">
                        <a:latin typeface="Georgia" charset="0"/>
                        <a:ea typeface="Georgia" charset="0"/>
                        <a:cs typeface="Georg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r>
              <a:tr h="329184">
                <a:tc>
                  <a:txBody>
                    <a:bodyPr/>
                    <a:lstStyle/>
                    <a:p>
                      <a:pPr indent="0" marL="0">
                        <a:buNone/>
                      </a:pPr>
                      <a:r>
                        <a:rPr lang="en-US" sz="1000" b="1" dirty="0">
                          <a:solidFill>
                            <a:srgbClr val="1F2329"/>
                          </a:solidFill>
                          <a:latin typeface="Calibri" pitchFamily="34" charset="0"/>
                          <a:ea typeface="Calibri" pitchFamily="34" charset="-122"/>
                          <a:cs typeface="Calibri" pitchFamily="34" charset="-120"/>
                        </a:rPr>
                        <a:t>Point Pairs</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000" dirty="0">
                          <a:solidFill>
                            <a:srgbClr val="1F2329"/>
                          </a:solidFill>
                          <a:latin typeface="Calibri" pitchFamily="34" charset="0"/>
                          <a:ea typeface="Calibri" pitchFamily="34" charset="-122"/>
                          <a:cs typeface="Calibri" pitchFamily="34" charset="-120"/>
                        </a:rPr>
                        <a:t>3 pairs</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000" dirty="0">
                          <a:solidFill>
                            <a:srgbClr val="1F2329"/>
                          </a:solidFill>
                          <a:latin typeface="Calibri" pitchFamily="34" charset="0"/>
                          <a:ea typeface="Calibri" pitchFamily="34" charset="-122"/>
                          <a:cs typeface="Calibri" pitchFamily="34" charset="-120"/>
                        </a:rPr>
                        <a:t>4 pairs</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29184">
                <a:tc>
                  <a:txBody>
                    <a:bodyPr/>
                    <a:lstStyle/>
                    <a:p>
                      <a:pPr indent="0" marL="0">
                        <a:buNone/>
                      </a:pPr>
                      <a:r>
                        <a:rPr lang="en-US" sz="1000" b="1" dirty="0">
                          <a:solidFill>
                            <a:srgbClr val="1F2329"/>
                          </a:solidFill>
                          <a:latin typeface="Calibri" pitchFamily="34" charset="0"/>
                          <a:ea typeface="Calibri" pitchFamily="34" charset="-122"/>
                          <a:cs typeface="Calibri" pitchFamily="34" charset="-120"/>
                        </a:rPr>
                        <a:t>Matrix Size</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000" dirty="0">
                          <a:solidFill>
                            <a:srgbClr val="1F2329"/>
                          </a:solidFill>
                          <a:latin typeface="Calibri" pitchFamily="34" charset="0"/>
                          <a:ea typeface="Calibri" pitchFamily="34" charset="-122"/>
                          <a:cs typeface="Calibri" pitchFamily="34" charset="-120"/>
                        </a:rPr>
                        <a:t>2 x 3</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000" dirty="0">
                          <a:solidFill>
                            <a:srgbClr val="1F2329"/>
                          </a:solidFill>
                          <a:latin typeface="Calibri" pitchFamily="34" charset="0"/>
                          <a:ea typeface="Calibri" pitchFamily="34" charset="-122"/>
                          <a:cs typeface="Calibri" pitchFamily="34" charset="-120"/>
                        </a:rPr>
                        <a:t>3 x 3</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29184">
                <a:tc>
                  <a:txBody>
                    <a:bodyPr/>
                    <a:lstStyle/>
                    <a:p>
                      <a:pPr indent="0" marL="0">
                        <a:buNone/>
                      </a:pPr>
                      <a:r>
                        <a:rPr lang="en-US" sz="1000" b="1" dirty="0">
                          <a:solidFill>
                            <a:srgbClr val="1F2329"/>
                          </a:solidFill>
                          <a:latin typeface="Calibri" pitchFamily="34" charset="0"/>
                          <a:ea typeface="Calibri" pitchFamily="34" charset="-122"/>
                          <a:cs typeface="Calibri" pitchFamily="34" charset="-120"/>
                        </a:rPr>
                        <a:t>Degrees of Freedom</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000" dirty="0">
                          <a:solidFill>
                            <a:srgbClr val="1F2329"/>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000" dirty="0">
                          <a:solidFill>
                            <a:srgbClr val="1F2329"/>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29184">
                <a:tc>
                  <a:txBody>
                    <a:bodyPr/>
                    <a:lstStyle/>
                    <a:p>
                      <a:pPr indent="0" marL="0">
                        <a:buNone/>
                      </a:pPr>
                      <a:r>
                        <a:rPr lang="en-US" sz="1000" b="1" dirty="0">
                          <a:solidFill>
                            <a:srgbClr val="1F2329"/>
                          </a:solidFill>
                          <a:latin typeface="Calibri" pitchFamily="34" charset="0"/>
                          <a:ea typeface="Calibri" pitchFamily="34" charset="-122"/>
                          <a:cs typeface="Calibri" pitchFamily="34" charset="-120"/>
                        </a:rPr>
                        <a:t>Parallelism</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000" b="1" dirty="0">
                          <a:solidFill>
                            <a:srgbClr val="2C5F2D"/>
                          </a:solidFill>
                          <a:latin typeface="Calibri" pitchFamily="34" charset="0"/>
                          <a:ea typeface="Calibri" pitchFamily="34" charset="-122"/>
                          <a:cs typeface="Calibri" pitchFamily="34" charset="-120"/>
                        </a:rPr>
                        <a:t>Preserved</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000" b="1" dirty="0">
                          <a:solidFill>
                            <a:srgbClr val="C0392B"/>
                          </a:solidFill>
                          <a:latin typeface="Calibri" pitchFamily="34" charset="0"/>
                          <a:ea typeface="Calibri" pitchFamily="34" charset="-122"/>
                          <a:cs typeface="Calibri" pitchFamily="34" charset="-120"/>
                        </a:rPr>
                        <a:t>May break</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29184">
                <a:tc>
                  <a:txBody>
                    <a:bodyPr/>
                    <a:lstStyle/>
                    <a:p>
                      <a:pPr indent="0" marL="0">
                        <a:buNone/>
                      </a:pPr>
                      <a:r>
                        <a:rPr lang="en-US" sz="1000" b="1" dirty="0">
                          <a:solidFill>
                            <a:srgbClr val="1F2329"/>
                          </a:solidFill>
                          <a:latin typeface="Calibri" pitchFamily="34" charset="0"/>
                          <a:ea typeface="Calibri" pitchFamily="34" charset="-122"/>
                          <a:cs typeface="Calibri" pitchFamily="34" charset="-120"/>
                        </a:rPr>
                        <a:t>Straight Lines</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000" b="1" dirty="0">
                          <a:solidFill>
                            <a:srgbClr val="2C5F2D"/>
                          </a:solidFill>
                          <a:latin typeface="Calibri" pitchFamily="34" charset="0"/>
                          <a:ea typeface="Calibri" pitchFamily="34" charset="-122"/>
                          <a:cs typeface="Calibri" pitchFamily="34" charset="-120"/>
                        </a:rPr>
                        <a:t>Preserved</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000" b="1" dirty="0">
                          <a:solidFill>
                            <a:srgbClr val="2C5F2D"/>
                          </a:solidFill>
                          <a:latin typeface="Calibri" pitchFamily="34" charset="0"/>
                          <a:ea typeface="Calibri" pitchFamily="34" charset="-122"/>
                          <a:cs typeface="Calibri" pitchFamily="34" charset="-120"/>
                        </a:rPr>
                        <a:t>Preserved</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29184">
                <a:tc>
                  <a:txBody>
                    <a:bodyPr/>
                    <a:lstStyle/>
                    <a:p>
                      <a:pPr indent="0" marL="0">
                        <a:buNone/>
                      </a:pPr>
                      <a:r>
                        <a:rPr lang="en-US" sz="1000" b="1" dirty="0">
                          <a:solidFill>
                            <a:srgbClr val="1F2329"/>
                          </a:solidFill>
                          <a:latin typeface="Calibri" pitchFamily="34" charset="0"/>
                          <a:ea typeface="Calibri" pitchFamily="34" charset="-122"/>
                          <a:cs typeface="Calibri" pitchFamily="34" charset="-120"/>
                        </a:rPr>
                        <a:t>OpenCV Function</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000" dirty="0">
                          <a:solidFill>
                            <a:srgbClr val="2C5F2D"/>
                          </a:solidFill>
                          <a:latin typeface="Calibri" pitchFamily="34" charset="0"/>
                          <a:ea typeface="Calibri" pitchFamily="34" charset="-122"/>
                          <a:cs typeface="Calibri" pitchFamily="34" charset="-120"/>
                        </a:rPr>
                        <a:t>warpAffine()</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000" dirty="0">
                          <a:solidFill>
                            <a:srgbClr val="2C5F2D"/>
                          </a:solidFill>
                          <a:latin typeface="Calibri" pitchFamily="34" charset="0"/>
                          <a:ea typeface="Calibri" pitchFamily="34" charset="-122"/>
                          <a:cs typeface="Calibri" pitchFamily="34" charset="-120"/>
                        </a:rPr>
                        <a:t>warpPerspective()</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29184">
                <a:tc>
                  <a:txBody>
                    <a:bodyPr/>
                    <a:lstStyle/>
                    <a:p>
                      <a:pPr indent="0" marL="0">
                        <a:buNone/>
                      </a:pPr>
                      <a:r>
                        <a:rPr lang="en-US" sz="1000" b="1" dirty="0">
                          <a:solidFill>
                            <a:srgbClr val="1F2329"/>
                          </a:solidFill>
                          <a:latin typeface="Calibri" pitchFamily="34" charset="0"/>
                          <a:ea typeface="Calibri" pitchFamily="34" charset="-122"/>
                          <a:cs typeface="Calibri" pitchFamily="34" charset="-120"/>
                        </a:rPr>
                        <a:t>Typical Use</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000" dirty="0">
                          <a:solidFill>
                            <a:srgbClr val="1F2329"/>
                          </a:solidFill>
                          <a:latin typeface="Calibri" pitchFamily="34" charset="0"/>
                          <a:ea typeface="Calibri" pitchFamily="34" charset="-122"/>
                          <a:cs typeface="Calibri" pitchFamily="34" charset="-120"/>
                        </a:rPr>
                        <a:t>Rotation, scaling, shearing</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algn="ctr" indent="0" marL="0">
                        <a:buNone/>
                      </a:pPr>
                      <a:r>
                        <a:rPr lang="en-US" sz="1000" dirty="0">
                          <a:solidFill>
                            <a:srgbClr val="1F2329"/>
                          </a:solidFill>
                          <a:latin typeface="Calibri" pitchFamily="34" charset="0"/>
                          <a:ea typeface="Calibri" pitchFamily="34" charset="-122"/>
                          <a:cs typeface="Calibri" pitchFamily="34" charset="-120"/>
                        </a:rPr>
                        <a:t>Document scan, AR, panorama</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6" name="Shape 3"/>
          <p:cNvSpPr/>
          <p:nvPr/>
        </p:nvSpPr>
        <p:spPr>
          <a:xfrm>
            <a:off x="457200" y="4114800"/>
            <a:ext cx="8229600" cy="640080"/>
          </a:xfrm>
          <a:prstGeom prst="roundRect">
            <a:avLst>
              <a:gd name="adj" fmla="val 11429"/>
            </a:avLst>
          </a:prstGeom>
          <a:solidFill>
            <a:srgbClr val="E8F5E2"/>
          </a:solidFill>
          <a:ln/>
        </p:spPr>
      </p:sp>
      <p:sp>
        <p:nvSpPr>
          <p:cNvPr id="7" name="Text 4"/>
          <p:cNvSpPr/>
          <p:nvPr/>
        </p:nvSpPr>
        <p:spPr>
          <a:xfrm>
            <a:off x="640080" y="4160520"/>
            <a:ext cx="7863840" cy="548640"/>
          </a:xfrm>
          <a:prstGeom prst="rect">
            <a:avLst/>
          </a:prstGeom>
          <a:noFill/>
          <a:ln/>
        </p:spPr>
        <p:txBody>
          <a:bodyPr wrap="square" rtlCol="0" anchor="ctr">
            <a:normAutofit/>
          </a:bodyPr>
          <a:lstStyle/>
          <a:p>
            <a:pPr indent="0" marL="0">
              <a:buNone/>
            </a:pPr>
            <a:r>
              <a:rPr lang="en-US" sz="1100" dirty="0">
                <a:solidFill>
                  <a:srgbClr val="1F2329"/>
                </a:solidFill>
                <a:latin typeface="Calibri" pitchFamily="34" charset="0"/>
                <a:ea typeface="Calibri" pitchFamily="34" charset="-122"/>
                <a:cs typeface="Calibri" pitchFamily="34" charset="-120"/>
              </a:rPr>
              <a:t>Affine is a subset of perspective. If parallelism is preserved, affine suffices; otherwise, use perspective.</a:t>
            </a:r>
            <a:endParaRPr lang="en-US" sz="1100" dirty="0"/>
          </a:p>
        </p:txBody>
      </p:sp>
      <p:sp>
        <p:nvSpPr>
          <p:cNvPr id="12"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1F2329"/>
                </a:solidFill>
                <a:latin typeface="Georgia" pitchFamily="34" charset="0"/>
                <a:ea typeface="Georgia" pitchFamily="34" charset="-122"/>
                <a:cs typeface="Georgia" pitchFamily="34" charset="-120"/>
              </a:rPr>
              <a:t>Cropping &amp; Border Padding</a:t>
            </a:r>
            <a:endParaRPr lang="en-US" sz="2800" dirty="0"/>
          </a:p>
        </p:txBody>
      </p:sp>
      <p:sp>
        <p:nvSpPr>
          <p:cNvPr id="4"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280"/>
                </a:solidFill>
                <a:latin typeface="Calibri" pitchFamily="34" charset="0"/>
                <a:ea typeface="Calibri" pitchFamily="34" charset="-122"/>
                <a:cs typeface="Calibri" pitchFamily="34" charset="-120"/>
              </a:rPr>
              <a:t>ROI extraction and edge extension</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194560"/>
                <a:gridCol w="2926080"/>
                <a:gridCol w="2743200"/>
              </a:tblGrid>
              <a:tr h="365760">
                <a:tc>
                  <a:txBody>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Border Type</a:t>
                      </a:r>
                      <a:endParaRPr lang="en-US" sz="1100" dirty="0">
                        <a:latin typeface="Georgia" charset="0"/>
                        <a:ea typeface="Georgia" charset="0"/>
                        <a:cs typeface="Georg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Description</a:t>
                      </a:r>
                      <a:endParaRPr lang="en-US" sz="1100" dirty="0">
                        <a:latin typeface="Georgia" charset="0"/>
                        <a:ea typeface="Georgia" charset="0"/>
                        <a:cs typeface="Georg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c>
                  <a:txBody>
                    <a:bodyPr/>
                    <a:lstStyle/>
                    <a:p>
                      <a:pPr algn="ctr" indent="0" marL="0">
                        <a:buNone/>
                      </a:pPr>
                      <a:r>
                        <a:rPr lang="en-US" sz="1100" b="1" dirty="0">
                          <a:solidFill>
                            <a:srgbClr val="FFFFFF"/>
                          </a:solidFill>
                          <a:latin typeface="Georgia" pitchFamily="34" charset="0"/>
                          <a:ea typeface="Georgia" pitchFamily="34" charset="-122"/>
                          <a:cs typeface="Georgia" pitchFamily="34" charset="-120"/>
                        </a:rPr>
                        <a:t>Effect</a:t>
                      </a:r>
                      <a:endParaRPr lang="en-US" sz="1100" dirty="0">
                        <a:latin typeface="Georgia" charset="0"/>
                        <a:ea typeface="Georgia" charset="0"/>
                        <a:cs typeface="Georg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r>
              <a:tr h="347472">
                <a:tc>
                  <a:txBody>
                    <a:bodyPr/>
                    <a:lstStyle/>
                    <a:p>
                      <a:pPr indent="0" marL="0">
                        <a:buNone/>
                      </a:pPr>
                      <a:r>
                        <a:rPr lang="en-US" sz="1000" b="1" dirty="0">
                          <a:solidFill>
                            <a:srgbClr val="2C5F2D"/>
                          </a:solidFill>
                          <a:latin typeface="Calibri" pitchFamily="34" charset="0"/>
                          <a:ea typeface="Calibri" pitchFamily="34" charset="-122"/>
                          <a:cs typeface="Calibri" pitchFamily="34" charset="-120"/>
                        </a:rPr>
                        <a:t>BORDER_CONSTANT</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Fill with a constant color</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aaaa|abcdefgh|aaaa</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47472">
                <a:tc>
                  <a:txBody>
                    <a:bodyPr/>
                    <a:lstStyle/>
                    <a:p>
                      <a:pPr indent="0" marL="0">
                        <a:buNone/>
                      </a:pPr>
                      <a:r>
                        <a:rPr lang="en-US" sz="1000" b="1" dirty="0">
                          <a:solidFill>
                            <a:srgbClr val="2C5F2D"/>
                          </a:solidFill>
                          <a:latin typeface="Calibri" pitchFamily="34" charset="0"/>
                          <a:ea typeface="Calibri" pitchFamily="34" charset="-122"/>
                          <a:cs typeface="Calibri" pitchFamily="34" charset="-120"/>
                        </a:rPr>
                        <a:t>BORDER_REPLICATE</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Replicate last edge pixel</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aaaaa|abcdefgh|hhhhh</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47472">
                <a:tc>
                  <a:txBody>
                    <a:bodyPr/>
                    <a:lstStyle/>
                    <a:p>
                      <a:pPr indent="0" marL="0">
                        <a:buNone/>
                      </a:pPr>
                      <a:r>
                        <a:rPr lang="en-US" sz="1000" b="1" dirty="0">
                          <a:solidFill>
                            <a:srgbClr val="2C5F2D"/>
                          </a:solidFill>
                          <a:latin typeface="Calibri" pitchFamily="34" charset="0"/>
                          <a:ea typeface="Calibri" pitchFamily="34" charset="-122"/>
                          <a:cs typeface="Calibri" pitchFamily="34" charset="-120"/>
                        </a:rPr>
                        <a:t>BORDER_REFLECT</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Mirror reflection (duplicates edge)</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fedcba|abcdefgh|gfedcb</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47472">
                <a:tc>
                  <a:txBody>
                    <a:bodyPr/>
                    <a:lstStyle/>
                    <a:p>
                      <a:pPr indent="0" marL="0">
                        <a:buNone/>
                      </a:pPr>
                      <a:r>
                        <a:rPr lang="en-US" sz="1000" b="1" dirty="0">
                          <a:solidFill>
                            <a:srgbClr val="2C5F2D"/>
                          </a:solidFill>
                          <a:latin typeface="Calibri" pitchFamily="34" charset="0"/>
                          <a:ea typeface="Calibri" pitchFamily="34" charset="-122"/>
                          <a:cs typeface="Calibri" pitchFamily="34" charset="-120"/>
                        </a:rPr>
                        <a:t>BORDER_REFLECT_101</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Mirror (no edge duplication)</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gfedcb|abcdefgh|gfedcb</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347472">
                <a:tc>
                  <a:txBody>
                    <a:bodyPr/>
                    <a:lstStyle/>
                    <a:p>
                      <a:pPr indent="0" marL="0">
                        <a:buNone/>
                      </a:pPr>
                      <a:r>
                        <a:rPr lang="en-US" sz="1000" b="1" dirty="0">
                          <a:solidFill>
                            <a:srgbClr val="2C5F2D"/>
                          </a:solidFill>
                          <a:latin typeface="Calibri" pitchFamily="34" charset="0"/>
                          <a:ea typeface="Calibri" pitchFamily="34" charset="-122"/>
                          <a:cs typeface="Calibri" pitchFamily="34" charset="-120"/>
                        </a:rPr>
                        <a:t>BORDER_WRAP</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1000" dirty="0">
                          <a:solidFill>
                            <a:srgbClr val="1F2329"/>
                          </a:solidFill>
                          <a:latin typeface="Calibri" pitchFamily="34" charset="0"/>
                          <a:ea typeface="Calibri" pitchFamily="34" charset="-122"/>
                          <a:cs typeface="Calibri" pitchFamily="34" charset="-120"/>
                        </a:rPr>
                        <a:t>Periodic tiling</a:t>
                      </a:r>
                      <a:endParaRPr lang="en-US" sz="10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6B7280"/>
                          </a:solidFill>
                          <a:latin typeface="Calibri" pitchFamily="34" charset="0"/>
                          <a:ea typeface="Calibri" pitchFamily="34" charset="-122"/>
                          <a:cs typeface="Calibri" pitchFamily="34" charset="-120"/>
                        </a:rPr>
                        <a:t>cdefgh|abcdefgh|abcdef</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6" name="Shape 3"/>
          <p:cNvSpPr/>
          <p:nvPr/>
        </p:nvSpPr>
        <p:spPr>
          <a:xfrm>
            <a:off x="457200" y="3749040"/>
            <a:ext cx="8229600" cy="1005840"/>
          </a:xfrm>
          <a:prstGeom prst="roundRect">
            <a:avLst>
              <a:gd name="adj" fmla="val 7273"/>
            </a:avLst>
          </a:prstGeom>
          <a:solidFill>
            <a:srgbClr val="E8F5E2"/>
          </a:solidFill>
          <a:ln/>
        </p:spPr>
      </p:sp>
      <p:sp>
        <p:nvSpPr>
          <p:cNvPr id="7" name="Text 4"/>
          <p:cNvSpPr/>
          <p:nvPr/>
        </p:nvSpPr>
        <p:spPr>
          <a:xfrm>
            <a:off x="228600" y="3840480"/>
            <a:ext cx="7772400" cy="822960"/>
          </a:xfrm>
          <a:prstGeom prst="rect">
            <a:avLst/>
          </a:prstGeom>
          <a:noFill/>
          <a:ln/>
        </p:spPr>
        <p:txBody>
          <a:bodyPr wrap="square" rtlCol="0" anchor="ctr">
            <a:normAutofit/>
          </a:bodyPr>
          <a:lstStyle/>
          <a:p>
            <a:pPr indent="0" marL="0">
              <a:buNone/>
            </a:pPr>
            <a:r>
              <a:rPr lang="en-US" sz="1100" dirty="0">
                <a:solidFill>
                  <a:srgbClr val="1F2329"/>
                </a:solidFill>
                <a:latin typeface="Calibri" pitchFamily="34" charset="0"/>
                <a:ea typeface="Calibri" pitchFamily="34" charset="-122"/>
                <a:cs typeface="Calibri" pitchFamily="34" charset="-120"/>
              </a:rPr>
              <a:t>Crop: img[y1:y2, x1:x2]  (NumPy slicing)</a:t>
            </a:r>
            <a:endParaRPr lang="en-US" sz="1100" dirty="0"/>
          </a:p>
          <a:p>
            <a:pPr indent="0" marL="0">
              <a:buNone/>
            </a:pPr>
            <a:r>
              <a:rPr lang="en-US" sz="1100" dirty="0">
                <a:solidFill>
                  <a:srgbClr val="1F2329"/>
                </a:solidFill>
                <a:latin typeface="Calibri" pitchFamily="34" charset="0"/>
                <a:ea typeface="Calibri" pitchFamily="34" charset="-122"/>
                <a:cs typeface="Calibri" pitchFamily="34" charset="-120"/>
              </a:rPr>
              <a:t>Padding: cv2.copyMakeBorder(img, top, bottom, left, right, borderType)</a:t>
            </a:r>
            <a:endParaRPr lang="en-US" sz="1100" dirty="0"/>
          </a:p>
        </p:txBody>
      </p:sp>
      <p:sp>
        <p:nvSpPr>
          <p:cNvPr id="13"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1F2329"/>
                </a:solidFill>
                <a:latin typeface="Georgia" pitchFamily="34" charset="0"/>
                <a:ea typeface="Georgia" pitchFamily="34" charset="-122"/>
                <a:cs typeface="Georgia" pitchFamily="34" charset="-120"/>
              </a:rPr>
              <a:t>Scientists Behind the Scenes</a:t>
            </a:r>
            <a:endParaRPr lang="en-US" sz="2800" dirty="0"/>
          </a:p>
        </p:txBody>
      </p:sp>
      <p:sp>
        <p:nvSpPr>
          <p:cNvPr id="4"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280"/>
                </a:solidFill>
                <a:latin typeface="Calibri" pitchFamily="34" charset="0"/>
                <a:ea typeface="Calibri" pitchFamily="34" charset="-122"/>
                <a:cs typeface="Calibri" pitchFamily="34" charset="-120"/>
              </a:rPr>
              <a:t>Pioneers of perspective and computer vision</a:t>
            </a:r>
            <a:endParaRPr lang="en-US" sz="1300" dirty="0"/>
          </a:p>
        </p:txBody>
      </p:sp>
      <p:sp>
        <p:nvSpPr>
          <p:cNvPr id="5" name="Shape 3"/>
          <p:cNvSpPr/>
          <p:nvPr/>
        </p:nvSpPr>
        <p:spPr>
          <a:xfrm>
            <a:off x="457200" y="1188720"/>
            <a:ext cx="3977640" cy="3200400"/>
          </a:xfrm>
          <a:prstGeom prst="roundRect">
            <a:avLst>
              <a:gd name="adj" fmla="val 2857"/>
            </a:avLst>
          </a:prstGeom>
          <a:solidFill>
            <a:srgbClr val="FFFFFF"/>
          </a:solidFill>
          <a:ln/>
          <a:effectLst>
            <a:outerShdw sx="100000" sy="100000" kx="0" ky="0" algn="bl" rotWithShape="0" blurRad="152400" dist="50800" dir="8100000">
              <a:srgbClr val="000000">
                <a:alpha val="28000"/>
              </a:srgbClr>
            </a:outerShdw>
          </a:effectLst>
        </p:spPr>
      </p:sp>
      <p:sp>
        <p:nvSpPr>
          <p:cNvPr id="6" name="Shape 4"/>
          <p:cNvSpPr/>
          <p:nvPr/>
        </p:nvSpPr>
        <p:spPr>
          <a:xfrm>
            <a:off x="457200" y="1188720"/>
            <a:ext cx="3977640" cy="54864"/>
          </a:xfrm>
          <a:prstGeom prst="rect">
            <a:avLst/>
          </a:prstGeom>
          <a:solidFill>
            <a:srgbClr val="D4A843"/>
          </a:solidFill>
          <a:ln/>
        </p:spPr>
      </p:sp>
      <p:sp>
        <p:nvSpPr>
          <p:cNvPr id="7" name="Text 5"/>
          <p:cNvSpPr/>
          <p:nvPr/>
        </p:nvSpPr>
        <p:spPr>
          <a:xfrm>
            <a:off x="685800" y="1325880"/>
            <a:ext cx="3520440" cy="320040"/>
          </a:xfrm>
          <a:prstGeom prst="rect">
            <a:avLst/>
          </a:prstGeom>
          <a:noFill/>
          <a:ln/>
        </p:spPr>
        <p:txBody>
          <a:bodyPr wrap="square" rtlCol="0" anchor="ctr">
            <a:normAutofit/>
          </a:bodyPr>
          <a:lstStyle/>
          <a:p>
            <a:pPr indent="0" marL="0">
              <a:buNone/>
            </a:pPr>
            <a:r>
              <a:rPr lang="en-US" sz="1600" b="1" dirty="0">
                <a:solidFill>
                  <a:srgbClr val="1F2329"/>
                </a:solidFill>
                <a:latin typeface="Georgia" pitchFamily="34" charset="0"/>
                <a:ea typeface="Georgia" pitchFamily="34" charset="-122"/>
                <a:cs typeface="Georgia" pitchFamily="34" charset="-120"/>
              </a:rPr>
              <a:t>Albrecht Durer</a:t>
            </a:r>
            <a:endParaRPr lang="en-US" sz="1600" dirty="0"/>
          </a:p>
        </p:txBody>
      </p:sp>
      <p:sp>
        <p:nvSpPr>
          <p:cNvPr id="8" name="Text 6"/>
          <p:cNvSpPr/>
          <p:nvPr/>
        </p:nvSpPr>
        <p:spPr>
          <a:xfrm>
            <a:off x="685800" y="1645920"/>
            <a:ext cx="3520440" cy="274320"/>
          </a:xfrm>
          <a:prstGeom prst="rect">
            <a:avLst/>
          </a:prstGeom>
          <a:noFill/>
          <a:ln/>
        </p:spPr>
        <p:txBody>
          <a:bodyPr wrap="square" rtlCol="0" anchor="ctr">
            <a:normAutofit/>
          </a:bodyPr>
          <a:lstStyle/>
          <a:p>
            <a:pPr indent="0" marL="0">
              <a:buNone/>
            </a:pPr>
            <a:r>
              <a:rPr lang="en-US" sz="1000" i="1" dirty="0">
                <a:solidFill>
                  <a:srgbClr val="D4A843"/>
                </a:solidFill>
                <a:latin typeface="Calibri" pitchFamily="34" charset="0"/>
                <a:ea typeface="Calibri" pitchFamily="34" charset="-122"/>
                <a:cs typeface="Calibri" pitchFamily="34" charset="-120"/>
              </a:rPr>
              <a:t>1471 - 1528  |  Perspective Geometry Pioneer</a:t>
            </a:r>
            <a:endParaRPr lang="en-US" sz="1000" dirty="0"/>
          </a:p>
        </p:txBody>
      </p:sp>
      <p:sp>
        <p:nvSpPr>
          <p:cNvPr id="9" name="Text 7"/>
          <p:cNvSpPr/>
          <p:nvPr/>
        </p:nvSpPr>
        <p:spPr>
          <a:xfrm>
            <a:off x="685800" y="2011680"/>
            <a:ext cx="3520440" cy="1463040"/>
          </a:xfrm>
          <a:prstGeom prst="rect">
            <a:avLst/>
          </a:prstGeom>
          <a:noFill/>
          <a:ln/>
        </p:spPr>
        <p:txBody>
          <a:bodyPr wrap="square" rtlCol="0" anchor="ctr"/>
          <a:lstStyle/>
          <a:p>
            <a:pPr indent="0" marL="0">
              <a:buNone/>
            </a:pPr>
            <a:r>
              <a:rPr lang="en-US" sz="1050" dirty="0">
                <a:solidFill>
                  <a:srgbClr val="1F2329"/>
                </a:solidFill>
                <a:latin typeface="Calibri" pitchFamily="34" charset="0"/>
                <a:ea typeface="Calibri" pitchFamily="34" charset="-122"/>
                <a:cs typeface="Calibri" pitchFamily="34" charset="-120"/>
              </a:rPr>
              <a:t>German Renaissance artist who published "Underweysung der Messung" (1525), systematically describing perspective projection. He designed mechanical devices to project 3D scenes onto 2D canvas -- solving the same problem we solve today with perspective transform matrices.</a:t>
            </a:r>
            <a:endParaRPr lang="en-US" sz="1050" dirty="0"/>
          </a:p>
        </p:txBody>
      </p:sp>
      <p:sp>
        <p:nvSpPr>
          <p:cNvPr id="10" name="Shape 8"/>
          <p:cNvSpPr/>
          <p:nvPr/>
        </p:nvSpPr>
        <p:spPr>
          <a:xfrm>
            <a:off x="685800" y="3657600"/>
            <a:ext cx="3520440" cy="18288"/>
          </a:xfrm>
          <a:prstGeom prst="rect">
            <a:avLst/>
          </a:prstGeom>
          <a:solidFill>
            <a:srgbClr val="97BC62"/>
          </a:solidFill>
          <a:ln/>
        </p:spPr>
      </p:sp>
      <p:sp>
        <p:nvSpPr>
          <p:cNvPr id="11" name="Text 9"/>
          <p:cNvSpPr/>
          <p:nvPr/>
        </p:nvSpPr>
        <p:spPr>
          <a:xfrm>
            <a:off x="685800" y="3749040"/>
            <a:ext cx="3520440" cy="365760"/>
          </a:xfrm>
          <a:prstGeom prst="rect">
            <a:avLst/>
          </a:prstGeom>
          <a:noFill/>
          <a:ln/>
        </p:spPr>
        <p:txBody>
          <a:bodyPr wrap="square" rtlCol="0" anchor="ctr">
            <a:normAutofit/>
          </a:bodyPr>
          <a:lstStyle/>
          <a:p>
            <a:pPr indent="0" marL="0">
              <a:buNone/>
            </a:pPr>
            <a:r>
              <a:rPr lang="en-US" sz="1000" i="1" dirty="0">
                <a:solidFill>
                  <a:srgbClr val="6B7280"/>
                </a:solidFill>
                <a:latin typeface="Georgia" pitchFamily="34" charset="0"/>
                <a:ea typeface="Georgia" pitchFamily="34" charset="-122"/>
                <a:cs typeface="Georgia" pitchFamily="34" charset="-120"/>
              </a:rPr>
              <a:t>"Geometry is the foundation of all painting."</a:t>
            </a:r>
            <a:endParaRPr lang="en-US" sz="1000" dirty="0"/>
          </a:p>
        </p:txBody>
      </p:sp>
      <p:sp>
        <p:nvSpPr>
          <p:cNvPr id="12" name="Shape 10"/>
          <p:cNvSpPr/>
          <p:nvPr/>
        </p:nvSpPr>
        <p:spPr>
          <a:xfrm>
            <a:off x="4709160" y="1188720"/>
            <a:ext cx="3977640" cy="3200400"/>
          </a:xfrm>
          <a:prstGeom prst="roundRect">
            <a:avLst>
              <a:gd name="adj" fmla="val 2857"/>
            </a:avLst>
          </a:prstGeom>
          <a:solidFill>
            <a:srgbClr val="FFFFFF"/>
          </a:solidFill>
          <a:ln/>
          <a:effectLst>
            <a:outerShdw sx="100000" sy="100000" kx="0" ky="0" algn="bl" rotWithShape="0" blurRad="152400" dist="50800" dir="8100000">
              <a:srgbClr val="000000">
                <a:alpha val="28000"/>
              </a:srgbClr>
            </a:outerShdw>
          </a:effectLst>
        </p:spPr>
      </p:sp>
      <p:sp>
        <p:nvSpPr>
          <p:cNvPr id="13" name="Shape 11"/>
          <p:cNvSpPr/>
          <p:nvPr/>
        </p:nvSpPr>
        <p:spPr>
          <a:xfrm>
            <a:off x="4709160" y="1188720"/>
            <a:ext cx="3977640" cy="54864"/>
          </a:xfrm>
          <a:prstGeom prst="rect">
            <a:avLst/>
          </a:prstGeom>
          <a:solidFill>
            <a:srgbClr val="2C5F2D"/>
          </a:solidFill>
          <a:ln/>
        </p:spPr>
      </p:sp>
      <p:sp>
        <p:nvSpPr>
          <p:cNvPr id="14" name="Text 12"/>
          <p:cNvSpPr/>
          <p:nvPr/>
        </p:nvSpPr>
        <p:spPr>
          <a:xfrm>
            <a:off x="4937760" y="1325880"/>
            <a:ext cx="3520440" cy="320040"/>
          </a:xfrm>
          <a:prstGeom prst="rect">
            <a:avLst/>
          </a:prstGeom>
          <a:noFill/>
          <a:ln/>
        </p:spPr>
        <p:txBody>
          <a:bodyPr wrap="square" rtlCol="0" anchor="ctr">
            <a:normAutofit/>
          </a:bodyPr>
          <a:lstStyle/>
          <a:p>
            <a:pPr indent="0" marL="0">
              <a:buNone/>
            </a:pPr>
            <a:r>
              <a:rPr lang="en-US" sz="1600" b="1" dirty="0">
                <a:solidFill>
                  <a:srgbClr val="1F2329"/>
                </a:solidFill>
                <a:latin typeface="Georgia" pitchFamily="34" charset="0"/>
                <a:ea typeface="Georgia" pitchFamily="34" charset="-122"/>
                <a:cs typeface="Georgia" pitchFamily="34" charset="-120"/>
              </a:rPr>
              <a:t>Gary Bradski</a:t>
            </a:r>
            <a:endParaRPr lang="en-US" sz="1600" dirty="0"/>
          </a:p>
        </p:txBody>
      </p:sp>
      <p:sp>
        <p:nvSpPr>
          <p:cNvPr id="15" name="Text 13"/>
          <p:cNvSpPr/>
          <p:nvPr/>
        </p:nvSpPr>
        <p:spPr>
          <a:xfrm>
            <a:off x="4937760" y="1645920"/>
            <a:ext cx="3520440" cy="274320"/>
          </a:xfrm>
          <a:prstGeom prst="rect">
            <a:avLst/>
          </a:prstGeom>
          <a:noFill/>
          <a:ln/>
        </p:spPr>
        <p:txBody>
          <a:bodyPr wrap="square" rtlCol="0" anchor="ctr">
            <a:normAutofit/>
          </a:bodyPr>
          <a:lstStyle/>
          <a:p>
            <a:pPr indent="0" marL="0">
              <a:buNone/>
            </a:pPr>
            <a:r>
              <a:rPr lang="en-US" sz="1000" i="1" dirty="0">
                <a:solidFill>
                  <a:srgbClr val="D4A843"/>
                </a:solidFill>
                <a:latin typeface="Calibri" pitchFamily="34" charset="0"/>
                <a:ea typeface="Calibri" pitchFamily="34" charset="-122"/>
                <a:cs typeface="Calibri" pitchFamily="34" charset="-120"/>
              </a:rPr>
              <a:t>b. 1960s  |  Founder of OpenCV</a:t>
            </a:r>
            <a:endParaRPr lang="en-US" sz="1000" dirty="0"/>
          </a:p>
        </p:txBody>
      </p:sp>
      <p:sp>
        <p:nvSpPr>
          <p:cNvPr id="16" name="Text 14"/>
          <p:cNvSpPr/>
          <p:nvPr/>
        </p:nvSpPr>
        <p:spPr>
          <a:xfrm>
            <a:off x="4937760" y="2011680"/>
            <a:ext cx="3520440" cy="1463040"/>
          </a:xfrm>
          <a:prstGeom prst="rect">
            <a:avLst/>
          </a:prstGeom>
          <a:noFill/>
          <a:ln/>
        </p:spPr>
        <p:txBody>
          <a:bodyPr wrap="square" rtlCol="0" anchor="ctr"/>
          <a:lstStyle/>
          <a:p>
            <a:pPr indent="0" marL="0">
              <a:buNone/>
            </a:pPr>
            <a:r>
              <a:rPr lang="en-US" sz="1050" dirty="0">
                <a:solidFill>
                  <a:srgbClr val="1F2329"/>
                </a:solidFill>
                <a:latin typeface="Calibri" pitchFamily="34" charset="0"/>
                <a:ea typeface="Calibri" pitchFamily="34" charset="-122"/>
                <a:cs typeface="Calibri" pitchFamily="34" charset="-120"/>
              </a:rPr>
              <a:t>Started OpenCV at Intel in 1999, creating the world's most widely used computer vision library. His team designed the warpAffine() and warpPerspective() APIs that make complex geometric transforms accessible with just a few lines of code.</a:t>
            </a:r>
            <a:endParaRPr lang="en-US" sz="1050" dirty="0"/>
          </a:p>
        </p:txBody>
      </p:sp>
      <p:sp>
        <p:nvSpPr>
          <p:cNvPr id="17" name="Shape 15"/>
          <p:cNvSpPr/>
          <p:nvPr/>
        </p:nvSpPr>
        <p:spPr>
          <a:xfrm>
            <a:off x="4937760" y="3657600"/>
            <a:ext cx="3520440" cy="18288"/>
          </a:xfrm>
          <a:prstGeom prst="rect">
            <a:avLst/>
          </a:prstGeom>
          <a:solidFill>
            <a:srgbClr val="97BC62"/>
          </a:solidFill>
          <a:ln/>
        </p:spPr>
      </p:sp>
      <p:sp>
        <p:nvSpPr>
          <p:cNvPr id="18" name="Text 16"/>
          <p:cNvSpPr/>
          <p:nvPr/>
        </p:nvSpPr>
        <p:spPr>
          <a:xfrm>
            <a:off x="4937760" y="3749040"/>
            <a:ext cx="3520440" cy="365760"/>
          </a:xfrm>
          <a:prstGeom prst="rect">
            <a:avLst/>
          </a:prstGeom>
          <a:noFill/>
          <a:ln/>
        </p:spPr>
        <p:txBody>
          <a:bodyPr wrap="square" rtlCol="0" anchor="ctr">
            <a:normAutofit/>
          </a:bodyPr>
          <a:lstStyle/>
          <a:p>
            <a:pPr indent="0" marL="0">
              <a:buNone/>
            </a:pPr>
            <a:r>
              <a:rPr lang="en-US" sz="1000" i="1" dirty="0">
                <a:solidFill>
                  <a:srgbClr val="6B7280"/>
                </a:solidFill>
                <a:latin typeface="Georgia" pitchFamily="34" charset="0"/>
                <a:ea typeface="Georgia" pitchFamily="34" charset="-122"/>
                <a:cs typeface="Georgia" pitchFamily="34" charset="-120"/>
              </a:rPr>
              <a:t>"Making CV accessible to everyone."</a:t>
            </a:r>
            <a:endParaRPr lang="en-US" sz="1000" dirty="0"/>
          </a:p>
        </p:txBody>
      </p:sp>
      <p:sp>
        <p:nvSpPr>
          <p:cNvPr id="19"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1F2329"/>
                </a:solidFill>
                <a:latin typeface="Georgia" pitchFamily="34" charset="0"/>
                <a:ea typeface="Georgia" pitchFamily="34" charset="-122"/>
                <a:cs typeface="Georgia" pitchFamily="34" charset="-120"/>
              </a:rPr>
              <a:t>Classic Experiment</a:t>
            </a:r>
            <a:endParaRPr lang="en-US" sz="2800" dirty="0"/>
          </a:p>
        </p:txBody>
      </p:sp>
      <p:sp>
        <p:nvSpPr>
          <p:cNvPr id="4"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280"/>
                </a:solidFill>
                <a:latin typeface="Calibri" pitchFamily="34" charset="0"/>
                <a:ea typeface="Calibri" pitchFamily="34" charset="-122"/>
                <a:cs typeface="Calibri" pitchFamily="34" charset="-120"/>
              </a:rPr>
              <a:t>Automatic Document Scanner (Perspective Correction)</a:t>
            </a:r>
            <a:endParaRPr lang="en-US" sz="1300" dirty="0"/>
          </a:p>
        </p:txBody>
      </p:sp>
      <p:sp>
        <p:nvSpPr>
          <p:cNvPr id="5" name="Shape 3"/>
          <p:cNvSpPr/>
          <p:nvPr/>
        </p:nvSpPr>
        <p:spPr>
          <a:xfrm>
            <a:off x="662940" y="1188720"/>
            <a:ext cx="1188720" cy="1097280"/>
          </a:xfrm>
          <a:prstGeom prst="roundRect">
            <a:avLst>
              <a:gd name="adj" fmla="val 6667"/>
            </a:avLst>
          </a:prstGeom>
          <a:solidFill>
            <a:srgbClr val="FFFFFF"/>
          </a:solidFill>
          <a:ln/>
          <a:effectLst>
            <a:outerShdw sx="100000" sy="100000" kx="0" ky="0" algn="bl" rotWithShape="0" blurRad="152400" dist="50800" dir="8100000">
              <a:srgbClr val="000000">
                <a:alpha val="28000"/>
              </a:srgbClr>
            </a:outerShdw>
          </a:effectLst>
        </p:spPr>
      </p:sp>
      <p:sp>
        <p:nvSpPr>
          <p:cNvPr id="6" name="Shape 4"/>
          <p:cNvSpPr/>
          <p:nvPr/>
        </p:nvSpPr>
        <p:spPr>
          <a:xfrm>
            <a:off x="1074420" y="1280160"/>
            <a:ext cx="365760" cy="365760"/>
          </a:xfrm>
          <a:prstGeom prst="ellipse">
            <a:avLst/>
          </a:prstGeom>
          <a:solidFill>
            <a:srgbClr val="2C5F2D"/>
          </a:solidFill>
          <a:ln/>
        </p:spPr>
      </p:sp>
      <p:sp>
        <p:nvSpPr>
          <p:cNvPr id="7" name="Text 5"/>
          <p:cNvSpPr/>
          <p:nvPr/>
        </p:nvSpPr>
        <p:spPr>
          <a:xfrm>
            <a:off x="1074420" y="1280160"/>
            <a:ext cx="365760" cy="365760"/>
          </a:xfrm>
          <a:prstGeom prst="rect">
            <a:avLst/>
          </a:prstGeom>
          <a:noFill/>
          <a:ln/>
        </p:spPr>
        <p:txBody>
          <a:bodyPr wrap="square" rtlCol="0" anchor="ctr">
            <a:normAutofit/>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8" name="Text 6"/>
          <p:cNvSpPr/>
          <p:nvPr/>
        </p:nvSpPr>
        <p:spPr>
          <a:xfrm>
            <a:off x="708660" y="1691640"/>
            <a:ext cx="1097280" cy="228600"/>
          </a:xfrm>
          <a:prstGeom prst="rect">
            <a:avLst/>
          </a:prstGeom>
          <a:noFill/>
          <a:ln/>
        </p:spPr>
        <p:txBody>
          <a:bodyPr wrap="square" rtlCol="0" anchor="ctr">
            <a:normAutofit/>
          </a:bodyPr>
          <a:lstStyle/>
          <a:p>
            <a:pPr algn="ctr" indent="0" marL="0">
              <a:buNone/>
            </a:pPr>
            <a:r>
              <a:rPr lang="en-US" sz="1000" b="1" dirty="0">
                <a:solidFill>
                  <a:srgbClr val="1F2329"/>
                </a:solidFill>
                <a:latin typeface="Calibri" pitchFamily="34" charset="0"/>
                <a:ea typeface="Calibri" pitchFamily="34" charset="-122"/>
                <a:cs typeface="Calibri" pitchFamily="34" charset="-120"/>
              </a:rPr>
              <a:t>Grayscale</a:t>
            </a:r>
            <a:endParaRPr lang="en-US" sz="1000" dirty="0"/>
          </a:p>
        </p:txBody>
      </p:sp>
      <p:sp>
        <p:nvSpPr>
          <p:cNvPr id="9" name="Text 7"/>
          <p:cNvSpPr/>
          <p:nvPr/>
        </p:nvSpPr>
        <p:spPr>
          <a:xfrm>
            <a:off x="708660" y="1938528"/>
            <a:ext cx="1097280" cy="274320"/>
          </a:xfrm>
          <a:prstGeom prst="rect">
            <a:avLst/>
          </a:prstGeom>
          <a:noFill/>
          <a:ln/>
        </p:spPr>
        <p:txBody>
          <a:bodyPr wrap="square" rtlCol="0" anchor="ctr">
            <a:normAutofit/>
          </a:bodyPr>
          <a:lstStyle/>
          <a:p>
            <a:pPr algn="ctr" indent="0" marL="0">
              <a:buNone/>
            </a:pPr>
            <a:r>
              <a:rPr lang="en-US" sz="750" dirty="0">
                <a:solidFill>
                  <a:srgbClr val="6B7280"/>
                </a:solidFill>
                <a:latin typeface="Calibri" pitchFamily="34" charset="0"/>
                <a:ea typeface="Calibri" pitchFamily="34" charset="-122"/>
                <a:cs typeface="Calibri" pitchFamily="34" charset="-120"/>
              </a:rPr>
              <a:t>cv2.cvtColor(img, COLOR_BGR2GRAY)</a:t>
            </a:r>
            <a:endParaRPr lang="en-US" sz="750" dirty="0"/>
          </a:p>
        </p:txBody>
      </p:sp>
      <p:sp>
        <p:nvSpPr>
          <p:cNvPr id="10" name="Shape 8"/>
          <p:cNvSpPr/>
          <p:nvPr/>
        </p:nvSpPr>
        <p:spPr>
          <a:xfrm>
            <a:off x="1851660" y="1737360"/>
            <a:ext cx="137160" cy="0"/>
          </a:xfrm>
          <a:prstGeom prst="line">
            <a:avLst/>
          </a:prstGeom>
          <a:noFill/>
          <a:ln w="19050">
            <a:solidFill>
              <a:srgbClr val="97BC62"/>
            </a:solidFill>
            <a:prstDash val="solid"/>
            <a:tailEnd type="triangle"/>
          </a:ln>
        </p:spPr>
      </p:sp>
      <p:sp>
        <p:nvSpPr>
          <p:cNvPr id="11" name="Shape 9"/>
          <p:cNvSpPr/>
          <p:nvPr/>
        </p:nvSpPr>
        <p:spPr>
          <a:xfrm>
            <a:off x="1988820" y="1188720"/>
            <a:ext cx="1188720" cy="1097280"/>
          </a:xfrm>
          <a:prstGeom prst="roundRect">
            <a:avLst>
              <a:gd name="adj" fmla="val 6667"/>
            </a:avLst>
          </a:prstGeom>
          <a:solidFill>
            <a:srgbClr val="FFFFFF"/>
          </a:solidFill>
          <a:ln/>
          <a:effectLst>
            <a:outerShdw sx="100000" sy="100000" kx="0" ky="0" algn="bl" rotWithShape="0" blurRad="152400" dist="50800" dir="8100000">
              <a:srgbClr val="000000">
                <a:alpha val="28000"/>
              </a:srgbClr>
            </a:outerShdw>
          </a:effectLst>
        </p:spPr>
      </p:sp>
      <p:sp>
        <p:nvSpPr>
          <p:cNvPr id="12" name="Shape 10"/>
          <p:cNvSpPr/>
          <p:nvPr/>
        </p:nvSpPr>
        <p:spPr>
          <a:xfrm>
            <a:off x="2400300" y="1280160"/>
            <a:ext cx="365760" cy="365760"/>
          </a:xfrm>
          <a:prstGeom prst="ellipse">
            <a:avLst/>
          </a:prstGeom>
          <a:solidFill>
            <a:srgbClr val="2C5F2D"/>
          </a:solidFill>
          <a:ln/>
        </p:spPr>
      </p:sp>
      <p:sp>
        <p:nvSpPr>
          <p:cNvPr id="13" name="Text 11"/>
          <p:cNvSpPr/>
          <p:nvPr/>
        </p:nvSpPr>
        <p:spPr>
          <a:xfrm>
            <a:off x="2400300" y="1280160"/>
            <a:ext cx="365760" cy="365760"/>
          </a:xfrm>
          <a:prstGeom prst="rect">
            <a:avLst/>
          </a:prstGeom>
          <a:noFill/>
          <a:ln/>
        </p:spPr>
        <p:txBody>
          <a:bodyPr wrap="square" rtlCol="0" anchor="ctr">
            <a:normAutofit/>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4" name="Text 12"/>
          <p:cNvSpPr/>
          <p:nvPr/>
        </p:nvSpPr>
        <p:spPr>
          <a:xfrm>
            <a:off x="2034540" y="1691640"/>
            <a:ext cx="1097280" cy="228600"/>
          </a:xfrm>
          <a:prstGeom prst="rect">
            <a:avLst/>
          </a:prstGeom>
          <a:noFill/>
          <a:ln/>
        </p:spPr>
        <p:txBody>
          <a:bodyPr wrap="square" rtlCol="0" anchor="ctr">
            <a:normAutofit/>
          </a:bodyPr>
          <a:lstStyle/>
          <a:p>
            <a:pPr algn="ctr" indent="0" marL="0">
              <a:buNone/>
            </a:pPr>
            <a:r>
              <a:rPr lang="en-US" sz="1000" b="1" dirty="0">
                <a:solidFill>
                  <a:srgbClr val="1F2329"/>
                </a:solidFill>
                <a:latin typeface="Calibri" pitchFamily="34" charset="0"/>
                <a:ea typeface="Calibri" pitchFamily="34" charset="-122"/>
                <a:cs typeface="Calibri" pitchFamily="34" charset="-120"/>
              </a:rPr>
              <a:t>Edge Detect</a:t>
            </a:r>
            <a:endParaRPr lang="en-US" sz="1000" dirty="0"/>
          </a:p>
        </p:txBody>
      </p:sp>
      <p:sp>
        <p:nvSpPr>
          <p:cNvPr id="15" name="Text 13"/>
          <p:cNvSpPr/>
          <p:nvPr/>
        </p:nvSpPr>
        <p:spPr>
          <a:xfrm>
            <a:off x="2034540" y="1938528"/>
            <a:ext cx="1097280" cy="274320"/>
          </a:xfrm>
          <a:prstGeom prst="rect">
            <a:avLst/>
          </a:prstGeom>
          <a:noFill/>
          <a:ln/>
        </p:spPr>
        <p:txBody>
          <a:bodyPr wrap="square" rtlCol="0" anchor="ctr">
            <a:normAutofit/>
          </a:bodyPr>
          <a:lstStyle/>
          <a:p>
            <a:pPr algn="ctr" indent="0" marL="0">
              <a:buNone/>
            </a:pPr>
            <a:r>
              <a:rPr lang="en-US" sz="750" dirty="0">
                <a:solidFill>
                  <a:srgbClr val="6B7280"/>
                </a:solidFill>
                <a:latin typeface="Calibri" pitchFamily="34" charset="0"/>
                <a:ea typeface="Calibri" pitchFamily="34" charset="-122"/>
                <a:cs typeface="Calibri" pitchFamily="34" charset="-120"/>
              </a:rPr>
              <a:t>cv2.Canny(gray, 75, 200)</a:t>
            </a:r>
            <a:endParaRPr lang="en-US" sz="750" dirty="0"/>
          </a:p>
        </p:txBody>
      </p:sp>
      <p:sp>
        <p:nvSpPr>
          <p:cNvPr id="16" name="Shape 14"/>
          <p:cNvSpPr/>
          <p:nvPr/>
        </p:nvSpPr>
        <p:spPr>
          <a:xfrm>
            <a:off x="3177540" y="1737360"/>
            <a:ext cx="137160" cy="0"/>
          </a:xfrm>
          <a:prstGeom prst="line">
            <a:avLst/>
          </a:prstGeom>
          <a:noFill/>
          <a:ln w="19050">
            <a:solidFill>
              <a:srgbClr val="97BC62"/>
            </a:solidFill>
            <a:prstDash val="solid"/>
            <a:tailEnd type="triangle"/>
          </a:ln>
        </p:spPr>
      </p:sp>
      <p:sp>
        <p:nvSpPr>
          <p:cNvPr id="17" name="Shape 15"/>
          <p:cNvSpPr/>
          <p:nvPr/>
        </p:nvSpPr>
        <p:spPr>
          <a:xfrm>
            <a:off x="3314700" y="1188720"/>
            <a:ext cx="1188720" cy="1097280"/>
          </a:xfrm>
          <a:prstGeom prst="roundRect">
            <a:avLst>
              <a:gd name="adj" fmla="val 6667"/>
            </a:avLst>
          </a:prstGeom>
          <a:solidFill>
            <a:srgbClr val="FFFFFF"/>
          </a:solidFill>
          <a:ln/>
          <a:effectLst>
            <a:outerShdw sx="100000" sy="100000" kx="0" ky="0" algn="bl" rotWithShape="0" blurRad="152400" dist="50800" dir="8100000">
              <a:srgbClr val="000000">
                <a:alpha val="28000"/>
              </a:srgbClr>
            </a:outerShdw>
          </a:effectLst>
        </p:spPr>
      </p:sp>
      <p:sp>
        <p:nvSpPr>
          <p:cNvPr id="18" name="Shape 16"/>
          <p:cNvSpPr/>
          <p:nvPr/>
        </p:nvSpPr>
        <p:spPr>
          <a:xfrm>
            <a:off x="3726180" y="1280160"/>
            <a:ext cx="365760" cy="365760"/>
          </a:xfrm>
          <a:prstGeom prst="ellipse">
            <a:avLst/>
          </a:prstGeom>
          <a:solidFill>
            <a:srgbClr val="2C5F2D"/>
          </a:solidFill>
          <a:ln/>
        </p:spPr>
      </p:sp>
      <p:sp>
        <p:nvSpPr>
          <p:cNvPr id="19" name="Text 17"/>
          <p:cNvSpPr/>
          <p:nvPr/>
        </p:nvSpPr>
        <p:spPr>
          <a:xfrm>
            <a:off x="3726180" y="1280160"/>
            <a:ext cx="365760" cy="365760"/>
          </a:xfrm>
          <a:prstGeom prst="rect">
            <a:avLst/>
          </a:prstGeom>
          <a:noFill/>
          <a:ln/>
        </p:spPr>
        <p:txBody>
          <a:bodyPr wrap="square" rtlCol="0" anchor="ctr">
            <a:normAutofit/>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0" name="Text 18"/>
          <p:cNvSpPr/>
          <p:nvPr/>
        </p:nvSpPr>
        <p:spPr>
          <a:xfrm>
            <a:off x="3360420" y="1691640"/>
            <a:ext cx="1097280" cy="228600"/>
          </a:xfrm>
          <a:prstGeom prst="rect">
            <a:avLst/>
          </a:prstGeom>
          <a:noFill/>
          <a:ln/>
        </p:spPr>
        <p:txBody>
          <a:bodyPr wrap="square" rtlCol="0" anchor="ctr">
            <a:normAutofit/>
          </a:bodyPr>
          <a:lstStyle/>
          <a:p>
            <a:pPr algn="ctr" indent="0" marL="0">
              <a:buNone/>
            </a:pPr>
            <a:r>
              <a:rPr lang="en-US" sz="1000" b="1" dirty="0">
                <a:solidFill>
                  <a:srgbClr val="1F2329"/>
                </a:solidFill>
                <a:latin typeface="Calibri" pitchFamily="34" charset="0"/>
                <a:ea typeface="Calibri" pitchFamily="34" charset="-122"/>
                <a:cs typeface="Calibri" pitchFamily="34" charset="-120"/>
              </a:rPr>
              <a:t>Find Contours</a:t>
            </a:r>
            <a:endParaRPr lang="en-US" sz="1000" dirty="0"/>
          </a:p>
        </p:txBody>
      </p:sp>
      <p:sp>
        <p:nvSpPr>
          <p:cNvPr id="21" name="Text 19"/>
          <p:cNvSpPr/>
          <p:nvPr/>
        </p:nvSpPr>
        <p:spPr>
          <a:xfrm>
            <a:off x="3360420" y="1938528"/>
            <a:ext cx="1097280" cy="274320"/>
          </a:xfrm>
          <a:prstGeom prst="rect">
            <a:avLst/>
          </a:prstGeom>
          <a:noFill/>
          <a:ln/>
        </p:spPr>
        <p:txBody>
          <a:bodyPr wrap="square" rtlCol="0" anchor="ctr">
            <a:normAutofit/>
          </a:bodyPr>
          <a:lstStyle/>
          <a:p>
            <a:pPr algn="ctr" indent="0" marL="0">
              <a:buNone/>
            </a:pPr>
            <a:r>
              <a:rPr lang="en-US" sz="750" dirty="0">
                <a:solidFill>
                  <a:srgbClr val="6B7280"/>
                </a:solidFill>
                <a:latin typeface="Calibri" pitchFamily="34" charset="0"/>
                <a:ea typeface="Calibri" pitchFamily="34" charset="-122"/>
                <a:cs typeface="Calibri" pitchFamily="34" charset="-120"/>
              </a:rPr>
              <a:t>cv2.findContours(edged, ...)</a:t>
            </a:r>
            <a:endParaRPr lang="en-US" sz="750" dirty="0"/>
          </a:p>
        </p:txBody>
      </p:sp>
      <p:sp>
        <p:nvSpPr>
          <p:cNvPr id="22" name="Shape 20"/>
          <p:cNvSpPr/>
          <p:nvPr/>
        </p:nvSpPr>
        <p:spPr>
          <a:xfrm>
            <a:off x="4503420" y="1737360"/>
            <a:ext cx="137160" cy="0"/>
          </a:xfrm>
          <a:prstGeom prst="line">
            <a:avLst/>
          </a:prstGeom>
          <a:noFill/>
          <a:ln w="19050">
            <a:solidFill>
              <a:srgbClr val="97BC62"/>
            </a:solidFill>
            <a:prstDash val="solid"/>
            <a:tailEnd type="triangle"/>
          </a:ln>
        </p:spPr>
      </p:sp>
      <p:sp>
        <p:nvSpPr>
          <p:cNvPr id="23" name="Shape 21"/>
          <p:cNvSpPr/>
          <p:nvPr/>
        </p:nvSpPr>
        <p:spPr>
          <a:xfrm>
            <a:off x="4640580" y="1188720"/>
            <a:ext cx="1188720" cy="1097280"/>
          </a:xfrm>
          <a:prstGeom prst="roundRect">
            <a:avLst>
              <a:gd name="adj" fmla="val 6667"/>
            </a:avLst>
          </a:prstGeom>
          <a:solidFill>
            <a:srgbClr val="FFFFFF"/>
          </a:solidFill>
          <a:ln/>
          <a:effectLst>
            <a:outerShdw sx="100000" sy="100000" kx="0" ky="0" algn="bl" rotWithShape="0" blurRad="152400" dist="50800" dir="8100000">
              <a:srgbClr val="000000">
                <a:alpha val="28000"/>
              </a:srgbClr>
            </a:outerShdw>
          </a:effectLst>
        </p:spPr>
      </p:sp>
      <p:sp>
        <p:nvSpPr>
          <p:cNvPr id="24" name="Shape 22"/>
          <p:cNvSpPr/>
          <p:nvPr/>
        </p:nvSpPr>
        <p:spPr>
          <a:xfrm>
            <a:off x="5052060" y="1280160"/>
            <a:ext cx="365760" cy="365760"/>
          </a:xfrm>
          <a:prstGeom prst="ellipse">
            <a:avLst/>
          </a:prstGeom>
          <a:solidFill>
            <a:srgbClr val="2C5F2D"/>
          </a:solidFill>
          <a:ln/>
        </p:spPr>
      </p:sp>
      <p:sp>
        <p:nvSpPr>
          <p:cNvPr id="25" name="Text 23"/>
          <p:cNvSpPr/>
          <p:nvPr/>
        </p:nvSpPr>
        <p:spPr>
          <a:xfrm>
            <a:off x="5052060" y="1280160"/>
            <a:ext cx="365760" cy="365760"/>
          </a:xfrm>
          <a:prstGeom prst="rect">
            <a:avLst/>
          </a:prstGeom>
          <a:noFill/>
          <a:ln/>
        </p:spPr>
        <p:txBody>
          <a:bodyPr wrap="square" rtlCol="0" anchor="ctr">
            <a:normAutofit/>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6" name="Text 24"/>
          <p:cNvSpPr/>
          <p:nvPr/>
        </p:nvSpPr>
        <p:spPr>
          <a:xfrm>
            <a:off x="4686300" y="1691640"/>
            <a:ext cx="1097280" cy="228600"/>
          </a:xfrm>
          <a:prstGeom prst="rect">
            <a:avLst/>
          </a:prstGeom>
          <a:noFill/>
          <a:ln/>
        </p:spPr>
        <p:txBody>
          <a:bodyPr wrap="square" rtlCol="0" anchor="ctr">
            <a:normAutofit/>
          </a:bodyPr>
          <a:lstStyle/>
          <a:p>
            <a:pPr algn="ctr" indent="0" marL="0">
              <a:buNone/>
            </a:pPr>
            <a:r>
              <a:rPr lang="en-US" sz="1000" b="1" dirty="0">
                <a:solidFill>
                  <a:srgbClr val="1F2329"/>
                </a:solidFill>
                <a:latin typeface="Calibri" pitchFamily="34" charset="0"/>
                <a:ea typeface="Calibri" pitchFamily="34" charset="-122"/>
                <a:cs typeface="Calibri" pitchFamily="34" charset="-120"/>
              </a:rPr>
              <a:t>Approx Poly</a:t>
            </a:r>
            <a:endParaRPr lang="en-US" sz="1000" dirty="0"/>
          </a:p>
        </p:txBody>
      </p:sp>
      <p:sp>
        <p:nvSpPr>
          <p:cNvPr id="27" name="Text 25"/>
          <p:cNvSpPr/>
          <p:nvPr/>
        </p:nvSpPr>
        <p:spPr>
          <a:xfrm>
            <a:off x="4686300" y="1938528"/>
            <a:ext cx="1097280" cy="274320"/>
          </a:xfrm>
          <a:prstGeom prst="rect">
            <a:avLst/>
          </a:prstGeom>
          <a:noFill/>
          <a:ln/>
        </p:spPr>
        <p:txBody>
          <a:bodyPr wrap="square" rtlCol="0" anchor="ctr">
            <a:normAutofit/>
          </a:bodyPr>
          <a:lstStyle/>
          <a:p>
            <a:pPr algn="ctr" indent="0" marL="0">
              <a:buNone/>
            </a:pPr>
            <a:r>
              <a:rPr lang="en-US" sz="750" dirty="0">
                <a:solidFill>
                  <a:srgbClr val="6B7280"/>
                </a:solidFill>
                <a:latin typeface="Calibri" pitchFamily="34" charset="0"/>
                <a:ea typeface="Calibri" pitchFamily="34" charset="-122"/>
                <a:cs typeface="Calibri" pitchFamily="34" charset="-120"/>
              </a:rPr>
              <a:t>cv2.approxPolyDP(contour, ...)</a:t>
            </a:r>
            <a:endParaRPr lang="en-US" sz="750" dirty="0"/>
          </a:p>
        </p:txBody>
      </p:sp>
      <p:sp>
        <p:nvSpPr>
          <p:cNvPr id="28" name="Shape 26"/>
          <p:cNvSpPr/>
          <p:nvPr/>
        </p:nvSpPr>
        <p:spPr>
          <a:xfrm>
            <a:off x="5829300" y="1737360"/>
            <a:ext cx="137160" cy="0"/>
          </a:xfrm>
          <a:prstGeom prst="line">
            <a:avLst/>
          </a:prstGeom>
          <a:noFill/>
          <a:ln w="19050">
            <a:solidFill>
              <a:srgbClr val="97BC62"/>
            </a:solidFill>
            <a:prstDash val="solid"/>
            <a:tailEnd type="triangle"/>
          </a:ln>
        </p:spPr>
      </p:sp>
      <p:sp>
        <p:nvSpPr>
          <p:cNvPr id="29" name="Shape 27"/>
          <p:cNvSpPr/>
          <p:nvPr/>
        </p:nvSpPr>
        <p:spPr>
          <a:xfrm>
            <a:off x="5966460" y="1188720"/>
            <a:ext cx="1188720" cy="1097280"/>
          </a:xfrm>
          <a:prstGeom prst="roundRect">
            <a:avLst>
              <a:gd name="adj" fmla="val 6667"/>
            </a:avLst>
          </a:prstGeom>
          <a:solidFill>
            <a:srgbClr val="FFFFFF"/>
          </a:solidFill>
          <a:ln/>
          <a:effectLst>
            <a:outerShdw sx="100000" sy="100000" kx="0" ky="0" algn="bl" rotWithShape="0" blurRad="152400" dist="50800" dir="8100000">
              <a:srgbClr val="000000">
                <a:alpha val="28000"/>
              </a:srgbClr>
            </a:outerShdw>
          </a:effectLst>
        </p:spPr>
      </p:sp>
      <p:sp>
        <p:nvSpPr>
          <p:cNvPr id="30" name="Shape 28"/>
          <p:cNvSpPr/>
          <p:nvPr/>
        </p:nvSpPr>
        <p:spPr>
          <a:xfrm>
            <a:off x="6377940" y="1280160"/>
            <a:ext cx="365760" cy="365760"/>
          </a:xfrm>
          <a:prstGeom prst="ellipse">
            <a:avLst/>
          </a:prstGeom>
          <a:solidFill>
            <a:srgbClr val="2C5F2D"/>
          </a:solidFill>
          <a:ln/>
        </p:spPr>
      </p:sp>
      <p:sp>
        <p:nvSpPr>
          <p:cNvPr id="31" name="Text 29"/>
          <p:cNvSpPr/>
          <p:nvPr/>
        </p:nvSpPr>
        <p:spPr>
          <a:xfrm>
            <a:off x="6377940" y="1280160"/>
            <a:ext cx="365760" cy="365760"/>
          </a:xfrm>
          <a:prstGeom prst="rect">
            <a:avLst/>
          </a:prstGeom>
          <a:noFill/>
          <a:ln/>
        </p:spPr>
        <p:txBody>
          <a:bodyPr wrap="square" rtlCol="0" anchor="ctr">
            <a:normAutofit/>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32" name="Text 30"/>
          <p:cNvSpPr/>
          <p:nvPr/>
        </p:nvSpPr>
        <p:spPr>
          <a:xfrm>
            <a:off x="6012180" y="1691640"/>
            <a:ext cx="1097280" cy="228600"/>
          </a:xfrm>
          <a:prstGeom prst="rect">
            <a:avLst/>
          </a:prstGeom>
          <a:noFill/>
          <a:ln/>
        </p:spPr>
        <p:txBody>
          <a:bodyPr wrap="square" rtlCol="0" anchor="ctr">
            <a:normAutofit/>
          </a:bodyPr>
          <a:lstStyle/>
          <a:p>
            <a:pPr algn="ctr" indent="0" marL="0">
              <a:buNone/>
            </a:pPr>
            <a:r>
              <a:rPr lang="en-US" sz="1000" b="1" dirty="0">
                <a:solidFill>
                  <a:srgbClr val="1F2329"/>
                </a:solidFill>
                <a:latin typeface="Calibri" pitchFamily="34" charset="0"/>
                <a:ea typeface="Calibri" pitchFamily="34" charset="-122"/>
                <a:cs typeface="Calibri" pitchFamily="34" charset="-120"/>
              </a:rPr>
              <a:t>Sort Corners</a:t>
            </a:r>
            <a:endParaRPr lang="en-US" sz="1000" dirty="0"/>
          </a:p>
        </p:txBody>
      </p:sp>
      <p:sp>
        <p:nvSpPr>
          <p:cNvPr id="33" name="Text 31"/>
          <p:cNvSpPr/>
          <p:nvPr/>
        </p:nvSpPr>
        <p:spPr>
          <a:xfrm>
            <a:off x="6012180" y="1938528"/>
            <a:ext cx="1097280" cy="274320"/>
          </a:xfrm>
          <a:prstGeom prst="rect">
            <a:avLst/>
          </a:prstGeom>
          <a:noFill/>
          <a:ln/>
        </p:spPr>
        <p:txBody>
          <a:bodyPr wrap="square" rtlCol="0" anchor="ctr">
            <a:normAutofit/>
          </a:bodyPr>
          <a:lstStyle/>
          <a:p>
            <a:pPr algn="ctr" indent="0" marL="0">
              <a:buNone/>
            </a:pPr>
            <a:r>
              <a:rPr lang="en-US" sz="750" dirty="0">
                <a:solidFill>
                  <a:srgbClr val="6B7280"/>
                </a:solidFill>
                <a:latin typeface="Calibri" pitchFamily="34" charset="0"/>
                <a:ea typeface="Calibri" pitchFamily="34" charset="-122"/>
                <a:cs typeface="Calibri" pitchFamily="34" charset="-120"/>
              </a:rPr>
              <a:t>order_points(pts) -&gt; TL TR BR BL</a:t>
            </a:r>
            <a:endParaRPr lang="en-US" sz="750" dirty="0"/>
          </a:p>
        </p:txBody>
      </p:sp>
      <p:sp>
        <p:nvSpPr>
          <p:cNvPr id="34" name="Shape 32"/>
          <p:cNvSpPr/>
          <p:nvPr/>
        </p:nvSpPr>
        <p:spPr>
          <a:xfrm>
            <a:off x="7155180" y="1737360"/>
            <a:ext cx="137160" cy="0"/>
          </a:xfrm>
          <a:prstGeom prst="line">
            <a:avLst/>
          </a:prstGeom>
          <a:noFill/>
          <a:ln w="19050">
            <a:solidFill>
              <a:srgbClr val="97BC62"/>
            </a:solidFill>
            <a:prstDash val="solid"/>
            <a:tailEnd type="triangle"/>
          </a:ln>
        </p:spPr>
      </p:sp>
      <p:sp>
        <p:nvSpPr>
          <p:cNvPr id="35" name="Shape 33"/>
          <p:cNvSpPr/>
          <p:nvPr/>
        </p:nvSpPr>
        <p:spPr>
          <a:xfrm>
            <a:off x="7292340" y="1188720"/>
            <a:ext cx="1188720" cy="1097280"/>
          </a:xfrm>
          <a:prstGeom prst="roundRect">
            <a:avLst>
              <a:gd name="adj" fmla="val 6667"/>
            </a:avLst>
          </a:prstGeom>
          <a:solidFill>
            <a:srgbClr val="FFFFFF"/>
          </a:solidFill>
          <a:ln/>
          <a:effectLst>
            <a:outerShdw sx="100000" sy="100000" kx="0" ky="0" algn="bl" rotWithShape="0" blurRad="152400" dist="50800" dir="8100000">
              <a:srgbClr val="000000">
                <a:alpha val="28000"/>
              </a:srgbClr>
            </a:outerShdw>
          </a:effectLst>
        </p:spPr>
      </p:sp>
      <p:sp>
        <p:nvSpPr>
          <p:cNvPr id="36" name="Shape 34"/>
          <p:cNvSpPr/>
          <p:nvPr/>
        </p:nvSpPr>
        <p:spPr>
          <a:xfrm>
            <a:off x="7703820" y="1280160"/>
            <a:ext cx="365760" cy="365760"/>
          </a:xfrm>
          <a:prstGeom prst="ellipse">
            <a:avLst/>
          </a:prstGeom>
          <a:solidFill>
            <a:srgbClr val="2C5F2D"/>
          </a:solidFill>
          <a:ln/>
        </p:spPr>
      </p:sp>
      <p:sp>
        <p:nvSpPr>
          <p:cNvPr id="37" name="Text 35"/>
          <p:cNvSpPr/>
          <p:nvPr/>
        </p:nvSpPr>
        <p:spPr>
          <a:xfrm>
            <a:off x="7703820" y="1280160"/>
            <a:ext cx="365760" cy="365760"/>
          </a:xfrm>
          <a:prstGeom prst="rect">
            <a:avLst/>
          </a:prstGeom>
          <a:noFill/>
          <a:ln/>
        </p:spPr>
        <p:txBody>
          <a:bodyPr wrap="square" rtlCol="0" anchor="ctr">
            <a:normAutofit/>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6</a:t>
            </a:r>
            <a:endParaRPr lang="en-US" sz="1400" dirty="0"/>
          </a:p>
        </p:txBody>
      </p:sp>
      <p:sp>
        <p:nvSpPr>
          <p:cNvPr id="38" name="Text 36"/>
          <p:cNvSpPr/>
          <p:nvPr/>
        </p:nvSpPr>
        <p:spPr>
          <a:xfrm>
            <a:off x="7338060" y="1691640"/>
            <a:ext cx="1097280" cy="228600"/>
          </a:xfrm>
          <a:prstGeom prst="rect">
            <a:avLst/>
          </a:prstGeom>
          <a:noFill/>
          <a:ln/>
        </p:spPr>
        <p:txBody>
          <a:bodyPr wrap="square" rtlCol="0" anchor="ctr">
            <a:normAutofit/>
          </a:bodyPr>
          <a:lstStyle/>
          <a:p>
            <a:pPr algn="ctr" indent="0" marL="0">
              <a:buNone/>
            </a:pPr>
            <a:r>
              <a:rPr lang="en-US" sz="1000" b="1" dirty="0">
                <a:solidFill>
                  <a:srgbClr val="1F2329"/>
                </a:solidFill>
                <a:latin typeface="Calibri" pitchFamily="34" charset="0"/>
                <a:ea typeface="Calibri" pitchFamily="34" charset="-122"/>
                <a:cs typeface="Calibri" pitchFamily="34" charset="-120"/>
              </a:rPr>
              <a:t>Warp</a:t>
            </a:r>
            <a:endParaRPr lang="en-US" sz="1000" dirty="0"/>
          </a:p>
        </p:txBody>
      </p:sp>
      <p:sp>
        <p:nvSpPr>
          <p:cNvPr id="39" name="Text 37"/>
          <p:cNvSpPr/>
          <p:nvPr/>
        </p:nvSpPr>
        <p:spPr>
          <a:xfrm>
            <a:off x="7338060" y="1938528"/>
            <a:ext cx="1097280" cy="274320"/>
          </a:xfrm>
          <a:prstGeom prst="rect">
            <a:avLst/>
          </a:prstGeom>
          <a:noFill/>
          <a:ln/>
        </p:spPr>
        <p:txBody>
          <a:bodyPr wrap="square" rtlCol="0" anchor="ctr">
            <a:normAutofit/>
          </a:bodyPr>
          <a:lstStyle/>
          <a:p>
            <a:pPr algn="ctr" indent="0" marL="0">
              <a:buNone/>
            </a:pPr>
            <a:r>
              <a:rPr lang="en-US" sz="750" dirty="0">
                <a:solidFill>
                  <a:srgbClr val="6B7280"/>
                </a:solidFill>
                <a:latin typeface="Calibri" pitchFamily="34" charset="0"/>
                <a:ea typeface="Calibri" pitchFamily="34" charset="-122"/>
                <a:cs typeface="Calibri" pitchFamily="34" charset="-120"/>
              </a:rPr>
              <a:t>cv2.warpPerspective(img, M, size)</a:t>
            </a:r>
            <a:endParaRPr lang="en-US" sz="750" dirty="0"/>
          </a:p>
        </p:txBody>
      </p:sp>
      <p:sp>
        <p:nvSpPr>
          <p:cNvPr id="40" name="Shape 38"/>
          <p:cNvSpPr/>
          <p:nvPr/>
        </p:nvSpPr>
        <p:spPr>
          <a:xfrm>
            <a:off x="457200" y="2560320"/>
            <a:ext cx="8229600" cy="2194560"/>
          </a:xfrm>
          <a:prstGeom prst="roundRect">
            <a:avLst>
              <a:gd name="adj" fmla="val 4167"/>
            </a:avLst>
          </a:prstGeom>
          <a:solidFill>
            <a:srgbClr val="E8F5E2"/>
          </a:solidFill>
          <a:ln/>
        </p:spPr>
      </p:sp>
      <p:sp>
        <p:nvSpPr>
          <p:cNvPr id="41" name="Text 39"/>
          <p:cNvSpPr/>
          <p:nvPr/>
        </p:nvSpPr>
        <p:spPr>
          <a:xfrm>
            <a:off x="685800" y="2697480"/>
            <a:ext cx="2743200" cy="320040"/>
          </a:xfrm>
          <a:prstGeom prst="rect">
            <a:avLst/>
          </a:prstGeom>
          <a:noFill/>
          <a:ln/>
        </p:spPr>
        <p:txBody>
          <a:bodyPr wrap="square" rtlCol="0" anchor="ctr">
            <a:normAutofit/>
          </a:bodyPr>
          <a:lstStyle/>
          <a:p>
            <a:pPr indent="0" marL="0">
              <a:buNone/>
            </a:pPr>
            <a:r>
              <a:rPr lang="en-US" sz="1300" b="1" dirty="0">
                <a:solidFill>
                  <a:srgbClr val="2C5F2D"/>
                </a:solidFill>
                <a:latin typeface="Georgia" pitchFamily="34" charset="0"/>
                <a:ea typeface="Georgia" pitchFamily="34" charset="-122"/>
                <a:cs typeface="Georgia" pitchFamily="34" charset="-120"/>
              </a:rPr>
              <a:t>How It Works</a:t>
            </a:r>
            <a:endParaRPr lang="en-US" sz="1300" dirty="0"/>
          </a:p>
        </p:txBody>
      </p:sp>
      <p:sp>
        <p:nvSpPr>
          <p:cNvPr id="42" name="Text 40"/>
          <p:cNvSpPr/>
          <p:nvPr/>
        </p:nvSpPr>
        <p:spPr>
          <a:xfrm>
            <a:off x="685800" y="3063240"/>
            <a:ext cx="7772400" cy="1554480"/>
          </a:xfrm>
          <a:prstGeom prst="rect">
            <a:avLst/>
          </a:prstGeom>
          <a:noFill/>
          <a:ln/>
        </p:spPr>
        <p:txBody>
          <a:bodyPr wrap="square" rtlCol="0" anchor="ctr">
            <a:normAutofit/>
          </a:bodyPr>
          <a:lstStyle/>
          <a:p>
            <a:pPr marL="342900" indent="-342900">
              <a:buSzPct val="100000"/>
              <a:buChar char="•"/>
            </a:pPr>
            <a:r>
              <a:rPr lang="en-US" sz="1100" dirty="0">
                <a:solidFill>
                  <a:srgbClr val="1F2329"/>
                </a:solidFill>
                <a:latin typeface="Calibri" pitchFamily="34" charset="0"/>
                <a:ea typeface="Calibri" pitchFamily="34" charset="-122"/>
                <a:cs typeface="Calibri" pitchFamily="34" charset="-120"/>
              </a:rPr>
              <a:t>1. Convert to grayscale and detect edges with Canny</a:t>
            </a:r>
            <a:endParaRPr lang="en-US" sz="1100" dirty="0"/>
          </a:p>
          <a:p>
            <a:pPr marL="342900" indent="-342900">
              <a:buSzPct val="100000"/>
              <a:buChar char="•"/>
            </a:pPr>
            <a:r>
              <a:rPr lang="en-US" sz="1100" dirty="0">
                <a:solidFill>
                  <a:srgbClr val="1F2329"/>
                </a:solidFill>
                <a:latin typeface="Calibri" pitchFamily="34" charset="0"/>
                <a:ea typeface="Calibri" pitchFamily="34" charset="-122"/>
                <a:cs typeface="Calibri" pitchFamily="34" charset="-120"/>
              </a:rPr>
              <a:t>2. Find the largest 4-point contour (the document)</a:t>
            </a:r>
            <a:endParaRPr lang="en-US" sz="1100" dirty="0"/>
          </a:p>
          <a:p>
            <a:pPr marL="342900" indent="-342900">
              <a:buSzPct val="100000"/>
              <a:buChar char="•"/>
            </a:pPr>
            <a:r>
              <a:rPr lang="en-US" sz="1100" dirty="0">
                <a:solidFill>
                  <a:srgbClr val="1F2329"/>
                </a:solidFill>
                <a:latin typeface="Calibri" pitchFamily="34" charset="0"/>
                <a:ea typeface="Calibri" pitchFamily="34" charset="-122"/>
                <a:cs typeface="Calibri" pitchFamily="34" charset="-120"/>
              </a:rPr>
              <a:t>3. Order corners: top-left, top-right, bottom-right, bottom-left</a:t>
            </a:r>
            <a:endParaRPr lang="en-US" sz="1100" dirty="0"/>
          </a:p>
          <a:p>
            <a:pPr marL="342900" indent="-342900">
              <a:buSzPct val="100000"/>
              <a:buChar char="•"/>
            </a:pPr>
            <a:r>
              <a:rPr lang="en-US" sz="1100" dirty="0">
                <a:solidFill>
                  <a:srgbClr val="1F2329"/>
                </a:solidFill>
                <a:latin typeface="Calibri" pitchFamily="34" charset="0"/>
                <a:ea typeface="Calibri" pitchFamily="34" charset="-122"/>
                <a:cs typeface="Calibri" pitchFamily="34" charset="-120"/>
              </a:rPr>
              <a:t>4. Compute new dimensions from corner distances</a:t>
            </a:r>
            <a:endParaRPr lang="en-US" sz="1100" dirty="0"/>
          </a:p>
          <a:p>
            <a:pPr marL="342900" indent="-342900">
              <a:buSzPct val="100000"/>
              <a:buChar char="•"/>
            </a:pPr>
            <a:r>
              <a:rPr lang="en-US" sz="1100" dirty="0">
                <a:solidFill>
                  <a:srgbClr val="1F2329"/>
                </a:solidFill>
                <a:latin typeface="Calibri" pitchFamily="34" charset="0"/>
                <a:ea typeface="Calibri" pitchFamily="34" charset="-122"/>
                <a:cs typeface="Calibri" pitchFamily="34" charset="-120"/>
              </a:rPr>
              <a:t>5. Apply perspective transform to get a flat, rectangular scan</a:t>
            </a:r>
            <a:endParaRPr lang="en-US" sz="1100" dirty="0"/>
          </a:p>
        </p:txBody>
      </p:sp>
      <p:sp>
        <p:nvSpPr>
          <p:cNvPr id="43"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1F2329"/>
                </a:solidFill>
                <a:latin typeface="Georgia" pitchFamily="34" charset="0"/>
                <a:ea typeface="Georgia" pitchFamily="34" charset="-122"/>
                <a:cs typeface="Georgia" pitchFamily="34" charset="-120"/>
              </a:rPr>
              <a:t>Thinking Exercises</a:t>
            </a:r>
            <a:endParaRPr lang="en-US" sz="2800" dirty="0"/>
          </a:p>
        </p:txBody>
      </p:sp>
      <p:sp>
        <p:nvSpPr>
          <p:cNvPr id="4"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280"/>
                </a:solidFill>
                <a:latin typeface="Calibri" pitchFamily="34" charset="0"/>
                <a:ea typeface="Calibri" pitchFamily="34" charset="-122"/>
                <a:cs typeface="Calibri" pitchFamily="34" charset="-120"/>
              </a:rPr>
              <a:t>Test your understanding</a:t>
            </a:r>
            <a:endParaRPr lang="en-US" sz="1300" dirty="0"/>
          </a:p>
        </p:txBody>
      </p:sp>
      <p:sp>
        <p:nvSpPr>
          <p:cNvPr id="5" name="Shape 3"/>
          <p:cNvSpPr/>
          <p:nvPr/>
        </p:nvSpPr>
        <p:spPr>
          <a:xfrm>
            <a:off x="457200" y="1188720"/>
            <a:ext cx="4000500" cy="1623060"/>
          </a:xfrm>
          <a:prstGeom prst="roundRect">
            <a:avLst>
              <a:gd name="adj" fmla="val 5634"/>
            </a:avLst>
          </a:prstGeom>
          <a:solidFill>
            <a:srgbClr val="FFFFFF"/>
          </a:solidFill>
          <a:ln/>
          <a:effectLst>
            <a:outerShdw sx="100000" sy="100000" kx="0" ky="0" algn="bl" rotWithShape="0" blurRad="152400" dist="50800" dir="8100000">
              <a:srgbClr val="000000">
                <a:alpha val="28000"/>
              </a:srgbClr>
            </a:outerShdw>
          </a:effectLst>
        </p:spPr>
      </p:sp>
      <p:sp>
        <p:nvSpPr>
          <p:cNvPr id="6" name="Shape 4"/>
          <p:cNvSpPr/>
          <p:nvPr/>
        </p:nvSpPr>
        <p:spPr>
          <a:xfrm>
            <a:off x="457200" y="1188720"/>
            <a:ext cx="4000500" cy="54864"/>
          </a:xfrm>
          <a:prstGeom prst="rect">
            <a:avLst/>
          </a:prstGeom>
          <a:solidFill>
            <a:srgbClr val="97BC62"/>
          </a:solidFill>
          <a:ln/>
        </p:spPr>
      </p:sp>
      <p:sp>
        <p:nvSpPr>
          <p:cNvPr id="7" name="Shape 5"/>
          <p:cNvSpPr/>
          <p:nvPr/>
        </p:nvSpPr>
        <p:spPr>
          <a:xfrm>
            <a:off x="685800" y="1371600"/>
            <a:ext cx="914400" cy="256032"/>
          </a:xfrm>
          <a:prstGeom prst="roundRect">
            <a:avLst>
              <a:gd name="adj" fmla="val 17857"/>
            </a:avLst>
          </a:prstGeom>
          <a:solidFill>
            <a:srgbClr val="97BC62"/>
          </a:solidFill>
          <a:ln/>
        </p:spPr>
      </p:sp>
      <p:sp>
        <p:nvSpPr>
          <p:cNvPr id="8" name="Text 6"/>
          <p:cNvSpPr/>
          <p:nvPr/>
        </p:nvSpPr>
        <p:spPr>
          <a:xfrm>
            <a:off x="685800" y="1371600"/>
            <a:ext cx="914400" cy="256032"/>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Basic</a:t>
            </a:r>
            <a:endParaRPr lang="en-US" sz="900" dirty="0"/>
          </a:p>
        </p:txBody>
      </p:sp>
      <p:sp>
        <p:nvSpPr>
          <p:cNvPr id="9" name="Text 7"/>
          <p:cNvSpPr/>
          <p:nvPr/>
        </p:nvSpPr>
        <p:spPr>
          <a:xfrm>
            <a:off x="685800" y="1737360"/>
            <a:ext cx="3543300" cy="320040"/>
          </a:xfrm>
          <a:prstGeom prst="rect">
            <a:avLst/>
          </a:prstGeom>
          <a:noFill/>
          <a:ln/>
        </p:spPr>
        <p:txBody>
          <a:bodyPr wrap="square" rtlCol="0" anchor="ctr">
            <a:normAutofit/>
          </a:bodyPr>
          <a:lstStyle/>
          <a:p>
            <a:pPr indent="0" marL="0">
              <a:buNone/>
            </a:pPr>
            <a:r>
              <a:rPr lang="en-US" sz="1200" b="1" dirty="0">
                <a:solidFill>
                  <a:srgbClr val="1F2329"/>
                </a:solidFill>
                <a:latin typeface="Georgia" pitchFamily="34" charset="0"/>
                <a:ea typeface="Georgia" pitchFamily="34" charset="-122"/>
                <a:cs typeface="Georgia" pitchFamily="34" charset="-120"/>
              </a:rPr>
              <a:t>Q1: warpAffine vs warpPerspective</a:t>
            </a:r>
            <a:endParaRPr lang="en-US" sz="1200" dirty="0"/>
          </a:p>
        </p:txBody>
      </p:sp>
      <p:sp>
        <p:nvSpPr>
          <p:cNvPr id="10" name="Text 8"/>
          <p:cNvSpPr/>
          <p:nvPr/>
        </p:nvSpPr>
        <p:spPr>
          <a:xfrm>
            <a:off x="685800" y="2103120"/>
            <a:ext cx="3543300" cy="64008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What is the essential difference? When should you use each?</a:t>
            </a:r>
            <a:endParaRPr lang="en-US" sz="1050" dirty="0"/>
          </a:p>
        </p:txBody>
      </p:sp>
      <p:sp>
        <p:nvSpPr>
          <p:cNvPr id="11" name="Shape 9"/>
          <p:cNvSpPr/>
          <p:nvPr/>
        </p:nvSpPr>
        <p:spPr>
          <a:xfrm>
            <a:off x="4686300" y="1188720"/>
            <a:ext cx="4000500" cy="1623060"/>
          </a:xfrm>
          <a:prstGeom prst="roundRect">
            <a:avLst>
              <a:gd name="adj" fmla="val 5634"/>
            </a:avLst>
          </a:prstGeom>
          <a:solidFill>
            <a:srgbClr val="FFFFFF"/>
          </a:solidFill>
          <a:ln/>
          <a:effectLst>
            <a:outerShdw sx="100000" sy="100000" kx="0" ky="0" algn="bl" rotWithShape="0" blurRad="152400" dist="50800" dir="8100000">
              <a:srgbClr val="000000">
                <a:alpha val="28000"/>
              </a:srgbClr>
            </a:outerShdw>
          </a:effectLst>
        </p:spPr>
      </p:sp>
      <p:sp>
        <p:nvSpPr>
          <p:cNvPr id="12" name="Shape 10"/>
          <p:cNvSpPr/>
          <p:nvPr/>
        </p:nvSpPr>
        <p:spPr>
          <a:xfrm>
            <a:off x="4686300" y="1188720"/>
            <a:ext cx="4000500" cy="54864"/>
          </a:xfrm>
          <a:prstGeom prst="rect">
            <a:avLst/>
          </a:prstGeom>
          <a:solidFill>
            <a:srgbClr val="D4A843"/>
          </a:solidFill>
          <a:ln/>
        </p:spPr>
      </p:sp>
      <p:sp>
        <p:nvSpPr>
          <p:cNvPr id="13" name="Shape 11"/>
          <p:cNvSpPr/>
          <p:nvPr/>
        </p:nvSpPr>
        <p:spPr>
          <a:xfrm>
            <a:off x="4914900" y="1371600"/>
            <a:ext cx="914400" cy="256032"/>
          </a:xfrm>
          <a:prstGeom prst="roundRect">
            <a:avLst>
              <a:gd name="adj" fmla="val 17857"/>
            </a:avLst>
          </a:prstGeom>
          <a:solidFill>
            <a:srgbClr val="D4A843"/>
          </a:solidFill>
          <a:ln/>
        </p:spPr>
      </p:sp>
      <p:sp>
        <p:nvSpPr>
          <p:cNvPr id="14" name="Text 12"/>
          <p:cNvSpPr/>
          <p:nvPr/>
        </p:nvSpPr>
        <p:spPr>
          <a:xfrm>
            <a:off x="4914900" y="1371600"/>
            <a:ext cx="914400" cy="256032"/>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Intermediate</a:t>
            </a:r>
            <a:endParaRPr lang="en-US" sz="900" dirty="0"/>
          </a:p>
        </p:txBody>
      </p:sp>
      <p:sp>
        <p:nvSpPr>
          <p:cNvPr id="15" name="Text 13"/>
          <p:cNvSpPr/>
          <p:nvPr/>
        </p:nvSpPr>
        <p:spPr>
          <a:xfrm>
            <a:off x="4914900" y="1737360"/>
            <a:ext cx="3543300" cy="320040"/>
          </a:xfrm>
          <a:prstGeom prst="rect">
            <a:avLst/>
          </a:prstGeom>
          <a:noFill/>
          <a:ln/>
        </p:spPr>
        <p:txBody>
          <a:bodyPr wrap="square" rtlCol="0" anchor="ctr">
            <a:normAutofit/>
          </a:bodyPr>
          <a:lstStyle/>
          <a:p>
            <a:pPr indent="0" marL="0">
              <a:buNone/>
            </a:pPr>
            <a:r>
              <a:rPr lang="en-US" sz="1200" b="1" dirty="0">
                <a:solidFill>
                  <a:srgbClr val="1F2329"/>
                </a:solidFill>
                <a:latin typeface="Georgia" pitchFamily="34" charset="0"/>
                <a:ea typeface="Georgia" pitchFamily="34" charset="-122"/>
                <a:cs typeface="Georgia" pitchFamily="34" charset="-120"/>
              </a:rPr>
              <a:t>Q2: Interpolation Methods</a:t>
            </a:r>
            <a:endParaRPr lang="en-US" sz="1200" dirty="0"/>
          </a:p>
        </p:txBody>
      </p:sp>
      <p:sp>
        <p:nvSpPr>
          <p:cNvPr id="16" name="Text 14"/>
          <p:cNvSpPr/>
          <p:nvPr/>
        </p:nvSpPr>
        <p:spPr>
          <a:xfrm>
            <a:off x="4914900" y="2103120"/>
            <a:ext cx="3543300" cy="64008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Explain bilinear vs bicubic interpolation. Why use INTER_AREA for shrinking?</a:t>
            </a:r>
            <a:endParaRPr lang="en-US" sz="1050" dirty="0"/>
          </a:p>
        </p:txBody>
      </p:sp>
      <p:sp>
        <p:nvSpPr>
          <p:cNvPr id="17" name="Shape 15"/>
          <p:cNvSpPr/>
          <p:nvPr/>
        </p:nvSpPr>
        <p:spPr>
          <a:xfrm>
            <a:off x="457200" y="3040380"/>
            <a:ext cx="4000500" cy="1623060"/>
          </a:xfrm>
          <a:prstGeom prst="roundRect">
            <a:avLst>
              <a:gd name="adj" fmla="val 5634"/>
            </a:avLst>
          </a:prstGeom>
          <a:solidFill>
            <a:srgbClr val="FFFFFF"/>
          </a:solidFill>
          <a:ln/>
          <a:effectLst>
            <a:outerShdw sx="100000" sy="100000" kx="0" ky="0" algn="bl" rotWithShape="0" blurRad="152400" dist="50800" dir="8100000">
              <a:srgbClr val="000000">
                <a:alpha val="28000"/>
              </a:srgbClr>
            </a:outerShdw>
          </a:effectLst>
        </p:spPr>
      </p:sp>
      <p:sp>
        <p:nvSpPr>
          <p:cNvPr id="18" name="Shape 16"/>
          <p:cNvSpPr/>
          <p:nvPr/>
        </p:nvSpPr>
        <p:spPr>
          <a:xfrm>
            <a:off x="457200" y="3040380"/>
            <a:ext cx="4000500" cy="54864"/>
          </a:xfrm>
          <a:prstGeom prst="rect">
            <a:avLst/>
          </a:prstGeom>
          <a:solidFill>
            <a:srgbClr val="2C5F2D"/>
          </a:solidFill>
          <a:ln/>
        </p:spPr>
      </p:sp>
      <p:sp>
        <p:nvSpPr>
          <p:cNvPr id="19" name="Shape 17"/>
          <p:cNvSpPr/>
          <p:nvPr/>
        </p:nvSpPr>
        <p:spPr>
          <a:xfrm>
            <a:off x="685800" y="3223260"/>
            <a:ext cx="914400" cy="256032"/>
          </a:xfrm>
          <a:prstGeom prst="roundRect">
            <a:avLst>
              <a:gd name="adj" fmla="val 17857"/>
            </a:avLst>
          </a:prstGeom>
          <a:solidFill>
            <a:srgbClr val="2C5F2D"/>
          </a:solidFill>
          <a:ln/>
        </p:spPr>
      </p:sp>
      <p:sp>
        <p:nvSpPr>
          <p:cNvPr id="20" name="Text 18"/>
          <p:cNvSpPr/>
          <p:nvPr/>
        </p:nvSpPr>
        <p:spPr>
          <a:xfrm>
            <a:off x="685800" y="3223260"/>
            <a:ext cx="914400" cy="256032"/>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Analytical</a:t>
            </a:r>
            <a:endParaRPr lang="en-US" sz="900" dirty="0"/>
          </a:p>
        </p:txBody>
      </p:sp>
      <p:sp>
        <p:nvSpPr>
          <p:cNvPr id="21" name="Text 19"/>
          <p:cNvSpPr/>
          <p:nvPr/>
        </p:nvSpPr>
        <p:spPr>
          <a:xfrm>
            <a:off x="685800" y="3589020"/>
            <a:ext cx="3543300" cy="320040"/>
          </a:xfrm>
          <a:prstGeom prst="rect">
            <a:avLst/>
          </a:prstGeom>
          <a:noFill/>
          <a:ln/>
        </p:spPr>
        <p:txBody>
          <a:bodyPr wrap="square" rtlCol="0" anchor="ctr">
            <a:normAutofit/>
          </a:bodyPr>
          <a:lstStyle/>
          <a:p>
            <a:pPr indent="0" marL="0">
              <a:buNone/>
            </a:pPr>
            <a:r>
              <a:rPr lang="en-US" sz="1200" b="1" dirty="0">
                <a:solidFill>
                  <a:srgbClr val="1F2329"/>
                </a:solidFill>
                <a:latin typeface="Georgia" pitchFamily="34" charset="0"/>
                <a:ea typeface="Georgia" pitchFamily="34" charset="-122"/>
                <a:cs typeface="Georgia" pitchFamily="34" charset="-120"/>
              </a:rPr>
              <a:t>Q3: Matrix Dimensions</a:t>
            </a:r>
            <a:endParaRPr lang="en-US" sz="1200" dirty="0"/>
          </a:p>
        </p:txBody>
      </p:sp>
      <p:sp>
        <p:nvSpPr>
          <p:cNvPr id="22" name="Text 20"/>
          <p:cNvSpPr/>
          <p:nvPr/>
        </p:nvSpPr>
        <p:spPr>
          <a:xfrm>
            <a:off x="685800" y="3954780"/>
            <a:ext cx="3543300" cy="64008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Why is affine 2x3 but perspective 3x3? Explain from a mathematical perspective.</a:t>
            </a:r>
            <a:endParaRPr lang="en-US" sz="1050" dirty="0"/>
          </a:p>
        </p:txBody>
      </p:sp>
      <p:sp>
        <p:nvSpPr>
          <p:cNvPr id="23" name="Shape 21"/>
          <p:cNvSpPr/>
          <p:nvPr/>
        </p:nvSpPr>
        <p:spPr>
          <a:xfrm>
            <a:off x="4686300" y="3040380"/>
            <a:ext cx="4000500" cy="1623060"/>
          </a:xfrm>
          <a:prstGeom prst="roundRect">
            <a:avLst>
              <a:gd name="adj" fmla="val 5634"/>
            </a:avLst>
          </a:prstGeom>
          <a:solidFill>
            <a:srgbClr val="FFFFFF"/>
          </a:solidFill>
          <a:ln/>
          <a:effectLst>
            <a:outerShdw sx="100000" sy="100000" kx="0" ky="0" algn="bl" rotWithShape="0" blurRad="152400" dist="50800" dir="8100000">
              <a:srgbClr val="000000">
                <a:alpha val="28000"/>
              </a:srgbClr>
            </a:outerShdw>
          </a:effectLst>
        </p:spPr>
      </p:sp>
      <p:sp>
        <p:nvSpPr>
          <p:cNvPr id="24" name="Shape 22"/>
          <p:cNvSpPr/>
          <p:nvPr/>
        </p:nvSpPr>
        <p:spPr>
          <a:xfrm>
            <a:off x="4686300" y="3040380"/>
            <a:ext cx="4000500" cy="54864"/>
          </a:xfrm>
          <a:prstGeom prst="rect">
            <a:avLst/>
          </a:prstGeom>
          <a:solidFill>
            <a:srgbClr val="8B5CF6"/>
          </a:solidFill>
          <a:ln/>
        </p:spPr>
      </p:sp>
      <p:sp>
        <p:nvSpPr>
          <p:cNvPr id="25" name="Shape 23"/>
          <p:cNvSpPr/>
          <p:nvPr/>
        </p:nvSpPr>
        <p:spPr>
          <a:xfrm>
            <a:off x="4914900" y="3223260"/>
            <a:ext cx="914400" cy="256032"/>
          </a:xfrm>
          <a:prstGeom prst="roundRect">
            <a:avLst>
              <a:gd name="adj" fmla="val 17857"/>
            </a:avLst>
          </a:prstGeom>
          <a:solidFill>
            <a:srgbClr val="8B5CF6"/>
          </a:solidFill>
          <a:ln/>
        </p:spPr>
      </p:sp>
      <p:sp>
        <p:nvSpPr>
          <p:cNvPr id="26" name="Text 24"/>
          <p:cNvSpPr/>
          <p:nvPr/>
        </p:nvSpPr>
        <p:spPr>
          <a:xfrm>
            <a:off x="4914900" y="3223260"/>
            <a:ext cx="914400" cy="256032"/>
          </a:xfrm>
          <a:prstGeom prst="rect">
            <a:avLst/>
          </a:prstGeom>
          <a:noFill/>
          <a:ln/>
        </p:spPr>
        <p:txBody>
          <a:bodyPr wrap="square" rtlCol="0" anchor="ctr">
            <a:normAutofit/>
          </a:bodyPr>
          <a:lstStyle/>
          <a:p>
            <a:pPr algn="ctr" indent="0" marL="0">
              <a:buNone/>
            </a:pPr>
            <a:r>
              <a:rPr lang="en-US" sz="900" b="1" dirty="0">
                <a:solidFill>
                  <a:srgbClr val="FFFFFF"/>
                </a:solidFill>
                <a:latin typeface="Calibri" pitchFamily="34" charset="0"/>
                <a:ea typeface="Calibri" pitchFamily="34" charset="-122"/>
                <a:cs typeface="Calibri" pitchFamily="34" charset="-120"/>
              </a:rPr>
              <a:t>Open-ended</a:t>
            </a:r>
            <a:endParaRPr lang="en-US" sz="900" dirty="0"/>
          </a:p>
        </p:txBody>
      </p:sp>
      <p:sp>
        <p:nvSpPr>
          <p:cNvPr id="27" name="Text 25"/>
          <p:cNvSpPr/>
          <p:nvPr/>
        </p:nvSpPr>
        <p:spPr>
          <a:xfrm>
            <a:off x="4914900" y="3589020"/>
            <a:ext cx="3543300" cy="320040"/>
          </a:xfrm>
          <a:prstGeom prst="rect">
            <a:avLst/>
          </a:prstGeom>
          <a:noFill/>
          <a:ln/>
        </p:spPr>
        <p:txBody>
          <a:bodyPr wrap="square" rtlCol="0" anchor="ctr">
            <a:normAutofit/>
          </a:bodyPr>
          <a:lstStyle/>
          <a:p>
            <a:pPr indent="0" marL="0">
              <a:buNone/>
            </a:pPr>
            <a:r>
              <a:rPr lang="en-US" sz="1200" b="1" dirty="0">
                <a:solidFill>
                  <a:srgbClr val="1F2329"/>
                </a:solidFill>
                <a:latin typeface="Georgia" pitchFamily="34" charset="0"/>
                <a:ea typeface="Georgia" pitchFamily="34" charset="-122"/>
                <a:cs typeface="Georgia" pitchFamily="34" charset="-120"/>
              </a:rPr>
              <a:t>Q4: Document Scanner Design</a:t>
            </a:r>
            <a:endParaRPr lang="en-US" sz="1200" dirty="0"/>
          </a:p>
        </p:txBody>
      </p:sp>
      <p:sp>
        <p:nvSpPr>
          <p:cNvPr id="28" name="Text 26"/>
          <p:cNvSpPr/>
          <p:nvPr/>
        </p:nvSpPr>
        <p:spPr>
          <a:xfrm>
            <a:off x="4914900" y="3954780"/>
            <a:ext cx="3543300" cy="640080"/>
          </a:xfrm>
          <a:prstGeom prst="rect">
            <a:avLst/>
          </a:prstGeom>
          <a:noFill/>
          <a:ln/>
        </p:spPr>
        <p:txBody>
          <a:bodyPr wrap="square" rtlCol="0" anchor="ctr"/>
          <a:lstStyle/>
          <a:p>
            <a:pPr indent="0" marL="0">
              <a:buNone/>
            </a:pPr>
            <a:r>
              <a:rPr lang="en-US" sz="1050" dirty="0">
                <a:solidFill>
                  <a:srgbClr val="6B7280"/>
                </a:solidFill>
                <a:latin typeface="Calibri" pitchFamily="34" charset="0"/>
                <a:ea typeface="Calibri" pitchFamily="34" charset="-122"/>
                <a:cs typeface="Calibri" pitchFamily="34" charset="-120"/>
              </a:rPr>
              <a:t>Design an auto document scanner. Consider uneven lighting, blurry edges, complex backgrounds.</a:t>
            </a:r>
            <a:endParaRPr lang="en-US" sz="1050" dirty="0"/>
          </a:p>
        </p:txBody>
      </p:sp>
      <p:sp>
        <p:nvSpPr>
          <p:cNvPr id="29"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C5F2D"/>
          </a:solidFill>
          <a:ln/>
        </p:spPr>
      </p:sp>
      <p:sp>
        <p:nvSpPr>
          <p:cNvPr id="3" name="Text 1"/>
          <p:cNvSpPr/>
          <p:nvPr/>
        </p:nvSpPr>
        <p:spPr>
          <a:xfrm>
            <a:off x="457200" y="182880"/>
            <a:ext cx="8229600" cy="548640"/>
          </a:xfrm>
          <a:prstGeom prst="rect">
            <a:avLst/>
          </a:prstGeom>
          <a:noFill/>
          <a:ln/>
        </p:spPr>
        <p:txBody>
          <a:bodyPr wrap="square" rtlCol="0" anchor="ctr">
            <a:normAutofit/>
          </a:bodyPr>
          <a:lstStyle/>
          <a:p>
            <a:pPr indent="0" marL="0">
              <a:buNone/>
            </a:pPr>
            <a:r>
              <a:rPr lang="en-US" sz="2800" b="1" spc="150" kern="0" dirty="0">
                <a:solidFill>
                  <a:srgbClr val="1F2329"/>
                </a:solidFill>
                <a:latin typeface="Georgia" pitchFamily="34" charset="0"/>
                <a:ea typeface="Georgia" pitchFamily="34" charset="-122"/>
                <a:cs typeface="Georgia" pitchFamily="34" charset="-120"/>
              </a:rPr>
              <a:t>Glossary</a:t>
            </a:r>
            <a:endParaRPr lang="en-US" sz="2800" dirty="0"/>
          </a:p>
        </p:txBody>
      </p:sp>
      <p:sp>
        <p:nvSpPr>
          <p:cNvPr id="4" name="Text 2"/>
          <p:cNvSpPr/>
          <p:nvPr/>
        </p:nvSpPr>
        <p:spPr>
          <a:xfrm>
            <a:off x="457200" y="685800"/>
            <a:ext cx="8229600" cy="320040"/>
          </a:xfrm>
          <a:prstGeom prst="rect">
            <a:avLst/>
          </a:prstGeom>
          <a:noFill/>
          <a:ln/>
        </p:spPr>
        <p:txBody>
          <a:bodyPr wrap="square" rtlCol="0" anchor="ctr">
            <a:normAutofit/>
          </a:bodyPr>
          <a:lstStyle/>
          <a:p>
            <a:pPr indent="0" marL="0">
              <a:buNone/>
            </a:pPr>
            <a:r>
              <a:rPr lang="en-US" sz="1300" dirty="0">
                <a:solidFill>
                  <a:srgbClr val="6B7280"/>
                </a:solidFill>
                <a:latin typeface="Calibri" pitchFamily="34" charset="0"/>
                <a:ea typeface="Calibri" pitchFamily="34" charset="-122"/>
                <a:cs typeface="Calibri" pitchFamily="34" charset="-120"/>
              </a:rPr>
              <a:t>Core terminology quick reference</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828800"/>
                <a:gridCol w="2560320"/>
                <a:gridCol w="3474720"/>
              </a:tblGrid>
              <a:tr h="320040">
                <a:tc>
                  <a:txBody>
                    <a:bodyPr/>
                    <a:lstStyle/>
                    <a:p>
                      <a:pPr algn="ctr" indent="0" marL="0">
                        <a:buNone/>
                      </a:pPr>
                      <a:r>
                        <a:rPr lang="en-US" sz="1000" b="1" dirty="0">
                          <a:solidFill>
                            <a:srgbClr val="FFFFFF"/>
                          </a:solidFill>
                          <a:latin typeface="Georgia" pitchFamily="34" charset="0"/>
                          <a:ea typeface="Georgia" pitchFamily="34" charset="-122"/>
                          <a:cs typeface="Georgia" pitchFamily="34" charset="-120"/>
                        </a:rPr>
                        <a:t>Term</a:t>
                      </a:r>
                      <a:endParaRPr lang="en-US" sz="1000" dirty="0">
                        <a:latin typeface="Georgia" charset="0"/>
                        <a:ea typeface="Georgia" charset="0"/>
                        <a:cs typeface="Georg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c>
                  <a:txBody>
                    <a:bodyPr/>
                    <a:lstStyle/>
                    <a:p>
                      <a:pPr algn="ctr" indent="0" marL="0">
                        <a:buNone/>
                      </a:pPr>
                      <a:r>
                        <a:rPr lang="en-US" sz="1000" b="1" dirty="0">
                          <a:solidFill>
                            <a:srgbClr val="FFFFFF"/>
                          </a:solidFill>
                          <a:latin typeface="Georgia" pitchFamily="34" charset="0"/>
                          <a:ea typeface="Georgia" pitchFamily="34" charset="-122"/>
                          <a:cs typeface="Georgia" pitchFamily="34" charset="-120"/>
                        </a:rPr>
                        <a:t>English</a:t>
                      </a:r>
                      <a:endParaRPr lang="en-US" sz="1000" dirty="0">
                        <a:latin typeface="Georgia" charset="0"/>
                        <a:ea typeface="Georgia" charset="0"/>
                        <a:cs typeface="Georg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c>
                  <a:txBody>
                    <a:bodyPr/>
                    <a:lstStyle/>
                    <a:p>
                      <a:pPr algn="ctr" indent="0" marL="0">
                        <a:buNone/>
                      </a:pPr>
                      <a:r>
                        <a:rPr lang="en-US" sz="1000" b="1" dirty="0">
                          <a:solidFill>
                            <a:srgbClr val="FFFFFF"/>
                          </a:solidFill>
                          <a:latin typeface="Georgia" pitchFamily="34" charset="0"/>
                          <a:ea typeface="Georgia" pitchFamily="34" charset="-122"/>
                          <a:cs typeface="Georgia" pitchFamily="34" charset="-120"/>
                        </a:rPr>
                        <a:t>Explanation</a:t>
                      </a:r>
                      <a:endParaRPr lang="en-US" sz="1000" dirty="0">
                        <a:latin typeface="Georgia" charset="0"/>
                        <a:ea typeface="Georgia" charset="0"/>
                        <a:cs typeface="Georgia"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2C5F2D"/>
                    </a:solidFill>
                  </a:tcPr>
                </a:tc>
              </a:tr>
              <a:tr h="292608">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Geometric Transform</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2C5F2D"/>
                          </a:solidFill>
                          <a:latin typeface="Calibri" pitchFamily="34" charset="0"/>
                          <a:ea typeface="Calibri" pitchFamily="34" charset="-122"/>
                          <a:cs typeface="Calibri" pitchFamily="34" charset="-120"/>
                        </a:rPr>
                        <a:t>Geometric Transformation</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Mathematical transform of pixel positions</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92608">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Affine Transform</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2C5F2D"/>
                          </a:solidFill>
                          <a:latin typeface="Calibri" pitchFamily="34" charset="0"/>
                          <a:ea typeface="Calibri" pitchFamily="34" charset="-122"/>
                          <a:cs typeface="Calibri" pitchFamily="34" charset="-120"/>
                        </a:rPr>
                        <a:t>Affine Transformation</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Preserves parallelism (6 DOF)</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92608">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Perspective Transform</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2C5F2D"/>
                          </a:solidFill>
                          <a:latin typeface="Calibri" pitchFamily="34" charset="0"/>
                          <a:ea typeface="Calibri" pitchFamily="34" charset="-122"/>
                          <a:cs typeface="Calibri" pitchFamily="34" charset="-120"/>
                        </a:rPr>
                        <a:t>Perspective / Homography</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May break parallelism (8 DOF)</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92608">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Interpolation</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2C5F2D"/>
                          </a:solidFill>
                          <a:latin typeface="Calibri" pitchFamily="34" charset="0"/>
                          <a:ea typeface="Calibri" pitchFamily="34" charset="-122"/>
                          <a:cs typeface="Calibri" pitchFamily="34" charset="-120"/>
                        </a:rPr>
                        <a:t>Interpolation</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Method to compute new pixel values</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92608">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Homography Matrix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2C5F2D"/>
                          </a:solidFill>
                          <a:latin typeface="Calibri" pitchFamily="34" charset="0"/>
                          <a:ea typeface="Calibri" pitchFamily="34" charset="-122"/>
                          <a:cs typeface="Calibri" pitchFamily="34" charset="-120"/>
                        </a:rPr>
                        <a:t>Homography Matrix</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3x3 matrix for perspective transform</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92608">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Border Padding</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2C5F2D"/>
                          </a:solidFill>
                          <a:latin typeface="Calibri" pitchFamily="34" charset="0"/>
                          <a:ea typeface="Calibri" pitchFamily="34" charset="-122"/>
                          <a:cs typeface="Calibri" pitchFamily="34" charset="-120"/>
                        </a:rPr>
                        <a:t>Border Padding</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Adding pixels at image edges</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92608">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Image Registration</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2C5F2D"/>
                          </a:solidFill>
                          <a:latin typeface="Calibri" pitchFamily="34" charset="0"/>
                          <a:ea typeface="Calibri" pitchFamily="34" charset="-122"/>
                          <a:cs typeface="Calibri" pitchFamily="34" charset="-120"/>
                        </a:rPr>
                        <a:t>Image Registration</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Aligning images to same coordinate system</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r h="292608">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Projective Geometry</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2C5F2D"/>
                          </a:solidFill>
                          <a:latin typeface="Calibri" pitchFamily="34" charset="0"/>
                          <a:ea typeface="Calibri" pitchFamily="34" charset="-122"/>
                          <a:cs typeface="Calibri" pitchFamily="34" charset="-120"/>
                        </a:rPr>
                        <a:t>Projective Geometry</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c>
                  <a:txBody>
                    <a:bodyPr/>
                    <a:lstStyle/>
                    <a:p>
                      <a:pPr indent="0" marL="0">
                        <a:buNone/>
                      </a:pPr>
                      <a:r>
                        <a:rPr lang="en-US" sz="900" dirty="0">
                          <a:solidFill>
                            <a:srgbClr val="1F2329"/>
                          </a:solidFill>
                          <a:latin typeface="Calibri" pitchFamily="34" charset="0"/>
                          <a:ea typeface="Calibri" pitchFamily="34" charset="-122"/>
                          <a:cs typeface="Calibri" pitchFamily="34" charset="-120"/>
                        </a:rPr>
                        <a:t>Geometry of perspective and projection</a:t>
                      </a:r>
                      <a:endParaRPr lang="en-US" sz="900" dirty="0">
                        <a:latin typeface="Calibri" charset="0"/>
                        <a:ea typeface="Calibri" charset="0"/>
                        <a:cs typeface="Calibri" charset="0"/>
                      </a:endParaRPr>
                    </a:p>
                  </a:txBody>
                  <a:tcPr marL="91440" marR="91440" marT="45720" marB="4572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tcPr>
                </a:tc>
              </a:tr>
            </a:tbl>
          </a:graphicData>
        </a:graphic>
      </p:graphicFrame>
      <p:sp>
        <p:nvSpPr>
          <p:cNvPr id="17"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3A1A">
              <a:alpha val="75000"/>
            </a:srgbClr>
          </a:solidFill>
          <a:ln/>
        </p:spPr>
      </p:sp>
      <p:sp>
        <p:nvSpPr>
          <p:cNvPr id="3" name="Shape 1"/>
          <p:cNvSpPr/>
          <p:nvPr/>
        </p:nvSpPr>
        <p:spPr>
          <a:xfrm>
            <a:off x="731520" y="548640"/>
            <a:ext cx="73152" cy="2560320"/>
          </a:xfrm>
          <a:prstGeom prst="rect">
            <a:avLst/>
          </a:prstGeom>
          <a:solidFill>
            <a:srgbClr val="D4A843"/>
          </a:solidFill>
          <a:ln/>
        </p:spPr>
      </p:sp>
      <p:sp>
        <p:nvSpPr>
          <p:cNvPr id="4" name="Text 2"/>
          <p:cNvSpPr/>
          <p:nvPr/>
        </p:nvSpPr>
        <p:spPr>
          <a:xfrm>
            <a:off x="1097280" y="548640"/>
            <a:ext cx="6400800" cy="457200"/>
          </a:xfrm>
          <a:prstGeom prst="rect">
            <a:avLst/>
          </a:prstGeom>
          <a:noFill/>
          <a:ln/>
        </p:spPr>
        <p:txBody>
          <a:bodyPr wrap="square" rtlCol="0" anchor="ctr">
            <a:normAutofit/>
          </a:bodyPr>
          <a:lstStyle/>
          <a:p>
            <a:pPr indent="0" marL="0">
              <a:buNone/>
            </a:pPr>
            <a:r>
              <a:rPr lang="en-US" sz="1400" b="1" spc="200" kern="0" dirty="0">
                <a:solidFill>
                  <a:srgbClr val="E8F5E2"/>
                </a:solidFill>
                <a:latin typeface="Calibri" pitchFamily="34" charset="0"/>
                <a:ea typeface="Calibri" pitchFamily="34" charset="-122"/>
                <a:cs typeface="Calibri" pitchFamily="34" charset="-120"/>
              </a:rPr>
              <a:t>Day 4 Preview</a:t>
            </a:r>
            <a:endParaRPr lang="en-US" sz="1400" dirty="0"/>
          </a:p>
        </p:txBody>
      </p:sp>
      <p:sp>
        <p:nvSpPr>
          <p:cNvPr id="5" name="Text 3"/>
          <p:cNvSpPr/>
          <p:nvPr/>
        </p:nvSpPr>
        <p:spPr>
          <a:xfrm>
            <a:off x="1097280" y="1005840"/>
            <a:ext cx="6400800" cy="1097280"/>
          </a:xfrm>
          <a:prstGeom prst="rect">
            <a:avLst/>
          </a:prstGeom>
          <a:noFill/>
          <a:ln/>
        </p:spPr>
        <p:txBody>
          <a:bodyPr wrap="square" rtlCol="0" anchor="ctr">
            <a:normAutofit/>
          </a:bodyPr>
          <a:lstStyle/>
          <a:p>
            <a:pPr indent="0" marL="0">
              <a:lnSpc>
                <a:spcPct val="115000"/>
              </a:lnSpc>
              <a:buNone/>
            </a:pPr>
            <a:r>
              <a:rPr lang="en-US" sz="3400" b="1" spc="200" kern="0" dirty="0">
                <a:solidFill>
                  <a:srgbClr val="FFFFFF"/>
                </a:solidFill>
                <a:latin typeface="Georgia" pitchFamily="34" charset="0"/>
                <a:ea typeface="Georgia" pitchFamily="34" charset="-122"/>
                <a:cs typeface="Georgia" pitchFamily="34" charset="-120"/>
              </a:rPr>
              <a:t>Image Filtering</a:t>
            </a:r>
            <a:endParaRPr lang="en-US" sz="3400" dirty="0"/>
          </a:p>
          <a:p>
            <a:pPr indent="0" marL="0">
              <a:lnSpc>
                <a:spcPct val="115000"/>
              </a:lnSpc>
              <a:buNone/>
            </a:pPr>
            <a:r>
              <a:rPr lang="en-US" sz="3400" b="1" spc="200" kern="0" dirty="0">
                <a:solidFill>
                  <a:srgbClr val="FFFFFF"/>
                </a:solidFill>
                <a:latin typeface="Georgia" pitchFamily="34" charset="0"/>
                <a:ea typeface="Georgia" pitchFamily="34" charset="-122"/>
                <a:cs typeface="Georgia" pitchFamily="34" charset="-120"/>
              </a:rPr>
              <a:t>&amp; Enhancement</a:t>
            </a:r>
            <a:endParaRPr lang="en-US" sz="3400" dirty="0"/>
          </a:p>
        </p:txBody>
      </p:sp>
      <p:sp>
        <p:nvSpPr>
          <p:cNvPr id="6" name="Shape 4"/>
          <p:cNvSpPr/>
          <p:nvPr/>
        </p:nvSpPr>
        <p:spPr>
          <a:xfrm>
            <a:off x="1097280" y="2377440"/>
            <a:ext cx="5029200" cy="2011680"/>
          </a:xfrm>
          <a:prstGeom prst="roundRect">
            <a:avLst>
              <a:gd name="adj" fmla="val 4545"/>
            </a:avLst>
          </a:prstGeom>
          <a:solidFill>
            <a:srgbClr val="1A3A1A">
              <a:alpha val="80000"/>
            </a:srgbClr>
          </a:solidFill>
          <a:ln/>
        </p:spPr>
      </p:sp>
      <p:sp>
        <p:nvSpPr>
          <p:cNvPr id="7" name="Text 5"/>
          <p:cNvSpPr/>
          <p:nvPr/>
        </p:nvSpPr>
        <p:spPr>
          <a:xfrm>
            <a:off x="1325880" y="2560320"/>
            <a:ext cx="4572000" cy="1645920"/>
          </a:xfrm>
          <a:prstGeom prst="rect">
            <a:avLst/>
          </a:prstGeom>
          <a:noFill/>
          <a:ln/>
        </p:spPr>
        <p:txBody>
          <a:bodyPr wrap="square" rtlCol="0" anchor="ctr">
            <a:normAutofit/>
          </a:bodyPr>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Convolution fundamentals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Mean, Gaussian, Median, Bilateral filters</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Image sharpening &amp; edge enhancement</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Spatial domain filtering mechanisms</a:t>
            </a:r>
            <a:endParaRPr lang="en-US" sz="1200" dirty="0"/>
          </a:p>
        </p:txBody>
      </p:sp>
      <p:sp>
        <p:nvSpPr>
          <p:cNvPr id="8" name="Text 6"/>
          <p:cNvSpPr/>
          <p:nvPr/>
        </p:nvSpPr>
        <p:spPr>
          <a:xfrm>
            <a:off x="1097280" y="4480560"/>
            <a:ext cx="6400800" cy="457200"/>
          </a:xfrm>
          <a:prstGeom prst="rect">
            <a:avLst/>
          </a:prstGeom>
          <a:noFill/>
          <a:ln/>
        </p:spPr>
        <p:txBody>
          <a:bodyPr wrap="square" rtlCol="0" anchor="ctr">
            <a:normAutofit/>
          </a:bodyPr>
          <a:lstStyle/>
          <a:p>
            <a:pPr indent="0" marL="0">
              <a:buNone/>
            </a:pPr>
            <a:r>
              <a:rPr lang="en-US" sz="1100" i="1" dirty="0">
                <a:solidFill>
                  <a:srgbClr val="D4A843"/>
                </a:solidFill>
                <a:latin typeface="Georgia" pitchFamily="34" charset="0"/>
                <a:ea typeface="Georgia" pitchFamily="34" charset="-122"/>
                <a:cs typeface="Georgia" pitchFamily="34" charset="-120"/>
              </a:rPr>
              <a:t>Geometric transforms let us manipulate shape;</a:t>
            </a:r>
            <a:endParaRPr lang="en-US" sz="1100" dirty="0"/>
          </a:p>
          <a:p>
            <a:pPr indent="0" marL="0">
              <a:buNone/>
            </a:pPr>
            <a:r>
              <a:rPr lang="en-US" sz="1100" i="1" dirty="0">
                <a:solidFill>
                  <a:srgbClr val="D4A843"/>
                </a:solidFill>
                <a:latin typeface="Georgia" pitchFamily="34" charset="0"/>
                <a:ea typeface="Georgia" pitchFamily="34" charset="-122"/>
                <a:cs typeface="Georgia" pitchFamily="34" charset="-120"/>
              </a:rPr>
              <a:t>filtering lets us manipulate content.</a:t>
            </a:r>
            <a:endParaRPr lang="en-US" sz="1100" dirty="0"/>
          </a:p>
        </p:txBody>
      </p:sp>
      <p:sp>
        <p:nvSpPr>
          <p:cNvPr id="9" name="Shape 7"/>
          <p:cNvSpPr/>
          <p:nvPr/>
        </p:nvSpPr>
        <p:spPr>
          <a:xfrm>
            <a:off x="6858000" y="4206240"/>
            <a:ext cx="1828800" cy="36576"/>
          </a:xfrm>
          <a:prstGeom prst="rect">
            <a:avLst/>
          </a:prstGeom>
          <a:solidFill>
            <a:srgbClr val="97BC62"/>
          </a:solidFill>
          <a:ln/>
        </p:spPr>
      </p:sp>
      <p:sp>
        <p:nvSpPr>
          <p:cNvPr id="10" name="Text 8"/>
          <p:cNvSpPr/>
          <p:nvPr/>
        </p:nvSpPr>
        <p:spPr>
          <a:xfrm>
            <a:off x="6858000" y="4343400"/>
            <a:ext cx="1828800" cy="320040"/>
          </a:xfrm>
          <a:prstGeom prst="rect">
            <a:avLst/>
          </a:prstGeom>
          <a:noFill/>
          <a:ln/>
        </p:spPr>
        <p:txBody>
          <a:bodyPr wrap="square" rtlCol="0" anchor="ctr">
            <a:normAutofit/>
          </a:bodyPr>
          <a:lstStyle/>
          <a:p>
            <a:pPr algn="r" indent="0" marL="0">
              <a:buNone/>
            </a:pPr>
            <a:r>
              <a:rPr lang="en-US" sz="1100" dirty="0">
                <a:solidFill>
                  <a:srgbClr val="FFFFFF"/>
                </a:solidFill>
                <a:latin typeface="Calibri" pitchFamily="34" charset="0"/>
                <a:ea typeface="Calibri" pitchFamily="34" charset="-122"/>
                <a:cs typeface="Calibri" pitchFamily="34" charset="-120"/>
              </a:rPr>
              <a:t>Day 3 / 100</a:t>
            </a:r>
            <a:endParaRPr lang="en-US" sz="1100" dirty="0"/>
          </a:p>
        </p:txBody>
      </p:sp>
      <p:sp>
        <p:nvSpPr>
          <p:cNvPr id="11" name="Watermark"/>
          <p:cNvSpPr txBox="1"/>
          <p:nvPr/>
        </p:nvSpPr>
        <p:spPr>
          <a:xfrm rot="0">
            <a:off x="6836000" y="4685500"/>
            <a:ext cx="2200000" cy="350000"/>
          </a:xfrm>
          <a:prstGeom prst="rect">
            <a:avLst/>
          </a:prstGeom>
          <a:noFill/>
          <a:ln>
            <a:noFill/>
          </a:ln>
        </p:spPr>
        <p:txBody>
          <a:bodyPr wrap="square" rtlCol="0" anchor="b" lIns="0" tIns="0" rIns="91440" bIns="45720"/>
          <a:lstStyle/>
          <a:p>
            <a:pPr algn="r"/>
            <a:r>
              <a:rPr lang="zh-CN" sz="1600" dirty="0">
                <a:solidFill>
                  <a:srgbClr val="808080">
                    <a:alpha val="19999"/>
                  </a:srgbClr>
                </a:solidFill>
                <a:latin typeface="Arial"/>
                <a:ea typeface="SimSun"/>
              </a:rPr>
              <a:t>TRAE AI 生成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3: Image Drawing &amp; Geometric Transformations</dc:title>
  <dc:subject>PptxGenJS Presentation</dc:subject>
  <dc:creator>CV Learning</dc:creator>
  <cp:lastModifiedBy>CV Learning</cp:lastModifiedBy>
  <cp:revision>1</cp:revision>
  <dcterms:created xsi:type="dcterms:W3CDTF">2026-05-28T02:48:34Z</dcterms:created>
  <dcterms:modified xsi:type="dcterms:W3CDTF">2026-05-28T02:48:34Z</dcterms:modified>
</cp:coreProperties>
</file>