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97BC62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AF8F0"/>
                </a:solidFill>
              </a:defRPr>
            </a:pPr>
            <a:r>
              <a:t>图像滤波与增强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7BC62"/>
                </a:solidFill>
              </a:defRPr>
            </a:pPr>
            <a:r>
              <a:t>Image Filtering and Enhancement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4A843"/>
                </a:solidFill>
              </a:defRPr>
            </a:pPr>
            <a:r>
              <a:t>Day 4 | 计算机视觉100天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7BC62"/>
                </a:solidFill>
              </a:defRPr>
            </a:pPr>
            <a:r>
              <a:t>CV Learning 100 Days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学习目标 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• 理解卷积运算的基本原理与数学定义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• 掌握均值滤波、高斯滤波等线性滤波器的应用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• 掌握中值滤波、双边滤波等非线性滤波器的特点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• 学会使用OpenCV实现各类图像滤波操作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• 理解图像锐化与边缘增强的原理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572000"/>
            <a:ext cx="10515600" cy="1371600"/>
          </a:xfrm>
          <a:prstGeom prst="roundRect">
            <a:avLst/>
          </a:prstGeom>
          <a:solidFill>
            <a:srgbClr val="FCF3DC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43"/>
                </a:solidFill>
              </a:defRPr>
            </a:pPr>
            <a:r>
              <a:t>关键要点 Key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212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图像滤波是计算机视觉的基础操作，也是卷积神经网络(CNN)的数学基础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历史背景 Historical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</a:defRPr>
            </a:pPr>
            <a:r>
              <a:t>1960s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NASA JPL首次系统应用数字滤波技术处理月球探测器图像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</a:defRPr>
            </a:pPr>
            <a:r>
              <a:t>1975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1945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高斯滤波被广泛采用，基于人类视觉系统的生物学特性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</a:defRPr>
            </a:pPr>
            <a:r>
              <a:t>1980s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3017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中值滤波引入，有效解决脉冲噪声问题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</a:defRPr>
            </a:pPr>
            <a:r>
              <a:t>1986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840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John Canny提出Canny边缘检测算法（基于高斯滤波）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43"/>
                </a:solidFill>
              </a:defRPr>
            </a:pPr>
            <a:r>
              <a:t>1998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663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Tomasi和Manduchi提出双边滤波，实现边缘保持平滑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卷积基础 Convolution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什么是卷积？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• 通过卷积核(Kernel)在图像上滑动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• 对每个像素及其邻域进行加权求和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• 实现图像滤波、边缘检测等效果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4572000" cy="914400"/>
          </a:xfrm>
          <a:prstGeom prst="roundRect">
            <a:avLst/>
          </a:prstGeom>
          <a:solidFill>
            <a:srgbClr val="EBF5EB"/>
          </a:solidFill>
          <a:ln w="381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A1A1A"/>
                </a:solidFill>
              </a:defRPr>
            </a:pPr>
            <a:r>
              <a:t>G(i,j) = ΣΣ K(u,v)·I(i-u,j-v)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关键术语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7373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2D"/>
                </a:solidFill>
              </a:defRPr>
            </a:pPr>
            <a:r>
              <a:t>卷积核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737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用于滤波的小矩阵(3×3, 5×5)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2D"/>
                </a:solidFill>
              </a:defRPr>
            </a:pPr>
            <a:r>
              <a:t>锚点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194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卷积核的中心点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51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2D"/>
                </a:solidFill>
              </a:defRPr>
            </a:pPr>
            <a:r>
              <a:t>边界填充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处理图像边缘的策略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3108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2D"/>
                </a:solidFill>
              </a:defRPr>
            </a:pPr>
            <a:r>
              <a:t>步长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卷积核移动的步长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均值滤波 Mean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• 用邻域像素的平均值替代中心像素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• 最简单的线性滤波器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743200"/>
            <a:ext cx="731520" cy="7315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37360" y="2743200"/>
            <a:ext cx="731520" cy="7315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2743200"/>
            <a:ext cx="731520" cy="7315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566160"/>
            <a:ext cx="731520" cy="7315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3566160"/>
            <a:ext cx="731520" cy="7315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3566160"/>
            <a:ext cx="731520" cy="7315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389120"/>
            <a:ext cx="731520" cy="7315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4389120"/>
            <a:ext cx="731520" cy="7315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389120"/>
            <a:ext cx="731520" cy="73152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1/9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2801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OpenCV实现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737360"/>
            <a:ext cx="5943600" cy="18288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8288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8F2"/>
                </a:solidFill>
              </a:defRPr>
            </a:pPr>
            <a:r>
              <a:t>import cv2</a:t>
            </a:r>
            <a:br/>
            <a:br/>
            <a:r>
              <a:t>blurred = cv2.blur(image, (5, 5))</a:t>
            </a:r>
            <a:br/>
            <a:br/>
            <a:r>
              <a:t># 或使用boxFilter</a:t>
            </a:r>
            <a:br/>
            <a:r>
              <a:t>blurred = cv2.boxFilter(image, -1, (5, 5), normalize=True)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840480"/>
            <a:ext cx="2743200" cy="22860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7BC62"/>
                </a:solidFill>
              </a:defRPr>
            </a:pPr>
            <a:r>
              <a:t>优点 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实现简单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计算快速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有效去随机噪声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840480"/>
            <a:ext cx="2743200" cy="22860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4444"/>
                </a:solidFill>
              </a:defRPr>
            </a:pPr>
            <a:r>
              <a:t>缺点 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297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会模糊图像边缘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椒盐噪声效果差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高斯滤波 Gaussian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• 使用高斯函数作为权重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• 距离中心越近，权重越大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• 符合人类视觉系统特性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5029200" cy="731520"/>
          </a:xfrm>
          <a:prstGeom prst="roundRect">
            <a:avLst/>
          </a:prstGeom>
          <a:solidFill>
            <a:srgbClr val="EBF5EB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1A"/>
                </a:solidFill>
              </a:defRPr>
            </a:pPr>
            <a:r>
              <a:t>G(x,y) = 1/(2πσ²) · e^(-(x²+y²)/(2σ²))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4048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1/16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384048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2/16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384048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1/16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48056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2/16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448056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4/16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48056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2/16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12064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1/16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512064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2/16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512064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1/16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OpenCV实现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737360"/>
            <a:ext cx="502920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8F2"/>
                </a:solidFill>
              </a:defRPr>
            </a:pPr>
            <a:r>
              <a:t>import cv2</a:t>
            </a:r>
            <a:br/>
            <a:br/>
            <a:r>
              <a:t>blurred = cv2.GaussianBlur(</a:t>
            </a:r>
            <a:br/>
            <a:r>
              <a:t>    image, </a:t>
            </a:r>
            <a:br/>
            <a:r>
              <a:t>    (5, 5),      # 核大小(奇数)</a:t>
            </a:r>
            <a:br/>
            <a:r>
              <a:t>    sigmaX=1.5   # X方向标准差</a:t>
            </a:r>
            <a:br/>
            <a:r>
              <a:t>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931920"/>
            <a:ext cx="5029200" cy="1371600"/>
          </a:xfrm>
          <a:prstGeom prst="roundRect">
            <a:avLst/>
          </a:prstGeom>
          <a:solidFill>
            <a:srgbClr val="FCF3DC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3"/>
                </a:solidFill>
              </a:defRPr>
            </a:pPr>
            <a:r>
              <a:t>应用场景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389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Canny边缘检测预处理 | 图像去噪 | 尺度空间分析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中值滤波 Median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• 非线性滤波器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• 用邻域像素值的中值替代中心像素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</a:defRPr>
            </a:pPr>
            <a:r>
              <a:t>算法步骤: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1. 选取邻域窗口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83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2. 窗口内像素值排序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3. 取中间值作为输出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OpenCV实现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737360"/>
            <a:ext cx="5029200" cy="13716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288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8F2"/>
                </a:solidFill>
              </a:defRPr>
            </a:pPr>
            <a:r>
              <a:t>import cv2</a:t>
            </a:r>
            <a:br/>
            <a:br/>
            <a:r>
              <a:t>median = cv2.medianBlur(image, 5)</a:t>
            </a:r>
            <a:br/>
            <a:r>
              <a:t># 参数5表示5×5窗口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291840"/>
            <a:ext cx="5029200" cy="1097280"/>
          </a:xfrm>
          <a:prstGeom prst="roundRect">
            <a:avLst/>
          </a:prstGeom>
          <a:solidFill>
            <a:srgbClr val="FCF3DC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3"/>
                </a:solidFill>
              </a:defRPr>
            </a:pPr>
            <a:r>
              <a:t>最佳应用场景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749039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椒盐噪声(Salt-and-Pepper)去除效果最佳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4572000" cy="18288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7BC62"/>
                </a:solidFill>
              </a:defRPr>
            </a:pPr>
            <a:r>
              <a:t>优点 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有效去除椒盐噪声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保持边缘锐利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389120"/>
            <a:ext cx="4572000" cy="182880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4444"/>
                </a:solidFill>
              </a:defRPr>
            </a:pPr>
            <a:r>
              <a:t>缺点 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计算量较大（需排序）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对高斯噪声效果一般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双边滤波 Bilateral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• 边缘保持的平滑滤波器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</a:defRPr>
            </a:pPr>
            <a:r>
              <a:t>同时考虑两个因素: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• 空间距离 - 像素间物理距离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• 像素值相似度 - 颜色/灰度差异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5029200" cy="914400"/>
          </a:xfrm>
          <a:prstGeom prst="roundRect">
            <a:avLst/>
          </a:prstGeom>
          <a:solidFill>
            <a:srgbClr val="EBF5EB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I^filtered(x) = (1/Wp) · Σ I(xi)·fr·gs</a:t>
            </a:r>
            <a:br/>
            <a:r>
              <a:t>fr = 值域高斯 | gs = 空间域高斯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OpenCV实现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1737360"/>
            <a:ext cx="5029200" cy="201168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8F2"/>
                </a:solidFill>
              </a:defRPr>
            </a:pPr>
            <a:r>
              <a:t>import cv2</a:t>
            </a:r>
            <a:br/>
            <a:br/>
            <a:r>
              <a:t>bilateral = cv2.bilateralFilter(</a:t>
            </a:r>
            <a:br/>
            <a:r>
              <a:t>    image,</a:t>
            </a:r>
            <a:br/>
            <a:r>
              <a:t>    9,   # 滤波直径</a:t>
            </a:r>
            <a:br/>
            <a:r>
              <a:t>    75,  # 颜色空间sigma</a:t>
            </a:r>
            <a:br/>
            <a:r>
              <a:t>    75   # 坐标空间sigma</a:t>
            </a:r>
            <a:br/>
            <a:r>
              <a:t>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3931920"/>
            <a:ext cx="5029200" cy="1371600"/>
          </a:xfrm>
          <a:prstGeom prst="roundRect">
            <a:avLst/>
          </a:prstGeom>
          <a:solidFill>
            <a:srgbClr val="FCF3DC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843"/>
                </a:solidFill>
              </a:defRPr>
            </a:pPr>
            <a:r>
              <a:t>典型应用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389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美颜磨皮 | 图像去噪 | 风格迁移预处理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389120"/>
            <a:ext cx="4572000" cy="16459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7BC62"/>
                </a:solidFill>
              </a:defRPr>
            </a:pPr>
            <a:r>
              <a:t>优点 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平滑图像同时保持边缘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常用于美颜、去噪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4389120"/>
            <a:ext cx="4572000" cy="16459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480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4444"/>
                </a:solidFill>
              </a:defRPr>
            </a:pPr>
            <a:r>
              <a:t>缺点 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4846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计算复杂度高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无法处理强噪声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滤波器对比 Filter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0972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73152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滤波器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最佳应用场景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边缘保持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计算速度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均值滤波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线性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快速去噪，不要求边缘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❌ 差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⚡ 极快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高斯滤波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线性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自然平滑，预处理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△ 一般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⚡ 快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中值滤波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非线性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椒盐噪声去除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✓ 较好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○ 中等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双边滤波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非线性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边缘保持的平滑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✓✓ 优秀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✕ 慢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120640"/>
            <a:ext cx="10972800" cy="1097280"/>
          </a:xfrm>
          <a:prstGeom prst="roundRect">
            <a:avLst/>
          </a:prstGeom>
          <a:solidFill>
            <a:srgbClr val="FCF3DC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43"/>
                </a:solidFill>
              </a:defRPr>
            </a:pPr>
            <a:r>
              <a:t>选择建议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577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椒盐噪声 → 中值滤波 | 自然平滑 → 高斯滤波 | 美颜磨皮 → 双边滤波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图像锐化 Image Sharpening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锐化原理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• 增强图像的高频成分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1A1A"/>
                </a:solidFill>
              </a:defRPr>
            </a:pPr>
            <a:r>
              <a:t>• 突出边缘和细节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5029200" cy="731520"/>
          </a:xfrm>
          <a:prstGeom prst="roundRect">
            <a:avLst/>
          </a:prstGeom>
          <a:solidFill>
            <a:srgbClr val="EBF5EB"/>
          </a:solidFill>
          <a:ln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1A"/>
                </a:solidFill>
              </a:defRPr>
            </a:pPr>
            <a:r>
              <a:t>Sharpened = Original + α × (Original - Blurred)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2D"/>
                </a:solidFill>
              </a:defRPr>
            </a:pPr>
            <a:r>
              <a:t>拉普拉斯锐化核: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37360" y="393192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-1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393192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7200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-1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37360" y="4572000"/>
            <a:ext cx="731520" cy="54864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572000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-1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5212079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37360" y="5212079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5212079"/>
            <a:ext cx="731520" cy="54864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OpenCV实现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737360"/>
            <a:ext cx="5029200" cy="32004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28800"/>
            <a:ext cx="45720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F8F2"/>
                </a:solidFill>
              </a:defRPr>
            </a:pPr>
            <a:r>
              <a:t>import cv2</a:t>
            </a:r>
            <a:br/>
            <a:r>
              <a:t>import numpy as np</a:t>
            </a:r>
            <a:br/>
            <a:br/>
            <a:r>
              <a:t># 方法1: 拉普拉斯锐化</a:t>
            </a:r>
            <a:br/>
            <a:r>
              <a:t>kernel = np.array([[0, -1, 0],</a:t>
            </a:r>
            <a:br/>
            <a:r>
              <a:t>                   [-1, 5, -1],</a:t>
            </a:r>
            <a:br/>
            <a:r>
              <a:t>                   [0, -1, 0]])</a:t>
            </a:r>
            <a:br/>
            <a:r>
              <a:t>sharpened = cv2.filter2D(image, -1, kernel)</a:t>
            </a:r>
            <a:br/>
            <a:br/>
            <a:r>
              <a:t># 方法2: Unsharp Masking</a:t>
            </a:r>
            <a:br/>
            <a:r>
              <a:t>gaussian = cv2.GaussianBlur(image, (0, 0), 3)</a:t>
            </a:r>
            <a:br/>
            <a:r>
              <a:t>unsharp = cv2.addWeighted(</a:t>
            </a:r>
            <a:br/>
            <a:r>
              <a:t>    image, 1.5, gaussian, -0.5, 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8F0"/>
                </a:solidFill>
              </a:defRPr>
            </a:pPr>
            <a:r>
              <a:t>科学家故事：高斯 Carl Friedrich Gauss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7BC62"/>
                </a:solidFill>
              </a:defRPr>
            </a:pPr>
            <a:r>
              <a:t>人物简介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德国数学家、物理学家、天文学家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被誉为"数学王子"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1777-1855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7BC62"/>
                </a:solidFill>
              </a:defRPr>
            </a:pPr>
            <a:r>
              <a:t>与图像处理的关系: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高斯分布是自然界最常见的分布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高斯滤波器模拟人类视觉系统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是许多高级算法的基础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7BC62"/>
                </a:solidFill>
              </a:defRPr>
            </a:pPr>
            <a:r>
              <a:t>趣闻轶事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3岁时纠正父亲账本错误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19岁用尺规作图画出正17边形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解决了2000年的数学难题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高斯分布曾出现在德国10马克纸币上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AF8F0"/>
                </a:solidFill>
              </a:defRPr>
            </a:pPr>
            <a:r>
              <a:t>科学家故事：John Canny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7BC62"/>
                </a:solidFill>
              </a:defRPr>
            </a:pPr>
            <a:r>
              <a:t>人物简介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澳大利亚计算机科学家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加州大学伯克利分校教授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1958年出生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7BC62"/>
                </a:solidFill>
              </a:defRPr>
            </a:pPr>
            <a:r>
              <a:t>主要贡献: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1986年提出Canny边缘检测算法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至今仍是边缘检测的标准方法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7BC62"/>
                </a:solidFill>
              </a:defRPr>
            </a:pPr>
            <a:r>
              <a:t>Canny边缘检测三准则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1. 信噪比准则 - 减少漏检和误检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2. 定位精度准则 - 接近真实边缘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AF8F0"/>
                </a:solidFill>
              </a:defRPr>
            </a:pPr>
            <a:r>
              <a:t>• 3. 单边缘响应准则 - 一个边缘一个响应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重要文献 Key Papers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2D"/>
                </a:solidFill>
              </a:defRPr>
            </a:pPr>
            <a:r>
              <a:t>Canny Edge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A Computational Approach to Edge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作者: John Canny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7BC62"/>
                </a:solidFill>
              </a:defRPr>
            </a:pPr>
            <a:r>
              <a:t>发表: IEEE TPAMI, 1986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17520"/>
            <a:ext cx="5486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2D"/>
                </a:solidFill>
              </a:defRPr>
            </a:pPr>
            <a:r>
              <a:t>Bilateral Filter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Bilateral Filtering for Gray and Color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作者: Tomasi &amp; Manduchi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9776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7BC62"/>
                </a:solidFill>
              </a:defRPr>
            </a:pPr>
            <a:r>
              <a:t>发表: ICCV 1998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663440"/>
            <a:ext cx="5486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7548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5F2D"/>
                </a:solidFill>
              </a:defRPr>
            </a:pPr>
            <a:r>
              <a:t>Laplacian Pyramid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A1A1A"/>
                </a:solidFill>
              </a:defRPr>
            </a:pPr>
            <a:r>
              <a:t>The Laplacian Pyramid as a Compact Image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</a:defRPr>
            </a:pPr>
            <a:r>
              <a:t>作者: Burt &amp; Adelson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2355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7BC62"/>
                </a:solidFill>
              </a:defRPr>
            </a:pPr>
            <a:r>
              <a:t>发表: IEEE TCOM, 1983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54864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</a:defRPr>
            </a:pPr>
            <a:r>
              <a:t>推荐书籍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《数字图像处理》- Rafael C. Gonzalez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377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《计算机视觉：算法与应用》- Richard Szeliski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《Learning OpenCV 3》- Adrian Kaehler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经典实验：滤波器效果对比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5F2D"/>
                </a:solidFill>
              </a:defRPr>
            </a:pPr>
            <a:r>
              <a:t>实验代码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515600" cy="27432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8F8F2"/>
                </a:solidFill>
              </a:defRPr>
            </a:pPr>
            <a:r>
              <a:t>import cv2</a:t>
            </a:r>
            <a:br/>
            <a:r>
              <a:t>import numpy as np</a:t>
            </a:r>
            <a:br/>
            <a:r>
              <a:t>import matplotlib.pyplot as plt</a:t>
            </a:r>
            <a:br/>
            <a:br/>
            <a:r>
              <a:t># 读取图像并添加噪声</a:t>
            </a:r>
            <a:br/>
            <a:r>
              <a:t>img = cv2.imread('image.jpg')</a:t>
            </a:r>
            <a:br/>
            <a:r>
              <a:t>noise = np.random.normal(0, 25, img.shape).astype(np.uint8)</a:t>
            </a:r>
            <a:br/>
            <a:r>
              <a:t>noisy_img = cv2.add(img, noise)</a:t>
            </a:r>
            <a:br/>
            <a:br/>
            <a:r>
              <a:t># 应用不同滤波器</a:t>
            </a:r>
            <a:br/>
            <a:r>
              <a:t>mean_blur = cv2.blur(noisy_img, (5, 5))</a:t>
            </a:r>
            <a:br/>
            <a:r>
              <a:t>gaussian_blur = cv2.GaussianBlur(noisy_img, (5, 5), 0)</a:t>
            </a:r>
            <a:br/>
            <a:r>
              <a:t>median_blur = cv2.medianBlur(noisy_img, 5)</a:t>
            </a:r>
            <a:br/>
            <a:r>
              <a:t>bilateral = cv2.bilateralFilter(noisy_img, 9, 75, 75)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515600" cy="1371600"/>
          </a:xfrm>
          <a:prstGeom prst="roundRect">
            <a:avLst/>
          </a:prstGeom>
          <a:solidFill>
            <a:srgbClr val="FCF3DC"/>
          </a:solidFill>
          <a:ln w="254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43"/>
                </a:solidFill>
              </a:defRPr>
            </a:pPr>
            <a:r>
              <a:t>预期结果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1A"/>
                </a:solidFill>
              </a:defRPr>
            </a:pPr>
            <a:r>
              <a:t>均值滤波：整体模糊 | 高斯滤波：自然平滑 | 中值滤波：去椒盐噪声 | 双边滤波：边缘保持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趣味知识 Fun Facts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</a:defRPr>
            </a:pPr>
            <a:r>
              <a:t>Photoshop的高斯模糊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利用可分离性优化</a:t>
            </a:r>
            <a:br/>
            <a:r>
              <a:t>• 2D → 两个1D滤波</a:t>
            </a:r>
            <a:br/>
            <a:r>
              <a:t>• 复杂度O(n²) → O(n)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37160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14630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</a:defRPr>
            </a:pPr>
            <a:r>
              <a:t>美颜相机的秘密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核心技术：双边滤波</a:t>
            </a:r>
            <a:br/>
            <a:r>
              <a:t>• 平滑皮肤 + 保持五官</a:t>
            </a:r>
            <a:br/>
            <a:r>
              <a:t>• 演进：高斯 → 双边 → 深度学习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931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02335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</a:defRPr>
            </a:pPr>
            <a:r>
              <a:t>医学影像滤波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CT/MRI图像去噪</a:t>
            </a:r>
            <a:br/>
            <a:r>
              <a:t>• 不能丢失病灶信息</a:t>
            </a:r>
            <a:br/>
            <a:r>
              <a:t>• 需要实时计算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931920"/>
            <a:ext cx="530352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02335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5F2D"/>
                </a:solidFill>
              </a:defRPr>
            </a:pPr>
            <a:r>
              <a:t>CNN的数学基础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3891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</a:defRPr>
            </a:pPr>
            <a:r>
              <a:t>• 卷积是CNN的核心</a:t>
            </a:r>
            <a:br/>
            <a:r>
              <a:t>• 滤波器 = 可学习卷积核</a:t>
            </a:r>
            <a:br/>
            <a:r>
              <a:t>• 理解传统滤波 → 理解CNN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思考题 Thinking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5F2D"/>
                </a:solidFill>
              </a:defRPr>
            </a:pPr>
            <a:r>
              <a:t>基础问题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1. 为什么卷积核的大小通常为奇数（如3×3、5×5）？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2. 比较均值滤波和高斯滤波的优缺点，分别适用于什么场景？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3. 中值滤波为什么对椒盐噪声特别有效？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C5F2D"/>
                </a:solidFill>
              </a:defRPr>
            </a:pPr>
            <a:r>
              <a:t>进阶问题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4. 双边滤波为什么能保持边缘？它的计算复杂度是多少？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5. 如何设计一个卷积核来检测45度方向的边缘？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7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A1A1A"/>
                </a:solidFill>
              </a:defRPr>
            </a:pPr>
            <a:r>
              <a:t>6. Unsharp Masking的原理是什么？为什么能增强图像细节？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术语表 Glossary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术语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英文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定义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卷积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Convolution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通过滑动窗口实现图像滤波的数学运算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卷积核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Kernel/Filter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用于卷积运算的小矩阵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椒盐噪声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Salt-and-Pepper Noise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随机出现的黑白像素点噪声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高斯噪声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Gaussian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服从高斯分布的随机噪声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拉普拉斯算子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Laplacian Operator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二阶微分算子，用于边缘检测和锐化</a:t>
                      </a:r>
                    </a:p>
                  </a:txBody>
                  <a:tcPr>
                    <a:solidFill>
                      <a:srgbClr val="F0F7F0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信噪比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信号功率与噪声功率的比值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下节预告 Next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C5F2D"/>
                </a:solidFill>
              </a:defRPr>
            </a:pPr>
            <a:r>
              <a:t>Day 5: 边缘检测算法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97BC62"/>
                </a:solidFill>
              </a:defRPr>
            </a:pPr>
            <a:r>
              <a:t>Edge Detection Algorithms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2560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5F2D"/>
                </a:solidFill>
              </a:defRPr>
            </a:pPr>
            <a:r>
              <a:t>Sobel算子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1A"/>
                </a:solidFill>
              </a:defRPr>
            </a:pPr>
            <a:r>
              <a:t>一阶导数边缘检测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4389120"/>
            <a:ext cx="2560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5F2D"/>
                </a:solidFill>
              </a:defRPr>
            </a:pPr>
            <a:r>
              <a:t>Laplacian算子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1A"/>
                </a:solidFill>
              </a:defRPr>
            </a:pPr>
            <a:r>
              <a:t>二阶导数边缘检测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389120"/>
            <a:ext cx="2560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5F2D"/>
                </a:solidFill>
              </a:defRPr>
            </a:pPr>
            <a:r>
              <a:t>Canny边缘检测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1A"/>
                </a:solidFill>
              </a:defRPr>
            </a:pPr>
            <a:r>
              <a:t>最优边缘检测算法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4389120"/>
            <a:ext cx="256032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C5F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44805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5F2D"/>
                </a:solidFill>
              </a:defRPr>
            </a:pPr>
            <a:r>
              <a:t>实战应用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9377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1A1A1A"/>
                </a:solidFill>
              </a:defRPr>
            </a:pPr>
            <a:r>
              <a:t>边缘检测综合案例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C5F2D"/>
                </a:solidFill>
              </a:defRPr>
            </a:pPr>
            <a:r>
              <a:t>今日总结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卷积是图像滤波的核心操作，通过卷积核滑动实现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均值滤波和高斯滤波是常用的线性滤波器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中值滤波对椒盐噪声特别有效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双边滤波能在平滑的同时保持边缘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图像锐化通过增强高频成分突出细节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A1A1A"/>
                </a:solidFill>
              </a:defRPr>
            </a:pPr>
            <a:r>
              <a:t>• 理解传统滤波有助于理解卷积神经网络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0" y="0"/>
            <a:ext cx="3047695" cy="6858000"/>
          </a:xfrm>
          <a:prstGeom prst="rect">
            <a:avLst/>
          </a:prstGeom>
          <a:solidFill>
            <a:srgbClr val="97BC62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AF8F0"/>
                </a:solidFill>
              </a:defRPr>
            </a:pPr>
            <a:r>
              <a:t>感谢学习 |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97BC62"/>
                </a:solidFill>
              </a:defRPr>
            </a:pPr>
            <a:r>
              <a:t>Day 4: 图像滤波与增强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480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D4A843"/>
                </a:solidFill>
              </a:defRPr>
            </a:pPr>
            <a:r>
              <a:t>计算机视觉100天学习计划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7BC62"/>
                </a:solidFill>
              </a:defRPr>
            </a:pPr>
            <a:r>
              <a:t>参考资料：OpenCV官方文档 | Wikipedia | 《数字图像处理》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97BC62"/>
                </a:solidFill>
              </a:defRPr>
            </a:pPr>
            <a:r>
              <a:t>CV Learning 100 Days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