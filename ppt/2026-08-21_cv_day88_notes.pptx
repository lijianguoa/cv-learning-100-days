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D1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D1F"/>
                </a:solidFill>
                <a:latin typeface="Arial"/>
              </a:rPr>
              <a:t>噪声率对CIFAR-10分类准确率的影响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准确率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F2D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0%噪声</c:v>
                  </c:pt>
                  <c:pt idx="1">
                    <c:v>10%对称</c:v>
                  </c:pt>
                  <c:pt idx="2">
                    <c:v>20%对称</c:v>
                  </c:pt>
                  <c:pt idx="3">
                    <c:v>30%对称</c:v>
                  </c:pt>
                  <c:pt idx="4">
                    <c:v>20%非对称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91</c:v>
                </c:pt>
                <c:pt idx="1">
                  <c:v>86</c:v>
                </c:pt>
                <c:pt idx="2">
                  <c:v>72</c:v>
                </c:pt>
                <c:pt idx="3">
                  <c:v>58</c:v>
                </c:pt>
                <c:pt idx="4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F2D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4B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D1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D1F"/>
                </a:solidFill>
                <a:latin typeface="Arial"/>
              </a:rPr>
              <a:t>VOC 2007 Top-5定位准确率(%)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Top-5定位准确率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D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6B8E5A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CAM</c:v>
                  </c:pt>
                  <c:pt idx="1">
                    <c:v>WSDDN</c:v>
                  </c:pt>
                  <c:pt idx="2">
                    <c:v>OICR</c:v>
                  </c:pt>
                  <c:pt idx="3">
                    <c:v>全监督
(Fast R-CNN)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45.2</c:v>
                </c:pt>
                <c:pt idx="1">
                  <c:v>39.8</c:v>
                </c:pt>
                <c:pt idx="2">
                  <c:v>52.5</c:v>
                </c:pt>
                <c:pt idx="3">
                  <c:v>82.3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D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4B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F2D1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F2D1F"/>
                </a:solidFill>
                <a:latin typeface="Arial"/>
              </a:rPr>
              <a:t>Camelyon16 淋巴结转移癌分类 AUC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6B8E5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D1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B8E5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7BC6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C5F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4A84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Max MIL</c:v>
                  </c:pt>
                  <c:pt idx="1">
                    <c:v>Mean MIL</c:v>
                  </c:pt>
                  <c:pt idx="2">
                    <c:v>Attention MIL</c:v>
                  </c:pt>
                  <c:pt idx="3">
                    <c:v>病理专家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0.82</c:v>
                </c:pt>
                <c:pt idx="1">
                  <c:v>0.85</c:v>
                </c:pt>
                <c:pt idx="2">
                  <c:v>0.91</c:v>
                </c:pt>
                <c:pt idx="3">
                  <c:v>0.93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D1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8E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C5D4B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8E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user/work/bg_forest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A20">
              <a:alpha val="5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457200" y="1645920"/>
            <a:ext cx="13716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800" b="1" spc="250" kern="0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弱监督学习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000" spc="100" kern="0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Weakly Supervised Learning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200400" y="3383280"/>
            <a:ext cx="2743200" cy="502920"/>
          </a:xfrm>
          <a:prstGeom prst="roundRect">
            <a:avLst>
              <a:gd name="adj" fmla="val 18182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0" y="338328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88 | 2026-08-21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计算机视觉100天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2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本节目录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29844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280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弱监督学习概述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29844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298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0" y="128016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弱监督三大类型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192024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202996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0116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多实例学习(MIL)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02996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20299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201168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注意力MIL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265176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4360" y="276148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51560" y="2743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标签噪声处理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09160" y="265176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76148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7614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303520" y="274320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置信学习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38328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349300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34747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弱监督目标检测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709160" y="338328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49300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4930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303520" y="347472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经典实验与分析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57200" y="4114800"/>
            <a:ext cx="39776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94360" y="4224528"/>
            <a:ext cx="365760" cy="36576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42245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51560" y="4206240"/>
            <a:ext cx="324612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术语表与下节预告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弱监督学习概述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Weakly Supervised Learning — 当标注数据昂贵且稀少时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508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弱监督学习是指使用不完整、不确切或不准确的标签进行模型训练的学习范式。与全监督学习相比，标签信息不如全监督那样精确和完整，但比无监督学习提供了更多指导信号。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34640"/>
            <a:ext cx="2621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834640"/>
            <a:ext cx="262128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1752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不完全监督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383280"/>
            <a:ext cx="22555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仅有少量样本有标签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半监督/主动学习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61360" y="2834640"/>
            <a:ext cx="2621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61360" y="2834640"/>
            <a:ext cx="26212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4240" y="301752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不确切监督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44240" y="3383280"/>
            <a:ext cx="22555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标签粒度粗于任务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图像级标签做检测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65520" y="2834640"/>
            <a:ext cx="262128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65520" y="2834640"/>
            <a:ext cx="26212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48400" y="301752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不准确监督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48400" y="3383280"/>
            <a:ext cx="22555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标签可能存在错误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标签噪声学习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不完全监督 (Incomplete Supervision)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仅有少量样本有标注标签，大量数据无标签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核心方法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201168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D1F"/>
                </a:solidFill>
              </a:rPr>
              <a:t>伪标签法 (Pseudo-Labeling)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D1F"/>
                </a:solidFill>
              </a:rPr>
              <a:t>一致性正则化 (Consistency Regularization)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D1F"/>
                </a:solidFill>
              </a:rPr>
              <a:t>协同训练 (Co-Training)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D1F"/>
                </a:solidFill>
              </a:rPr>
              <a:t>主动学习 (Active Learning)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D1F"/>
                </a:solidFill>
              </a:rPr>
              <a:t>图标签传播 (Label Propagation)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977640" cy="2926080"/>
          </a:xfrm>
          <a:prstGeom prst="roundRect">
            <a:avLst>
              <a:gd name="adj" fmla="val 2500"/>
            </a:avLst>
          </a:prstGeom>
          <a:solidFill>
            <a:srgbClr val="243B2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37760" y="160020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关键洞察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011680"/>
            <a:ext cx="3520440" cy="20116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AF8F0"/>
                </a:solidFill>
              </a:rPr>
              <a:t>数据分布中蕴含丰富的结构信息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7BC62"/>
                </a:solidFill>
              </a:rPr>
              <a:t>10%有标签 + 90%无标签 的模型性能可达全监督的95%以上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AF8F0"/>
                </a:solidFill>
              </a:rPr>
              <a:t>代表方法：FixMatch、MixMatch、UDA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8E5A"/>
                </a:solidFill>
              </a:rPr>
              <a:t>参考：Zhou Z., Machine Learning, Ch.13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不确切监督 (Inexact Supervision)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标签粒度粗于任务需求 — CV中最常见的弱监督类型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图像级标签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 Label)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874520" y="1737360"/>
            <a:ext cx="32004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194560" y="137160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候选区域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(Proposals)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566160" y="1737360"/>
            <a:ext cx="32004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86200" y="137160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MIL/注意力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(Attention)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57800" y="1737360"/>
            <a:ext cx="32004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77840" y="137160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7784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伪标签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(Pseudo Label)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1737360"/>
            <a:ext cx="32004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269480" y="1371600"/>
            <a:ext cx="1371600" cy="7315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26948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(Detector)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弱监督目标检测流程 (WSOD Pipeline)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8346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2971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弱监督目标检测 (WSOD)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3291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图像级标签 → 边界框定位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方法：WSDDN, OICR, CAM/Grad-CAM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283464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29718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弱监督语义分割 (WSSS)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37760" y="329184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图像级标签 → 像素级分割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方法：CAM, SEC, DSRM, AffinityNet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不准确监督 (Inaccurate Supervision)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标签可能存在错误 — 真实世界中的常态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21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2128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对称噪声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55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 Noise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标签以概率ε随机翻转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均匀分布到其他类别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61360" y="1463040"/>
            <a:ext cx="2621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61360" y="1463040"/>
            <a:ext cx="26212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4240" y="164592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非对称噪声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44240" y="2011680"/>
            <a:ext cx="2255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 Noise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标签偏向特定类别翻转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如猫→狗,汽车→卡车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65520" y="1463040"/>
            <a:ext cx="26212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65520" y="1463040"/>
            <a:ext cx="26212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48400" y="164592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实例相关噪声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48400" y="2011680"/>
            <a:ext cx="225552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Instance-dependent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噪声概率与输入特征相关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难度大的样本更易标错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243B2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703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影响：ImageNet训练集中约6万张图片存在标签错误(Northcutt et al., 2019)。噪声标签会降低模型泛化性能，加剧过拟合，扭曲评估指标。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多实例学习 (MIL) 核心概念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标签在包级别给出，实例级别标签未知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E8F5E0"/>
          </a:solidFill>
          <a:ln w="25400">
            <a:solidFill>
              <a:srgbClr val="97BC62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1554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正包 (Positive Bag)  Y=1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19659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 (+)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377440" y="19659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D5E5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7744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x2 (-)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05840" y="26060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606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x3 (+)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377440" y="26060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D5E5C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77440" y="2606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 (-)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0" y="1463040"/>
            <a:ext cx="3200400" cy="2286000"/>
          </a:xfrm>
          <a:prstGeom prst="roundRect">
            <a:avLst>
              <a:gd name="adj" fmla="val 4000"/>
            </a:avLst>
          </a:prstGeom>
          <a:solidFill>
            <a:srgbClr val="F5EDED"/>
          </a:solidFill>
          <a:ln w="25400">
            <a:solidFill>
              <a:srgbClr val="D4A843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394960" y="155448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85C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负包 (Negative Bag)  Y=0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0" y="19659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8D5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x5 (-)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0" y="196596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8D5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96596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x6 (-)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0" y="26060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8D5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2606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x7 (-)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2606040"/>
            <a:ext cx="1097280" cy="502920"/>
          </a:xfrm>
          <a:prstGeom prst="roundRect">
            <a:avLst>
              <a:gd name="adj" fmla="val 14545"/>
            </a:avLst>
          </a:prstGeom>
          <a:solidFill>
            <a:srgbClr val="E8D5C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2606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x8 (-)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标准MIL假设: Y = max(y_ij)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正包中至少一个实例为正；负包中全部为负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MIL 聚合算子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将实例级预测聚合为包级预测的关键操作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21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2128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4592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Pooling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f(B) = max g(x_j)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22555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选择最可能的实例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最经典但不可微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梯度只通过最大实例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61360" y="1463040"/>
            <a:ext cx="2621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61360" y="1463040"/>
            <a:ext cx="262128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44240" y="164592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Pooling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44240" y="201168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f(B) = (1/m)Σ g(x_j)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44240" y="2377440"/>
            <a:ext cx="22555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平均所有实例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平滑但可能稀释信号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简单且稳定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65520" y="1463040"/>
            <a:ext cx="26212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65520" y="1463040"/>
            <a:ext cx="262128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48400" y="164592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Pooling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248400" y="2011680"/>
            <a:ext cx="22555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i="1" dirty="0">
                <a:solidFill>
                  <a:srgbClr val="D4A8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f(B) = Σ α_j g(x_j)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48400" y="2377440"/>
            <a:ext cx="22555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学习加权聚合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端到端可训练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关注关键实例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(Ilse et al., 2018)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243B2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28600" y="370332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关键区别：Max/Mean是无参数算子，Attention通过门控网络学习权重 α_j = softmax(w^T tanh(Vx_j + Ug))，实现可微的实例选择。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注意力MIL (Attention-based MIL)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Ilse et al., ICML 2018 — 用注意力机制替代max/mean算子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实例特征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x1, x2, ..., xK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965960" y="1783080"/>
            <a:ext cx="27432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40280" y="137160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4028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门控注意力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V, U, 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11880" y="1783080"/>
            <a:ext cx="27432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886200" y="137160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权重 α_j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257800" y="1783080"/>
            <a:ext cx="27432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532120" y="137160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3212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包级嵌入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= Σ α_j x_j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1783080"/>
            <a:ext cx="27432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178040" y="137160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178040" y="137160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2560320"/>
            <a:ext cx="7680960" cy="914400"/>
          </a:xfrm>
          <a:prstGeom prst="roundRect">
            <a:avLst>
              <a:gd name="adj" fmla="val 8000"/>
            </a:avLst>
          </a:prstGeom>
          <a:solidFill>
            <a:srgbClr val="243B2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05840" y="2651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门控注意力公式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2926080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AF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α_j = exp(w^T tanh(V·x_j + U·g)) / Σ_k exp(w^T tanh(V·x_k + U·g))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246120"/>
            <a:ext cx="71323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g 为包级嵌入，V, U, w 为可学习参数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657600"/>
            <a:ext cx="76809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05840" y="3749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005840" y="402336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全局可微，支持端到端反向传播  ② 自动学习实例权重，无需人工设定  ③ 提供实例重要性可视化  ④ 在Camelyon16病理分类中AUC达0.91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731520" y="3291840"/>
          <a:ext cx="7680960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标签噪声类型详解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噪声模型影响算法选择与性能上限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164592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1097280"/>
                <a:gridCol w="3200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翻转方式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难度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典型场景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对称噪声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均匀随机翻转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中等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人工标注疲劳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非对称噪声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偏向相似类别翻转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困难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猫→狗, 汽车→卡车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实例相关噪声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与输入特征相关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最困难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模糊样本更易标错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置信学习 (Confident Learning)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Northcutt et al., 2021 — 系统量化并修正标签噪声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估计噪声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联合分布 Q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可疑样本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排序并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过滤噪声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1371600"/>
            <a:ext cx="1645920" cy="731520"/>
          </a:xfrm>
          <a:prstGeom prst="roundRect">
            <a:avLst>
              <a:gd name="adj" fmla="val 15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用清洗数据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重新训练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37744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243B2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置信联合分布估计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AF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Q(y~=i, y*=j) = (1/n) Σ 1[ỹ=i] · 1[argmax p̂(y=j; x,θ)]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063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其中 ỹ 为观测标签, y* 为真实标签, p̂ 为模型预测概率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3566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实验结果 (CIFAR-10, 20%对称噪声)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Cleanlab识别约85%噪声标签 → 清洗后准确率从72%提升至89%(接近无噪声的91%)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噪声鲁棒训练方法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在不清洗数据的情况下提升模型对噪声的鲁棒性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0005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40005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00200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对称交叉熵 (SCE)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36347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L_SCE = α·L_CE + β·L_RCE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反向交叉熵增强鲁棒性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al., 2019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86300" y="1463040"/>
            <a:ext cx="40005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86300" y="1463040"/>
            <a:ext cx="4000500" cy="54864"/>
          </a:xfrm>
          <a:prstGeom prst="rect">
            <a:avLst/>
          </a:prstGeom>
          <a:solidFill>
            <a:srgbClr val="97BC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69180" y="1600200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损失修正 (Loss Correction)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69180" y="1920240"/>
            <a:ext cx="36347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估计噪声转移矩阵T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修正预测概率: p̂' = T^(-1) p̂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Patrini et al., 2017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005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17520"/>
            <a:ext cx="4000500" cy="54864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54680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Co-Teaching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36347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训练两个网络互相选样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每个网络选择loss小的样本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给另一个网络训练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 et al., 2018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6300" y="3017520"/>
            <a:ext cx="40005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86300" y="3017520"/>
            <a:ext cx="4000500" cy="54864"/>
          </a:xfrm>
          <a:prstGeom prst="rect">
            <a:avLst/>
          </a:prstGeom>
          <a:solidFill>
            <a:srgbClr val="2C5F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69180" y="3154680"/>
            <a:ext cx="36347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2D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早停 + 样本选择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69180" y="3474720"/>
            <a:ext cx="36347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噪声样本学习慢、loss大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干净样本先被学会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用loss分布筛选干净样本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弱监督目标检测 (WSOD) 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仅用图像级标签训练目标检测器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25780" y="146304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2578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图像级标签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(Image Labels)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60220" y="1783080"/>
            <a:ext cx="137160" cy="0"/>
          </a:xfrm>
          <a:prstGeom prst="line">
            <a:avLst/>
          </a:prstGeom>
          <a:noFill/>
          <a:ln w="1270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897380" y="146304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89738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候选区域生成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(EdgeBox/SS)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31820" y="1783080"/>
            <a:ext cx="137160" cy="0"/>
          </a:xfrm>
          <a:prstGeom prst="line">
            <a:avLst/>
          </a:prstGeom>
          <a:noFill/>
          <a:ln w="1270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68980" y="146304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898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区域特征提取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(CNN/VGG)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03420" y="1783080"/>
            <a:ext cx="137160" cy="0"/>
          </a:xfrm>
          <a:prstGeom prst="line">
            <a:avLst/>
          </a:prstGeom>
          <a:noFill/>
          <a:ln w="1270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640580" y="146304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4058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MIL分类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(WSDDN)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875020" y="1783080"/>
            <a:ext cx="137160" cy="0"/>
          </a:xfrm>
          <a:prstGeom prst="line">
            <a:avLst/>
          </a:prstGeom>
          <a:noFill/>
          <a:ln w="1270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6012180" y="146304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1218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伪标签生成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+OICR精炼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246620" y="1783080"/>
            <a:ext cx="137160" cy="0"/>
          </a:xfrm>
          <a:prstGeom prst="line">
            <a:avLst/>
          </a:prstGeom>
          <a:noFill/>
          <a:ln w="1270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383780" y="1463040"/>
            <a:ext cx="1234440" cy="640080"/>
          </a:xfrm>
          <a:prstGeom prst="roundRect">
            <a:avLst>
              <a:gd name="adj" fmla="val 14286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83780" y="1463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检测器训练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377440"/>
            <a:ext cx="822960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85800" y="2514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核心挑战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" y="288036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候选区域质量：2000+区域中只有少数包含目标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多目标共存：一张图有多个目标，如何区分各自的标签贡献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定位精度：从热力图/注意力到精确边界框存在信息损失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伪标签噪声：自生成的伪标签可能不准确，形成误差累积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训练不稳定：MIL的max操作导致梯度仅通过少数实例传播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WSDDN 架构详解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Bilen &amp; Vedaldi, CVPR 2016 — 深度弱监督检测网络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371600" cy="914400"/>
          </a:xfrm>
          <a:prstGeom prst="roundRect">
            <a:avLst>
              <a:gd name="adj" fmla="val 120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图像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+候选区域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03120" y="1920240"/>
            <a:ext cx="36576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68880" y="1463040"/>
            <a:ext cx="1645920" cy="914400"/>
          </a:xfrm>
          <a:prstGeom prst="roundRect">
            <a:avLst>
              <a:gd name="adj" fmla="val 120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68880" y="146304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CNN特征提取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(VGG-16)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0" y="1920240"/>
            <a:ext cx="27432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389120" y="1280160"/>
            <a:ext cx="1645920" cy="64008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389120" y="1280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FC分类分支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softmax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389120" y="2103120"/>
            <a:ext cx="1645920" cy="64008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389120" y="21031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FC检测分支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softmax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035040" y="1234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3504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0" y="1691640"/>
            <a:ext cx="2011680" cy="640080"/>
          </a:xfrm>
          <a:prstGeom prst="roundRect">
            <a:avLst>
              <a:gd name="adj" fmla="val 1714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16916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外积融合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图像级预测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017520"/>
            <a:ext cx="8229600" cy="1371600"/>
          </a:xfrm>
          <a:prstGeom prst="roundRect">
            <a:avLst>
              <a:gd name="adj" fmla="val 5333"/>
            </a:avLst>
          </a:prstGeom>
          <a:solidFill>
            <a:srgbClr val="243B2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设计精髓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34290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AF8F0"/>
                </a:solidFill>
              </a:rPr>
              <a:t>分类分支学习图像级分类能力（什么类别存在）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AF8F0"/>
                </a:solidFill>
              </a:rPr>
              <a:t>检测分支学习区域级检测能力（哪个位置有目标）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7BC62"/>
                </a:solidFill>
              </a:rPr>
              <a:t>两分支外积融合：每个区域的得分 = 分类得分 × 检测得分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97BC62"/>
                </a:solidFill>
              </a:rPr>
              <a:t>空间softmax聚合所有区域得分 → 图像级预测（仅用图像标签监督）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 与 Grad-CAM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从分类网络提取空间定位能力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37160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输入图像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011680" y="1737360"/>
            <a:ext cx="27432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286000" y="13716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286000" y="13716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卷积层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特征图 F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931920" y="1737360"/>
            <a:ext cx="27432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206240" y="137160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20624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全局平均池化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1737360"/>
            <a:ext cx="27432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943600" y="1371600"/>
            <a:ext cx="1463040" cy="731520"/>
          </a:xfrm>
          <a:prstGeom prst="roundRect">
            <a:avLst>
              <a:gd name="adj" fmla="val 12500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943600" y="13716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 + Softmax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分类结果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06640" y="1371600"/>
            <a:ext cx="1005840" cy="731520"/>
          </a:xfrm>
          <a:prstGeom prst="roundRect">
            <a:avLst>
              <a:gd name="adj" fmla="val 12500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06640" y="1371600"/>
            <a:ext cx="1005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热力图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46888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5800" y="2606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 (Zhou et al., CVPR 2016)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92608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需要GAP层，修改网络结构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CAM = Σ w_k · F_k (权重×特征图)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分辨率受限于最后一层卷积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09160" y="2468880"/>
            <a:ext cx="397764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6060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Grad-CAM (Selvaraju et al., ICCV 2017)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92608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无需修改网络，利用梯度信息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权重 = GAP(∂y/∂F_k) (梯度全局平均)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适用于任何CNN架构，泛化性强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OICR 在线实例精炼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 et al., ICCV 2017 — 迭代提升伪标签质量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46304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2C5F2D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WSDDN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初步预测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77440" y="187452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834640" y="146304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3464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选择高置信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区域作为伪标签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480560" y="187452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937760" y="146304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D4A843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训练实例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分类器refine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874520"/>
            <a:ext cx="457200" cy="0"/>
          </a:xfrm>
          <a:prstGeom prst="line">
            <a:avLst/>
          </a:prstGeom>
          <a:noFill/>
          <a:ln w="19050">
            <a:solidFill>
              <a:srgbClr val="6B8E5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040880" y="1463040"/>
            <a:ext cx="1645920" cy="822960"/>
          </a:xfrm>
          <a:prstGeom prst="roundRect">
            <a:avLst>
              <a:gd name="adj" fmla="val 13333"/>
            </a:avLst>
          </a:prstGeom>
          <a:solidFill>
            <a:srgbClr val="97BC62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040880" y="146304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更准确的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伪标签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迭代精炼循环 ←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80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OICR 关键创新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5800" y="333756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在线精炼：在训练过程中实时更新伪标签，无需离线迭代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多实例分类器：对每个候选区域独立分类，而非仅包级预测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高置信区域选择：选择WSDDN得分最高的区域作为伪标签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F2D1F"/>
                </a:solidFill>
              </a:rPr>
              <a:t>成为后续WSOD方法的基线标准 (PST, CASD, MIST等)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4630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经典实验：CAM 弱监督定位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Zhou et al., CVPR 2016 — VOC 2007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463040"/>
            <a:ext cx="2926080" cy="2560320"/>
          </a:xfrm>
          <a:prstGeom prst="roundRect">
            <a:avLst>
              <a:gd name="adj" fmla="val 2857"/>
            </a:avLst>
          </a:prstGeom>
          <a:solidFill>
            <a:srgbClr val="243B2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9202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</a:rPr>
              <a:t>分类网络本身具有定位能力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GAP层的权重编码了空间位置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</a:rPr>
              <a:t>无需任何边界框标注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</a:rPr>
              <a:t>虽远低于全监督(82.3%)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但证明了弱监督的可行性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B8E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 = F.relu(F.conv2d(feat, fc.weight.unsqueeze(-1).unsqueeze(-1)))  # 加权特征图求和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1463040"/>
          <a:ext cx="50292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经典实验：注意力MIL 病理分类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Ilse et al., ICML 2018 — Camelyon16 数据集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760720" y="1463040"/>
            <a:ext cx="2926080" cy="2560320"/>
          </a:xfrm>
          <a:prstGeom prst="roundRect">
            <a:avLst>
              <a:gd name="adj" fmla="val 2857"/>
            </a:avLst>
          </a:prstGeom>
          <a:solidFill>
            <a:srgbClr val="243B26"/>
          </a:solidFill>
          <a:ln/>
          <a:effectLst>
            <a:outerShdw sx="100000" sy="100000" kx="0" ky="0" algn="bl" rotWithShape="0" blurRad="152400" dist="50800" dir="8100000">
              <a:srgbClr val="000000">
                <a:alpha val="2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0" y="1600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关键发现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943600" y="1920240"/>
            <a:ext cx="2560320" cy="1828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</a:rPr>
              <a:t>注意力MIL接近专家水平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仅需WSI级诊断标签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</a:rPr>
              <a:t>无需像素级病灶标注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</a:rPr>
              <a:t>极大降低医学影像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8F0"/>
                </a:solidFill>
              </a:rPr>
              <a:t>分析标注成本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注意力权重可可视化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843"/>
                </a:solidFill>
              </a:rPr>
              <a:t>辅助医生定位病灶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spc="150" kern="0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术语表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914400" cy="36576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本节核心术语汇总</a:t>
            </a:r>
            <a:endParaRPr lang="en-US" sz="14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92608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4114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术语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英文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AF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释义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弱监督学习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Weakly Supervised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使用不完整/不确切/不准确标签学习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多实例学习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标签在包级别给出，实例级别未知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置信学习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Confident Learning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估计并修正标签噪声的框架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弱监督目标检测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WSOD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仅用图像级标签训练检测器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类别激活映射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从分类网络生成定位热力图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注意力MIL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Attention-based MIL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用注意力聚合实例特征的MIL方法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在线实例精炼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D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迭代改进伪标签的WSOD方法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D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5E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F3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data/user/work/bg_forest_16x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A20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spc="250" kern="0" dirty="0">
                <a:solidFill>
                  <a:srgbClr val="FAF8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感谢学习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FAF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弱监督不是权宜之计，而是理解智能本质的必经之路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200400" y="3383280"/>
            <a:ext cx="2743200" cy="45720"/>
          </a:xfrm>
          <a:prstGeom prst="rect">
            <a:avLst/>
          </a:prstGeom>
          <a:solidFill>
            <a:srgbClr val="D4A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89 预告：持续学习（Continual Learning）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88 弱监督学习 - 笔记版</dc:title>
  <dc:subject>PptxGenJS Presentation</dc:subject>
  <dc:creator>CV Learning 100 Days</dc:creator>
  <cp:lastModifiedBy>CV Learning 100 Days</cp:lastModifiedBy>
  <cp:revision>1</cp:revision>
  <dcterms:created xsi:type="dcterms:W3CDTF">2026-08-21T05:20:53Z</dcterms:created>
  <dcterms:modified xsi:type="dcterms:W3CDTF">2026-08-21T05:20:53Z</dcterms:modified>
</cp:coreProperties>
</file>