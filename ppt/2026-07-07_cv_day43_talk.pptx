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欢迎来到Day 43！今天我们将深入探讨Swin Transformer，这篇在ICCV 2021获得最佳论文提名的开创性工作。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Swin Transformer的四大创新点。先整体概览，后面逐一展开。重点：它如何将Transformer和CNN的优势结合起来。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ViT虽然强大，但有两个致命缺陷：计算复杂度太高，且缺乏多尺度特征。这为Swin Transformer的诞生提供了动机。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Swin Transformer来自微软亚洲研究院，ICCV 2021最佳论文。其核心思路是将Transformer改造为层级式结构，用窗口注意力降低复杂度。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Swin Transformer采用4个Stage的层级架构，每个Stage包含若干Swin Transformer Block。通过Patch Merging逐层降低分辨率。这与ResNet的设计理念一脉相承。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W-MSA是Swin Transformer的核心创新。通过将自注意力限制在局部窗口内，计算复杂度从O(n^2)降低到O(n)。这让高分辨率输入成为可能。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W-MSA和SW-MSA交替使用。移位窗口让信息能够跨窗口流通，同时保持线性复杂度。循环移位和反向移位是关键技巧。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两个重要的辅助机制。相对位置偏置增强了位置感知，Patch Merging实现了类似CNN中池化/步幅卷积的下采样效果。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Swin Transformer在三大主流视觉任务上全面超越ViT和传统CNN方法。特别是检测和分割任务，优势明显。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Swin Transformer的层级特性使其非常适合需要多尺度分析的下游任务。窗口注意力的线性复杂度使得处理高分辨率图像成为可能。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刘泽是Swin Transformer的第一作者，何恺明作为合作者在MSRA期间对这一工作有重要贡献。两人都是CV领域的顶尖研究者。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这四篇论文是Swin Transformer系列的必读文献。第一篇是原论文，后续的V2和各种变体展现了Swin架构的强大可扩展性。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三道思考题帮助巩固核心概念。鼓励大家课后深入思考和讨论。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五个核心术语速览。掌握这些术语是理解Swin Transformer的基础。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下一节将进入语义分割专题。Swin Transformer在分割任务上表现优异，因此本节也是为Day 44做铺垫。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感谢大家的关注！推荐阅读原始论文和官方代码仓库，动手实践是最佳学习方式。明天Day 44见！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463040"/>
            <a:ext cx="9144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3840480"/>
            <a:ext cx="9144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645920"/>
            <a:ext cx="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2194560"/>
            <a:ext cx="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Swin Transformer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371600" y="3017520"/>
            <a:ext cx="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层级式视觉Transformer的革命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4114800"/>
            <a:ext cx="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计算机视觉100天学习计划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4572000"/>
            <a:ext cx="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2026-07-07</a:t>
            </a:r>
            <a:endParaRPr lang="en-US" sz="1400" dirty="0"/>
          </a:p>
        </p:txBody>
      </p:sp>
      <p:pic>
        <p:nvPicPr>
          <p:cNvPr id="9" name="Image 0" descr="/workspace/cv_learning/cv_day043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4937760"/>
            <a:ext cx="1828800" cy="91440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概览：四个核心创新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234440"/>
            <a:ext cx="356616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2984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层级架构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类似CNN的多尺度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特征金字塔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34440"/>
            <a:ext cx="356616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2984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W-MSA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16459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窗口自注意力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线性复杂度O(n)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7889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2834640"/>
            <a:ext cx="356616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8986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SW-MSA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32461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移位窗口实现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跨窗口信息交流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7889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834640"/>
            <a:ext cx="356616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8986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相对位置编码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92040" y="32461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增强位置感知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提升迁移能力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411480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160520"/>
            <a:ext cx="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核心思想：将Transformer的优势与CNN的层级性完美结合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ViT的瓶颈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234440"/>
            <a:ext cx="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问题一：O(n^2) 计算复杂度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全局自注意力计算量巨大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图片分辨率增大 → token数爆炸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高分辨率场景几乎不可行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内存占用随分辨率平方增长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109728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0" y="1234440"/>
            <a:ext cx="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问题二：缺乏多尺度特征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0" y="1645920"/>
            <a:ext cx="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ViT保持单一尺度特征图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无法构建特征金字塔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下游密集预测任务受限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不利于物体检测/分割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Swin Transformer诞生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ICCV 2021 Best Paper Nomination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18872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2C5F2D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280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ICCV 2021 最佳论文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6916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Transformer: Hierarchical Vision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using Shifted Windows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468880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2560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 Liu, Yutong Lin, Yue Cao ...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880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Research Asia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0" y="1188720"/>
            <a:ext cx="32004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23560" y="1280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1792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层级特征表示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0" y="1965960"/>
            <a:ext cx="32004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23560" y="2057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1792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窗口自注意力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0" y="2743200"/>
            <a:ext cx="32004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23560" y="2834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217920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移位窗口连接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0" y="3520440"/>
            <a:ext cx="32004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23560" y="3611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21792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相对位置偏置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层级架构：从Patch到特征金字塔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188720"/>
          <a:ext cx="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19456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分辨率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层数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注意力窗口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H/4 x W/4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2层 Swin Block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x 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H/8 x W/8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2层 Swin Block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x 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H/16 x W/16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6层 Swin Block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x 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H/32 x W/32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2层 Swin Block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x 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14400" y="3657600"/>
            <a:ext cx="914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88720" y="3794760"/>
            <a:ext cx="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Patch Embedding: 类似CNN中Conv2d的下采样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Patch Merging: 类似池化，降低分辨率、增加通道数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1325880"/>
            <a:ext cx="109728" cy="320040"/>
          </a:xfrm>
          <a:prstGeom prst="rect">
            <a:avLst>
              <a:gd name="adj" fmla="val 16667"/>
            </a:avLst>
          </a:prstGeom>
          <a:solidFill>
            <a:srgbClr val="2C5F2D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783080"/>
            <a:ext cx="109728" cy="320040"/>
          </a:xfrm>
          <a:prstGeom prst="rect">
            <a:avLst>
              <a:gd name="adj" fmla="val 16667"/>
            </a:avLst>
          </a:prstGeom>
          <a:solidFill>
            <a:srgbClr val="97BC62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240280"/>
            <a:ext cx="109728" cy="320040"/>
          </a:xfrm>
          <a:prstGeom prst="rect">
            <a:avLst>
              <a:gd name="adj" fmla="val 16667"/>
            </a:avLst>
          </a:prstGeom>
          <a:solidFill>
            <a:srgbClr val="D4A843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2697480"/>
            <a:ext cx="109728" cy="320040"/>
          </a:xfrm>
          <a:prstGeom prst="rect">
            <a:avLst>
              <a:gd name="adj" fmla="val 16667"/>
            </a:avLst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W-MSA: 窗口自注意力机制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38404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标准自注意力 (全局)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每个token与所有token交互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194560"/>
            <a:ext cx="2560320" cy="731520"/>
          </a:xfrm>
          <a:prstGeom prst="roundRect">
            <a:avLst>
              <a:gd name="adj" fmla="val 7500"/>
            </a:avLst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240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复杂度: O(n^2)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H x W (特征图大小)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8404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窗口自注意力 (W-MSA)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每个token仅在局部窗口内交互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03520" y="2194560"/>
            <a:ext cx="301752" cy="301752"/>
          </a:xfrm>
          <a:prstGeom prst="rect">
            <a:avLst>
              <a:gd name="adj" fmla="val 9091"/>
            </a:avLst>
          </a:prstGeom>
          <a:solidFill>
            <a:srgbClr val="97BC62"/>
          </a:solidFill>
          <a:ln/>
        </p:spPr>
      </p:sp>
      <p:sp>
        <p:nvSpPr>
          <p:cNvPr id="15" name="Shape 13"/>
          <p:cNvSpPr/>
          <p:nvPr/>
        </p:nvSpPr>
        <p:spPr>
          <a:xfrm>
            <a:off x="5623560" y="2194560"/>
            <a:ext cx="301752" cy="301752"/>
          </a:xfrm>
          <a:prstGeom prst="rect">
            <a:avLst>
              <a:gd name="adj" fmla="val 9091"/>
            </a:avLst>
          </a:prstGeom>
          <a:solidFill>
            <a:srgbClr val="97BC62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2194560"/>
            <a:ext cx="301752" cy="301752"/>
          </a:xfrm>
          <a:prstGeom prst="rect">
            <a:avLst>
              <a:gd name="adj" fmla="val 9091"/>
            </a:avLst>
          </a:prstGeom>
          <a:solidFill>
            <a:srgbClr val="D4A843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0" y="2514600"/>
            <a:ext cx="301752" cy="301752"/>
          </a:xfrm>
          <a:prstGeom prst="rect">
            <a:avLst>
              <a:gd name="adj" fmla="val 9091"/>
            </a:avLst>
          </a:prstGeom>
          <a:solidFill>
            <a:srgbClr val="97BC62"/>
          </a:solidFill>
          <a:ln/>
        </p:spPr>
      </p:sp>
      <p:sp>
        <p:nvSpPr>
          <p:cNvPr id="18" name="Shape 16"/>
          <p:cNvSpPr/>
          <p:nvPr/>
        </p:nvSpPr>
        <p:spPr>
          <a:xfrm>
            <a:off x="5623560" y="2514600"/>
            <a:ext cx="301752" cy="301752"/>
          </a:xfrm>
          <a:prstGeom prst="rect">
            <a:avLst>
              <a:gd name="adj" fmla="val 9091"/>
            </a:avLst>
          </a:prstGeom>
          <a:solidFill>
            <a:srgbClr val="97BC62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0" y="2514600"/>
            <a:ext cx="301752" cy="301752"/>
          </a:xfrm>
          <a:prstGeom prst="rect">
            <a:avLst>
              <a:gd name="adj" fmla="val 9091"/>
            </a:avLst>
          </a:prstGeom>
          <a:solidFill>
            <a:srgbClr val="D4A843"/>
          </a:solidFill>
          <a:ln/>
        </p:spPr>
      </p:sp>
      <p:sp>
        <p:nvSpPr>
          <p:cNvPr id="20" name="Shape 18"/>
          <p:cNvSpPr/>
          <p:nvPr/>
        </p:nvSpPr>
        <p:spPr>
          <a:xfrm>
            <a:off x="5303520" y="2834640"/>
            <a:ext cx="301752" cy="301752"/>
          </a:xfrm>
          <a:prstGeom prst="rect">
            <a:avLst>
              <a:gd name="adj" fmla="val 9091"/>
            </a:avLst>
          </a:prstGeom>
          <a:solidFill>
            <a:srgbClr val="C6E2B5"/>
          </a:solidFill>
          <a:ln/>
        </p:spPr>
      </p:sp>
      <p:sp>
        <p:nvSpPr>
          <p:cNvPr id="21" name="Shape 19"/>
          <p:cNvSpPr/>
          <p:nvPr/>
        </p:nvSpPr>
        <p:spPr>
          <a:xfrm>
            <a:off x="5623560" y="2834640"/>
            <a:ext cx="301752" cy="301752"/>
          </a:xfrm>
          <a:prstGeom prst="rect">
            <a:avLst>
              <a:gd name="adj" fmla="val 9091"/>
            </a:avLst>
          </a:prstGeom>
          <a:solidFill>
            <a:srgbClr val="C6E2B5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0" y="2834640"/>
            <a:ext cx="301752" cy="301752"/>
          </a:xfrm>
          <a:prstGeom prst="rect">
            <a:avLst>
              <a:gd name="adj" fmla="val 9091"/>
            </a:avLst>
          </a:prstGeom>
          <a:solidFill>
            <a:srgbClr val="97BC62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0" y="315468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1821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复杂度: O(n)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434840" y="2103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&gt;&gt;&gt;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731520" y="402336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041648"/>
            <a:ext cx="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默认窗口大小 M=7，每个窗口包含 7x7=49 个token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SW-MSA: 移位窗口连接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L: W-MSA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97280" y="1828800"/>
            <a:ext cx="429768" cy="429768"/>
          </a:xfrm>
          <a:prstGeom prst="rect">
            <a:avLst>
              <a:gd name="adj" fmla="val 6383"/>
            </a:avLst>
          </a:prstGeom>
          <a:solidFill>
            <a:srgbClr val="97BC62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1828800"/>
            <a:ext cx="429768" cy="429768"/>
          </a:xfrm>
          <a:prstGeom prst="rect">
            <a:avLst>
              <a:gd name="adj" fmla="val 6383"/>
            </a:avLst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2011680" y="1828800"/>
            <a:ext cx="429768" cy="429768"/>
          </a:xfrm>
          <a:prstGeom prst="rect">
            <a:avLst>
              <a:gd name="adj" fmla="val 6383"/>
            </a:avLst>
          </a:prstGeom>
          <a:solidFill>
            <a:srgbClr val="D4A843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286000"/>
            <a:ext cx="429768" cy="429768"/>
          </a:xfrm>
          <a:prstGeom prst="rect">
            <a:avLst>
              <a:gd name="adj" fmla="val 6383"/>
            </a:avLst>
          </a:prstGeom>
          <a:solidFill>
            <a:srgbClr val="97BC62"/>
          </a:solidFill>
          <a:ln/>
        </p:spPr>
      </p:sp>
      <p:sp>
        <p:nvSpPr>
          <p:cNvPr id="11" name="Shape 9"/>
          <p:cNvSpPr/>
          <p:nvPr/>
        </p:nvSpPr>
        <p:spPr>
          <a:xfrm>
            <a:off x="1554480" y="2286000"/>
            <a:ext cx="429768" cy="429768"/>
          </a:xfrm>
          <a:prstGeom prst="rect">
            <a:avLst>
              <a:gd name="adj" fmla="val 6383"/>
            </a:avLst>
          </a:prstGeom>
          <a:solidFill>
            <a:srgbClr val="97BC62"/>
          </a:solidFill>
          <a:ln/>
        </p:spPr>
      </p:sp>
      <p:sp>
        <p:nvSpPr>
          <p:cNvPr id="12" name="Shape 10"/>
          <p:cNvSpPr/>
          <p:nvPr/>
        </p:nvSpPr>
        <p:spPr>
          <a:xfrm>
            <a:off x="2011680" y="2286000"/>
            <a:ext cx="429768" cy="429768"/>
          </a:xfrm>
          <a:prstGeom prst="rect">
            <a:avLst>
              <a:gd name="adj" fmla="val 6383"/>
            </a:avLst>
          </a:prstGeom>
          <a:solidFill>
            <a:srgbClr val="D4A843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" y="2743200"/>
            <a:ext cx="429768" cy="429768"/>
          </a:xfrm>
          <a:prstGeom prst="rect">
            <a:avLst>
              <a:gd name="adj" fmla="val 6383"/>
            </a:avLst>
          </a:prstGeom>
          <a:solidFill>
            <a:srgbClr val="D4A843"/>
          </a:solidFill>
          <a:ln/>
        </p:spPr>
      </p:sp>
      <p:sp>
        <p:nvSpPr>
          <p:cNvPr id="14" name="Shape 12"/>
          <p:cNvSpPr/>
          <p:nvPr/>
        </p:nvSpPr>
        <p:spPr>
          <a:xfrm>
            <a:off x="1554480" y="2743200"/>
            <a:ext cx="429768" cy="429768"/>
          </a:xfrm>
          <a:prstGeom prst="rect">
            <a:avLst>
              <a:gd name="adj" fmla="val 6383"/>
            </a:avLst>
          </a:prstGeom>
          <a:solidFill>
            <a:srgbClr val="D4A843"/>
          </a:solidFill>
          <a:ln/>
        </p:spPr>
      </p:sp>
      <p:sp>
        <p:nvSpPr>
          <p:cNvPr id="15" name="Shape 13"/>
          <p:cNvSpPr/>
          <p:nvPr/>
        </p:nvSpPr>
        <p:spPr>
          <a:xfrm>
            <a:off x="2011680" y="2743200"/>
            <a:ext cx="429768" cy="429768"/>
          </a:xfrm>
          <a:prstGeom prst="rect">
            <a:avLst>
              <a:gd name="adj" fmla="val 6383"/>
            </a:avLst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200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规则窗口划分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0" y="2011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&lt;=&gt;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389120" y="2560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交替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12080" y="118872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L+1: SW-MSA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577840" y="1828800"/>
            <a:ext cx="429768" cy="429768"/>
          </a:xfrm>
          <a:prstGeom prst="rect">
            <a:avLst>
              <a:gd name="adj" fmla="val 6383"/>
            </a:avLst>
          </a:prstGeom>
          <a:solidFill>
            <a:srgbClr val="D4A843"/>
          </a:solidFill>
          <a:ln/>
        </p:spPr>
      </p:sp>
      <p:sp>
        <p:nvSpPr>
          <p:cNvPr id="22" name="Shape 20"/>
          <p:cNvSpPr/>
          <p:nvPr/>
        </p:nvSpPr>
        <p:spPr>
          <a:xfrm>
            <a:off x="6035040" y="1828800"/>
            <a:ext cx="429768" cy="429768"/>
          </a:xfrm>
          <a:prstGeom prst="rect">
            <a:avLst>
              <a:gd name="adj" fmla="val 6383"/>
            </a:avLst>
          </a:prstGeom>
          <a:solidFill>
            <a:srgbClr val="97BC62"/>
          </a:solidFill>
          <a:ln/>
        </p:spPr>
      </p:sp>
      <p:sp>
        <p:nvSpPr>
          <p:cNvPr id="23" name="Shape 21"/>
          <p:cNvSpPr/>
          <p:nvPr/>
        </p:nvSpPr>
        <p:spPr>
          <a:xfrm>
            <a:off x="6492240" y="1828800"/>
            <a:ext cx="429768" cy="429768"/>
          </a:xfrm>
          <a:prstGeom prst="rect">
            <a:avLst>
              <a:gd name="adj" fmla="val 6383"/>
            </a:avLst>
          </a:prstGeom>
          <a:solidFill>
            <a:srgbClr val="D4A843"/>
          </a:solidFill>
          <a:ln/>
        </p:spPr>
      </p:sp>
      <p:sp>
        <p:nvSpPr>
          <p:cNvPr id="24" name="Shape 22"/>
          <p:cNvSpPr/>
          <p:nvPr/>
        </p:nvSpPr>
        <p:spPr>
          <a:xfrm>
            <a:off x="5577840" y="2286000"/>
            <a:ext cx="429768" cy="429768"/>
          </a:xfrm>
          <a:prstGeom prst="rect">
            <a:avLst>
              <a:gd name="adj" fmla="val 6383"/>
            </a:avLst>
          </a:prstGeom>
          <a:solidFill>
            <a:srgbClr val="97BC62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0" y="2286000"/>
            <a:ext cx="429768" cy="429768"/>
          </a:xfrm>
          <a:prstGeom prst="rect">
            <a:avLst>
              <a:gd name="adj" fmla="val 6383"/>
            </a:avLst>
          </a:prstGeom>
          <a:solidFill>
            <a:srgbClr val="D4A843"/>
          </a:solidFill>
          <a:ln/>
        </p:spPr>
      </p:sp>
      <p:sp>
        <p:nvSpPr>
          <p:cNvPr id="26" name="Shape 24"/>
          <p:cNvSpPr/>
          <p:nvPr/>
        </p:nvSpPr>
        <p:spPr>
          <a:xfrm>
            <a:off x="6492240" y="2286000"/>
            <a:ext cx="429768" cy="429768"/>
          </a:xfrm>
          <a:prstGeom prst="rect">
            <a:avLst>
              <a:gd name="adj" fmla="val 6383"/>
            </a:avLst>
          </a:prstGeom>
          <a:solidFill>
            <a:srgbClr val="97BC62"/>
          </a:solidFill>
          <a:ln/>
        </p:spPr>
      </p:sp>
      <p:sp>
        <p:nvSpPr>
          <p:cNvPr id="27" name="Shape 25"/>
          <p:cNvSpPr/>
          <p:nvPr/>
        </p:nvSpPr>
        <p:spPr>
          <a:xfrm>
            <a:off x="5577840" y="2743200"/>
            <a:ext cx="429768" cy="429768"/>
          </a:xfrm>
          <a:prstGeom prst="rect">
            <a:avLst>
              <a:gd name="adj" fmla="val 6383"/>
            </a:avLst>
          </a:prstGeom>
          <a:solidFill>
            <a:srgbClr val="D4A843"/>
          </a:solidFill>
          <a:ln/>
        </p:spPr>
      </p:sp>
      <p:sp>
        <p:nvSpPr>
          <p:cNvPr id="28" name="Shape 26"/>
          <p:cNvSpPr/>
          <p:nvPr/>
        </p:nvSpPr>
        <p:spPr>
          <a:xfrm>
            <a:off x="6035040" y="2743200"/>
            <a:ext cx="429768" cy="429768"/>
          </a:xfrm>
          <a:prstGeom prst="rect">
            <a:avLst>
              <a:gd name="adj" fmla="val 6383"/>
            </a:avLst>
          </a:prstGeom>
          <a:solidFill>
            <a:srgbClr val="97BC62"/>
          </a:solidFill>
          <a:ln/>
        </p:spPr>
      </p:sp>
      <p:sp>
        <p:nvSpPr>
          <p:cNvPr id="29" name="Shape 27"/>
          <p:cNvSpPr/>
          <p:nvPr/>
        </p:nvSpPr>
        <p:spPr>
          <a:xfrm>
            <a:off x="6492240" y="2743200"/>
            <a:ext cx="429768" cy="429768"/>
          </a:xfrm>
          <a:prstGeom prst="rect">
            <a:avLst>
              <a:gd name="adj" fmla="val 6383"/>
            </a:avLst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5394960" y="3200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窗口偏移 (M/2, M/2)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31520" y="3840480"/>
            <a:ext cx="914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4400" y="3931920"/>
            <a:ext cx="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移位窗口使相邻层之间的不同窗口能够交互，实现跨窗口信息流通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1520" y="4663440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4681728"/>
            <a:ext cx="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通过循环移位实现高效计算，避免增加实际计算量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相对位置编码 + Patch Merging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234440"/>
            <a:ext cx="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相对位置偏置 (RPB)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沿x/y方向计算相对位置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学习位置偏置参数 B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对每个注意力头独立参数化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提升模型的泛化能力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比绝对位置编码效果更好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109728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0" y="1234440"/>
            <a:ext cx="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Patch Merging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0" y="1645920"/>
            <a:ext cx="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类似Pixel Shuffle的逆操作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2x2 patch合并 → 通道数x4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线性层降维: 4C → 2C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分辨率减半, 通道数翻倍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构建层级式特征金字塔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438912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407408"/>
            <a:ext cx="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Attention(Q,K,V) = Softmax(QK^T / sqrt(d) + B) V    |    B = 相对位置偏置矩阵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性能对比：全面超越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070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ImageNet 分类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828800"/>
          <a:ext cx="32004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1005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Swin-Base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47.0G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Swin-Large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68.1G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ViT-Large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61.6G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663440" y="1188720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12070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COCO 检测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663440" y="173736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828800"/>
          <a:ext cx="32004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1005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Swin-Base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49.3 box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47.0G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Swin-Large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51.9 box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68.1G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DeiT-Base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43.5 box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8595360" y="1188720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0" y="12070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ADE20K 分割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595360" y="173736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732520" y="1828800"/>
          <a:ext cx="32004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1005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Swin-Base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49.7 mIoU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47.0G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Swin-Large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53.5 mIoU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68.1G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Setr-Large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 mIoU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731520" y="4480560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D4A843"/>
          </a:solidFill>
          <a:ln/>
        </p:spPr>
      </p:sp>
      <p:sp>
        <p:nvSpPr>
          <p:cNvPr id="18" name="Text 13"/>
          <p:cNvSpPr/>
          <p:nvPr/>
        </p:nvSpPr>
        <p:spPr>
          <a:xfrm>
            <a:off x="914400" y="4498848"/>
            <a:ext cx="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Swin Transformer在分类、检测、分割三大任务上均达到SOTA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应用场景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234440"/>
            <a:ext cx="356616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2984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多尺度感知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实时目标检测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34440"/>
            <a:ext cx="356616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2984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16459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病灶分割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病理分析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60604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2651760"/>
            <a:ext cx="356616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7157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30632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大尺寸图像处理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土地利用分类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60604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651760"/>
            <a:ext cx="356616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7157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92040" y="30632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缺陷检测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精密测量</a:t>
            </a:r>
            <a:endParaRPr lang="en-US" sz="1400" dirty="0"/>
          </a:p>
        </p:txBody>
      </p:sp>
      <p:pic>
        <p:nvPicPr>
          <p:cNvPr id="21" name="Image 0" descr="/workspace/cv_learning/cv_day043_applicatio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0" y="3657600"/>
            <a:ext cx="5852160" cy="137160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关键人物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393192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刘泽  Ze Liu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微软亚洲研究院 (MSRA)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Transformer 第一作者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ICCV 2021 最佳论文提名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研究方向: 视觉Transformer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推动ViT架构创新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1188720"/>
            <a:ext cx="393192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何恺明  Kaiming He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394960" y="192024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/ FAIR / MSRA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ResNet, Mask R-CNN, MAE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CV领域最具影响力学者之一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Transformer合作导师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多篇论文引用量10万+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572000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590288"/>
            <a:ext cx="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Transformer的诞生离不开MSRA卓越的研究环境与团队协作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核心论文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914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2801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3258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11704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Swin Transformer (原论文)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148132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al., ICCV 2021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Vision Transformer using Shifted Windows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132588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1325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ICCV 2021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103120"/>
            <a:ext cx="914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22860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331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21762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Swin Transformer V2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248716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al., CVPR 2022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Up Vision Transformers to 3 Billion Parameters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23317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2331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CVPR 2022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108960"/>
            <a:ext cx="914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329184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3375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54480" y="31821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SwinIR (图像恢复)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349300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Liang et al., ICCVW 2021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Restoration Using Swin Transformer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4400" y="333756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3337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ICCVW 2021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4114800"/>
            <a:ext cx="914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68680" y="42976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43434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554480" y="41879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Swin UNET (医学分割)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54480" y="449884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 et al., arXiv 2021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Transformer for UNet-like Medical Image Segmentation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14400" y="434340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D4A843"/>
          </a:solidFill>
          <a:ln/>
        </p:spPr>
      </p:sp>
      <p:sp>
        <p:nvSpPr>
          <p:cNvPr id="32" name="Text 30"/>
          <p:cNvSpPr/>
          <p:nvPr/>
        </p:nvSpPr>
        <p:spPr>
          <a:xfrm>
            <a:off x="0" y="4343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arXiv 2021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9144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3258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1280160"/>
            <a:ext cx="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为什么窗口大小 M=7 是默认值？增大或减小M会带来什么影响？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00200" y="1783080"/>
            <a:ext cx="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考虑计算复杂度和感受野之间的权衡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9144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260604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651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00200" y="2560320"/>
            <a:ext cx="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Transformer的层级架构与ResNet有哪些本质异同？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00200" y="3063240"/>
            <a:ext cx="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对比特征提取方式、下采样策略和信息流动方式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9144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388620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931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3840480"/>
            <a:ext cx="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移位窗口中的循环移位技术是如何保证计算效率的？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00200" y="4343400"/>
            <a:ext cx="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思考mask矩阵和batch操作的作用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术语速览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914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1887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2070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W-MSA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26080" y="1207008"/>
            <a:ext cx="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Window-based Multi-head Self-Attention, 窗口多头自注意力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1874520"/>
            <a:ext cx="914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96596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98424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SW-MSA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26080" y="1984248"/>
            <a:ext cx="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 Window MSA, 移位窗口多头自注意力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2651760"/>
            <a:ext cx="914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274320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7614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Patch Merging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26080" y="2761488"/>
            <a:ext cx="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特征图下采样操作，合并2x2 patch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429000"/>
            <a:ext cx="914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352044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5387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926080" y="3538728"/>
            <a:ext cx="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Position Bias, 相对位置偏置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1520" y="4206240"/>
            <a:ext cx="914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" y="429768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3159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Swin Block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926080" y="4315968"/>
            <a:ext cx="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基本模块: LayerNorm → W/SW-MSA → LayerNorm → MLP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371600"/>
            <a:ext cx="68580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371600"/>
            <a:ext cx="6858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6459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语义分割基础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71600" y="2834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Segmentation Fundamentals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32918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FCN: 全卷积网络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U-Net: 编码器-解码器架构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DeepLab系列: 空洞卷积与ASPP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语义分割评价指标: mIoU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188720"/>
            <a:ext cx="9144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4389120"/>
            <a:ext cx="9144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371600"/>
            <a:ext cx="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651760"/>
            <a:ext cx="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参考资源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3017520"/>
            <a:ext cx="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论文: arxiv.org/abs/2103.14030 (Swin Transformer)</a:t>
            </a:r>
            <a:endParaRPr lang="en-US" sz="14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代码: github.com/microsoft/Swin-Transformer</a:t>
            </a:r>
            <a:endParaRPr lang="en-US" sz="14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100天计划: github.com/your-repo/cv-100-days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4572000"/>
            <a:ext cx="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计算机视觉100天学习计划 | Day 43 / 100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937760"/>
            <a:ext cx="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43: Swin Transformer</dc:title>
  <dc:subject>PptxGenJS Presentation</dc:subject>
  <dc:creator>CV 100 Days</dc:creator>
  <cp:lastModifiedBy>CV 100 Days</cp:lastModifiedBy>
  <cp:revision>1</cp:revision>
  <dcterms:created xsi:type="dcterms:W3CDTF">2026-07-07T05:23:44Z</dcterms:created>
  <dcterms:modified xsi:type="dcterms:W3CDTF">2026-07-07T05:23:44Z</dcterms:modified>
</cp:coreProperties>
</file>