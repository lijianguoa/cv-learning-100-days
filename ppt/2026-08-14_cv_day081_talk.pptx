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cv_learning/cv_day081_cove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C5F2D">
              <a:alpha val="4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13716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81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457200" y="201168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A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模型部署基础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57200" y="30175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量化 · 剪枝 · 知识蒸馏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为什么需要模型优化？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0116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1.38亿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VGGNet参数量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500MB+存储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0" y="1097280"/>
            <a:ext cx="20116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1760" y="14630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150亿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651760" y="2194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单次前向传播FLOPs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51760" y="2651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计算量巨大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097280"/>
            <a:ext cx="20116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4630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500ms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846320" y="2194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移动端推理延迟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2651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用户体验差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49440" y="1097280"/>
            <a:ext cx="20116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0" y="14630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10W+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040880" y="2194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GPU功耗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040880" y="2651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边缘设备不可承受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三大核心支柱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651760" cy="3200400"/>
          </a:xfrm>
          <a:prstGeom prst="rect">
            <a:avLst/>
          </a:prstGeom>
          <a:solidFill>
            <a:srgbClr val="FFFFFF"/>
          </a:solidFill>
          <a:ln w="38100">
            <a:solidFill>
              <a:srgbClr val="2C5F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2651760" cy="914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3716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量化 Quantization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219456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FP32 → INT8/INT4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减少75%+内存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1005840"/>
            <a:ext cx="2651760" cy="3200400"/>
          </a:xfrm>
          <a:prstGeom prst="rect">
            <a:avLst/>
          </a:prstGeom>
          <a:solidFill>
            <a:srgbClr val="FFFFFF"/>
          </a:solidFill>
          <a:ln w="38100">
            <a:solidFill>
              <a:srgbClr val="97BC6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1005840"/>
            <a:ext cx="2651760" cy="9144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0" name="Text 8"/>
          <p:cNvSpPr/>
          <p:nvPr/>
        </p:nvSpPr>
        <p:spPr>
          <a:xfrm>
            <a:off x="3429000" y="13716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剪枝 Pruning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29000" y="219456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移除冗余连接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稀疏化模型结构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005840"/>
            <a:ext cx="2651760" cy="3200400"/>
          </a:xfrm>
          <a:prstGeom prst="rect">
            <a:avLst/>
          </a:prstGeom>
          <a:solidFill>
            <a:srgbClr val="FFFFFF"/>
          </a:solidFill>
          <a:ln w="38100">
            <a:solidFill>
              <a:srgbClr val="D4A84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005840"/>
            <a:ext cx="2651760" cy="914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4" name="Text 12"/>
          <p:cNvSpPr/>
          <p:nvPr/>
        </p:nvSpPr>
        <p:spPr>
          <a:xfrm>
            <a:off x="6355080" y="13716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知识蒸馏 Distillation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55080" y="219456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教师→学生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传递暗知识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量化：从32位到4位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4572000" cy="201168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143000"/>
                <a:gridCol w="114300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AF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格式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AF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位数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AF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内存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AF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加速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FP32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1.5-2x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2-4x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4-8x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303520" y="10058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PTQ vs QAT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303520" y="1463040"/>
            <a:ext cx="3200400" cy="1645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PTQ：直接量化预训练模型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简单快速，精度损失可能较大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QAT：训练过程中模拟量化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精度更优，但需要额外训练成本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3291840"/>
            <a:ext cx="8229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34290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x_quant = round((x - z) / s)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剪枝：三种粒度策略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65176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2651760" cy="4572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972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A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非结构化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90%+稀疏度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1945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压缩率极高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6517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需专用稀疏库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1005840"/>
            <a:ext cx="265176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1005840"/>
            <a:ext cx="2651760" cy="4572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10972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A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结构化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29000" y="1645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通道/层裁剪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29000" y="21945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直接加速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29000" y="26517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压缩率较低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1005840"/>
            <a:ext cx="265176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D4A84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1005840"/>
            <a:ext cx="2651760" cy="4572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8" name="Text 16"/>
          <p:cNvSpPr/>
          <p:nvPr/>
        </p:nvSpPr>
        <p:spPr>
          <a:xfrm>
            <a:off x="6355080" y="10972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A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N:M稀疏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55080" y="1645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如2:4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55080" y="21945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硬件友好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55080" y="26517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稀疏度受限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知识蒸馏：传递暗知识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200400" cy="25603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教师网络 Teacher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大模型 | 高精度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输出软标签概率分布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840480" y="1920240"/>
            <a:ext cx="1097280" cy="548640"/>
          </a:xfrm>
          <a:prstGeom prst="rightArrow">
            <a:avLst/>
          </a:prstGeom>
          <a:solidFill>
            <a:srgbClr val="D4A843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0" y="13716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软标签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4~10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120640" y="1005840"/>
            <a:ext cx="3200400" cy="256032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0" name="Text 8"/>
          <p:cNvSpPr/>
          <p:nvPr/>
        </p:nvSpPr>
        <p:spPr>
          <a:xfrm>
            <a:off x="5120640" y="1188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学生网络 Student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120640" y="17373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小模型 | 轻量化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学习教师输出分布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749040"/>
            <a:ext cx="8229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886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暗知识：概率分布中蕴含的类别间相似性（如猫→0.9, 狗→0.05, 狐狸→0.03）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部署框架生态</a:t>
            </a:r>
            <a:endParaRPr lang="en-US" sz="2800" dirty="0"/>
          </a:p>
        </p:txBody>
      </p:sp>
      <p:pic>
        <p:nvPicPr>
          <p:cNvPr id="4" name="Image 0" descr="/workspace/cv_learning/cv_day081_application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05840"/>
            <a:ext cx="3657600" cy="2057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389120" y="1005840"/>
            <a:ext cx="137160" cy="5486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3"/>
          <p:cNvSpPr/>
          <p:nvPr/>
        </p:nvSpPr>
        <p:spPr>
          <a:xfrm>
            <a:off x="4663440" y="1005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ONNX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663440" y="1280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跨框架模型交换标准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389120" y="1783080"/>
            <a:ext cx="137160" cy="54864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9" name="Text 6"/>
          <p:cNvSpPr/>
          <p:nvPr/>
        </p:nvSpPr>
        <p:spPr>
          <a:xfrm>
            <a:off x="4663440" y="17830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TensorRT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663440" y="2057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GPU推理优化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389120" y="2560320"/>
            <a:ext cx="137160" cy="5486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2" name="Text 9"/>
          <p:cNvSpPr/>
          <p:nvPr/>
        </p:nvSpPr>
        <p:spPr>
          <a:xfrm>
            <a:off x="4663440" y="25603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OpenVINO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663440" y="2834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Intel硬件加速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389120" y="3337560"/>
            <a:ext cx="137160" cy="54864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5" name="Text 12"/>
          <p:cNvSpPr/>
          <p:nvPr/>
        </p:nvSpPr>
        <p:spPr>
          <a:xfrm>
            <a:off x="4663440" y="33375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TFLite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663440" y="3611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移动端部署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实验效果对比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18288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AF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技术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AF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基线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AF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优化后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AF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提升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INT8量化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240KB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60KB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-75%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通道剪枝50%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11.2M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-75%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知识蒸馏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关键结论：量化+剪枝+蒸馏组合使用，可在保持精度的同时实现10倍+的压缩与加速。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工业部署流程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1280160" cy="16459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5544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210312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训练基线模型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600200" y="1920240"/>
            <a:ext cx="274320" cy="274320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8" name="Shape 6"/>
          <p:cNvSpPr/>
          <p:nvPr/>
        </p:nvSpPr>
        <p:spPr>
          <a:xfrm>
            <a:off x="1737360" y="1371600"/>
            <a:ext cx="1280160" cy="164592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0" y="15544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828800" y="210312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剪枝稀疏化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063240" y="1920240"/>
            <a:ext cx="274320" cy="274320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12" name="Shape 10"/>
          <p:cNvSpPr/>
          <p:nvPr/>
        </p:nvSpPr>
        <p:spPr>
          <a:xfrm>
            <a:off x="3200400" y="1371600"/>
            <a:ext cx="1280160" cy="16459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15544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291840" y="210312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量化降精度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26280" y="1920240"/>
            <a:ext cx="274320" cy="274320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16" name="Shape 14"/>
          <p:cNvSpPr/>
          <p:nvPr/>
        </p:nvSpPr>
        <p:spPr>
          <a:xfrm>
            <a:off x="4663440" y="1371600"/>
            <a:ext cx="1280160" cy="16459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15544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754880" y="210312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蒸馏恢复精度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89320" y="1920240"/>
            <a:ext cx="274320" cy="274320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20" name="Shape 18"/>
          <p:cNvSpPr/>
          <p:nvPr/>
        </p:nvSpPr>
        <p:spPr>
          <a:xfrm>
            <a:off x="6126480" y="1371600"/>
            <a:ext cx="1280160" cy="164592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0" y="15544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217920" y="210312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导出ONNX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452360" y="1920240"/>
            <a:ext cx="274320" cy="274320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24" name="Shape 22"/>
          <p:cNvSpPr/>
          <p:nvPr/>
        </p:nvSpPr>
        <p:spPr>
          <a:xfrm>
            <a:off x="7589520" y="1371600"/>
            <a:ext cx="1280160" cy="16459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5" name="Text 23"/>
          <p:cNvSpPr/>
          <p:nvPr/>
        </p:nvSpPr>
        <p:spPr>
          <a:xfrm>
            <a:off x="7680960" y="15544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7680960" y="210312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TensorRT优化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关键文献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548640" cy="7315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515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2015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8720" y="9601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Distilling the Knowledge in a Neural Network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325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Hinton et al.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548640" cy="73152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1488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2016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20574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Compression (ICLR Best Paper)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 et al.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548640" cy="7315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2461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2019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31546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Lottery Ticket Hypothesis (ICLR Best Paper)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3520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Frankle &amp; Carbin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场景选择策略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65176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2651760" cy="4572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972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A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云端服务器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A100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011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最大化吞吐量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46888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TensorRT + FP16/INT8 + 批处理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005840"/>
            <a:ext cx="265176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1005840"/>
            <a:ext cx="2651760" cy="4572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10972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A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智能手机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29000" y="1645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CPU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29000" y="2011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实时+低功耗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29000" y="246888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TFLite + INT8量化 + 模型剪枝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1005840"/>
            <a:ext cx="265176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D4A84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1005840"/>
            <a:ext cx="2651760" cy="4572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8" name="Text 16"/>
          <p:cNvSpPr/>
          <p:nvPr/>
        </p:nvSpPr>
        <p:spPr>
          <a:xfrm>
            <a:off x="6355080" y="10972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A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嵌入式设备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55080" y="1645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55080" y="2011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确定性延迟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55080" y="246888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定点量化 + 结构化剪枝 + 算子定制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未来趋势与挑战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73152" cy="1463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972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大模型压缩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GPT-4/LLaMA等千亿参数模型的量化与剪枝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914400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914400"/>
            <a:ext cx="73152" cy="146304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0972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硬件协同设计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15544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模型架构与NPU/TPU特性联合优化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651760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651760"/>
            <a:ext cx="73152" cy="14630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8346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动态推理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32918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根据输入难度自适应调整计算量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2651760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2651760"/>
            <a:ext cx="73152" cy="146304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28346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神经架构搜索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37760" y="32918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自动搜索高效-高精度模型结构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核心总结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365760" cy="36576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43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88720" y="10972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量化：降低数值精度，减少75%+内存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365760" cy="36576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874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8288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剪枝：移除冗余连接，稀疏化模型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606040"/>
            <a:ext cx="365760" cy="36576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606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25603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蒸馏：教师-学生框架，传递暗知识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337560"/>
            <a:ext cx="365760" cy="36576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337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32918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部署：ONNX/TensorRT打通生产链路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模型部署是连接算法研究与产业应用的桥梁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下节预告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801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82: ONNX与TensorRT — 模型部署框架实战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7863840" cy="1828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PyTorch模型导出为ONNX格式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TensorRT优化流程：层融合、精度校准、序列化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实战：ResNet通过ONNX→TensorRT部署到GPU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对比FP32/FP16/INT8推理速度与精度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cv_learning/cv_day081_cove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C5F2D">
              <a:alpha val="3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A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计算机视觉100天学习计划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81 | 2026-08-14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 &amp; A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欢迎提问与讨论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模型部署基础 · Day 81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81: 模型部署基础 — 演讲版</dc:title>
  <dc:subject>PptxGenJS Presentation</dc:subject>
  <dc:creator>CV Learning 100 Days</dc:creator>
  <cp:lastModifiedBy>CV Learning 100 Days</cp:lastModifiedBy>
  <cp:revision>1</cp:revision>
  <dcterms:created xsi:type="dcterms:W3CDTF">2026-08-14T05:20:28Z</dcterms:created>
  <dcterms:modified xsi:type="dcterms:W3CDTF">2026-08-14T05:20:28Z</dcterms:modified>
</cp:coreProperties>
</file>