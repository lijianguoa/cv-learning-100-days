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333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8229600" cy="1828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86200"/>
            <a:ext cx="8229600" cy="1828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性能优化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Inference Performance Optimization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023360" y="3401568"/>
            <a:ext cx="1097280" cy="4114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611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85  |  计算机视觉100天  |  2026-08-18</a:t>
            </a:r>
            <a:endParaRPr lang="en-US" sz="1400" dirty="0"/>
          </a:p>
        </p:txBody>
      </p:sp>
      <p:sp>
        <p:nvSpPr>
          <p:cNvPr id="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今日议程 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78408"/>
            <a:ext cx="146304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74520"/>
            <a:ext cx="1097280" cy="1691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039112"/>
            <a:ext cx="512064" cy="512064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203911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65176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591056" y="2628900"/>
            <a:ext cx="256032" cy="182880"/>
          </a:xfrm>
          <a:prstGeom prst="rightArrow">
            <a:avLst/>
          </a:prstGeom>
          <a:solidFill>
            <a:srgbClr val="D4A843"/>
          </a:solidFill>
          <a:ln/>
        </p:spPr>
      </p:sp>
      <p:sp>
        <p:nvSpPr>
          <p:cNvPr id="9" name="Shape 7"/>
          <p:cNvSpPr/>
          <p:nvPr/>
        </p:nvSpPr>
        <p:spPr>
          <a:xfrm>
            <a:off x="1883664" y="1874520"/>
            <a:ext cx="1097280" cy="1691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176272" y="2039112"/>
            <a:ext cx="512064" cy="512064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76272" y="203911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929384" y="265176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核心技术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017520" y="2628900"/>
            <a:ext cx="256032" cy="182880"/>
          </a:xfrm>
          <a:prstGeom prst="rightArrow">
            <a:avLst/>
          </a:prstGeom>
          <a:solidFill>
            <a:srgbClr val="D4A843"/>
          </a:solidFill>
          <a:ln/>
        </p:spPr>
      </p:sp>
      <p:sp>
        <p:nvSpPr>
          <p:cNvPr id="14" name="Shape 12"/>
          <p:cNvSpPr/>
          <p:nvPr/>
        </p:nvSpPr>
        <p:spPr>
          <a:xfrm>
            <a:off x="3310128" y="1874520"/>
            <a:ext cx="1097280" cy="1691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02736" y="2039112"/>
            <a:ext cx="512064" cy="512064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02736" y="203911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55848" y="265176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科学家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443984" y="2628900"/>
            <a:ext cx="256032" cy="182880"/>
          </a:xfrm>
          <a:prstGeom prst="rightArrow">
            <a:avLst/>
          </a:prstGeom>
          <a:solidFill>
            <a:srgbClr val="D4A843"/>
          </a:solidFill>
          <a:ln/>
        </p:spPr>
      </p:sp>
      <p:sp>
        <p:nvSpPr>
          <p:cNvPr id="19" name="Shape 17"/>
          <p:cNvSpPr/>
          <p:nvPr/>
        </p:nvSpPr>
        <p:spPr>
          <a:xfrm>
            <a:off x="4736592" y="1874520"/>
            <a:ext cx="1097280" cy="1691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0" y="2039112"/>
            <a:ext cx="512064" cy="512064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0" y="203911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82312" y="265176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文献与实验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870448" y="2628900"/>
            <a:ext cx="256032" cy="182880"/>
          </a:xfrm>
          <a:prstGeom prst="rightArrow">
            <a:avLst/>
          </a:prstGeom>
          <a:solidFill>
            <a:srgbClr val="D4A843"/>
          </a:solidFill>
          <a:ln/>
        </p:spPr>
      </p:sp>
      <p:sp>
        <p:nvSpPr>
          <p:cNvPr id="24" name="Shape 22"/>
          <p:cNvSpPr/>
          <p:nvPr/>
        </p:nvSpPr>
        <p:spPr>
          <a:xfrm>
            <a:off x="6163056" y="1874520"/>
            <a:ext cx="1097280" cy="1691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55664" y="2039112"/>
            <a:ext cx="512064" cy="512064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55664" y="203911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208776" y="265176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实战案例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296912" y="2628900"/>
            <a:ext cx="256032" cy="182880"/>
          </a:xfrm>
          <a:prstGeom prst="rightArrow">
            <a:avLst/>
          </a:prstGeom>
          <a:solidFill>
            <a:srgbClr val="D4A843"/>
          </a:solidFill>
          <a:ln/>
        </p:spPr>
      </p:sp>
      <p:sp>
        <p:nvSpPr>
          <p:cNvPr id="29" name="Shape 27"/>
          <p:cNvSpPr/>
          <p:nvPr/>
        </p:nvSpPr>
        <p:spPr>
          <a:xfrm>
            <a:off x="7589520" y="1874520"/>
            <a:ext cx="1097280" cy="1691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882128" y="2039112"/>
            <a:ext cx="512064" cy="512064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882128" y="203911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635240" y="265176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预告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从背景到预告，6 步走完性能优化全景</a:t>
            </a:r>
            <a:endParaRPr lang="en-US" sz="1300" dirty="0"/>
          </a:p>
        </p:txBody>
      </p:sp>
      <p:sp>
        <p:nvSpPr>
          <p:cNvPr id="3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性能优化演进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78408"/>
            <a:ext cx="146304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461772" y="2569464"/>
            <a:ext cx="8220456" cy="27432"/>
          </a:xfrm>
          <a:prstGeom prst="rect">
            <a:avLst/>
          </a:prstGeom>
          <a:solidFill>
            <a:srgbClr val="4A7C2A"/>
          </a:solidFill>
          <a:ln/>
        </p:spPr>
      </p:sp>
      <p:sp>
        <p:nvSpPr>
          <p:cNvPr id="5" name="Shape 3"/>
          <p:cNvSpPr/>
          <p:nvPr/>
        </p:nvSpPr>
        <p:spPr>
          <a:xfrm>
            <a:off x="461772" y="187452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B5CC7A"/>
          </a:solidFill>
          <a:ln/>
        </p:spPr>
      </p:sp>
      <p:sp>
        <p:nvSpPr>
          <p:cNvPr id="6" name="Text 4"/>
          <p:cNvSpPr/>
          <p:nvPr/>
        </p:nvSpPr>
        <p:spPr>
          <a:xfrm>
            <a:off x="461772" y="187452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1772" y="203911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2012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96112" y="2532888"/>
            <a:ext cx="548640" cy="274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507492" y="260604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关注精度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78992" y="2491740"/>
            <a:ext cx="182880" cy="182880"/>
          </a:xfrm>
          <a:prstGeom prst="ellipse">
            <a:avLst/>
          </a:prstGeom>
          <a:solidFill>
            <a:srgbClr val="D4A84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97380" y="2491740"/>
            <a:ext cx="246888" cy="182880"/>
          </a:xfrm>
          <a:prstGeom prst="rightArrow">
            <a:avLst/>
          </a:prstGeom>
          <a:solidFill>
            <a:srgbClr val="D4A843"/>
          </a:solidFill>
          <a:ln/>
        </p:spPr>
      </p:sp>
      <p:sp>
        <p:nvSpPr>
          <p:cNvPr id="12" name="Shape 10"/>
          <p:cNvSpPr/>
          <p:nvPr/>
        </p:nvSpPr>
        <p:spPr>
          <a:xfrm>
            <a:off x="2162556" y="187452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6FA03C"/>
          </a:solidFill>
          <a:ln/>
        </p:spPr>
      </p:sp>
      <p:sp>
        <p:nvSpPr>
          <p:cNvPr id="13" name="Text 11"/>
          <p:cNvSpPr/>
          <p:nvPr/>
        </p:nvSpPr>
        <p:spPr>
          <a:xfrm>
            <a:off x="2162556" y="187452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62556" y="203911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2015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2596896" y="2532888"/>
            <a:ext cx="548640" cy="274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2208276" y="260604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模型压缩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79776" y="2491740"/>
            <a:ext cx="182880" cy="182880"/>
          </a:xfrm>
          <a:prstGeom prst="ellipse">
            <a:avLst/>
          </a:prstGeom>
          <a:solidFill>
            <a:srgbClr val="D4A84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98164" y="2491740"/>
            <a:ext cx="246888" cy="182880"/>
          </a:xfrm>
          <a:prstGeom prst="rightArrow">
            <a:avLst/>
          </a:prstGeom>
          <a:solidFill>
            <a:srgbClr val="D4A843"/>
          </a:solidFill>
          <a:ln/>
        </p:spPr>
      </p:sp>
      <p:sp>
        <p:nvSpPr>
          <p:cNvPr id="19" name="Shape 17"/>
          <p:cNvSpPr/>
          <p:nvPr/>
        </p:nvSpPr>
        <p:spPr>
          <a:xfrm>
            <a:off x="3863340" y="187452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4A7C2A"/>
          </a:solidFill>
          <a:ln/>
        </p:spPr>
      </p:sp>
      <p:sp>
        <p:nvSpPr>
          <p:cNvPr id="20" name="Text 18"/>
          <p:cNvSpPr/>
          <p:nvPr/>
        </p:nvSpPr>
        <p:spPr>
          <a:xfrm>
            <a:off x="3863340" y="187452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63340" y="203911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2017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4297680" y="2532888"/>
            <a:ext cx="54864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3" name="Text 21"/>
          <p:cNvSpPr/>
          <p:nvPr/>
        </p:nvSpPr>
        <p:spPr>
          <a:xfrm>
            <a:off x="3909060" y="260604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TensorRT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80560" y="2491740"/>
            <a:ext cx="182880" cy="182880"/>
          </a:xfrm>
          <a:prstGeom prst="ellipse">
            <a:avLst/>
          </a:prstGeom>
          <a:solidFill>
            <a:srgbClr val="D4A84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98948" y="2491740"/>
            <a:ext cx="246888" cy="182880"/>
          </a:xfrm>
          <a:prstGeom prst="rightArrow">
            <a:avLst/>
          </a:prstGeom>
          <a:solidFill>
            <a:srgbClr val="D4A843"/>
          </a:solidFill>
          <a:ln/>
        </p:spPr>
      </p:sp>
      <p:sp>
        <p:nvSpPr>
          <p:cNvPr id="26" name="Shape 24"/>
          <p:cNvSpPr/>
          <p:nvPr/>
        </p:nvSpPr>
        <p:spPr>
          <a:xfrm>
            <a:off x="5564124" y="187452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336622"/>
          </a:solidFill>
          <a:ln/>
        </p:spPr>
      </p:sp>
      <p:sp>
        <p:nvSpPr>
          <p:cNvPr id="27" name="Text 25"/>
          <p:cNvSpPr/>
          <p:nvPr/>
        </p:nvSpPr>
        <p:spPr>
          <a:xfrm>
            <a:off x="5564124" y="187452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64124" y="203911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2019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5998464" y="2532888"/>
            <a:ext cx="54864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0" name="Text 28"/>
          <p:cNvSpPr/>
          <p:nvPr/>
        </p:nvSpPr>
        <p:spPr>
          <a:xfrm>
            <a:off x="5609844" y="260604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量化成熟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81344" y="2491740"/>
            <a:ext cx="182880" cy="182880"/>
          </a:xfrm>
          <a:prstGeom prst="ellipse">
            <a:avLst/>
          </a:prstGeom>
          <a:solidFill>
            <a:srgbClr val="D4A84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99732" y="2491740"/>
            <a:ext cx="246888" cy="182880"/>
          </a:xfrm>
          <a:prstGeom prst="rightArrow">
            <a:avLst/>
          </a:prstGeom>
          <a:solidFill>
            <a:srgbClr val="D4A843"/>
          </a:solidFill>
          <a:ln/>
        </p:spPr>
      </p:sp>
      <p:sp>
        <p:nvSpPr>
          <p:cNvPr id="33" name="Shape 31"/>
          <p:cNvSpPr/>
          <p:nvPr/>
        </p:nvSpPr>
        <p:spPr>
          <a:xfrm>
            <a:off x="7264908" y="187452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2C5F2D"/>
          </a:solidFill>
          <a:ln/>
        </p:spPr>
      </p:sp>
      <p:sp>
        <p:nvSpPr>
          <p:cNvPr id="34" name="Text 32"/>
          <p:cNvSpPr/>
          <p:nvPr/>
        </p:nvSpPr>
        <p:spPr>
          <a:xfrm>
            <a:off x="7264908" y="187452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64908" y="203911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2021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7699248" y="2532888"/>
            <a:ext cx="54864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7" name="Text 35"/>
          <p:cNvSpPr/>
          <p:nvPr/>
        </p:nvSpPr>
        <p:spPr>
          <a:xfrm>
            <a:off x="7310628" y="260604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大模型优化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882128" y="2491740"/>
            <a:ext cx="182880" cy="182880"/>
          </a:xfrm>
          <a:prstGeom prst="ellipse">
            <a:avLst/>
          </a:prstGeom>
          <a:solidFill>
            <a:srgbClr val="D4A84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从精度优先到效率优先的范式转变</a:t>
            </a:r>
            <a:endParaRPr lang="en-US" sz="1400" dirty="0"/>
          </a:p>
        </p:txBody>
      </p:sp>
      <p:sp>
        <p:nvSpPr>
          <p:cNvPr id="4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算子融合 Operator Fusion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78408"/>
            <a:ext cx="146304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379476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109728" cy="29718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4173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核心思想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13232" y="192024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05000"/>
              </a:lnSpc>
              <a:spcBef>
                <a:spcPts val="200"/>
              </a:spcBef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合并多个算子为复合算子</a:t>
            </a:r>
            <a:pPr algn="l" marL="342900" indent="-342900">
              <a:lnSpc>
                <a:spcPct val="105000"/>
              </a:lnSpc>
              <a:spcBef>
                <a:spcPts val="200"/>
              </a:spcBef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减少中间张量内存读写</a:t>
            </a:r>
            <a:pPr algn="l" marL="342900" indent="-342900">
              <a:lnSpc>
                <a:spcPct val="105000"/>
              </a:lnSpc>
              <a:spcBef>
                <a:spcPts val="200"/>
              </a:spcBef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常见模式：Conv+BN+ReLU</a:t>
            </a:r>
            <a:pPr algn="l" marL="342900" indent="-342900">
              <a:lnSpc>
                <a:spcPct val="105000"/>
              </a:lnSpc>
              <a:spcBef>
                <a:spcPts val="200"/>
              </a:spcBef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常见模式：MatMul+Add+GELU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26280" y="1325880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未融合 Unfused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1691640"/>
            <a:ext cx="731520" cy="502920"/>
          </a:xfrm>
          <a:prstGeom prst="roundRect">
            <a:avLst>
              <a:gd name="adj" fmla="val 10909"/>
            </a:avLst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6916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66944" y="1851660"/>
            <a:ext cx="128016" cy="182880"/>
          </a:xfrm>
          <a:prstGeom prst="rightArrow">
            <a:avLst/>
          </a:prstGeom>
          <a:solidFill>
            <a:srgbClr val="5A5A5A"/>
          </a:solidFill>
          <a:ln/>
        </p:spPr>
      </p:sp>
      <p:sp>
        <p:nvSpPr>
          <p:cNvPr id="12" name="Shape 10"/>
          <p:cNvSpPr/>
          <p:nvPr/>
        </p:nvSpPr>
        <p:spPr>
          <a:xfrm>
            <a:off x="5404104" y="1691640"/>
            <a:ext cx="731520" cy="502920"/>
          </a:xfrm>
          <a:prstGeom prst="roundRect">
            <a:avLst>
              <a:gd name="adj" fmla="val 10909"/>
            </a:avLst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5404104" y="16916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44768" y="1851660"/>
            <a:ext cx="128016" cy="182880"/>
          </a:xfrm>
          <a:prstGeom prst="rightArrow">
            <a:avLst/>
          </a:prstGeom>
          <a:solidFill>
            <a:srgbClr val="5A5A5A"/>
          </a:solidFill>
          <a:ln/>
        </p:spPr>
      </p:sp>
      <p:sp>
        <p:nvSpPr>
          <p:cNvPr id="15" name="Shape 13"/>
          <p:cNvSpPr/>
          <p:nvPr/>
        </p:nvSpPr>
        <p:spPr>
          <a:xfrm>
            <a:off x="6281928" y="1691640"/>
            <a:ext cx="731520" cy="502920"/>
          </a:xfrm>
          <a:prstGeom prst="roundRect">
            <a:avLst>
              <a:gd name="adj" fmla="val 10909"/>
            </a:avLst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6916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22592" y="1851660"/>
            <a:ext cx="128016" cy="182880"/>
          </a:xfrm>
          <a:prstGeom prst="rightArrow">
            <a:avLst/>
          </a:prstGeom>
          <a:solidFill>
            <a:srgbClr val="5A5A5A"/>
          </a:solidFill>
          <a:ln/>
        </p:spPr>
      </p:sp>
      <p:sp>
        <p:nvSpPr>
          <p:cNvPr id="18" name="Shape 16"/>
          <p:cNvSpPr/>
          <p:nvPr/>
        </p:nvSpPr>
        <p:spPr>
          <a:xfrm>
            <a:off x="7159752" y="1691640"/>
            <a:ext cx="731520" cy="502920"/>
          </a:xfrm>
          <a:prstGeom prst="roundRect">
            <a:avLst>
              <a:gd name="adj" fmla="val 10909"/>
            </a:avLst>
          </a:prstGeom>
          <a:solidFill>
            <a:srgbClr val="97BC62"/>
          </a:solidFill>
          <a:ln/>
        </p:spPr>
      </p:sp>
      <p:sp>
        <p:nvSpPr>
          <p:cNvPr id="19" name="Text 17"/>
          <p:cNvSpPr/>
          <p:nvPr/>
        </p:nvSpPr>
        <p:spPr>
          <a:xfrm>
            <a:off x="7159752" y="16916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936992" y="169164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×4 读写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897880" y="2286000"/>
            <a:ext cx="182880" cy="292608"/>
          </a:xfrm>
          <a:prstGeom prst="downArrow">
            <a:avLst/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4526280" y="2697480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融合后 Fused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26280" y="306324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4A7C2A"/>
          </a:solidFill>
          <a:ln/>
        </p:spPr>
      </p:sp>
      <p:sp>
        <p:nvSpPr>
          <p:cNvPr id="24" name="Text 22"/>
          <p:cNvSpPr/>
          <p:nvPr/>
        </p:nvSpPr>
        <p:spPr>
          <a:xfrm>
            <a:off x="4526280" y="30632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Conv+BN+ReLU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99048" y="3246120"/>
            <a:ext cx="146304" cy="182880"/>
          </a:xfrm>
          <a:prstGeom prst="rightArrow">
            <a:avLst/>
          </a:prstGeom>
          <a:solidFill>
            <a:srgbClr val="D4A843"/>
          </a:solidFill>
          <a:ln/>
        </p:spPr>
      </p:sp>
      <p:sp>
        <p:nvSpPr>
          <p:cNvPr id="26" name="Shape 24"/>
          <p:cNvSpPr/>
          <p:nvPr/>
        </p:nvSpPr>
        <p:spPr>
          <a:xfrm>
            <a:off x="6263640" y="3063240"/>
            <a:ext cx="731520" cy="548640"/>
          </a:xfrm>
          <a:prstGeom prst="roundRect">
            <a:avLst>
              <a:gd name="adj" fmla="val 10000"/>
            </a:avLst>
          </a:prstGeom>
          <a:solidFill>
            <a:srgbClr val="4A7C2A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30632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68312" y="30632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7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×2 读写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43708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减少 50% 内存读写，典型加速 1.3–1.5×</a:t>
            </a:r>
            <a:endParaRPr lang="en-US" sz="1200" dirty="0"/>
          </a:p>
        </p:txBody>
      </p:sp>
      <p:sp>
        <p:nvSpPr>
          <p:cNvPr id="3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内存优化 Memory Optimization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78408"/>
            <a:ext cx="146304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25880"/>
            <a:ext cx="4069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19072"/>
            <a:ext cx="768096" cy="768096"/>
          </a:xfrm>
          <a:prstGeom prst="ellipse">
            <a:avLst/>
          </a:prstGeom>
          <a:solidFill>
            <a:srgbClr val="97BC6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71907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4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54480" y="15087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内存复用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1984248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静态分析生命周期，复用空间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17720" y="1325880"/>
            <a:ext cx="4069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719072"/>
            <a:ext cx="768096" cy="768096"/>
          </a:xfrm>
          <a:prstGeom prst="ellipse">
            <a:avLst/>
          </a:prstGeom>
          <a:solidFill>
            <a:srgbClr val="6FA03C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171907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715000" y="15087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内存对齐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715000" y="1984248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128B / 256B 对齐访问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069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410712"/>
            <a:ext cx="768096" cy="768096"/>
          </a:xfrm>
          <a:prstGeom prst="ellipse">
            <a:avLst/>
          </a:prstGeom>
          <a:solidFill>
            <a:srgbClr val="4A7C2A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41071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½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554480" y="32004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低精度存储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54480" y="3675888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 (1/2) · INT8 (1/4)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17720" y="3017520"/>
            <a:ext cx="4069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3410712"/>
            <a:ext cx="768096" cy="768096"/>
          </a:xfrm>
          <a:prstGeom prst="ellipse">
            <a:avLst/>
          </a:prstGeom>
          <a:solidFill>
            <a:srgbClr val="33662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00600" y="341071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715000" y="32004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PagedAttention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715000" y="3675888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分页 KV-Cache 管理</a:t>
            </a:r>
            <a:endParaRPr lang="en-US" sz="1200" dirty="0"/>
          </a:p>
        </p:txBody>
      </p:sp>
      <p:sp>
        <p:nvSpPr>
          <p:cNvPr id="2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IO优化 IO Optimization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78408"/>
            <a:ext cx="146304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9844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优化前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6FA03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62763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磁盘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03020" y="2093976"/>
            <a:ext cx="182880" cy="109728"/>
          </a:xfrm>
          <a:prstGeom prst="downArrow">
            <a:avLst/>
          </a:prstGeom>
          <a:solidFill>
            <a:srgbClr val="5A5A5A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203704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6FA03C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203704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解码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03020" y="2670048"/>
            <a:ext cx="182880" cy="109728"/>
          </a:xfrm>
          <a:prstGeom prst="downArrow">
            <a:avLst/>
          </a:prstGeom>
          <a:solidFill>
            <a:srgbClr val="5A5A5A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2779776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6FA03C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779776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cudaMemcpy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03020" y="3246120"/>
            <a:ext cx="182880" cy="109728"/>
          </a:xfrm>
          <a:prstGeom prst="downArrow">
            <a:avLst/>
          </a:prstGeom>
          <a:solidFill>
            <a:srgbClr val="5A5A5A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3355848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6FA03C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35584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计算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67712" y="2670048"/>
            <a:ext cx="310896" cy="310896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67712" y="26700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51760" y="129844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优化后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651760" y="2203704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336622"/>
          </a:solidFill>
          <a:ln/>
        </p:spPr>
      </p:sp>
      <p:sp>
        <p:nvSpPr>
          <p:cNvPr id="20" name="Text 18"/>
          <p:cNvSpPr/>
          <p:nvPr/>
        </p:nvSpPr>
        <p:spPr>
          <a:xfrm>
            <a:off x="2651760" y="2203704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DALI 解码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51860" y="2670048"/>
            <a:ext cx="182880" cy="384048"/>
          </a:xfrm>
          <a:prstGeom prst="downArrow">
            <a:avLst/>
          </a:prstGeom>
          <a:solidFill>
            <a:srgbClr val="D4A843"/>
          </a:solidFill>
          <a:ln/>
        </p:spPr>
      </p:sp>
      <p:sp>
        <p:nvSpPr>
          <p:cNvPr id="22" name="Shape 20"/>
          <p:cNvSpPr/>
          <p:nvPr/>
        </p:nvSpPr>
        <p:spPr>
          <a:xfrm>
            <a:off x="2651760" y="3493008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336622"/>
          </a:solidFill>
          <a:ln/>
        </p:spPr>
      </p:sp>
      <p:sp>
        <p:nvSpPr>
          <p:cNvPr id="23" name="Text 21"/>
          <p:cNvSpPr/>
          <p:nvPr/>
        </p:nvSpPr>
        <p:spPr>
          <a:xfrm>
            <a:off x="2651760" y="349300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计算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16552" y="3383280"/>
            <a:ext cx="310896" cy="310896"/>
          </a:xfrm>
          <a:prstGeom prst="ellipse">
            <a:avLst/>
          </a:prstGeom>
          <a:solidFill>
            <a:srgbClr val="4A7C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16552" y="3383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304288" y="2340864"/>
            <a:ext cx="329184" cy="182880"/>
          </a:xfrm>
          <a:prstGeom prst="rightArrow">
            <a:avLst/>
          </a:prstGeom>
          <a:solidFill>
            <a:srgbClr val="D4A843"/>
          </a:solidFill>
          <a:ln/>
        </p:spPr>
      </p:sp>
      <p:sp>
        <p:nvSpPr>
          <p:cNvPr id="27" name="Shape 25"/>
          <p:cNvSpPr/>
          <p:nvPr/>
        </p:nvSpPr>
        <p:spPr>
          <a:xfrm>
            <a:off x="4754880" y="141732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01184" y="1604772"/>
            <a:ext cx="493776" cy="49377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9" name="Text 27"/>
          <p:cNvSpPr/>
          <p:nvPr/>
        </p:nvSpPr>
        <p:spPr>
          <a:xfrm>
            <a:off x="4901184" y="160477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532120" y="1508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异步预取 (Prefetch)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32120" y="185623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隐藏传输延迟于计算背后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2404872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901184" y="2592324"/>
            <a:ext cx="493776" cy="49377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4" name="Text 32"/>
          <p:cNvSpPr/>
          <p:nvPr/>
        </p:nvSpPr>
        <p:spPr>
          <a:xfrm>
            <a:off x="4901184" y="2592324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532120" y="249631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加速解码 (DALI)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532120" y="284378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解码全部留在 GPU 执行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3392424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901184" y="3579876"/>
            <a:ext cx="493776" cy="49377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9" name="Text 37"/>
          <p:cNvSpPr/>
          <p:nvPr/>
        </p:nvSpPr>
        <p:spPr>
          <a:xfrm>
            <a:off x="4901184" y="357987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5532120" y="348386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Memory-Mapped I/O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532120" y="383133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零拷贝映射磁盘到地址空间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43708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消除 CPU↔GPU 同步阻塞，让 IO 与计算重叠</a:t>
            </a:r>
            <a:endParaRPr lang="en-US" sz="1200" dirty="0"/>
          </a:p>
        </p:txBody>
      </p:sp>
      <p:sp>
        <p:nvSpPr>
          <p:cNvPr id="4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推理加速策略栈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78408"/>
            <a:ext cx="146304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2834640" y="1371600"/>
            <a:ext cx="3474720" cy="457200"/>
          </a:xfrm>
          <a:prstGeom prst="roundRect">
            <a:avLst>
              <a:gd name="adj" fmla="val 12000"/>
            </a:avLst>
          </a:prstGeom>
          <a:solidFill>
            <a:srgbClr val="B5CC7A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017520" y="137160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数据级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24528" y="137160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F4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DALI / 零拷贝  ·  ~1.5×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77440" y="1911096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911096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模型级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33088" y="1911096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F4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剪枝 / 蒸馏  ·  2–3×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20240" y="2450592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6FA03C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03120" y="2450592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精度级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41648" y="2450592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/ FP16  ·  2–4×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463040" y="2990088"/>
            <a:ext cx="6217920" cy="457200"/>
          </a:xfrm>
          <a:prstGeom prst="roundRect">
            <a:avLst>
              <a:gd name="adj" fmla="val 12000"/>
            </a:avLst>
          </a:prstGeom>
          <a:solidFill>
            <a:srgbClr val="4A7C2A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645920" y="2990088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算子级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50208" y="2990088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算子融合  ·  1.3–1.5×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5840" y="3529584"/>
            <a:ext cx="7132320" cy="457200"/>
          </a:xfrm>
          <a:prstGeom prst="roundRect">
            <a:avLst>
              <a:gd name="adj" fmla="val 12000"/>
            </a:avLst>
          </a:prstGeom>
          <a:solidFill>
            <a:srgbClr val="33662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188720" y="3529584"/>
            <a:ext cx="285292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图级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58768" y="3529584"/>
            <a:ext cx="409651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计算图优化  ·  1.2–1.5×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8046720" cy="45720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4069080"/>
            <a:ext cx="321868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系统级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67328" y="4069080"/>
            <a:ext cx="464515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多流 / 批处理  ·  2–5×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越靠下层越接近硬件，叠加收益可达 10× 以上</a:t>
            </a:r>
            <a:endParaRPr lang="en-US" sz="1200" dirty="0"/>
          </a:p>
        </p:txBody>
      </p:sp>
      <p:sp>
        <p:nvSpPr>
          <p:cNvPr id="2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关键人物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78408"/>
            <a:ext cx="146304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25880"/>
            <a:ext cx="397764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118872" cy="29718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087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陈天奇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198424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TVM  ·  通用深度学习编译器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342900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05000"/>
              </a:lnSpc>
              <a:spcBef>
                <a:spcPts val="200"/>
              </a:spcBef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CMU 博士，TVM 核心开发者</a:t>
            </a:r>
            <a:pPr algn="l" marL="342900" indent="-342900">
              <a:lnSpc>
                <a:spcPct val="105000"/>
              </a:lnSpc>
              <a:spcBef>
                <a:spcPts val="200"/>
              </a:spcBef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自动编译器 + 算子融合 + AutoTVM</a:t>
            </a:r>
            <a:pPr algn="l" marL="342900" indent="-342900">
              <a:lnSpc>
                <a:spcPct val="105000"/>
              </a:lnSpc>
              <a:spcBef>
                <a:spcPts val="200"/>
              </a:spcBef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「AI 民主化」理念推动者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397764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25880"/>
            <a:ext cx="118872" cy="29718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087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 Dao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29200" y="198424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FlashAttention  ·  IO 感知注意力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2377440"/>
            <a:ext cx="342900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05000"/>
              </a:lnSpc>
              <a:spcBef>
                <a:spcPts val="200"/>
              </a:spcBef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斯坦福博士在读</a:t>
            </a:r>
            <a:pPr algn="l" marL="342900" indent="-342900">
              <a:lnSpc>
                <a:spcPct val="105000"/>
              </a:lnSpc>
              <a:spcBef>
                <a:spcPts val="200"/>
              </a:spcBef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 感知精确注意力</a:t>
            </a:r>
            <a:pPr algn="l" marL="342900" indent="-342900">
              <a:lnSpc>
                <a:spcPct val="105000"/>
              </a:lnSpc>
              <a:spcBef>
                <a:spcPts val="200"/>
              </a:spcBef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内存读写 O(N²) → O(N²·M⁻¹)</a:t>
            </a:r>
            <a:pPr algn="l" marL="342900" indent="-342900">
              <a:lnSpc>
                <a:spcPct val="105000"/>
              </a:lnSpc>
              <a:spcBef>
                <a:spcPts val="200"/>
              </a:spcBef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实现 2–4× 加速</a:t>
            </a:r>
            <a:endParaRPr lang="en-US" sz="1300" dirty="0"/>
          </a:p>
        </p:txBody>
      </p:sp>
      <p:sp>
        <p:nvSpPr>
          <p:cNvPr id="1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核心文献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78408"/>
            <a:ext cx="1463040" cy="54864"/>
          </a:xfrm>
          <a:prstGeom prst="rect">
            <a:avLst/>
          </a:prstGeom>
          <a:solidFill>
            <a:srgbClr val="D4A843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188720"/>
                <a:gridCol w="45720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论文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年份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核心贡献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自动编译器栈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FlashAttention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 感知精确注意力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复合缩放法则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INT8 量化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全整数量化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PagedAttention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分页 KV-Cache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五篇里程碑文献，串起效率优化的关键脉络</a:t>
            </a:r>
            <a:endParaRPr lang="en-US" sz="120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914400" y="1417320"/>
          <a:ext cx="731520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" name="Text 0"/>
          <p:cNvSpPr/>
          <p:nvPr/>
        </p:nvSpPr>
        <p:spPr>
          <a:xfrm>
            <a:off x="457200" y="310896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实验：优化效果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978408"/>
            <a:ext cx="146304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3159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算子融合 + INT8 量化 = 3.4× 加速</a:t>
            </a:r>
            <a:endParaRPr lang="en-US" sz="1400" dirty="0"/>
          </a:p>
        </p:txBody>
      </p:sp>
      <p:sp>
        <p:nvSpPr>
          <p:cNvPr id="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731520" y="1417320"/>
          <a:ext cx="768096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" name="Text 0"/>
          <p:cNvSpPr/>
          <p:nvPr/>
        </p:nvSpPr>
        <p:spPr>
          <a:xfrm>
            <a:off x="457200" y="310896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FlashAttention 效果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978408"/>
            <a:ext cx="146304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3159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序列越长，优势越大（最高 2.1× 加速）</a:t>
            </a:r>
            <a:endParaRPr lang="en-US" sz="1400" dirty="0"/>
          </a:p>
        </p:txBody>
      </p:sp>
      <p:sp>
        <p:nvSpPr>
          <p:cNvPr id="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实战：一行代码节省百万美元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78408"/>
            <a:ext cx="146304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39776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34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731520" cy="457200"/>
          </a:xfrm>
          <a:prstGeom prst="roundRect">
            <a:avLst>
              <a:gd name="adj" fmla="val 16000"/>
            </a:avLst>
          </a:prstGeom>
          <a:solidFill>
            <a:srgbClr val="C0392B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9659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72768" y="19659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利用率仅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496312"/>
            <a:ext cx="731520" cy="457200"/>
          </a:xfrm>
          <a:prstGeom prst="roundRect">
            <a:avLst>
              <a:gd name="adj" fmla="val 16000"/>
            </a:avLst>
          </a:prstGeom>
          <a:solidFill>
            <a:srgbClr val="5A5A5A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49631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原因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72768" y="249631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串行预处理 → 同步传输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026664"/>
            <a:ext cx="731520" cy="457200"/>
          </a:xfrm>
          <a:prstGeom prst="roundRect">
            <a:avLst>
              <a:gd name="adj" fmla="val 16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026664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72768" y="3026664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Stream 异步传输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557016"/>
            <a:ext cx="731520" cy="457200"/>
          </a:xfrm>
          <a:prstGeom prst="roundRect">
            <a:avLst>
              <a:gd name="adj" fmla="val 16000"/>
            </a:avLst>
          </a:prstGeom>
          <a:solidFill>
            <a:srgbClr val="4A7C2A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3557016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72768" y="3557016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利用率 35% → 78%，吞吐翻倍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1280160"/>
            <a:ext cx="3977640" cy="3017520"/>
          </a:xfrm>
          <a:prstGeom prst="roundRect">
            <a:avLst>
              <a:gd name="adj" fmla="val 3030"/>
            </a:avLst>
          </a:prstGeom>
          <a:solidFill>
            <a:srgbClr val="243024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1508760"/>
            <a:ext cx="164592" cy="164592"/>
          </a:xfrm>
          <a:prstGeom prst="ellipse">
            <a:avLst/>
          </a:prstGeom>
          <a:solidFill>
            <a:srgbClr val="E0715A"/>
          </a:solidFill>
          <a:ln/>
        </p:spPr>
      </p:sp>
      <p:sp>
        <p:nvSpPr>
          <p:cNvPr id="20" name="Shape 18"/>
          <p:cNvSpPr/>
          <p:nvPr/>
        </p:nvSpPr>
        <p:spPr>
          <a:xfrm>
            <a:off x="5166360" y="1508760"/>
            <a:ext cx="164592" cy="164592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1" name="Shape 19"/>
          <p:cNvSpPr/>
          <p:nvPr/>
        </p:nvSpPr>
        <p:spPr>
          <a:xfrm>
            <a:off x="5394960" y="1508760"/>
            <a:ext cx="164592" cy="1645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0" y="14447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stream_opt.py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83480" y="1920240"/>
            <a:ext cx="3429000" cy="2103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 = torch.cuda.Stream()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torch.cuda.stream(stream):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 = input.to('cuda',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non_blocking=True)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= model(input)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 优化 &gt; 模型优化</a:t>
            </a:r>
            <a:endParaRPr lang="en-US" sz="1400" dirty="0"/>
          </a:p>
        </p:txBody>
      </p:sp>
      <p:sp>
        <p:nvSpPr>
          <p:cNvPr id="2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TensorRT 的诞生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78408"/>
            <a:ext cx="146304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461772" y="3429000"/>
            <a:ext cx="8220456" cy="27432"/>
          </a:xfrm>
          <a:prstGeom prst="rect">
            <a:avLst/>
          </a:prstGeom>
          <a:solidFill>
            <a:srgbClr val="4A7C2A"/>
          </a:solidFill>
          <a:ln/>
        </p:spPr>
      </p:sp>
      <p:sp>
        <p:nvSpPr>
          <p:cNvPr id="5" name="Shape 3"/>
          <p:cNvSpPr/>
          <p:nvPr/>
        </p:nvSpPr>
        <p:spPr>
          <a:xfrm>
            <a:off x="461772" y="1783080"/>
            <a:ext cx="1828800" cy="1600200"/>
          </a:xfrm>
          <a:prstGeom prst="roundRect">
            <a:avLst>
              <a:gd name="adj" fmla="val 5714"/>
            </a:avLst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461772" y="1783080"/>
            <a:ext cx="1828800" cy="1600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53212" y="1965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4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2016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01852" y="2496312"/>
            <a:ext cx="548640" cy="274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571500" y="2587752"/>
            <a:ext cx="1609344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发现推理性能瓶颈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66444" y="3364992"/>
            <a:ext cx="219456" cy="219456"/>
          </a:xfrm>
          <a:prstGeom prst="ellipse">
            <a:avLst/>
          </a:prstGeom>
          <a:solidFill>
            <a:srgbClr val="D4A84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08860" y="3346704"/>
            <a:ext cx="265176" cy="182880"/>
          </a:xfrm>
          <a:prstGeom prst="rightArrow">
            <a:avLst/>
          </a:prstGeom>
          <a:solidFill>
            <a:srgbClr val="D4A843"/>
          </a:solidFill>
          <a:ln/>
        </p:spPr>
      </p:sp>
      <p:sp>
        <p:nvSpPr>
          <p:cNvPr id="12" name="Shape 10"/>
          <p:cNvSpPr/>
          <p:nvPr/>
        </p:nvSpPr>
        <p:spPr>
          <a:xfrm>
            <a:off x="2592324" y="1783080"/>
            <a:ext cx="1828800" cy="1600200"/>
          </a:xfrm>
          <a:prstGeom prst="roundRect">
            <a:avLst>
              <a:gd name="adj" fmla="val 5714"/>
            </a:avLst>
          </a:prstGeom>
          <a:solidFill>
            <a:srgbClr val="6FA03C"/>
          </a:solidFill>
          <a:ln/>
        </p:spPr>
      </p:sp>
      <p:sp>
        <p:nvSpPr>
          <p:cNvPr id="13" name="Text 11"/>
          <p:cNvSpPr/>
          <p:nvPr/>
        </p:nvSpPr>
        <p:spPr>
          <a:xfrm>
            <a:off x="2592324" y="1783080"/>
            <a:ext cx="1828800" cy="1600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83764" y="1965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2017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3232404" y="2496312"/>
            <a:ext cx="54864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6" name="Text 14"/>
          <p:cNvSpPr/>
          <p:nvPr/>
        </p:nvSpPr>
        <p:spPr>
          <a:xfrm>
            <a:off x="2702052" y="2587752"/>
            <a:ext cx="1609344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构建专用推理引擎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96996" y="3364992"/>
            <a:ext cx="219456" cy="219456"/>
          </a:xfrm>
          <a:prstGeom prst="ellipse">
            <a:avLst/>
          </a:prstGeom>
          <a:solidFill>
            <a:srgbClr val="D4A84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9412" y="3346704"/>
            <a:ext cx="265176" cy="182880"/>
          </a:xfrm>
          <a:prstGeom prst="rightArrow">
            <a:avLst/>
          </a:prstGeom>
          <a:solidFill>
            <a:srgbClr val="D4A843"/>
          </a:solidFill>
          <a:ln/>
        </p:spPr>
      </p:sp>
      <p:sp>
        <p:nvSpPr>
          <p:cNvPr id="19" name="Shape 17"/>
          <p:cNvSpPr/>
          <p:nvPr/>
        </p:nvSpPr>
        <p:spPr>
          <a:xfrm>
            <a:off x="4722876" y="1783080"/>
            <a:ext cx="1828800" cy="1600200"/>
          </a:xfrm>
          <a:prstGeom prst="roundRect">
            <a:avLst>
              <a:gd name="adj" fmla="val 5714"/>
            </a:avLst>
          </a:prstGeom>
          <a:solidFill>
            <a:srgbClr val="4A7C2A"/>
          </a:solidFill>
          <a:ln/>
        </p:spPr>
      </p:sp>
      <p:sp>
        <p:nvSpPr>
          <p:cNvPr id="20" name="Text 18"/>
          <p:cNvSpPr/>
          <p:nvPr/>
        </p:nvSpPr>
        <p:spPr>
          <a:xfrm>
            <a:off x="4722876" y="1783080"/>
            <a:ext cx="1828800" cy="1600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14316" y="1965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哲学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5362956" y="2496312"/>
            <a:ext cx="54864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3" name="Text 21"/>
          <p:cNvSpPr/>
          <p:nvPr/>
        </p:nvSpPr>
        <p:spPr>
          <a:xfrm>
            <a:off x="4832604" y="2587752"/>
            <a:ext cx="1609344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推理不需要灵活性，需要极致性能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27548" y="3364992"/>
            <a:ext cx="219456" cy="219456"/>
          </a:xfrm>
          <a:prstGeom prst="ellipse">
            <a:avLst/>
          </a:prstGeom>
          <a:solidFill>
            <a:srgbClr val="D4A84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69964" y="3346704"/>
            <a:ext cx="265176" cy="182880"/>
          </a:xfrm>
          <a:prstGeom prst="rightArrow">
            <a:avLst/>
          </a:prstGeom>
          <a:solidFill>
            <a:srgbClr val="D4A843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3428" y="1783080"/>
            <a:ext cx="1828800" cy="1600200"/>
          </a:xfrm>
          <a:prstGeom prst="roundRect">
            <a:avLst>
              <a:gd name="adj" fmla="val 5714"/>
            </a:avLst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6853428" y="1783080"/>
            <a:ext cx="1828800" cy="1600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44868" y="1965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7493508" y="2496312"/>
            <a:ext cx="54864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0" name="Text 28"/>
          <p:cNvSpPr/>
          <p:nvPr/>
        </p:nvSpPr>
        <p:spPr>
          <a:xfrm>
            <a:off x="6963156" y="2587752"/>
            <a:ext cx="1609344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成为行业标准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658100" y="3364992"/>
            <a:ext cx="219456" cy="219456"/>
          </a:xfrm>
          <a:prstGeom prst="ellipse">
            <a:avLst/>
          </a:prstGeom>
          <a:solidFill>
            <a:srgbClr val="D4A84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推理不需要灵活性，需要极致性能</a:t>
            </a:r>
            <a:endParaRPr lang="en-US" sz="1300" dirty="0"/>
          </a:p>
        </p:txBody>
      </p:sp>
      <p:sp>
        <p:nvSpPr>
          <p:cNvPr id="3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思考与讨论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78408"/>
            <a:ext cx="146304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2651760" cy="2697480"/>
          </a:xfrm>
          <a:prstGeom prst="roundRect">
            <a:avLst>
              <a:gd name="adj" fmla="val 2759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00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F4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85800" y="2377440"/>
            <a:ext cx="731520" cy="36576"/>
          </a:xfrm>
          <a:prstGeom prst="rect">
            <a:avLst/>
          </a:prstGeom>
          <a:solidFill>
            <a:srgbClr val="1F451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51460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F4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算子融合的本质是什么？哪些算子组合可以融合？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463040"/>
            <a:ext cx="2651760" cy="2697480"/>
          </a:xfrm>
          <a:prstGeom prst="roundRect">
            <a:avLst>
              <a:gd name="adj" fmla="val 2759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600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3474720" y="2377440"/>
            <a:ext cx="73152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251460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FlashAttention 为何能在不牺牲精度下加速？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463040"/>
            <a:ext cx="2651760" cy="2697480"/>
          </a:xfrm>
          <a:prstGeom prst="roundRect">
            <a:avLst>
              <a:gd name="adj" fmla="val 2759"/>
            </a:avLst>
          </a:prstGeom>
          <a:solidFill>
            <a:srgbClr val="D4A843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600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F4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800" dirty="0"/>
          </a:p>
        </p:txBody>
      </p:sp>
      <p:sp>
        <p:nvSpPr>
          <p:cNvPr id="14" name="Shape 12"/>
          <p:cNvSpPr/>
          <p:nvPr/>
        </p:nvSpPr>
        <p:spPr>
          <a:xfrm>
            <a:off x="6263640" y="2377440"/>
            <a:ext cx="731520" cy="36576"/>
          </a:xfrm>
          <a:prstGeom prst="rect">
            <a:avLst/>
          </a:prstGeom>
          <a:solidFill>
            <a:srgbClr val="1F451F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251460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F4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如何将 ViT-Large 部署到 Jetson Nano 边缘设备？</a:t>
            </a:r>
            <a:endParaRPr lang="en-US" sz="1300" dirty="0"/>
          </a:p>
        </p:txBody>
      </p:sp>
      <p:sp>
        <p:nvSpPr>
          <p:cNvPr id="1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核心术语速览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78408"/>
            <a:ext cx="146304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1732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70535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053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" y="1417320"/>
            <a:ext cx="205740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Fusion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41732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55848" y="170535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3355848" y="17053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21608" y="1417320"/>
            <a:ext cx="205740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Reuse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44768" y="170535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6144768" y="17053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10528" y="1417320"/>
            <a:ext cx="205740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4231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271119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27111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2688" y="2423160"/>
            <a:ext cx="205740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Precision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46120" y="24231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55848" y="271119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3355848" y="27111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21608" y="2423160"/>
            <a:ext cx="205740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Graph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35040" y="24231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44768" y="271119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D4A843"/>
          </a:solidFill>
          <a:ln/>
        </p:spPr>
      </p:sp>
      <p:sp>
        <p:nvSpPr>
          <p:cNvPr id="26" name="Text 24"/>
          <p:cNvSpPr/>
          <p:nvPr/>
        </p:nvSpPr>
        <p:spPr>
          <a:xfrm>
            <a:off x="6144768" y="27111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10528" y="2423160"/>
            <a:ext cx="205740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Core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342900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66928" y="37170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D4A843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37170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32688" y="3429000"/>
            <a:ext cx="205740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PagedAttention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246120" y="342900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55848" y="37170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D4A843"/>
          </a:solidFill>
          <a:ln/>
        </p:spPr>
      </p:sp>
      <p:sp>
        <p:nvSpPr>
          <p:cNvPr id="34" name="Text 32"/>
          <p:cNvSpPr/>
          <p:nvPr/>
        </p:nvSpPr>
        <p:spPr>
          <a:xfrm>
            <a:off x="3355848" y="37170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721608" y="3429000"/>
            <a:ext cx="205740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FlashAttention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035040" y="342900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44768" y="37170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D4A843"/>
          </a:solidFill>
          <a:ln/>
        </p:spPr>
      </p:sp>
      <p:sp>
        <p:nvSpPr>
          <p:cNvPr id="38" name="Text 36"/>
          <p:cNvSpPr/>
          <p:nvPr/>
        </p:nvSpPr>
        <p:spPr>
          <a:xfrm>
            <a:off x="6144768" y="37170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10528" y="3429000"/>
            <a:ext cx="205740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</a:t>
            </a:r>
            <a:endParaRPr lang="en-US" sz="1300" dirty="0"/>
          </a:p>
        </p:txBody>
      </p:sp>
      <p:sp>
        <p:nvSpPr>
          <p:cNvPr id="4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下节预告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840480" y="978408"/>
            <a:ext cx="146304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86: 数据增强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Augmentation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0632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3319272"/>
            <a:ext cx="402336" cy="40233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33192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318211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传统数据增强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53872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翻转 · 裁剪 · 旋转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30632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3319272"/>
            <a:ext cx="402336" cy="40233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33192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86200" y="318211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MixUp / CutMix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86200" y="353872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图像混合增强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30632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319272"/>
            <a:ext cx="402336" cy="40233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33192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75120" y="318211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AutoAugment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353872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自动策略搜索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926080" y="4224528"/>
            <a:ext cx="329184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3159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计算机视觉100天  |  Day 85 Complete ✓</a:t>
            </a:r>
            <a:endParaRPr lang="en-US" sz="1300" dirty="0"/>
          </a:p>
        </p:txBody>
      </p:sp>
      <p:sp>
        <p:nvSpPr>
          <p:cNvPr id="2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85: 计算机视觉性能优化 - 演讲版</dc:title>
  <dc:subject>PptxGenJS Presentation</dc:subject>
  <dc:creator>CV Learning 100 Days</dc:creator>
  <cp:lastModifiedBy>CV Learning 100 Days</cp:lastModifiedBy>
  <cp:revision>1</cp:revision>
  <dcterms:created xsi:type="dcterms:W3CDTF">2026-08-18T05:16:06Z</dcterms:created>
  <dcterms:modified xsi:type="dcterms:W3CDTF">2026-08-18T05:16:06Z</dcterms:modified>
</cp:coreProperties>
</file>