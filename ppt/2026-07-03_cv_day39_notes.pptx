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Day 39 of the Computer Vision 100-Day Learning Plan. Today we explore two landmark architectures in multi-scale object detection: SSD (Single Shot MultiBox Detector) and FPN (Feature Pyramid Network). These methods revolutionized how detectors handle objects at different scales, forming the foundation for modern detection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lecture covers 8 sections. We start with the historical context before 2016, dive into SSD's multi-scale detection, then explore FPN's top-down feature fusion. We compare both approaches, discuss RetinaNet and Focal Loss, learn about the scientists behind these innovations, and end with code examples and a preview of Anchor-Free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2016, object detection was dominated by the two-stage paradigm (R-CNN family) that achieved high accuracy but was slow. Single-stage detectors like YOLO were fast but had lower accuracy. The key challenge was multi-scale detection: deep features lose spatial resolution for small objects, while shallow features lack semantic information for accurate classification. SSD and FPN both addressed this problem but with fundamentally different approaches.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timeline shows the evolution from R-CNN (2014) to modern detectors. SSD in 2016 was the first single-stage detector to systematically use multi-scale feature maps. FPN in 2017 introduced top-down feature pyramid construction with lateral connections. Both papers were published at top venues (ECCV 2016 for SSD, CVPR 2017 for FPN) and have accumulated thousands of citations.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SSD's key innovation is multi-scale feature maps for detection. Unlike previous approaches that only use the last feature map, SSD extracts features at 6 different scales. At each location, it places Default Boxes of various sizes and aspect ratios. Each predicts class scores and box refinements in a single pass, eliminating the need for a separate region proposal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SSD uses 6 feature maps of different resolutions. The smallest (38x38) detects small objects with 4 default boxes per location, while larger feature maps detect bigger objects. Default box scales follow a geometric progression from 0.2 to 0.9 relative to image size. In total, SSD300 has 8732 default boxes across all feature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SSD pipeline takes a 300x300 input, processes through truncated VGG16, adds 5 auxiliary conv layers. At each of the 6 feature map levels, 3x3 convolutions produce class predictions and box offsets for each default box. After collecting all predictions, confidence thresholding and NMS (IoU threshold 0.45) produce final detections.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SSD leverages the CNN's inherent feature hierarchy. Shallow layers like conv4_3 (38x38) have high spatial resolution but weak semantics. Deep layers like conv11_2 (1x1) have strong semantics but low resolution. The key limitation is that shallow features lack rich semantics, limiting small object detection accuracy. This is what FPN solves by enhancing shallow features with top-down semantic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Pyramid Network (FPN) was proposed by Tsung-Yi Lin et al. at FAIR in 2017. The core idea is a top-down pathway that upsamples semantically strong features from higher layers and combines them with spatially precise features from lower layers via lateral connections. This creates feature maps at every level with both rich semantics and high spatial resolution.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FPN has three key components: 1) Bottom-up pathway - standard CNN feedforward. 2) Top-down pathway - 2x upsampling to propagate semantics. 3) Lateral connections - 1x1 convolutions + element-wise addition. The result is enhanced feature maps P2-P5 with both strong semantics and high resolution.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FPN fusion: bottom-up features C_i are first passed through 1x1 conv to 256 channels (M_i), then top-down upsampled P_{i+1} is added element-wise with ReLU. Highest level P_5 only applies 1x1 conv. Output is feature pyramid P2-P6, all 256 channels at different resolutions.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FPN architecture shows three components: bottom-up backbone (ResNet), top-down pathway with 2x upsampling, and lateral connections via 1x1 convolutions and element-wise addition. Detection heads are attached to each pyramid level, compatible with both two-stage (Faster R-CNN) and one-stage (RetinaNet) frameworks.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SSD vs FPN across 6 dimensions. SSD uses original features without fusion - limiting small object performance. FPN actively enhances all levels through top-down + lateral connections. FPN is also more flexible, compatible with any backbone and detection framework. SSD is a complete detector; FPN is a feature enhancement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RetinaNet (ICCV 2017) addressed class imbalance in single-stage detection. Focal Loss introduces modulating factor (1-p_t)^gamma that down-weights easy examples. With gamma=2, easy negatives contribute 100x less loss, allowing the model to focus on hard examples while maintaining single-stage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Focal Loss has two hyperparameters: gamma (focusing) and alpha (class balance). The modulating factor (1-p_t)^gamma exponentially reduces loss from easy examples. Alpha balances positive/negative class importance. Optimal: alpha=0.25, gamma=2.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RetinaNet achieves highest COCO mAP (39.1%), surpassing two-stage detectors for the first time. SSD300 balances speed (46 FPS) and accuracy (77.2% VOC07 mAP). FPN+Faster R-CNN at 36.2% COCO shows FPN's enhancement effect on two-stage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 Liu proposed SSD during his PhD at UNC Chapel Hill (ECCV 2016, 20000+ citations). Tsung-Yi Lin at FAIR had an incredible 2017 - publishing both FPN (CVPR) and Focal Loss (ICCV), and co-creating the COCO dataset. Both researchers made lasting contributions to computer 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 PyTorch Focal Loss implementation. Key: 1) Use binary_cross_entropy_with_logits for numerical stability. 2) pt=exp(-BCE) computes class probability. 3) (1-pt)^gamma modulating factor down-weights easy examples. 4) alpha balances positive/negative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questions and preview of Day 40. Q1: ResNet-50 would improve accuracy due to deeper features and residual connections. Q2: Without lateral connections, precise spatial information is lost. Q3: gamma=0 gives standard CE; gamma=infinity makes all losses zero. Q4: Yes, FPN is widely used in segmentation (UPerNet). Next: Anchor-Free detection with CenterNet and FCOS.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joining Day 39. References: SSD (Liu et al., ECCV 2016), FPN (Lin et al., CVPR 2017), RetinaNet/Focal Loss (Lin et al., ICCV 2017). Next: Anchor-Free detection with CenterNet and FCOS.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0" y="0"/>
            <a:ext cx="9144000" cy="5143500"/>
          </a:xfrm>
          <a:prstGeom prst="rect">
            <a:avLst/>
          </a:prstGeom>
          <a:solidFill>
            <a:srgbClr val="000000">
              <a:alpha val="55000"/>
            </a:srgbClr>
          </a:solidFill>
          <a:ln/>
        </p:spPr>
      </p:sp>
      <p:sp>
        <p:nvSpPr>
          <p:cNvPr id="4" name="Text 1"/>
          <p:cNvSpPr/>
          <p:nvPr/>
        </p:nvSpPr>
        <p:spPr>
          <a:xfrm>
            <a:off x="914400" y="914400"/>
            <a:ext cx="7315200" cy="731520"/>
          </a:xfrm>
          <a:prstGeom prst="rect">
            <a:avLst/>
          </a:prstGeom>
          <a:noFill/>
          <a:ln/>
        </p:spPr>
        <p:txBody>
          <a:bodyPr wrap="square" rtlCol="0" anchor="ctr">
            <a:normAutofit/>
          </a:bodyPr>
          <a:lstStyle/>
          <a:p>
            <a:pPr algn="ctr" indent="0" marL="0">
              <a:buNone/>
            </a:pPr>
            <a:r>
              <a:rPr lang="en-US" sz="2000" spc="300" kern="0" dirty="0">
                <a:solidFill>
                  <a:srgbClr val="D4A843"/>
                </a:solidFill>
                <a:latin typeface="Calibri" pitchFamily="34" charset="0"/>
                <a:ea typeface="Calibri" pitchFamily="34" charset="-122"/>
                <a:cs typeface="Calibri" pitchFamily="34" charset="-120"/>
              </a:rPr>
              <a:t>Day 39</a:t>
            </a:r>
            <a:endParaRPr lang="en-US" sz="2000" dirty="0"/>
          </a:p>
        </p:txBody>
      </p:sp>
      <p:sp>
        <p:nvSpPr>
          <p:cNvPr id="5" name="Text 2"/>
          <p:cNvSpPr/>
          <p:nvPr/>
        </p:nvSpPr>
        <p:spPr>
          <a:xfrm>
            <a:off x="914400" y="1554480"/>
            <a:ext cx="7315200" cy="1097280"/>
          </a:xfrm>
          <a:prstGeom prst="rect">
            <a:avLst/>
          </a:prstGeom>
          <a:noFill/>
          <a:ln/>
        </p:spPr>
        <p:txBody>
          <a:bodyPr wrap="square" rtlCol="0" anchor="ctr">
            <a:normAutofit/>
          </a:bodyPr>
          <a:lstStyle/>
          <a:p>
            <a:pPr algn="ctr" indent="0" marL="0">
              <a:buNone/>
            </a:pPr>
            <a:r>
              <a:rPr lang="en-US" sz="4400" b="1" spc="250" kern="0" dirty="0">
                <a:solidFill>
                  <a:srgbClr val="FFFFFF"/>
                </a:solidFill>
                <a:latin typeface="Georgia" pitchFamily="34" charset="0"/>
                <a:ea typeface="Georgia" pitchFamily="34" charset="-122"/>
                <a:cs typeface="Georgia" pitchFamily="34" charset="-120"/>
              </a:rPr>
              <a:t>SSD与FPN</a:t>
            </a:r>
            <a:endParaRPr lang="en-US" sz="4400" dirty="0"/>
          </a:p>
        </p:txBody>
      </p:sp>
      <p:sp>
        <p:nvSpPr>
          <p:cNvPr id="6" name="Text 3"/>
          <p:cNvSpPr/>
          <p:nvPr/>
        </p:nvSpPr>
        <p:spPr>
          <a:xfrm>
            <a:off x="1371600" y="2560320"/>
            <a:ext cx="6400800" cy="548640"/>
          </a:xfrm>
          <a:prstGeom prst="rect">
            <a:avLst/>
          </a:prstGeom>
          <a:noFill/>
          <a:ln/>
        </p:spPr>
        <p:txBody>
          <a:bodyPr wrap="square" rtlCol="0" anchor="ctr">
            <a:normAutofit/>
          </a:bodyPr>
          <a:lstStyle/>
          <a:p>
            <a:pPr algn="ctr" indent="0" marL="0">
              <a:buNone/>
            </a:pPr>
            <a:r>
              <a:rPr lang="en-US" sz="2400" spc="150" kern="0" dirty="0">
                <a:solidFill>
                  <a:srgbClr val="97BC62"/>
                </a:solidFill>
                <a:latin typeface="Georgia" pitchFamily="34" charset="0"/>
                <a:ea typeface="Georgia" pitchFamily="34" charset="-122"/>
                <a:cs typeface="Georgia" pitchFamily="34" charset="-120"/>
              </a:rPr>
              <a:t>多尺度目标检测的里程碑</a:t>
            </a:r>
            <a:endParaRPr lang="en-US" sz="2400" dirty="0"/>
          </a:p>
        </p:txBody>
      </p:sp>
      <p:sp>
        <p:nvSpPr>
          <p:cNvPr id="7" name="Shape 4"/>
          <p:cNvSpPr/>
          <p:nvPr/>
        </p:nvSpPr>
        <p:spPr>
          <a:xfrm>
            <a:off x="3200400" y="3200400"/>
            <a:ext cx="2743200" cy="36576"/>
          </a:xfrm>
          <a:prstGeom prst="rect">
            <a:avLst/>
          </a:prstGeom>
          <a:solidFill>
            <a:srgbClr val="D4A843"/>
          </a:solidFill>
          <a:ln/>
        </p:spPr>
      </p:sp>
      <p:sp>
        <p:nvSpPr>
          <p:cNvPr id="8" name="Text 5"/>
          <p:cNvSpPr/>
          <p:nvPr/>
        </p:nvSpPr>
        <p:spPr>
          <a:xfrm>
            <a:off x="1828800" y="3383280"/>
            <a:ext cx="5486400" cy="365760"/>
          </a:xfrm>
          <a:prstGeom prst="rect">
            <a:avLst/>
          </a:prstGeom>
          <a:noFill/>
          <a:ln/>
        </p:spPr>
        <p:txBody>
          <a:bodyPr wrap="square" rtlCol="0" anchor="ctr">
            <a:normAutofit/>
          </a:bodyPr>
          <a:lstStyle/>
          <a:p>
            <a:pPr algn="ctr" indent="0" marL="0">
              <a:buNone/>
            </a:pPr>
            <a:r>
              <a:rPr lang="en-US" sz="1400" dirty="0">
                <a:solidFill>
                  <a:srgbClr val="CCCCCC"/>
                </a:solidFill>
                <a:latin typeface="Calibri" pitchFamily="34" charset="0"/>
                <a:ea typeface="Calibri" pitchFamily="34" charset="-122"/>
                <a:cs typeface="Calibri" pitchFamily="34" charset="-120"/>
              </a:rPr>
              <a:t>计算机视觉 100 天学习计划</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713232"/>
          </a:xfrm>
          <a:prstGeom prst="rect">
            <a:avLst/>
          </a:prstGeom>
          <a:solidFill>
            <a:srgbClr val="2C5F2D"/>
          </a:solidFill>
          <a:ln/>
        </p:spPr>
      </p:sp>
      <p:sp>
        <p:nvSpPr>
          <p:cNvPr id="4" name="Shape 1"/>
          <p:cNvSpPr/>
          <p:nvPr/>
        </p:nvSpPr>
        <p:spPr>
          <a:xfrm>
            <a:off x="0" y="713232"/>
            <a:ext cx="9144000" cy="27432"/>
          </a:xfrm>
          <a:prstGeom prst="rect">
            <a:avLst/>
          </a:prstGeom>
          <a:solidFill>
            <a:srgbClr val="D4A843"/>
          </a:solidFill>
          <a:ln/>
        </p:spPr>
      </p:sp>
      <p:sp>
        <p:nvSpPr>
          <p:cNvPr id="5" name="Text 2"/>
          <p:cNvSpPr/>
          <p:nvPr/>
        </p:nvSpPr>
        <p:spPr>
          <a:xfrm>
            <a:off x="457200" y="45720"/>
            <a:ext cx="8229600" cy="438912"/>
          </a:xfrm>
          <a:prstGeom prst="rect">
            <a:avLst/>
          </a:prstGeom>
          <a:noFill/>
          <a:ln/>
        </p:spPr>
        <p:txBody>
          <a:bodyPr wrap="square" rtlCol="0" anchor="b">
            <a:normAutofit/>
          </a:bodyPr>
          <a:lstStyle/>
          <a:p>
            <a:pPr indent="0" marL="0">
              <a:buNone/>
            </a:pPr>
            <a:r>
              <a:rPr lang="en-US" sz="2200" b="1" spc="150" kern="0" dirty="0">
                <a:solidFill>
                  <a:srgbClr val="FFFFFF"/>
                </a:solidFill>
                <a:latin typeface="Georgia" pitchFamily="34" charset="0"/>
                <a:ea typeface="Georgia" pitchFamily="34" charset="-122"/>
                <a:cs typeface="Georgia" pitchFamily="34" charset="-120"/>
              </a:rPr>
              <a:t>目录</a:t>
            </a:r>
            <a:endParaRPr lang="en-US" sz="2200" dirty="0"/>
          </a:p>
        </p:txBody>
      </p:sp>
      <p:sp>
        <p:nvSpPr>
          <p:cNvPr id="6" name="Text 3"/>
          <p:cNvSpPr/>
          <p:nvPr/>
        </p:nvSpPr>
        <p:spPr>
          <a:xfrm>
            <a:off x="457200" y="502920"/>
            <a:ext cx="8229600" cy="201168"/>
          </a:xfrm>
          <a:prstGeom prst="rect">
            <a:avLst/>
          </a:prstGeom>
          <a:noFill/>
          <a:ln/>
        </p:spPr>
        <p:txBody>
          <a:bodyPr wrap="square" rtlCol="0" anchor="ctr">
            <a:normAutofit/>
          </a:bodyPr>
          <a:lstStyle/>
          <a:p>
            <a:pPr indent="0" marL="0">
              <a:buNone/>
            </a:pPr>
            <a:r>
              <a:rPr lang="en-US" sz="1000" spc="50" kern="0" dirty="0">
                <a:solidFill>
                  <a:srgbClr val="E8F5E9"/>
                </a:solidFill>
                <a:latin typeface="Calibri" pitchFamily="34" charset="0"/>
                <a:ea typeface="Calibri" pitchFamily="34" charset="-122"/>
                <a:cs typeface="Calibri" pitchFamily="34" charset="-120"/>
              </a:rPr>
              <a:t>8个章节概览</a:t>
            </a:r>
            <a:endParaRPr lang="en-US" sz="1000" dirty="0"/>
          </a:p>
        </p:txBody>
      </p:sp>
      <p:sp>
        <p:nvSpPr>
          <p:cNvPr id="7" name="Shape 4"/>
          <p:cNvSpPr/>
          <p:nvPr/>
        </p:nvSpPr>
        <p:spPr>
          <a:xfrm>
            <a:off x="0" y="4869180"/>
            <a:ext cx="9144000" cy="274320"/>
          </a:xfrm>
          <a:prstGeom prst="rect">
            <a:avLst/>
          </a:prstGeom>
          <a:solidFill>
            <a:srgbClr val="2C5F2D"/>
          </a:solidFill>
          <a:ln/>
        </p:spPr>
      </p:sp>
      <p:sp>
        <p:nvSpPr>
          <p:cNvPr id="8" name="Text 5"/>
          <p:cNvSpPr/>
          <p:nvPr/>
        </p:nvSpPr>
        <p:spPr>
          <a:xfrm>
            <a:off x="457200" y="4869180"/>
            <a:ext cx="3657600" cy="274320"/>
          </a:xfrm>
          <a:prstGeom prst="rect">
            <a:avLst/>
          </a:prstGeom>
          <a:noFill/>
          <a:ln/>
        </p:spPr>
        <p:txBody>
          <a:bodyPr wrap="square" rtlCol="0" anchor="ctr">
            <a:normAutofit/>
          </a:bodyPr>
          <a:lstStyle/>
          <a:p>
            <a:pPr indent="0" marL="0">
              <a:buNone/>
            </a:pPr>
            <a:r>
              <a:rPr lang="en-US" sz="800" dirty="0">
                <a:solidFill>
                  <a:srgbClr val="97BC62"/>
                </a:solidFill>
                <a:latin typeface="Calibri" pitchFamily="34" charset="0"/>
                <a:ea typeface="Calibri" pitchFamily="34" charset="-122"/>
                <a:cs typeface="Calibri" pitchFamily="34" charset="-120"/>
              </a:rPr>
              <a:t>CV 100 Days | Day 39</a:t>
            </a:r>
            <a:endParaRPr lang="en-US" sz="800" dirty="0"/>
          </a:p>
        </p:txBody>
      </p:sp>
      <p:sp>
        <p:nvSpPr>
          <p:cNvPr id="9" name="Text 6"/>
          <p:cNvSpPr/>
          <p:nvPr/>
        </p:nvSpPr>
        <p:spPr>
          <a:xfrm>
            <a:off x="7315200" y="4869180"/>
            <a:ext cx="1371600" cy="274320"/>
          </a:xfrm>
          <a:prstGeom prst="rect">
            <a:avLst/>
          </a:prstGeom>
          <a:noFill/>
          <a:ln/>
        </p:spPr>
        <p:txBody>
          <a:bodyPr wrap="square" rtlCol="0" anchor="ctr">
            <a:normAutofit/>
          </a:bodyPr>
          <a:lstStyle/>
          <a:p>
            <a:pPr algn="r" indent="0" marL="0">
              <a:buNone/>
            </a:pPr>
            <a:r>
              <a:rPr lang="en-US" sz="800" dirty="0">
                <a:solidFill>
                  <a:srgbClr val="97BC62"/>
                </a:solidFill>
                <a:latin typeface="Calibri" pitchFamily="34" charset="0"/>
                <a:ea typeface="Calibri" pitchFamily="34" charset="-122"/>
                <a:cs typeface="Calibri" pitchFamily="34" charset="-120"/>
              </a:rPr>
              <a:t>2 / 20</a:t>
            </a:r>
            <a:endParaRPr lang="en-US" sz="800" dirty="0"/>
          </a:p>
        </p:txBody>
      </p:sp>
      <p:sp>
        <p:nvSpPr>
          <p:cNvPr id="10" name="Shape 7"/>
          <p:cNvSpPr/>
          <p:nvPr/>
        </p:nvSpPr>
        <p:spPr>
          <a:xfrm>
            <a:off x="457200" y="914400"/>
            <a:ext cx="1885950" cy="1840230"/>
          </a:xfrm>
          <a:prstGeom prst="roundRect">
            <a:avLst>
              <a:gd name="adj" fmla="val 4969"/>
            </a:avLst>
          </a:prstGeom>
          <a:solidFill>
            <a:srgbClr val="FFFFFF"/>
          </a:solidFill>
          <a:ln/>
          <a:effectLst>
            <a:outerShdw sx="100000" sy="100000" kx="0" ky="0" algn="bl" rotWithShape="0" blurRad="152400" dist="50800" dir="8100000">
              <a:srgbClr val="000000">
                <a:alpha val="28000"/>
              </a:srgbClr>
            </a:outerShdw>
          </a:effectLst>
        </p:spPr>
      </p:sp>
      <p:sp>
        <p:nvSpPr>
          <p:cNvPr id="11" name="Shape 8"/>
          <p:cNvSpPr/>
          <p:nvPr/>
        </p:nvSpPr>
        <p:spPr>
          <a:xfrm>
            <a:off x="566928" y="1024128"/>
            <a:ext cx="457200" cy="457200"/>
          </a:xfrm>
          <a:prstGeom prst="rect">
            <a:avLst/>
          </a:prstGeom>
          <a:solidFill>
            <a:srgbClr val="2C5F2D"/>
          </a:solidFill>
          <a:ln/>
        </p:spPr>
      </p:sp>
      <p:sp>
        <p:nvSpPr>
          <p:cNvPr id="12" name="Text 9"/>
          <p:cNvSpPr/>
          <p:nvPr/>
        </p:nvSpPr>
        <p:spPr>
          <a:xfrm>
            <a:off x="566928" y="1024128"/>
            <a:ext cx="457200" cy="457200"/>
          </a:xfrm>
          <a:prstGeom prst="rect">
            <a:avLst/>
          </a:prstGeom>
          <a:noFill/>
          <a:ln/>
        </p:spPr>
        <p:txBody>
          <a:bodyPr wrap="square" rtlCol="0" anchor="ctr">
            <a:normAutofit/>
          </a:bodyPr>
          <a:lstStyle/>
          <a:p>
            <a:pPr algn="ctr" indent="0" marL="0">
              <a:buNone/>
            </a:pPr>
            <a:r>
              <a:rPr lang="en-US" sz="1600" b="1" dirty="0">
                <a:solidFill>
                  <a:srgbClr val="FFFFFF"/>
                </a:solidFill>
                <a:latin typeface="Georgia" pitchFamily="34" charset="0"/>
                <a:ea typeface="Georgia" pitchFamily="34" charset="-122"/>
                <a:cs typeface="Georgia" pitchFamily="34" charset="-120"/>
              </a:rPr>
              <a:t>01</a:t>
            </a:r>
            <a:endParaRPr lang="en-US" sz="1600" dirty="0"/>
          </a:p>
        </p:txBody>
      </p:sp>
      <p:sp>
        <p:nvSpPr>
          <p:cNvPr id="13" name="Text 10"/>
          <p:cNvSpPr/>
          <p:nvPr/>
        </p:nvSpPr>
        <p:spPr>
          <a:xfrm>
            <a:off x="1115568" y="1005840"/>
            <a:ext cx="1044702" cy="292608"/>
          </a:xfrm>
          <a:prstGeom prst="rect">
            <a:avLst/>
          </a:prstGeom>
          <a:noFill/>
          <a:ln/>
        </p:spPr>
        <p:txBody>
          <a:bodyPr wrap="square" rtlCol="0" anchor="ctr">
            <a:normAutofit/>
          </a:bodyPr>
          <a:lstStyle/>
          <a:p>
            <a:pPr indent="0" marL="0">
              <a:buNone/>
            </a:pPr>
            <a:r>
              <a:rPr lang="en-US" sz="1200" b="1" spc="50" kern="0" dirty="0">
                <a:solidFill>
                  <a:srgbClr val="2C5F2D"/>
                </a:solidFill>
                <a:latin typeface="Georgia" pitchFamily="34" charset="0"/>
                <a:ea typeface="Georgia" pitchFamily="34" charset="-122"/>
                <a:cs typeface="Georgia" pitchFamily="34" charset="-120"/>
              </a:rPr>
              <a:t>历史背景</a:t>
            </a:r>
            <a:endParaRPr lang="en-US" sz="1200" dirty="0"/>
          </a:p>
        </p:txBody>
      </p:sp>
      <p:sp>
        <p:nvSpPr>
          <p:cNvPr id="14" name="Text 11"/>
          <p:cNvSpPr/>
          <p:nvPr/>
        </p:nvSpPr>
        <p:spPr>
          <a:xfrm>
            <a:off x="1115568" y="1298448"/>
            <a:ext cx="1044702" cy="228600"/>
          </a:xfrm>
          <a:prstGeom prst="rect">
            <a:avLst/>
          </a:prstGeom>
          <a:noFill/>
          <a:ln/>
        </p:spPr>
        <p:txBody>
          <a:bodyPr wrap="square" rtlCol="0" anchor="ctr">
            <a:normAutofit/>
          </a:bodyPr>
          <a:lstStyle/>
          <a:p>
            <a:pPr indent="0" marL="0">
              <a:buNone/>
            </a:pPr>
            <a:r>
              <a:rPr lang="en-US" sz="900" dirty="0">
                <a:solidFill>
                  <a:srgbClr val="666666"/>
                </a:solidFill>
                <a:latin typeface="Calibri" pitchFamily="34" charset="0"/>
                <a:ea typeface="Calibri" pitchFamily="34" charset="-122"/>
                <a:cs typeface="Calibri" pitchFamily="34" charset="-120"/>
              </a:rPr>
              <a:t>2016年前检测范式</a:t>
            </a:r>
            <a:endParaRPr lang="en-US" sz="900" dirty="0"/>
          </a:p>
        </p:txBody>
      </p:sp>
      <p:sp>
        <p:nvSpPr>
          <p:cNvPr id="15" name="Shape 12"/>
          <p:cNvSpPr/>
          <p:nvPr/>
        </p:nvSpPr>
        <p:spPr>
          <a:xfrm>
            <a:off x="2571750" y="914400"/>
            <a:ext cx="1885950" cy="1840230"/>
          </a:xfrm>
          <a:prstGeom prst="roundRect">
            <a:avLst>
              <a:gd name="adj" fmla="val 4969"/>
            </a:avLst>
          </a:prstGeom>
          <a:solidFill>
            <a:srgbClr val="FFFFFF"/>
          </a:solidFill>
          <a:ln/>
          <a:effectLst>
            <a:outerShdw sx="100000" sy="100000" kx="0" ky="0" algn="bl" rotWithShape="0" blurRad="152400" dist="50800" dir="8100000">
              <a:srgbClr val="000000">
                <a:alpha val="28000"/>
              </a:srgbClr>
            </a:outerShdw>
          </a:effectLst>
        </p:spPr>
      </p:sp>
      <p:sp>
        <p:nvSpPr>
          <p:cNvPr id="16" name="Shape 13"/>
          <p:cNvSpPr/>
          <p:nvPr/>
        </p:nvSpPr>
        <p:spPr>
          <a:xfrm>
            <a:off x="2681478" y="1024128"/>
            <a:ext cx="457200" cy="457200"/>
          </a:xfrm>
          <a:prstGeom prst="rect">
            <a:avLst/>
          </a:prstGeom>
          <a:solidFill>
            <a:srgbClr val="2C5F2D"/>
          </a:solidFill>
          <a:ln/>
        </p:spPr>
      </p:sp>
      <p:sp>
        <p:nvSpPr>
          <p:cNvPr id="17" name="Text 14"/>
          <p:cNvSpPr/>
          <p:nvPr/>
        </p:nvSpPr>
        <p:spPr>
          <a:xfrm>
            <a:off x="2681478" y="1024128"/>
            <a:ext cx="457200" cy="457200"/>
          </a:xfrm>
          <a:prstGeom prst="rect">
            <a:avLst/>
          </a:prstGeom>
          <a:noFill/>
          <a:ln/>
        </p:spPr>
        <p:txBody>
          <a:bodyPr wrap="square" rtlCol="0" anchor="ctr">
            <a:normAutofit/>
          </a:bodyPr>
          <a:lstStyle/>
          <a:p>
            <a:pPr algn="ctr" indent="0" marL="0">
              <a:buNone/>
            </a:pPr>
            <a:r>
              <a:rPr lang="en-US" sz="1600" b="1" dirty="0">
                <a:solidFill>
                  <a:srgbClr val="FFFFFF"/>
                </a:solidFill>
                <a:latin typeface="Georgia" pitchFamily="34" charset="0"/>
                <a:ea typeface="Georgia" pitchFamily="34" charset="-122"/>
                <a:cs typeface="Georgia" pitchFamily="34" charset="-120"/>
              </a:rPr>
              <a:t>02</a:t>
            </a:r>
            <a:endParaRPr lang="en-US" sz="1600" dirty="0"/>
          </a:p>
        </p:txBody>
      </p:sp>
      <p:sp>
        <p:nvSpPr>
          <p:cNvPr id="18" name="Text 15"/>
          <p:cNvSpPr/>
          <p:nvPr/>
        </p:nvSpPr>
        <p:spPr>
          <a:xfrm>
            <a:off x="3230118" y="1005840"/>
            <a:ext cx="1044702" cy="292608"/>
          </a:xfrm>
          <a:prstGeom prst="rect">
            <a:avLst/>
          </a:prstGeom>
          <a:noFill/>
          <a:ln/>
        </p:spPr>
        <p:txBody>
          <a:bodyPr wrap="square" rtlCol="0" anchor="ctr">
            <a:normAutofit/>
          </a:bodyPr>
          <a:lstStyle/>
          <a:p>
            <a:pPr indent="0" marL="0">
              <a:buNone/>
            </a:pPr>
            <a:r>
              <a:rPr lang="en-US" sz="1200" b="1" spc="50" kern="0" dirty="0">
                <a:solidFill>
                  <a:srgbClr val="2C5F2D"/>
                </a:solidFill>
                <a:latin typeface="Georgia" pitchFamily="34" charset="0"/>
                <a:ea typeface="Georgia" pitchFamily="34" charset="-122"/>
                <a:cs typeface="Georgia" pitchFamily="34" charset="-120"/>
              </a:rPr>
              <a:t>SSD原理</a:t>
            </a:r>
            <a:endParaRPr lang="en-US" sz="1200" dirty="0"/>
          </a:p>
        </p:txBody>
      </p:sp>
      <p:sp>
        <p:nvSpPr>
          <p:cNvPr id="19" name="Text 16"/>
          <p:cNvSpPr/>
          <p:nvPr/>
        </p:nvSpPr>
        <p:spPr>
          <a:xfrm>
            <a:off x="3230118" y="1298448"/>
            <a:ext cx="1044702" cy="228600"/>
          </a:xfrm>
          <a:prstGeom prst="rect">
            <a:avLst/>
          </a:prstGeom>
          <a:noFill/>
          <a:ln/>
        </p:spPr>
        <p:txBody>
          <a:bodyPr wrap="square" rtlCol="0" anchor="ctr">
            <a:normAutofit/>
          </a:bodyPr>
          <a:lstStyle/>
          <a:p>
            <a:pPr indent="0" marL="0">
              <a:buNone/>
            </a:pPr>
            <a:r>
              <a:rPr lang="en-US" sz="900" dirty="0">
                <a:solidFill>
                  <a:srgbClr val="666666"/>
                </a:solidFill>
                <a:latin typeface="Calibri" pitchFamily="34" charset="0"/>
                <a:ea typeface="Calibri" pitchFamily="34" charset="-122"/>
                <a:cs typeface="Calibri" pitchFamily="34" charset="-120"/>
              </a:rPr>
              <a:t>架构与Default Box</a:t>
            </a:r>
            <a:endParaRPr lang="en-US" sz="900" dirty="0"/>
          </a:p>
        </p:txBody>
      </p:sp>
      <p:sp>
        <p:nvSpPr>
          <p:cNvPr id="20" name="Shape 17"/>
          <p:cNvSpPr/>
          <p:nvPr/>
        </p:nvSpPr>
        <p:spPr>
          <a:xfrm>
            <a:off x="4686300" y="914400"/>
            <a:ext cx="1885950" cy="1840230"/>
          </a:xfrm>
          <a:prstGeom prst="roundRect">
            <a:avLst>
              <a:gd name="adj" fmla="val 4969"/>
            </a:avLst>
          </a:prstGeom>
          <a:solidFill>
            <a:srgbClr val="FFFFFF"/>
          </a:solidFill>
          <a:ln/>
          <a:effectLst>
            <a:outerShdw sx="100000" sy="100000" kx="0" ky="0" algn="bl" rotWithShape="0" blurRad="152400" dist="50800" dir="8100000">
              <a:srgbClr val="000000">
                <a:alpha val="28000"/>
              </a:srgbClr>
            </a:outerShdw>
          </a:effectLst>
        </p:spPr>
      </p:sp>
      <p:sp>
        <p:nvSpPr>
          <p:cNvPr id="21" name="Shape 18"/>
          <p:cNvSpPr/>
          <p:nvPr/>
        </p:nvSpPr>
        <p:spPr>
          <a:xfrm>
            <a:off x="4796028" y="1024128"/>
            <a:ext cx="457200" cy="457200"/>
          </a:xfrm>
          <a:prstGeom prst="rect">
            <a:avLst/>
          </a:prstGeom>
          <a:solidFill>
            <a:srgbClr val="2C5F2D"/>
          </a:solidFill>
          <a:ln/>
        </p:spPr>
      </p:sp>
      <p:sp>
        <p:nvSpPr>
          <p:cNvPr id="22" name="Text 19"/>
          <p:cNvSpPr/>
          <p:nvPr/>
        </p:nvSpPr>
        <p:spPr>
          <a:xfrm>
            <a:off x="4796028" y="1024128"/>
            <a:ext cx="457200" cy="457200"/>
          </a:xfrm>
          <a:prstGeom prst="rect">
            <a:avLst/>
          </a:prstGeom>
          <a:noFill/>
          <a:ln/>
        </p:spPr>
        <p:txBody>
          <a:bodyPr wrap="square" rtlCol="0" anchor="ctr">
            <a:normAutofit/>
          </a:bodyPr>
          <a:lstStyle/>
          <a:p>
            <a:pPr algn="ctr" indent="0" marL="0">
              <a:buNone/>
            </a:pPr>
            <a:r>
              <a:rPr lang="en-US" sz="1600" b="1" dirty="0">
                <a:solidFill>
                  <a:srgbClr val="FFFFFF"/>
                </a:solidFill>
                <a:latin typeface="Georgia" pitchFamily="34" charset="0"/>
                <a:ea typeface="Georgia" pitchFamily="34" charset="-122"/>
                <a:cs typeface="Georgia" pitchFamily="34" charset="-120"/>
              </a:rPr>
              <a:t>03</a:t>
            </a:r>
            <a:endParaRPr lang="en-US" sz="1600" dirty="0"/>
          </a:p>
        </p:txBody>
      </p:sp>
      <p:sp>
        <p:nvSpPr>
          <p:cNvPr id="23" name="Text 20"/>
          <p:cNvSpPr/>
          <p:nvPr/>
        </p:nvSpPr>
        <p:spPr>
          <a:xfrm>
            <a:off x="5344668" y="1005840"/>
            <a:ext cx="1044702" cy="292608"/>
          </a:xfrm>
          <a:prstGeom prst="rect">
            <a:avLst/>
          </a:prstGeom>
          <a:noFill/>
          <a:ln/>
        </p:spPr>
        <p:txBody>
          <a:bodyPr wrap="square" rtlCol="0" anchor="ctr">
            <a:normAutofit/>
          </a:bodyPr>
          <a:lstStyle/>
          <a:p>
            <a:pPr indent="0" marL="0">
              <a:buNone/>
            </a:pPr>
            <a:r>
              <a:rPr lang="en-US" sz="1200" b="1" spc="50" kern="0" dirty="0">
                <a:solidFill>
                  <a:srgbClr val="2C5F2D"/>
                </a:solidFill>
                <a:latin typeface="Georgia" pitchFamily="34" charset="0"/>
                <a:ea typeface="Georgia" pitchFamily="34" charset="-122"/>
                <a:cs typeface="Georgia" pitchFamily="34" charset="-120"/>
              </a:rPr>
              <a:t>FPN原理</a:t>
            </a:r>
            <a:endParaRPr lang="en-US" sz="1200" dirty="0"/>
          </a:p>
        </p:txBody>
      </p:sp>
      <p:sp>
        <p:nvSpPr>
          <p:cNvPr id="24" name="Text 21"/>
          <p:cNvSpPr/>
          <p:nvPr/>
        </p:nvSpPr>
        <p:spPr>
          <a:xfrm>
            <a:off x="5344668" y="1298448"/>
            <a:ext cx="1044702" cy="228600"/>
          </a:xfrm>
          <a:prstGeom prst="rect">
            <a:avLst/>
          </a:prstGeom>
          <a:noFill/>
          <a:ln/>
        </p:spPr>
        <p:txBody>
          <a:bodyPr wrap="square" rtlCol="0" anchor="ctr">
            <a:normAutofit/>
          </a:bodyPr>
          <a:lstStyle/>
          <a:p>
            <a:pPr indent="0" marL="0">
              <a:buNone/>
            </a:pPr>
            <a:r>
              <a:rPr lang="en-US" sz="900" dirty="0">
                <a:solidFill>
                  <a:srgbClr val="666666"/>
                </a:solidFill>
                <a:latin typeface="Calibri" pitchFamily="34" charset="0"/>
                <a:ea typeface="Calibri" pitchFamily="34" charset="-122"/>
                <a:cs typeface="Calibri" pitchFamily="34" charset="-120"/>
              </a:rPr>
              <a:t>特征金字塔融合</a:t>
            </a:r>
            <a:endParaRPr lang="en-US" sz="900" dirty="0"/>
          </a:p>
        </p:txBody>
      </p:sp>
      <p:sp>
        <p:nvSpPr>
          <p:cNvPr id="25" name="Shape 22"/>
          <p:cNvSpPr/>
          <p:nvPr/>
        </p:nvSpPr>
        <p:spPr>
          <a:xfrm>
            <a:off x="6800850" y="914400"/>
            <a:ext cx="1885950" cy="1840230"/>
          </a:xfrm>
          <a:prstGeom prst="roundRect">
            <a:avLst>
              <a:gd name="adj" fmla="val 4969"/>
            </a:avLst>
          </a:prstGeom>
          <a:solidFill>
            <a:srgbClr val="FFFFFF"/>
          </a:solidFill>
          <a:ln/>
          <a:effectLst>
            <a:outerShdw sx="100000" sy="100000" kx="0" ky="0" algn="bl" rotWithShape="0" blurRad="152400" dist="50800" dir="8100000">
              <a:srgbClr val="000000">
                <a:alpha val="28000"/>
              </a:srgbClr>
            </a:outerShdw>
          </a:effectLst>
        </p:spPr>
      </p:sp>
      <p:sp>
        <p:nvSpPr>
          <p:cNvPr id="26" name="Shape 23"/>
          <p:cNvSpPr/>
          <p:nvPr/>
        </p:nvSpPr>
        <p:spPr>
          <a:xfrm>
            <a:off x="6910578" y="1024128"/>
            <a:ext cx="457200" cy="457200"/>
          </a:xfrm>
          <a:prstGeom prst="rect">
            <a:avLst/>
          </a:prstGeom>
          <a:solidFill>
            <a:srgbClr val="2C5F2D"/>
          </a:solidFill>
          <a:ln/>
        </p:spPr>
      </p:sp>
      <p:sp>
        <p:nvSpPr>
          <p:cNvPr id="27" name="Text 24"/>
          <p:cNvSpPr/>
          <p:nvPr/>
        </p:nvSpPr>
        <p:spPr>
          <a:xfrm>
            <a:off x="6910578" y="1024128"/>
            <a:ext cx="457200" cy="457200"/>
          </a:xfrm>
          <a:prstGeom prst="rect">
            <a:avLst/>
          </a:prstGeom>
          <a:noFill/>
          <a:ln/>
        </p:spPr>
        <p:txBody>
          <a:bodyPr wrap="square" rtlCol="0" anchor="ctr">
            <a:normAutofit/>
          </a:bodyPr>
          <a:lstStyle/>
          <a:p>
            <a:pPr algn="ctr" indent="0" marL="0">
              <a:buNone/>
            </a:pPr>
            <a:r>
              <a:rPr lang="en-US" sz="1600" b="1" dirty="0">
                <a:solidFill>
                  <a:srgbClr val="FFFFFF"/>
                </a:solidFill>
                <a:latin typeface="Georgia" pitchFamily="34" charset="0"/>
                <a:ea typeface="Georgia" pitchFamily="34" charset="-122"/>
                <a:cs typeface="Georgia" pitchFamily="34" charset="-120"/>
              </a:rPr>
              <a:t>04</a:t>
            </a:r>
            <a:endParaRPr lang="en-US" sz="1600" dirty="0"/>
          </a:p>
        </p:txBody>
      </p:sp>
      <p:sp>
        <p:nvSpPr>
          <p:cNvPr id="28" name="Text 25"/>
          <p:cNvSpPr/>
          <p:nvPr/>
        </p:nvSpPr>
        <p:spPr>
          <a:xfrm>
            <a:off x="7459218" y="1005840"/>
            <a:ext cx="1044702" cy="292608"/>
          </a:xfrm>
          <a:prstGeom prst="rect">
            <a:avLst/>
          </a:prstGeom>
          <a:noFill/>
          <a:ln/>
        </p:spPr>
        <p:txBody>
          <a:bodyPr wrap="square" rtlCol="0" anchor="ctr">
            <a:normAutofit/>
          </a:bodyPr>
          <a:lstStyle/>
          <a:p>
            <a:pPr indent="0" marL="0">
              <a:buNone/>
            </a:pPr>
            <a:r>
              <a:rPr lang="en-US" sz="1200" b="1" spc="50" kern="0" dirty="0">
                <a:solidFill>
                  <a:srgbClr val="2C5F2D"/>
                </a:solidFill>
                <a:latin typeface="Georgia" pitchFamily="34" charset="0"/>
                <a:ea typeface="Georgia" pitchFamily="34" charset="-122"/>
                <a:cs typeface="Georgia" pitchFamily="34" charset="-120"/>
              </a:rPr>
              <a:t>SSD vs FPN</a:t>
            </a:r>
            <a:endParaRPr lang="en-US" sz="1200" dirty="0"/>
          </a:p>
        </p:txBody>
      </p:sp>
      <p:sp>
        <p:nvSpPr>
          <p:cNvPr id="29" name="Text 26"/>
          <p:cNvSpPr/>
          <p:nvPr/>
        </p:nvSpPr>
        <p:spPr>
          <a:xfrm>
            <a:off x="7459218" y="1298448"/>
            <a:ext cx="1044702" cy="228600"/>
          </a:xfrm>
          <a:prstGeom prst="rect">
            <a:avLst/>
          </a:prstGeom>
          <a:noFill/>
          <a:ln/>
        </p:spPr>
        <p:txBody>
          <a:bodyPr wrap="square" rtlCol="0" anchor="ctr">
            <a:normAutofit/>
          </a:bodyPr>
          <a:lstStyle/>
          <a:p>
            <a:pPr indent="0" marL="0">
              <a:buNone/>
            </a:pPr>
            <a:r>
              <a:rPr lang="en-US" sz="900" dirty="0">
                <a:solidFill>
                  <a:srgbClr val="666666"/>
                </a:solidFill>
                <a:latin typeface="Calibri" pitchFamily="34" charset="0"/>
                <a:ea typeface="Calibri" pitchFamily="34" charset="-122"/>
                <a:cs typeface="Calibri" pitchFamily="34" charset="-120"/>
              </a:rPr>
              <a:t>六维度全面对比</a:t>
            </a:r>
            <a:endParaRPr lang="en-US" sz="900" dirty="0"/>
          </a:p>
        </p:txBody>
      </p:sp>
      <p:sp>
        <p:nvSpPr>
          <p:cNvPr id="30" name="Shape 27"/>
          <p:cNvSpPr/>
          <p:nvPr/>
        </p:nvSpPr>
        <p:spPr>
          <a:xfrm>
            <a:off x="457200" y="2937510"/>
            <a:ext cx="1885950" cy="1840230"/>
          </a:xfrm>
          <a:prstGeom prst="roundRect">
            <a:avLst>
              <a:gd name="adj" fmla="val 4969"/>
            </a:avLst>
          </a:prstGeom>
          <a:solidFill>
            <a:srgbClr val="FFFFFF"/>
          </a:solidFill>
          <a:ln/>
          <a:effectLst>
            <a:outerShdw sx="100000" sy="100000" kx="0" ky="0" algn="bl" rotWithShape="0" blurRad="152400" dist="50800" dir="8100000">
              <a:srgbClr val="000000">
                <a:alpha val="28000"/>
              </a:srgbClr>
            </a:outerShdw>
          </a:effectLst>
        </p:spPr>
      </p:sp>
      <p:sp>
        <p:nvSpPr>
          <p:cNvPr id="31" name="Shape 28"/>
          <p:cNvSpPr/>
          <p:nvPr/>
        </p:nvSpPr>
        <p:spPr>
          <a:xfrm>
            <a:off x="566928" y="3047238"/>
            <a:ext cx="457200" cy="457200"/>
          </a:xfrm>
          <a:prstGeom prst="rect">
            <a:avLst/>
          </a:prstGeom>
          <a:solidFill>
            <a:srgbClr val="2C5F2D"/>
          </a:solidFill>
          <a:ln/>
        </p:spPr>
      </p:sp>
      <p:sp>
        <p:nvSpPr>
          <p:cNvPr id="32" name="Text 29"/>
          <p:cNvSpPr/>
          <p:nvPr/>
        </p:nvSpPr>
        <p:spPr>
          <a:xfrm>
            <a:off x="566928" y="3047238"/>
            <a:ext cx="457200" cy="457200"/>
          </a:xfrm>
          <a:prstGeom prst="rect">
            <a:avLst/>
          </a:prstGeom>
          <a:noFill/>
          <a:ln/>
        </p:spPr>
        <p:txBody>
          <a:bodyPr wrap="square" rtlCol="0" anchor="ctr">
            <a:normAutofit/>
          </a:bodyPr>
          <a:lstStyle/>
          <a:p>
            <a:pPr algn="ctr" indent="0" marL="0">
              <a:buNone/>
            </a:pPr>
            <a:r>
              <a:rPr lang="en-US" sz="1600" b="1" dirty="0">
                <a:solidFill>
                  <a:srgbClr val="FFFFFF"/>
                </a:solidFill>
                <a:latin typeface="Georgia" pitchFamily="34" charset="0"/>
                <a:ea typeface="Georgia" pitchFamily="34" charset="-122"/>
                <a:cs typeface="Georgia" pitchFamily="34" charset="-120"/>
              </a:rPr>
              <a:t>05</a:t>
            </a:r>
            <a:endParaRPr lang="en-US" sz="1600" dirty="0"/>
          </a:p>
        </p:txBody>
      </p:sp>
      <p:sp>
        <p:nvSpPr>
          <p:cNvPr id="33" name="Text 30"/>
          <p:cNvSpPr/>
          <p:nvPr/>
        </p:nvSpPr>
        <p:spPr>
          <a:xfrm>
            <a:off x="1115568" y="3028950"/>
            <a:ext cx="1044702" cy="292608"/>
          </a:xfrm>
          <a:prstGeom prst="rect">
            <a:avLst/>
          </a:prstGeom>
          <a:noFill/>
          <a:ln/>
        </p:spPr>
        <p:txBody>
          <a:bodyPr wrap="square" rtlCol="0" anchor="ctr">
            <a:normAutofit/>
          </a:bodyPr>
          <a:lstStyle/>
          <a:p>
            <a:pPr indent="0" marL="0">
              <a:buNone/>
            </a:pPr>
            <a:r>
              <a:rPr lang="en-US" sz="1200" b="1" spc="50" kern="0" dirty="0">
                <a:solidFill>
                  <a:srgbClr val="2C5F2D"/>
                </a:solidFill>
                <a:latin typeface="Georgia" pitchFamily="34" charset="0"/>
                <a:ea typeface="Georgia" pitchFamily="34" charset="-122"/>
                <a:cs typeface="Georgia" pitchFamily="34" charset="-120"/>
              </a:rPr>
              <a:t>RetinaNet</a:t>
            </a:r>
            <a:endParaRPr lang="en-US" sz="1200" dirty="0"/>
          </a:p>
        </p:txBody>
      </p:sp>
      <p:sp>
        <p:nvSpPr>
          <p:cNvPr id="34" name="Text 31"/>
          <p:cNvSpPr/>
          <p:nvPr/>
        </p:nvSpPr>
        <p:spPr>
          <a:xfrm>
            <a:off x="1115568" y="3321558"/>
            <a:ext cx="1044702" cy="228600"/>
          </a:xfrm>
          <a:prstGeom prst="rect">
            <a:avLst/>
          </a:prstGeom>
          <a:noFill/>
          <a:ln/>
        </p:spPr>
        <p:txBody>
          <a:bodyPr wrap="square" rtlCol="0" anchor="ctr">
            <a:normAutofit/>
          </a:bodyPr>
          <a:lstStyle/>
          <a:p>
            <a:pPr indent="0" marL="0">
              <a:buNone/>
            </a:pPr>
            <a:r>
              <a:rPr lang="en-US" sz="900" dirty="0">
                <a:solidFill>
                  <a:srgbClr val="666666"/>
                </a:solidFill>
                <a:latin typeface="Calibri" pitchFamily="34" charset="0"/>
                <a:ea typeface="Calibri" pitchFamily="34" charset="-122"/>
                <a:cs typeface="Calibri" pitchFamily="34" charset="-120"/>
              </a:rPr>
              <a:t>Focal Loss</a:t>
            </a:r>
            <a:endParaRPr lang="en-US" sz="900" dirty="0"/>
          </a:p>
        </p:txBody>
      </p:sp>
      <p:sp>
        <p:nvSpPr>
          <p:cNvPr id="35" name="Shape 32"/>
          <p:cNvSpPr/>
          <p:nvPr/>
        </p:nvSpPr>
        <p:spPr>
          <a:xfrm>
            <a:off x="2571750" y="2937510"/>
            <a:ext cx="1885950" cy="1840230"/>
          </a:xfrm>
          <a:prstGeom prst="roundRect">
            <a:avLst>
              <a:gd name="adj" fmla="val 4969"/>
            </a:avLst>
          </a:prstGeom>
          <a:solidFill>
            <a:srgbClr val="FFFFFF"/>
          </a:solidFill>
          <a:ln/>
          <a:effectLst>
            <a:outerShdw sx="100000" sy="100000" kx="0" ky="0" algn="bl" rotWithShape="0" blurRad="152400" dist="50800" dir="8100000">
              <a:srgbClr val="000000">
                <a:alpha val="28000"/>
              </a:srgbClr>
            </a:outerShdw>
          </a:effectLst>
        </p:spPr>
      </p:sp>
      <p:sp>
        <p:nvSpPr>
          <p:cNvPr id="36" name="Shape 33"/>
          <p:cNvSpPr/>
          <p:nvPr/>
        </p:nvSpPr>
        <p:spPr>
          <a:xfrm>
            <a:off x="2681478" y="3047238"/>
            <a:ext cx="457200" cy="457200"/>
          </a:xfrm>
          <a:prstGeom prst="rect">
            <a:avLst/>
          </a:prstGeom>
          <a:solidFill>
            <a:srgbClr val="2C5F2D"/>
          </a:solidFill>
          <a:ln/>
        </p:spPr>
      </p:sp>
      <p:sp>
        <p:nvSpPr>
          <p:cNvPr id="37" name="Text 34"/>
          <p:cNvSpPr/>
          <p:nvPr/>
        </p:nvSpPr>
        <p:spPr>
          <a:xfrm>
            <a:off x="2681478" y="3047238"/>
            <a:ext cx="457200" cy="457200"/>
          </a:xfrm>
          <a:prstGeom prst="rect">
            <a:avLst/>
          </a:prstGeom>
          <a:noFill/>
          <a:ln/>
        </p:spPr>
        <p:txBody>
          <a:bodyPr wrap="square" rtlCol="0" anchor="ctr">
            <a:normAutofit/>
          </a:bodyPr>
          <a:lstStyle/>
          <a:p>
            <a:pPr algn="ctr" indent="0" marL="0">
              <a:buNone/>
            </a:pPr>
            <a:r>
              <a:rPr lang="en-US" sz="1600" b="1" dirty="0">
                <a:solidFill>
                  <a:srgbClr val="FFFFFF"/>
                </a:solidFill>
                <a:latin typeface="Georgia" pitchFamily="34" charset="0"/>
                <a:ea typeface="Georgia" pitchFamily="34" charset="-122"/>
                <a:cs typeface="Georgia" pitchFamily="34" charset="-120"/>
              </a:rPr>
              <a:t>06</a:t>
            </a:r>
            <a:endParaRPr lang="en-US" sz="1600" dirty="0"/>
          </a:p>
        </p:txBody>
      </p:sp>
      <p:sp>
        <p:nvSpPr>
          <p:cNvPr id="38" name="Text 35"/>
          <p:cNvSpPr/>
          <p:nvPr/>
        </p:nvSpPr>
        <p:spPr>
          <a:xfrm>
            <a:off x="3230118" y="3028950"/>
            <a:ext cx="1044702" cy="292608"/>
          </a:xfrm>
          <a:prstGeom prst="rect">
            <a:avLst/>
          </a:prstGeom>
          <a:noFill/>
          <a:ln/>
        </p:spPr>
        <p:txBody>
          <a:bodyPr wrap="square" rtlCol="0" anchor="ctr">
            <a:normAutofit/>
          </a:bodyPr>
          <a:lstStyle/>
          <a:p>
            <a:pPr indent="0" marL="0">
              <a:buNone/>
            </a:pPr>
            <a:r>
              <a:rPr lang="en-US" sz="1200" b="1" spc="50" kern="0" dirty="0">
                <a:solidFill>
                  <a:srgbClr val="2C5F2D"/>
                </a:solidFill>
                <a:latin typeface="Georgia" pitchFamily="34" charset="0"/>
                <a:ea typeface="Georgia" pitchFamily="34" charset="-122"/>
                <a:cs typeface="Georgia" pitchFamily="34" charset="-120"/>
              </a:rPr>
              <a:t>科学家故事</a:t>
            </a:r>
            <a:endParaRPr lang="en-US" sz="1200" dirty="0"/>
          </a:p>
        </p:txBody>
      </p:sp>
      <p:sp>
        <p:nvSpPr>
          <p:cNvPr id="39" name="Text 36"/>
          <p:cNvSpPr/>
          <p:nvPr/>
        </p:nvSpPr>
        <p:spPr>
          <a:xfrm>
            <a:off x="3230118" y="3321558"/>
            <a:ext cx="1044702" cy="228600"/>
          </a:xfrm>
          <a:prstGeom prst="rect">
            <a:avLst/>
          </a:prstGeom>
          <a:noFill/>
          <a:ln/>
        </p:spPr>
        <p:txBody>
          <a:bodyPr wrap="square" rtlCol="0" anchor="ctr">
            <a:normAutofit/>
          </a:bodyPr>
          <a:lstStyle/>
          <a:p>
            <a:pPr indent="0" marL="0">
              <a:buNone/>
            </a:pPr>
            <a:r>
              <a:rPr lang="en-US" sz="900" dirty="0">
                <a:solidFill>
                  <a:srgbClr val="666666"/>
                </a:solidFill>
                <a:latin typeface="Calibri" pitchFamily="34" charset="0"/>
                <a:ea typeface="Calibri" pitchFamily="34" charset="-122"/>
                <a:cs typeface="Calibri" pitchFamily="34" charset="-120"/>
              </a:rPr>
              <a:t>Liu与Lin</a:t>
            </a:r>
            <a:endParaRPr lang="en-US" sz="900" dirty="0"/>
          </a:p>
        </p:txBody>
      </p:sp>
      <p:sp>
        <p:nvSpPr>
          <p:cNvPr id="40" name="Shape 37"/>
          <p:cNvSpPr/>
          <p:nvPr/>
        </p:nvSpPr>
        <p:spPr>
          <a:xfrm>
            <a:off x="4686300" y="2937510"/>
            <a:ext cx="1885950" cy="1840230"/>
          </a:xfrm>
          <a:prstGeom prst="roundRect">
            <a:avLst>
              <a:gd name="adj" fmla="val 4969"/>
            </a:avLst>
          </a:prstGeom>
          <a:solidFill>
            <a:srgbClr val="FFFFFF"/>
          </a:solidFill>
          <a:ln/>
          <a:effectLst>
            <a:outerShdw sx="100000" sy="100000" kx="0" ky="0" algn="bl" rotWithShape="0" blurRad="152400" dist="50800" dir="8100000">
              <a:srgbClr val="000000">
                <a:alpha val="28000"/>
              </a:srgbClr>
            </a:outerShdw>
          </a:effectLst>
        </p:spPr>
      </p:sp>
      <p:sp>
        <p:nvSpPr>
          <p:cNvPr id="41" name="Shape 38"/>
          <p:cNvSpPr/>
          <p:nvPr/>
        </p:nvSpPr>
        <p:spPr>
          <a:xfrm>
            <a:off x="4796028" y="3047238"/>
            <a:ext cx="457200" cy="457200"/>
          </a:xfrm>
          <a:prstGeom prst="rect">
            <a:avLst/>
          </a:prstGeom>
          <a:solidFill>
            <a:srgbClr val="2C5F2D"/>
          </a:solidFill>
          <a:ln/>
        </p:spPr>
      </p:sp>
      <p:sp>
        <p:nvSpPr>
          <p:cNvPr id="42" name="Text 39"/>
          <p:cNvSpPr/>
          <p:nvPr/>
        </p:nvSpPr>
        <p:spPr>
          <a:xfrm>
            <a:off x="4796028" y="3047238"/>
            <a:ext cx="457200" cy="457200"/>
          </a:xfrm>
          <a:prstGeom prst="rect">
            <a:avLst/>
          </a:prstGeom>
          <a:noFill/>
          <a:ln/>
        </p:spPr>
        <p:txBody>
          <a:bodyPr wrap="square" rtlCol="0" anchor="ctr">
            <a:normAutofit/>
          </a:bodyPr>
          <a:lstStyle/>
          <a:p>
            <a:pPr algn="ctr" indent="0" marL="0">
              <a:buNone/>
            </a:pPr>
            <a:r>
              <a:rPr lang="en-US" sz="1600" b="1" dirty="0">
                <a:solidFill>
                  <a:srgbClr val="FFFFFF"/>
                </a:solidFill>
                <a:latin typeface="Georgia" pitchFamily="34" charset="0"/>
                <a:ea typeface="Georgia" pitchFamily="34" charset="-122"/>
                <a:cs typeface="Georgia" pitchFamily="34" charset="-120"/>
              </a:rPr>
              <a:t>07</a:t>
            </a:r>
            <a:endParaRPr lang="en-US" sz="1600" dirty="0"/>
          </a:p>
        </p:txBody>
      </p:sp>
      <p:sp>
        <p:nvSpPr>
          <p:cNvPr id="43" name="Text 40"/>
          <p:cNvSpPr/>
          <p:nvPr/>
        </p:nvSpPr>
        <p:spPr>
          <a:xfrm>
            <a:off x="5344668" y="3028950"/>
            <a:ext cx="1044702" cy="292608"/>
          </a:xfrm>
          <a:prstGeom prst="rect">
            <a:avLst/>
          </a:prstGeom>
          <a:noFill/>
          <a:ln/>
        </p:spPr>
        <p:txBody>
          <a:bodyPr wrap="square" rtlCol="0" anchor="ctr">
            <a:normAutofit/>
          </a:bodyPr>
          <a:lstStyle/>
          <a:p>
            <a:pPr indent="0" marL="0">
              <a:buNone/>
            </a:pPr>
            <a:r>
              <a:rPr lang="en-US" sz="1200" b="1" spc="50" kern="0" dirty="0">
                <a:solidFill>
                  <a:srgbClr val="2C5F2D"/>
                </a:solidFill>
                <a:latin typeface="Georgia" pitchFamily="34" charset="0"/>
                <a:ea typeface="Georgia" pitchFamily="34" charset="-122"/>
                <a:cs typeface="Georgia" pitchFamily="34" charset="-120"/>
              </a:rPr>
              <a:t>实验验证</a:t>
            </a:r>
            <a:endParaRPr lang="en-US" sz="1200" dirty="0"/>
          </a:p>
        </p:txBody>
      </p:sp>
      <p:sp>
        <p:nvSpPr>
          <p:cNvPr id="44" name="Text 41"/>
          <p:cNvSpPr/>
          <p:nvPr/>
        </p:nvSpPr>
        <p:spPr>
          <a:xfrm>
            <a:off x="5344668" y="3321558"/>
            <a:ext cx="1044702" cy="228600"/>
          </a:xfrm>
          <a:prstGeom prst="rect">
            <a:avLst/>
          </a:prstGeom>
          <a:noFill/>
          <a:ln/>
        </p:spPr>
        <p:txBody>
          <a:bodyPr wrap="square" rtlCol="0" anchor="ctr">
            <a:normAutofit/>
          </a:bodyPr>
          <a:lstStyle/>
          <a:p>
            <a:pPr indent="0" marL="0">
              <a:buNone/>
            </a:pPr>
            <a:r>
              <a:rPr lang="en-US" sz="900" dirty="0">
                <a:solidFill>
                  <a:srgbClr val="666666"/>
                </a:solidFill>
                <a:latin typeface="Calibri" pitchFamily="34" charset="0"/>
                <a:ea typeface="Calibri" pitchFamily="34" charset="-122"/>
                <a:cs typeface="Calibri" pitchFamily="34" charset="-120"/>
              </a:rPr>
              <a:t>代码与性能</a:t>
            </a:r>
            <a:endParaRPr lang="en-US" sz="900" dirty="0"/>
          </a:p>
        </p:txBody>
      </p:sp>
      <p:sp>
        <p:nvSpPr>
          <p:cNvPr id="45" name="Shape 42"/>
          <p:cNvSpPr/>
          <p:nvPr/>
        </p:nvSpPr>
        <p:spPr>
          <a:xfrm>
            <a:off x="6800850" y="2937510"/>
            <a:ext cx="1885950" cy="1840230"/>
          </a:xfrm>
          <a:prstGeom prst="roundRect">
            <a:avLst>
              <a:gd name="adj" fmla="val 4969"/>
            </a:avLst>
          </a:prstGeom>
          <a:solidFill>
            <a:srgbClr val="FFFFFF"/>
          </a:solidFill>
          <a:ln/>
          <a:effectLst>
            <a:outerShdw sx="100000" sy="100000" kx="0" ky="0" algn="bl" rotWithShape="0" blurRad="152400" dist="50800" dir="8100000">
              <a:srgbClr val="000000">
                <a:alpha val="28000"/>
              </a:srgbClr>
            </a:outerShdw>
          </a:effectLst>
        </p:spPr>
      </p:sp>
      <p:sp>
        <p:nvSpPr>
          <p:cNvPr id="46" name="Shape 43"/>
          <p:cNvSpPr/>
          <p:nvPr/>
        </p:nvSpPr>
        <p:spPr>
          <a:xfrm>
            <a:off x="6910578" y="3047238"/>
            <a:ext cx="457200" cy="457200"/>
          </a:xfrm>
          <a:prstGeom prst="rect">
            <a:avLst/>
          </a:prstGeom>
          <a:solidFill>
            <a:srgbClr val="2C5F2D"/>
          </a:solidFill>
          <a:ln/>
        </p:spPr>
      </p:sp>
      <p:sp>
        <p:nvSpPr>
          <p:cNvPr id="47" name="Text 44"/>
          <p:cNvSpPr/>
          <p:nvPr/>
        </p:nvSpPr>
        <p:spPr>
          <a:xfrm>
            <a:off x="6910578" y="3047238"/>
            <a:ext cx="457200" cy="457200"/>
          </a:xfrm>
          <a:prstGeom prst="rect">
            <a:avLst/>
          </a:prstGeom>
          <a:noFill/>
          <a:ln/>
        </p:spPr>
        <p:txBody>
          <a:bodyPr wrap="square" rtlCol="0" anchor="ctr">
            <a:normAutofit/>
          </a:bodyPr>
          <a:lstStyle/>
          <a:p>
            <a:pPr algn="ctr" indent="0" marL="0">
              <a:buNone/>
            </a:pPr>
            <a:r>
              <a:rPr lang="en-US" sz="1600" b="1" dirty="0">
                <a:solidFill>
                  <a:srgbClr val="FFFFFF"/>
                </a:solidFill>
                <a:latin typeface="Georgia" pitchFamily="34" charset="0"/>
                <a:ea typeface="Georgia" pitchFamily="34" charset="-122"/>
                <a:cs typeface="Georgia" pitchFamily="34" charset="-120"/>
              </a:rPr>
              <a:t>08</a:t>
            </a:r>
            <a:endParaRPr lang="en-US" sz="1600" dirty="0"/>
          </a:p>
        </p:txBody>
      </p:sp>
      <p:sp>
        <p:nvSpPr>
          <p:cNvPr id="48" name="Text 45"/>
          <p:cNvSpPr/>
          <p:nvPr/>
        </p:nvSpPr>
        <p:spPr>
          <a:xfrm>
            <a:off x="7459218" y="3028950"/>
            <a:ext cx="1044702" cy="292608"/>
          </a:xfrm>
          <a:prstGeom prst="rect">
            <a:avLst/>
          </a:prstGeom>
          <a:noFill/>
          <a:ln/>
        </p:spPr>
        <p:txBody>
          <a:bodyPr wrap="square" rtlCol="0" anchor="ctr">
            <a:normAutofit/>
          </a:bodyPr>
          <a:lstStyle/>
          <a:p>
            <a:pPr indent="0" marL="0">
              <a:buNone/>
            </a:pPr>
            <a:r>
              <a:rPr lang="en-US" sz="1200" b="1" spc="50" kern="0" dirty="0">
                <a:solidFill>
                  <a:srgbClr val="2C5F2D"/>
                </a:solidFill>
                <a:latin typeface="Georgia" pitchFamily="34" charset="0"/>
                <a:ea typeface="Georgia" pitchFamily="34" charset="-122"/>
                <a:cs typeface="Georgia" pitchFamily="34" charset="-120"/>
              </a:rPr>
              <a:t>下节预告</a:t>
            </a:r>
            <a:endParaRPr lang="en-US" sz="1200" dirty="0"/>
          </a:p>
        </p:txBody>
      </p:sp>
      <p:sp>
        <p:nvSpPr>
          <p:cNvPr id="49" name="Text 46"/>
          <p:cNvSpPr/>
          <p:nvPr/>
        </p:nvSpPr>
        <p:spPr>
          <a:xfrm>
            <a:off x="7459218" y="3321558"/>
            <a:ext cx="1044702" cy="228600"/>
          </a:xfrm>
          <a:prstGeom prst="rect">
            <a:avLst/>
          </a:prstGeom>
          <a:noFill/>
          <a:ln/>
        </p:spPr>
        <p:txBody>
          <a:bodyPr wrap="square" rtlCol="0" anchor="ctr">
            <a:normAutofit/>
          </a:bodyPr>
          <a:lstStyle/>
          <a:p>
            <a:pPr indent="0" marL="0">
              <a:buNone/>
            </a:pPr>
            <a:r>
              <a:rPr lang="en-US" sz="900" dirty="0">
                <a:solidFill>
                  <a:srgbClr val="666666"/>
                </a:solidFill>
                <a:latin typeface="Calibri" pitchFamily="34" charset="0"/>
                <a:ea typeface="Calibri" pitchFamily="34" charset="-122"/>
                <a:cs typeface="Calibri" pitchFamily="34" charset="-120"/>
              </a:rPr>
              <a:t>Anchor-Free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713232"/>
          </a:xfrm>
          <a:prstGeom prst="rect">
            <a:avLst/>
          </a:prstGeom>
          <a:solidFill>
            <a:srgbClr val="2C5F2D"/>
          </a:solidFill>
          <a:ln/>
        </p:spPr>
      </p:sp>
      <p:sp>
        <p:nvSpPr>
          <p:cNvPr id="4" name="Shape 1"/>
          <p:cNvSpPr/>
          <p:nvPr/>
        </p:nvSpPr>
        <p:spPr>
          <a:xfrm>
            <a:off x="0" y="713232"/>
            <a:ext cx="9144000" cy="27432"/>
          </a:xfrm>
          <a:prstGeom prst="rect">
            <a:avLst/>
          </a:prstGeom>
          <a:solidFill>
            <a:srgbClr val="D4A843"/>
          </a:solidFill>
          <a:ln/>
        </p:spPr>
      </p:sp>
      <p:sp>
        <p:nvSpPr>
          <p:cNvPr id="5" name="Text 2"/>
          <p:cNvSpPr/>
          <p:nvPr/>
        </p:nvSpPr>
        <p:spPr>
          <a:xfrm>
            <a:off x="457200" y="45720"/>
            <a:ext cx="8229600" cy="438912"/>
          </a:xfrm>
          <a:prstGeom prst="rect">
            <a:avLst/>
          </a:prstGeom>
          <a:noFill/>
          <a:ln/>
        </p:spPr>
        <p:txBody>
          <a:bodyPr wrap="square" rtlCol="0" anchor="b">
            <a:normAutofit/>
          </a:bodyPr>
          <a:lstStyle/>
          <a:p>
            <a:pPr indent="0" marL="0">
              <a:buNone/>
            </a:pPr>
            <a:r>
              <a:rPr lang="en-US" sz="2200" b="1" spc="150" kern="0" dirty="0">
                <a:solidFill>
                  <a:srgbClr val="FFFFFF"/>
                </a:solidFill>
                <a:latin typeface="Georgia" pitchFamily="34" charset="0"/>
                <a:ea typeface="Georgia" pitchFamily="34" charset="-122"/>
                <a:cs typeface="Georgia" pitchFamily="34" charset="-120"/>
              </a:rPr>
              <a:t>历史背景（一）</a:t>
            </a:r>
            <a:endParaRPr lang="en-US" sz="2200" dirty="0"/>
          </a:p>
        </p:txBody>
      </p:sp>
      <p:sp>
        <p:nvSpPr>
          <p:cNvPr id="6" name="Text 3"/>
          <p:cNvSpPr/>
          <p:nvPr/>
        </p:nvSpPr>
        <p:spPr>
          <a:xfrm>
            <a:off x="457200" y="502920"/>
            <a:ext cx="8229600" cy="201168"/>
          </a:xfrm>
          <a:prstGeom prst="rect">
            <a:avLst/>
          </a:prstGeom>
          <a:noFill/>
          <a:ln/>
        </p:spPr>
        <p:txBody>
          <a:bodyPr wrap="square" rtlCol="0" anchor="ctr">
            <a:normAutofit/>
          </a:bodyPr>
          <a:lstStyle/>
          <a:p>
            <a:pPr indent="0" marL="0">
              <a:buNone/>
            </a:pPr>
            <a:r>
              <a:rPr lang="en-US" sz="1000" spc="50" kern="0" dirty="0">
                <a:solidFill>
                  <a:srgbClr val="E8F5E9"/>
                </a:solidFill>
                <a:latin typeface="Calibri" pitchFamily="34" charset="0"/>
                <a:ea typeface="Calibri" pitchFamily="34" charset="-122"/>
                <a:cs typeface="Calibri" pitchFamily="34" charset="-120"/>
              </a:rPr>
              <a:t>2016年前的目标检测：两阶段 vs 单阶段</a:t>
            </a:r>
            <a:endParaRPr lang="en-US" sz="1000" dirty="0"/>
          </a:p>
        </p:txBody>
      </p:sp>
      <p:sp>
        <p:nvSpPr>
          <p:cNvPr id="7" name="Shape 4"/>
          <p:cNvSpPr/>
          <p:nvPr/>
        </p:nvSpPr>
        <p:spPr>
          <a:xfrm>
            <a:off x="0" y="4869180"/>
            <a:ext cx="9144000" cy="274320"/>
          </a:xfrm>
          <a:prstGeom prst="rect">
            <a:avLst/>
          </a:prstGeom>
          <a:solidFill>
            <a:srgbClr val="2C5F2D"/>
          </a:solidFill>
          <a:ln/>
        </p:spPr>
      </p:sp>
      <p:sp>
        <p:nvSpPr>
          <p:cNvPr id="8" name="Text 5"/>
          <p:cNvSpPr/>
          <p:nvPr/>
        </p:nvSpPr>
        <p:spPr>
          <a:xfrm>
            <a:off x="457200" y="4869180"/>
            <a:ext cx="3657600" cy="274320"/>
          </a:xfrm>
          <a:prstGeom prst="rect">
            <a:avLst/>
          </a:prstGeom>
          <a:noFill/>
          <a:ln/>
        </p:spPr>
        <p:txBody>
          <a:bodyPr wrap="square" rtlCol="0" anchor="ctr">
            <a:normAutofit/>
          </a:bodyPr>
          <a:lstStyle/>
          <a:p>
            <a:pPr indent="0" marL="0">
              <a:buNone/>
            </a:pPr>
            <a:r>
              <a:rPr lang="en-US" sz="800" dirty="0">
                <a:solidFill>
                  <a:srgbClr val="97BC62"/>
                </a:solidFill>
                <a:latin typeface="Calibri" pitchFamily="34" charset="0"/>
                <a:ea typeface="Calibri" pitchFamily="34" charset="-122"/>
                <a:cs typeface="Calibri" pitchFamily="34" charset="-120"/>
              </a:rPr>
              <a:t>CV 100 Days | Day 39</a:t>
            </a:r>
            <a:endParaRPr lang="en-US" sz="800" dirty="0"/>
          </a:p>
        </p:txBody>
      </p:sp>
      <p:sp>
        <p:nvSpPr>
          <p:cNvPr id="9" name="Text 6"/>
          <p:cNvSpPr/>
          <p:nvPr/>
        </p:nvSpPr>
        <p:spPr>
          <a:xfrm>
            <a:off x="7315200" y="4869180"/>
            <a:ext cx="1371600" cy="274320"/>
          </a:xfrm>
          <a:prstGeom prst="rect">
            <a:avLst/>
          </a:prstGeom>
          <a:noFill/>
          <a:ln/>
        </p:spPr>
        <p:txBody>
          <a:bodyPr wrap="square" rtlCol="0" anchor="ctr">
            <a:normAutofit/>
          </a:bodyPr>
          <a:lstStyle/>
          <a:p>
            <a:pPr algn="r" indent="0" marL="0">
              <a:buNone/>
            </a:pPr>
            <a:r>
              <a:rPr lang="en-US" sz="800" dirty="0">
                <a:solidFill>
                  <a:srgbClr val="97BC62"/>
                </a:solidFill>
                <a:latin typeface="Calibri" pitchFamily="34" charset="0"/>
                <a:ea typeface="Calibri" pitchFamily="34" charset="-122"/>
                <a:cs typeface="Calibri" pitchFamily="34" charset="-120"/>
              </a:rPr>
              <a:t>3 / 20</a:t>
            </a:r>
            <a:endParaRPr lang="en-US" sz="800" dirty="0"/>
          </a:p>
        </p:txBody>
      </p:sp>
      <p:sp>
        <p:nvSpPr>
          <p:cNvPr id="10" name="Shape 7"/>
          <p:cNvSpPr/>
          <p:nvPr/>
        </p:nvSpPr>
        <p:spPr>
          <a:xfrm>
            <a:off x="457200" y="914400"/>
            <a:ext cx="3977640" cy="1645920"/>
          </a:xfrm>
          <a:prstGeom prst="roundRect">
            <a:avLst>
              <a:gd name="adj" fmla="val 5556"/>
            </a:avLst>
          </a:prstGeom>
          <a:solidFill>
            <a:srgbClr val="FFFFFF"/>
          </a:solidFill>
          <a:ln/>
          <a:effectLst>
            <a:outerShdw sx="100000" sy="100000" kx="0" ky="0" algn="bl" rotWithShape="0" blurRad="203200" dist="76200" dir="8100000">
              <a:srgbClr val="000000">
                <a:alpha val="32000"/>
              </a:srgbClr>
            </a:outerShdw>
          </a:effectLst>
        </p:spPr>
      </p:sp>
      <p:sp>
        <p:nvSpPr>
          <p:cNvPr id="11" name="Shape 8"/>
          <p:cNvSpPr/>
          <p:nvPr/>
        </p:nvSpPr>
        <p:spPr>
          <a:xfrm>
            <a:off x="457200" y="914400"/>
            <a:ext cx="3977640" cy="36576"/>
          </a:xfrm>
          <a:prstGeom prst="rect">
            <a:avLst/>
          </a:prstGeom>
          <a:solidFill>
            <a:srgbClr val="2C5F2D"/>
          </a:solidFill>
          <a:ln/>
        </p:spPr>
      </p:sp>
      <p:sp>
        <p:nvSpPr>
          <p:cNvPr id="12" name="Text 9"/>
          <p:cNvSpPr/>
          <p:nvPr/>
        </p:nvSpPr>
        <p:spPr>
          <a:xfrm>
            <a:off x="594360" y="1005840"/>
            <a:ext cx="3703320" cy="274320"/>
          </a:xfrm>
          <a:prstGeom prst="rect">
            <a:avLst/>
          </a:prstGeom>
          <a:noFill/>
          <a:ln/>
        </p:spPr>
        <p:txBody>
          <a:bodyPr wrap="square" rtlCol="0" anchor="ctr">
            <a:normAutofit/>
          </a:bodyPr>
          <a:lstStyle/>
          <a:p>
            <a:pPr indent="0" marL="0">
              <a:buNone/>
            </a:pPr>
            <a:r>
              <a:rPr lang="en-US" sz="1500" b="1" dirty="0">
                <a:solidFill>
                  <a:srgbClr val="2C5F2D"/>
                </a:solidFill>
                <a:latin typeface="Georgia" pitchFamily="34" charset="0"/>
                <a:ea typeface="Georgia" pitchFamily="34" charset="-122"/>
                <a:cs typeface="Georgia" pitchFamily="34" charset="-120"/>
              </a:rPr>
              <a:t>两阶段检测器</a:t>
            </a:r>
            <a:endParaRPr lang="en-US" sz="1500" dirty="0"/>
          </a:p>
        </p:txBody>
      </p:sp>
      <p:sp>
        <p:nvSpPr>
          <p:cNvPr id="13" name="Text 10"/>
          <p:cNvSpPr/>
          <p:nvPr/>
        </p:nvSpPr>
        <p:spPr>
          <a:xfrm>
            <a:off x="594360" y="1325880"/>
            <a:ext cx="3703320" cy="822960"/>
          </a:xfrm>
          <a:prstGeom prst="rect">
            <a:avLst/>
          </a:prstGeom>
          <a:noFill/>
          <a:ln/>
        </p:spPr>
        <p:txBody>
          <a:bodyPr wrap="square" rtlCol="0" anchor="ctr"/>
          <a:lstStyle/>
          <a:p>
            <a:pPr indent="0" marL="0">
              <a:buNone/>
            </a:pPr>
            <a:r>
              <a:rPr lang="en-US" sz="1000" dirty="0">
                <a:solidFill>
                  <a:srgbClr val="333333"/>
                </a:solidFill>
              </a:rPr>
              <a:t>R-CNN (2014) — Selective Search + CNN + SVM</a:t>
            </a:r>
            <a:endParaRPr lang="en-US" sz="1000" dirty="0"/>
          </a:p>
          <a:p>
            <a:pPr indent="0" marL="0">
              <a:buNone/>
            </a:pPr>
            <a:r>
              <a:rPr lang="en-US" sz="1000" dirty="0">
                <a:solidFill>
                  <a:srgbClr val="333333"/>
                </a:solidFill>
              </a:rPr>
              <a:t>Fast R-CNN (2015) — RoI Pooling 共享特征</a:t>
            </a:r>
            <a:endParaRPr lang="en-US" sz="1000" dirty="0"/>
          </a:p>
          <a:p>
            <a:pPr indent="0" marL="0">
              <a:buNone/>
            </a:pPr>
            <a:r>
              <a:rPr lang="en-US" sz="1000" dirty="0">
                <a:solidFill>
                  <a:srgbClr val="333333"/>
                </a:solidFill>
              </a:rPr>
              <a:t>Faster R-CNN (2015) — RPN 替代 Selective Search</a:t>
            </a:r>
            <a:endParaRPr lang="en-US" sz="1000" dirty="0"/>
          </a:p>
        </p:txBody>
      </p:sp>
      <p:sp>
        <p:nvSpPr>
          <p:cNvPr id="14" name="Text 11"/>
          <p:cNvSpPr/>
          <p:nvPr/>
        </p:nvSpPr>
        <p:spPr>
          <a:xfrm>
            <a:off x="594360" y="2194560"/>
            <a:ext cx="3703320" cy="228600"/>
          </a:xfrm>
          <a:prstGeom prst="rect">
            <a:avLst/>
          </a:prstGeom>
          <a:noFill/>
          <a:ln/>
        </p:spPr>
        <p:txBody>
          <a:bodyPr wrap="square" rtlCol="0" anchor="ctr">
            <a:normAutofit/>
          </a:bodyPr>
          <a:lstStyle/>
          <a:p>
            <a:pPr indent="0" marL="0">
              <a:buNone/>
            </a:pPr>
            <a:r>
              <a:rPr lang="en-US" sz="900" i="1" dirty="0">
                <a:solidFill>
                  <a:srgbClr val="D4A843"/>
                </a:solidFill>
                <a:latin typeface="Calibri" pitchFamily="34" charset="0"/>
                <a:ea typeface="Calibri" pitchFamily="34" charset="-122"/>
                <a:cs typeface="Calibri" pitchFamily="34" charset="-120"/>
              </a:rPr>
              <a:t>精度高、速度慢（5-17 FPS）</a:t>
            </a:r>
            <a:endParaRPr lang="en-US" sz="900" dirty="0"/>
          </a:p>
        </p:txBody>
      </p:sp>
      <p:sp>
        <p:nvSpPr>
          <p:cNvPr id="15" name="Shape 12"/>
          <p:cNvSpPr/>
          <p:nvPr/>
        </p:nvSpPr>
        <p:spPr>
          <a:xfrm>
            <a:off x="4709160" y="914400"/>
            <a:ext cx="3977640" cy="1645920"/>
          </a:xfrm>
          <a:prstGeom prst="roundRect">
            <a:avLst>
              <a:gd name="adj" fmla="val 5556"/>
            </a:avLst>
          </a:prstGeom>
          <a:solidFill>
            <a:srgbClr val="FFFFFF"/>
          </a:solidFill>
          <a:ln/>
          <a:effectLst>
            <a:outerShdw sx="100000" sy="100000" kx="0" ky="0" algn="bl" rotWithShape="0" blurRad="203200" dist="76200" dir="8100000">
              <a:srgbClr val="000000">
                <a:alpha val="32000"/>
              </a:srgbClr>
            </a:outerShdw>
          </a:effectLst>
        </p:spPr>
      </p:sp>
      <p:sp>
        <p:nvSpPr>
          <p:cNvPr id="16" name="Shape 13"/>
          <p:cNvSpPr/>
          <p:nvPr/>
        </p:nvSpPr>
        <p:spPr>
          <a:xfrm>
            <a:off x="4709160" y="914400"/>
            <a:ext cx="3977640" cy="36576"/>
          </a:xfrm>
          <a:prstGeom prst="rect">
            <a:avLst/>
          </a:prstGeom>
          <a:solidFill>
            <a:srgbClr val="D4A843"/>
          </a:solidFill>
          <a:ln/>
        </p:spPr>
      </p:sp>
      <p:sp>
        <p:nvSpPr>
          <p:cNvPr id="17" name="Text 14"/>
          <p:cNvSpPr/>
          <p:nvPr/>
        </p:nvSpPr>
        <p:spPr>
          <a:xfrm>
            <a:off x="4846320" y="1005840"/>
            <a:ext cx="3703320" cy="274320"/>
          </a:xfrm>
          <a:prstGeom prst="rect">
            <a:avLst/>
          </a:prstGeom>
          <a:noFill/>
          <a:ln/>
        </p:spPr>
        <p:txBody>
          <a:bodyPr wrap="square" rtlCol="0" anchor="ctr">
            <a:normAutofit/>
          </a:bodyPr>
          <a:lstStyle/>
          <a:p>
            <a:pPr indent="0" marL="0">
              <a:buNone/>
            </a:pPr>
            <a:r>
              <a:rPr lang="en-US" sz="1500" b="1" dirty="0">
                <a:solidFill>
                  <a:srgbClr val="D4A843"/>
                </a:solidFill>
                <a:latin typeface="Georgia" pitchFamily="34" charset="0"/>
                <a:ea typeface="Georgia" pitchFamily="34" charset="-122"/>
                <a:cs typeface="Georgia" pitchFamily="34" charset="-120"/>
              </a:rPr>
              <a:t>单阶段检测器</a:t>
            </a:r>
            <a:endParaRPr lang="en-US" sz="1500" dirty="0"/>
          </a:p>
        </p:txBody>
      </p:sp>
      <p:sp>
        <p:nvSpPr>
          <p:cNvPr id="18" name="Text 15"/>
          <p:cNvSpPr/>
          <p:nvPr/>
        </p:nvSpPr>
        <p:spPr>
          <a:xfrm>
            <a:off x="4846320" y="1325880"/>
            <a:ext cx="3703320" cy="822960"/>
          </a:xfrm>
          <a:prstGeom prst="rect">
            <a:avLst/>
          </a:prstGeom>
          <a:noFill/>
          <a:ln/>
        </p:spPr>
        <p:txBody>
          <a:bodyPr wrap="square" rtlCol="0" anchor="ctr"/>
          <a:lstStyle/>
          <a:p>
            <a:pPr indent="0" marL="0">
              <a:buNone/>
            </a:pPr>
            <a:r>
              <a:rPr lang="en-US" sz="1000" dirty="0">
                <a:solidFill>
                  <a:srgbClr val="333333"/>
                </a:solidFill>
              </a:rPr>
              <a:t>YOLO (2015) — 全图网格回归，实时检测</a:t>
            </a:r>
            <a:endParaRPr lang="en-US" sz="1000" dirty="0"/>
          </a:p>
          <a:p>
            <a:pPr indent="0" marL="0">
              <a:buNone/>
            </a:pPr>
            <a:r>
              <a:rPr lang="en-US" sz="1000" dirty="0">
                <a:solidFill>
                  <a:srgbClr val="333333"/>
                </a:solidFill>
              </a:rPr>
              <a:t>YOLOv2 (2016) — 引入Anchor机制</a:t>
            </a:r>
            <a:endParaRPr lang="en-US" sz="1000" dirty="0"/>
          </a:p>
          <a:p>
            <a:pPr indent="0" marL="0">
              <a:buNone/>
            </a:pPr>
            <a:r>
              <a:rPr lang="en-US" sz="1000" dirty="0">
                <a:solidFill>
                  <a:srgbClr val="333333"/>
                </a:solidFill>
              </a:rPr>
              <a:t>SSD (2016) — 多尺度特征图检测</a:t>
            </a:r>
            <a:endParaRPr lang="en-US" sz="1000" dirty="0"/>
          </a:p>
        </p:txBody>
      </p:sp>
      <p:sp>
        <p:nvSpPr>
          <p:cNvPr id="19" name="Text 16"/>
          <p:cNvSpPr/>
          <p:nvPr/>
        </p:nvSpPr>
        <p:spPr>
          <a:xfrm>
            <a:off x="4846320" y="2194560"/>
            <a:ext cx="3703320" cy="228600"/>
          </a:xfrm>
          <a:prstGeom prst="rect">
            <a:avLst/>
          </a:prstGeom>
          <a:noFill/>
          <a:ln/>
        </p:spPr>
        <p:txBody>
          <a:bodyPr wrap="square" rtlCol="0" anchor="ctr">
            <a:normAutofit/>
          </a:bodyPr>
          <a:lstStyle/>
          <a:p>
            <a:pPr indent="0" marL="0">
              <a:buNone/>
            </a:pPr>
            <a:r>
              <a:rPr lang="en-US" sz="900" i="1" dirty="0">
                <a:solidFill>
                  <a:srgbClr val="97BC62"/>
                </a:solidFill>
                <a:latin typeface="Calibri" pitchFamily="34" charset="0"/>
                <a:ea typeface="Calibri" pitchFamily="34" charset="-122"/>
                <a:cs typeface="Calibri" pitchFamily="34" charset="-120"/>
              </a:rPr>
              <a:t>精度逐步提升、速度极快（45-59 FPS）</a:t>
            </a:r>
            <a:endParaRPr lang="en-US" sz="900" dirty="0"/>
          </a:p>
        </p:txBody>
      </p:sp>
      <p:sp>
        <p:nvSpPr>
          <p:cNvPr id="20" name="Shape 17"/>
          <p:cNvSpPr/>
          <p:nvPr/>
        </p:nvSpPr>
        <p:spPr>
          <a:xfrm>
            <a:off x="457200" y="2743200"/>
            <a:ext cx="8229600" cy="1828800"/>
          </a:xfrm>
          <a:prstGeom prst="roundRect">
            <a:avLst>
              <a:gd name="adj" fmla="val 5000"/>
            </a:avLst>
          </a:prstGeom>
          <a:solidFill>
            <a:srgbClr val="E8F5E9"/>
          </a:solidFill>
          <a:ln/>
          <a:effectLst>
            <a:outerShdw sx="100000" sy="100000" kx="0" ky="0" algn="bl" rotWithShape="0" blurRad="152400" dist="50800" dir="8100000">
              <a:srgbClr val="000000">
                <a:alpha val="28000"/>
              </a:srgbClr>
            </a:outerShdw>
          </a:effectLst>
        </p:spPr>
      </p:sp>
      <p:sp>
        <p:nvSpPr>
          <p:cNvPr id="21" name="Text 18"/>
          <p:cNvSpPr/>
          <p:nvPr/>
        </p:nvSpPr>
        <p:spPr>
          <a:xfrm>
            <a:off x="640080" y="2816352"/>
            <a:ext cx="2743200" cy="256032"/>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核心矛盾</a:t>
            </a:r>
            <a:endParaRPr lang="en-US" sz="1300" dirty="0"/>
          </a:p>
        </p:txBody>
      </p:sp>
      <p:sp>
        <p:nvSpPr>
          <p:cNvPr id="22" name="Text 19"/>
          <p:cNvSpPr/>
          <p:nvPr/>
        </p:nvSpPr>
        <p:spPr>
          <a:xfrm>
            <a:off x="640080" y="3108960"/>
            <a:ext cx="7863840" cy="1325880"/>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在SSD之前，目标检测面临一个关键挑战：如何高效检测不同尺度的目标？两阶段方法精度高但太慢，单阶段方法快但精度不足。更关键的是，深层特征图对小目标不友好，浅层特征图对大目标不精确。SSD和FPN从不同角度解决了这个多尺度难题。</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713232"/>
          </a:xfrm>
          <a:prstGeom prst="rect">
            <a:avLst/>
          </a:prstGeom>
          <a:solidFill>
            <a:srgbClr val="2C5F2D"/>
          </a:solidFill>
          <a:ln/>
        </p:spPr>
      </p:sp>
      <p:sp>
        <p:nvSpPr>
          <p:cNvPr id="4" name="Shape 1"/>
          <p:cNvSpPr/>
          <p:nvPr/>
        </p:nvSpPr>
        <p:spPr>
          <a:xfrm>
            <a:off x="0" y="713232"/>
            <a:ext cx="9144000" cy="27432"/>
          </a:xfrm>
          <a:prstGeom prst="rect">
            <a:avLst/>
          </a:prstGeom>
          <a:solidFill>
            <a:srgbClr val="D4A843"/>
          </a:solidFill>
          <a:ln/>
        </p:spPr>
      </p:sp>
      <p:sp>
        <p:nvSpPr>
          <p:cNvPr id="5" name="Text 2"/>
          <p:cNvSpPr/>
          <p:nvPr/>
        </p:nvSpPr>
        <p:spPr>
          <a:xfrm>
            <a:off x="457200" y="45720"/>
            <a:ext cx="8229600" cy="438912"/>
          </a:xfrm>
          <a:prstGeom prst="rect">
            <a:avLst/>
          </a:prstGeom>
          <a:noFill/>
          <a:ln/>
        </p:spPr>
        <p:txBody>
          <a:bodyPr wrap="square" rtlCol="0" anchor="b">
            <a:normAutofit/>
          </a:bodyPr>
          <a:lstStyle/>
          <a:p>
            <a:pPr indent="0" marL="0">
              <a:buNone/>
            </a:pPr>
            <a:r>
              <a:rPr lang="en-US" sz="2200" b="1" spc="150" kern="0" dirty="0">
                <a:solidFill>
                  <a:srgbClr val="FFFFFF"/>
                </a:solidFill>
                <a:latin typeface="Georgia" pitchFamily="34" charset="0"/>
                <a:ea typeface="Georgia" pitchFamily="34" charset="-122"/>
                <a:cs typeface="Georgia" pitchFamily="34" charset="-120"/>
              </a:rPr>
              <a:t>历史背景（二）</a:t>
            </a:r>
            <a:endParaRPr lang="en-US" sz="2200" dirty="0"/>
          </a:p>
        </p:txBody>
      </p:sp>
      <p:sp>
        <p:nvSpPr>
          <p:cNvPr id="6" name="Text 3"/>
          <p:cNvSpPr/>
          <p:nvPr/>
        </p:nvSpPr>
        <p:spPr>
          <a:xfrm>
            <a:off x="457200" y="502920"/>
            <a:ext cx="8229600" cy="201168"/>
          </a:xfrm>
          <a:prstGeom prst="rect">
            <a:avLst/>
          </a:prstGeom>
          <a:noFill/>
          <a:ln/>
        </p:spPr>
        <p:txBody>
          <a:bodyPr wrap="square" rtlCol="0" anchor="ctr">
            <a:normAutofit/>
          </a:bodyPr>
          <a:lstStyle/>
          <a:p>
            <a:pPr indent="0" marL="0">
              <a:buNone/>
            </a:pPr>
            <a:r>
              <a:rPr lang="en-US" sz="1000" spc="50" kern="0" dirty="0">
                <a:solidFill>
                  <a:srgbClr val="E8F5E9"/>
                </a:solidFill>
                <a:latin typeface="Calibri" pitchFamily="34" charset="0"/>
                <a:ea typeface="Calibri" pitchFamily="34" charset="-122"/>
                <a:cs typeface="Calibri" pitchFamily="34" charset="-120"/>
              </a:rPr>
              <a:t>SSD和FPN的提出时间线与历史意义</a:t>
            </a:r>
            <a:endParaRPr lang="en-US" sz="1000" dirty="0"/>
          </a:p>
        </p:txBody>
      </p:sp>
      <p:sp>
        <p:nvSpPr>
          <p:cNvPr id="7" name="Shape 4"/>
          <p:cNvSpPr/>
          <p:nvPr/>
        </p:nvSpPr>
        <p:spPr>
          <a:xfrm>
            <a:off x="0" y="4869180"/>
            <a:ext cx="9144000" cy="274320"/>
          </a:xfrm>
          <a:prstGeom prst="rect">
            <a:avLst/>
          </a:prstGeom>
          <a:solidFill>
            <a:srgbClr val="2C5F2D"/>
          </a:solidFill>
          <a:ln/>
        </p:spPr>
      </p:sp>
      <p:sp>
        <p:nvSpPr>
          <p:cNvPr id="8" name="Text 5"/>
          <p:cNvSpPr/>
          <p:nvPr/>
        </p:nvSpPr>
        <p:spPr>
          <a:xfrm>
            <a:off x="457200" y="4869180"/>
            <a:ext cx="3657600" cy="274320"/>
          </a:xfrm>
          <a:prstGeom prst="rect">
            <a:avLst/>
          </a:prstGeom>
          <a:noFill/>
          <a:ln/>
        </p:spPr>
        <p:txBody>
          <a:bodyPr wrap="square" rtlCol="0" anchor="ctr">
            <a:normAutofit/>
          </a:bodyPr>
          <a:lstStyle/>
          <a:p>
            <a:pPr indent="0" marL="0">
              <a:buNone/>
            </a:pPr>
            <a:r>
              <a:rPr lang="en-US" sz="800" dirty="0">
                <a:solidFill>
                  <a:srgbClr val="97BC62"/>
                </a:solidFill>
                <a:latin typeface="Calibri" pitchFamily="34" charset="0"/>
                <a:ea typeface="Calibri" pitchFamily="34" charset="-122"/>
                <a:cs typeface="Calibri" pitchFamily="34" charset="-120"/>
              </a:rPr>
              <a:t>CV 100 Days | Day 39</a:t>
            </a:r>
            <a:endParaRPr lang="en-US" sz="800" dirty="0"/>
          </a:p>
        </p:txBody>
      </p:sp>
      <p:sp>
        <p:nvSpPr>
          <p:cNvPr id="9" name="Text 6"/>
          <p:cNvSpPr/>
          <p:nvPr/>
        </p:nvSpPr>
        <p:spPr>
          <a:xfrm>
            <a:off x="7315200" y="4869180"/>
            <a:ext cx="1371600" cy="274320"/>
          </a:xfrm>
          <a:prstGeom prst="rect">
            <a:avLst/>
          </a:prstGeom>
          <a:noFill/>
          <a:ln/>
        </p:spPr>
        <p:txBody>
          <a:bodyPr wrap="square" rtlCol="0" anchor="ctr">
            <a:normAutofit/>
          </a:bodyPr>
          <a:lstStyle/>
          <a:p>
            <a:pPr algn="r" indent="0" marL="0">
              <a:buNone/>
            </a:pPr>
            <a:r>
              <a:rPr lang="en-US" sz="800" dirty="0">
                <a:solidFill>
                  <a:srgbClr val="97BC62"/>
                </a:solidFill>
                <a:latin typeface="Calibri" pitchFamily="34" charset="0"/>
                <a:ea typeface="Calibri" pitchFamily="34" charset="-122"/>
                <a:cs typeface="Calibri" pitchFamily="34" charset="-120"/>
              </a:rPr>
              <a:t>4 / 20</a:t>
            </a:r>
            <a:endParaRPr lang="en-US" sz="800" dirty="0"/>
          </a:p>
        </p:txBody>
      </p:sp>
      <p:sp>
        <p:nvSpPr>
          <p:cNvPr id="10" name="Shape 7"/>
          <p:cNvSpPr/>
          <p:nvPr/>
        </p:nvSpPr>
        <p:spPr>
          <a:xfrm>
            <a:off x="731520" y="1371600"/>
            <a:ext cx="7680960" cy="0"/>
          </a:xfrm>
          <a:prstGeom prst="line">
            <a:avLst/>
          </a:prstGeom>
          <a:noFill/>
          <a:ln w="25400">
            <a:solidFill>
              <a:srgbClr val="2C5F2D"/>
            </a:solidFill>
            <a:prstDash val="solid"/>
          </a:ln>
        </p:spPr>
      </p:sp>
      <p:sp>
        <p:nvSpPr>
          <p:cNvPr id="11" name="Shape 8"/>
          <p:cNvSpPr/>
          <p:nvPr/>
        </p:nvSpPr>
        <p:spPr>
          <a:xfrm>
            <a:off x="1234440" y="1234440"/>
            <a:ext cx="274320" cy="274320"/>
          </a:xfrm>
          <a:prstGeom prst="ellipse">
            <a:avLst/>
          </a:prstGeom>
          <a:solidFill>
            <a:srgbClr val="888888"/>
          </a:solidFill>
          <a:ln/>
        </p:spPr>
      </p:sp>
      <p:sp>
        <p:nvSpPr>
          <p:cNvPr id="12" name="Text 9"/>
          <p:cNvSpPr/>
          <p:nvPr/>
        </p:nvSpPr>
        <p:spPr>
          <a:xfrm>
            <a:off x="731520" y="868680"/>
            <a:ext cx="1280160" cy="320040"/>
          </a:xfrm>
          <a:prstGeom prst="rect">
            <a:avLst/>
          </a:prstGeom>
          <a:noFill/>
          <a:ln/>
        </p:spPr>
        <p:txBody>
          <a:bodyPr wrap="square" rtlCol="0" anchor="ctr">
            <a:normAutofit/>
          </a:bodyPr>
          <a:lstStyle/>
          <a:p>
            <a:pPr algn="ctr" indent="0" marL="0">
              <a:buNone/>
            </a:pPr>
            <a:r>
              <a:rPr lang="en-US" sz="1300" b="1" dirty="0">
                <a:solidFill>
                  <a:srgbClr val="888888"/>
                </a:solidFill>
                <a:latin typeface="Georgia" pitchFamily="34" charset="0"/>
                <a:ea typeface="Georgia" pitchFamily="34" charset="-122"/>
                <a:cs typeface="Georgia" pitchFamily="34" charset="-120"/>
              </a:rPr>
              <a:t>2014</a:t>
            </a:r>
            <a:endParaRPr lang="en-US" sz="1300" dirty="0"/>
          </a:p>
        </p:txBody>
      </p:sp>
      <p:sp>
        <p:nvSpPr>
          <p:cNvPr id="13" name="Text 10"/>
          <p:cNvSpPr/>
          <p:nvPr/>
        </p:nvSpPr>
        <p:spPr>
          <a:xfrm>
            <a:off x="640080" y="1554480"/>
            <a:ext cx="1463040" cy="640080"/>
          </a:xfrm>
          <a:prstGeom prst="rect">
            <a:avLst/>
          </a:prstGeom>
          <a:noFill/>
          <a:ln/>
        </p:spPr>
        <p:txBody>
          <a:bodyPr wrap="square" rtlCol="0" anchor="t">
            <a:normAutofit/>
          </a:bodyPr>
          <a:lstStyle/>
          <a:p>
            <a:pPr algn="ctr" indent="0" marL="0">
              <a:buNone/>
            </a:pPr>
            <a:r>
              <a:rPr lang="en-US" sz="900" dirty="0">
                <a:solidFill>
                  <a:srgbClr val="333333"/>
                </a:solidFill>
                <a:latin typeface="Calibri" pitchFamily="34" charset="0"/>
                <a:ea typeface="Calibri" pitchFamily="34" charset="-122"/>
                <a:cs typeface="Calibri" pitchFamily="34" charset="-120"/>
              </a:rPr>
              <a:t>R-CNN</a:t>
            </a:r>
            <a:endParaRPr lang="en-US" sz="900" dirty="0"/>
          </a:p>
        </p:txBody>
      </p:sp>
      <p:sp>
        <p:nvSpPr>
          <p:cNvPr id="14" name="Shape 11"/>
          <p:cNvSpPr/>
          <p:nvPr/>
        </p:nvSpPr>
        <p:spPr>
          <a:xfrm>
            <a:off x="2834640" y="1234440"/>
            <a:ext cx="274320" cy="274320"/>
          </a:xfrm>
          <a:prstGeom prst="ellipse">
            <a:avLst/>
          </a:prstGeom>
          <a:solidFill>
            <a:srgbClr val="888888"/>
          </a:solidFill>
          <a:ln/>
        </p:spPr>
      </p:sp>
      <p:sp>
        <p:nvSpPr>
          <p:cNvPr id="15" name="Text 12"/>
          <p:cNvSpPr/>
          <p:nvPr/>
        </p:nvSpPr>
        <p:spPr>
          <a:xfrm>
            <a:off x="2331720" y="868680"/>
            <a:ext cx="1280160" cy="320040"/>
          </a:xfrm>
          <a:prstGeom prst="rect">
            <a:avLst/>
          </a:prstGeom>
          <a:noFill/>
          <a:ln/>
        </p:spPr>
        <p:txBody>
          <a:bodyPr wrap="square" rtlCol="0" anchor="ctr">
            <a:normAutofit/>
          </a:bodyPr>
          <a:lstStyle/>
          <a:p>
            <a:pPr algn="ctr" indent="0" marL="0">
              <a:buNone/>
            </a:pPr>
            <a:r>
              <a:rPr lang="en-US" sz="1300" b="1" dirty="0">
                <a:solidFill>
                  <a:srgbClr val="888888"/>
                </a:solidFill>
                <a:latin typeface="Georgia" pitchFamily="34" charset="0"/>
                <a:ea typeface="Georgia" pitchFamily="34" charset="-122"/>
                <a:cs typeface="Georgia" pitchFamily="34" charset="-120"/>
              </a:rPr>
              <a:t>2015</a:t>
            </a:r>
            <a:endParaRPr lang="en-US" sz="1300" dirty="0"/>
          </a:p>
        </p:txBody>
      </p:sp>
      <p:sp>
        <p:nvSpPr>
          <p:cNvPr id="16" name="Text 13"/>
          <p:cNvSpPr/>
          <p:nvPr/>
        </p:nvSpPr>
        <p:spPr>
          <a:xfrm>
            <a:off x="2240280" y="1554480"/>
            <a:ext cx="1463040" cy="640080"/>
          </a:xfrm>
          <a:prstGeom prst="rect">
            <a:avLst/>
          </a:prstGeom>
          <a:noFill/>
          <a:ln/>
        </p:spPr>
        <p:txBody>
          <a:bodyPr wrap="square" rtlCol="0" anchor="t">
            <a:normAutofit/>
          </a:bodyPr>
          <a:lstStyle/>
          <a:p>
            <a:pPr algn="ctr" indent="0" marL="0">
              <a:buNone/>
            </a:pPr>
            <a:r>
              <a:rPr lang="en-US" sz="900" dirty="0">
                <a:solidFill>
                  <a:srgbClr val="333333"/>
                </a:solidFill>
                <a:latin typeface="Calibri" pitchFamily="34" charset="0"/>
                <a:ea typeface="Calibri" pitchFamily="34" charset="-122"/>
                <a:cs typeface="Calibri" pitchFamily="34" charset="-120"/>
              </a:rPr>
              <a:t>Fast/Faster</a:t>
            </a:r>
            <a:endParaRPr lang="en-US" sz="900" dirty="0"/>
          </a:p>
          <a:p>
            <a:pPr algn="ctr" indent="0" marL="0">
              <a:buNone/>
            </a:pPr>
            <a:r>
              <a:rPr lang="en-US" sz="900" dirty="0">
                <a:solidFill>
                  <a:srgbClr val="333333"/>
                </a:solidFill>
                <a:latin typeface="Calibri" pitchFamily="34" charset="0"/>
                <a:ea typeface="Calibri" pitchFamily="34" charset="-122"/>
                <a:cs typeface="Calibri" pitchFamily="34" charset="-120"/>
              </a:rPr>
              <a:t>R-CNN, YOLO</a:t>
            </a:r>
            <a:endParaRPr lang="en-US" sz="900" dirty="0"/>
          </a:p>
        </p:txBody>
      </p:sp>
      <p:sp>
        <p:nvSpPr>
          <p:cNvPr id="17" name="Shape 14"/>
          <p:cNvSpPr/>
          <p:nvPr/>
        </p:nvSpPr>
        <p:spPr>
          <a:xfrm>
            <a:off x="4434840" y="1234440"/>
            <a:ext cx="274320" cy="274320"/>
          </a:xfrm>
          <a:prstGeom prst="ellipse">
            <a:avLst/>
          </a:prstGeom>
          <a:solidFill>
            <a:srgbClr val="2C5F2D"/>
          </a:solidFill>
          <a:ln/>
        </p:spPr>
      </p:sp>
      <p:sp>
        <p:nvSpPr>
          <p:cNvPr id="18" name="Text 15"/>
          <p:cNvSpPr/>
          <p:nvPr/>
        </p:nvSpPr>
        <p:spPr>
          <a:xfrm>
            <a:off x="3931920" y="868680"/>
            <a:ext cx="1280160" cy="320040"/>
          </a:xfrm>
          <a:prstGeom prst="rect">
            <a:avLst/>
          </a:prstGeom>
          <a:noFill/>
          <a:ln/>
        </p:spPr>
        <p:txBody>
          <a:bodyPr wrap="square" rtlCol="0" anchor="ctr">
            <a:normAutofit/>
          </a:bodyPr>
          <a:lstStyle/>
          <a:p>
            <a:pPr algn="ctr" indent="0" marL="0">
              <a:buNone/>
            </a:pPr>
            <a:r>
              <a:rPr lang="en-US" sz="1300" b="1" dirty="0">
                <a:solidFill>
                  <a:srgbClr val="2C5F2D"/>
                </a:solidFill>
                <a:latin typeface="Georgia" pitchFamily="34" charset="0"/>
                <a:ea typeface="Georgia" pitchFamily="34" charset="-122"/>
                <a:cs typeface="Georgia" pitchFamily="34" charset="-120"/>
              </a:rPr>
              <a:t>2016</a:t>
            </a:r>
            <a:endParaRPr lang="en-US" sz="1300" dirty="0"/>
          </a:p>
        </p:txBody>
      </p:sp>
      <p:sp>
        <p:nvSpPr>
          <p:cNvPr id="19" name="Text 16"/>
          <p:cNvSpPr/>
          <p:nvPr/>
        </p:nvSpPr>
        <p:spPr>
          <a:xfrm>
            <a:off x="3840480" y="1554480"/>
            <a:ext cx="1463040" cy="640080"/>
          </a:xfrm>
          <a:prstGeom prst="rect">
            <a:avLst/>
          </a:prstGeom>
          <a:noFill/>
          <a:ln/>
        </p:spPr>
        <p:txBody>
          <a:bodyPr wrap="square" rtlCol="0" anchor="t">
            <a:normAutofit/>
          </a:bodyPr>
          <a:lstStyle/>
          <a:p>
            <a:pPr algn="ctr" indent="0" marL="0">
              <a:buNone/>
            </a:pPr>
            <a:r>
              <a:rPr lang="en-US" sz="900" dirty="0">
                <a:solidFill>
                  <a:srgbClr val="333333"/>
                </a:solidFill>
                <a:latin typeface="Calibri" pitchFamily="34" charset="0"/>
                <a:ea typeface="Calibri" pitchFamily="34" charset="-122"/>
                <a:cs typeface="Calibri" pitchFamily="34" charset="-120"/>
              </a:rPr>
              <a:t>SSD</a:t>
            </a:r>
            <a:endParaRPr lang="en-US" sz="900" dirty="0"/>
          </a:p>
          <a:p>
            <a:pPr algn="ctr" indent="0" marL="0">
              <a:buNone/>
            </a:pPr>
            <a:r>
              <a:rPr lang="en-US" sz="900" dirty="0">
                <a:solidFill>
                  <a:srgbClr val="333333"/>
                </a:solidFill>
                <a:latin typeface="Calibri" pitchFamily="34" charset="0"/>
                <a:ea typeface="Calibri" pitchFamily="34" charset="-122"/>
                <a:cs typeface="Calibri" pitchFamily="34" charset="-120"/>
              </a:rPr>
              <a:t>(Wei Liu)</a:t>
            </a:r>
            <a:endParaRPr lang="en-US" sz="900" dirty="0"/>
          </a:p>
        </p:txBody>
      </p:sp>
      <p:sp>
        <p:nvSpPr>
          <p:cNvPr id="20" name="Shape 17"/>
          <p:cNvSpPr/>
          <p:nvPr/>
        </p:nvSpPr>
        <p:spPr>
          <a:xfrm>
            <a:off x="6035040" y="1234440"/>
            <a:ext cx="274320" cy="274320"/>
          </a:xfrm>
          <a:prstGeom prst="ellipse">
            <a:avLst/>
          </a:prstGeom>
          <a:solidFill>
            <a:srgbClr val="D4A843"/>
          </a:solidFill>
          <a:ln/>
        </p:spPr>
      </p:sp>
      <p:sp>
        <p:nvSpPr>
          <p:cNvPr id="21" name="Text 18"/>
          <p:cNvSpPr/>
          <p:nvPr/>
        </p:nvSpPr>
        <p:spPr>
          <a:xfrm>
            <a:off x="5532120" y="868680"/>
            <a:ext cx="1280160" cy="320040"/>
          </a:xfrm>
          <a:prstGeom prst="rect">
            <a:avLst/>
          </a:prstGeom>
          <a:noFill/>
          <a:ln/>
        </p:spPr>
        <p:txBody>
          <a:bodyPr wrap="square" rtlCol="0" anchor="ctr">
            <a:normAutofit/>
          </a:bodyPr>
          <a:lstStyle/>
          <a:p>
            <a:pPr algn="ctr" indent="0" marL="0">
              <a:buNone/>
            </a:pPr>
            <a:r>
              <a:rPr lang="en-US" sz="1300" b="1" dirty="0">
                <a:solidFill>
                  <a:srgbClr val="D4A843"/>
                </a:solidFill>
                <a:latin typeface="Georgia" pitchFamily="34" charset="0"/>
                <a:ea typeface="Georgia" pitchFamily="34" charset="-122"/>
                <a:cs typeface="Georgia" pitchFamily="34" charset="-120"/>
              </a:rPr>
              <a:t>2017</a:t>
            </a:r>
            <a:endParaRPr lang="en-US" sz="1300" dirty="0"/>
          </a:p>
        </p:txBody>
      </p:sp>
      <p:sp>
        <p:nvSpPr>
          <p:cNvPr id="22" name="Text 19"/>
          <p:cNvSpPr/>
          <p:nvPr/>
        </p:nvSpPr>
        <p:spPr>
          <a:xfrm>
            <a:off x="5440680" y="1554480"/>
            <a:ext cx="1463040" cy="640080"/>
          </a:xfrm>
          <a:prstGeom prst="rect">
            <a:avLst/>
          </a:prstGeom>
          <a:noFill/>
          <a:ln/>
        </p:spPr>
        <p:txBody>
          <a:bodyPr wrap="square" rtlCol="0" anchor="t">
            <a:normAutofit/>
          </a:bodyPr>
          <a:lstStyle/>
          <a:p>
            <a:pPr algn="ctr" indent="0" marL="0">
              <a:buNone/>
            </a:pPr>
            <a:r>
              <a:rPr lang="en-US" sz="900" dirty="0">
                <a:solidFill>
                  <a:srgbClr val="333333"/>
                </a:solidFill>
                <a:latin typeface="Calibri" pitchFamily="34" charset="0"/>
                <a:ea typeface="Calibri" pitchFamily="34" charset="-122"/>
                <a:cs typeface="Calibri" pitchFamily="34" charset="-120"/>
              </a:rPr>
              <a:t>FPN, RetinaNet</a:t>
            </a:r>
            <a:endParaRPr lang="en-US" sz="900" dirty="0"/>
          </a:p>
          <a:p>
            <a:pPr algn="ctr" indent="0" marL="0">
              <a:buNone/>
            </a:pPr>
            <a:r>
              <a:rPr lang="en-US" sz="900" dirty="0">
                <a:solidFill>
                  <a:srgbClr val="333333"/>
                </a:solidFill>
                <a:latin typeface="Calibri" pitchFamily="34" charset="0"/>
                <a:ea typeface="Calibri" pitchFamily="34" charset="-122"/>
                <a:cs typeface="Calibri" pitchFamily="34" charset="-120"/>
              </a:rPr>
              <a:t>(T.-Y. Lin)</a:t>
            </a:r>
            <a:endParaRPr lang="en-US" sz="900" dirty="0"/>
          </a:p>
        </p:txBody>
      </p:sp>
      <p:sp>
        <p:nvSpPr>
          <p:cNvPr id="23" name="Shape 20"/>
          <p:cNvSpPr/>
          <p:nvPr/>
        </p:nvSpPr>
        <p:spPr>
          <a:xfrm>
            <a:off x="7635240" y="1234440"/>
            <a:ext cx="274320" cy="274320"/>
          </a:xfrm>
          <a:prstGeom prst="ellipse">
            <a:avLst/>
          </a:prstGeom>
          <a:solidFill>
            <a:srgbClr val="97BC62"/>
          </a:solidFill>
          <a:ln/>
        </p:spPr>
      </p:sp>
      <p:sp>
        <p:nvSpPr>
          <p:cNvPr id="24" name="Text 21"/>
          <p:cNvSpPr/>
          <p:nvPr/>
        </p:nvSpPr>
        <p:spPr>
          <a:xfrm>
            <a:off x="7132320" y="868680"/>
            <a:ext cx="1280160" cy="320040"/>
          </a:xfrm>
          <a:prstGeom prst="rect">
            <a:avLst/>
          </a:prstGeom>
          <a:noFill/>
          <a:ln/>
        </p:spPr>
        <p:txBody>
          <a:bodyPr wrap="square" rtlCol="0" anchor="ctr">
            <a:normAutofit/>
          </a:bodyPr>
          <a:lstStyle/>
          <a:p>
            <a:pPr algn="ctr" indent="0" marL="0">
              <a:buNone/>
            </a:pPr>
            <a:r>
              <a:rPr lang="en-US" sz="1300" b="1" dirty="0">
                <a:solidFill>
                  <a:srgbClr val="97BC62"/>
                </a:solidFill>
                <a:latin typeface="Georgia" pitchFamily="34" charset="0"/>
                <a:ea typeface="Georgia" pitchFamily="34" charset="-122"/>
                <a:cs typeface="Georgia" pitchFamily="34" charset="-120"/>
              </a:rPr>
              <a:t>2020+</a:t>
            </a:r>
            <a:endParaRPr lang="en-US" sz="1300" dirty="0"/>
          </a:p>
        </p:txBody>
      </p:sp>
      <p:sp>
        <p:nvSpPr>
          <p:cNvPr id="25" name="Text 22"/>
          <p:cNvSpPr/>
          <p:nvPr/>
        </p:nvSpPr>
        <p:spPr>
          <a:xfrm>
            <a:off x="7040880" y="1554480"/>
            <a:ext cx="1463040" cy="640080"/>
          </a:xfrm>
          <a:prstGeom prst="rect">
            <a:avLst/>
          </a:prstGeom>
          <a:noFill/>
          <a:ln/>
        </p:spPr>
        <p:txBody>
          <a:bodyPr wrap="square" rtlCol="0" anchor="t">
            <a:normAutofit/>
          </a:bodyPr>
          <a:lstStyle/>
          <a:p>
            <a:pPr algn="ctr" indent="0" marL="0">
              <a:buNone/>
            </a:pPr>
            <a:r>
              <a:rPr lang="en-US" sz="900" dirty="0">
                <a:solidFill>
                  <a:srgbClr val="333333"/>
                </a:solidFill>
                <a:latin typeface="Calibri" pitchFamily="34" charset="0"/>
                <a:ea typeface="Calibri" pitchFamily="34" charset="-122"/>
                <a:cs typeface="Calibri" pitchFamily="34" charset="-120"/>
              </a:rPr>
              <a:t>Anchor-Free</a:t>
            </a:r>
            <a:endParaRPr lang="en-US" sz="900" dirty="0"/>
          </a:p>
          <a:p>
            <a:pPr algn="ctr" indent="0" marL="0">
              <a:buNone/>
            </a:pPr>
            <a:r>
              <a:rPr lang="en-US" sz="900" dirty="0">
                <a:solidFill>
                  <a:srgbClr val="333333"/>
                </a:solidFill>
                <a:latin typeface="Calibri" pitchFamily="34" charset="0"/>
                <a:ea typeface="Calibri" pitchFamily="34" charset="-122"/>
                <a:cs typeface="Calibri" pitchFamily="34" charset="-120"/>
              </a:rPr>
              <a:t>CenterNet</a:t>
            </a:r>
            <a:endParaRPr lang="en-US" sz="900" dirty="0"/>
          </a:p>
        </p:txBody>
      </p:sp>
      <p:sp>
        <p:nvSpPr>
          <p:cNvPr id="26" name="Shape 23"/>
          <p:cNvSpPr/>
          <p:nvPr/>
        </p:nvSpPr>
        <p:spPr>
          <a:xfrm>
            <a:off x="457200" y="2514600"/>
            <a:ext cx="4000500" cy="2103120"/>
          </a:xfrm>
          <a:prstGeom prst="roundRect">
            <a:avLst>
              <a:gd name="adj" fmla="val 4348"/>
            </a:avLst>
          </a:prstGeom>
          <a:solidFill>
            <a:srgbClr val="FFFFFF"/>
          </a:solidFill>
          <a:ln/>
          <a:effectLst>
            <a:outerShdw sx="100000" sy="100000" kx="0" ky="0" algn="bl" rotWithShape="0" blurRad="152400" dist="50800" dir="8100000">
              <a:srgbClr val="000000">
                <a:alpha val="28000"/>
              </a:srgbClr>
            </a:outerShdw>
          </a:effectLst>
        </p:spPr>
      </p:sp>
      <p:sp>
        <p:nvSpPr>
          <p:cNvPr id="27" name="Text 24"/>
          <p:cNvSpPr/>
          <p:nvPr/>
        </p:nvSpPr>
        <p:spPr>
          <a:xfrm>
            <a:off x="594360" y="2587752"/>
            <a:ext cx="3726180" cy="256032"/>
          </a:xfrm>
          <a:prstGeom prst="rect">
            <a:avLst/>
          </a:prstGeom>
          <a:noFill/>
          <a:ln/>
        </p:spPr>
        <p:txBody>
          <a:bodyPr wrap="square" rtlCol="0" anchor="ctr">
            <a:normAutofit/>
          </a:bodyPr>
          <a:lstStyle/>
          <a:p>
            <a:pPr indent="0" marL="0">
              <a:buNone/>
            </a:pPr>
            <a:r>
              <a:rPr lang="en-US" sz="1200" b="1" dirty="0">
                <a:solidFill>
                  <a:srgbClr val="2C5F2D"/>
                </a:solidFill>
                <a:latin typeface="Georgia" pitchFamily="34" charset="0"/>
                <a:ea typeface="Georgia" pitchFamily="34" charset="-122"/>
                <a:cs typeface="Georgia" pitchFamily="34" charset="-120"/>
              </a:rPr>
              <a:t>SSD的历史意义</a:t>
            </a:r>
            <a:endParaRPr lang="en-US" sz="1200" dirty="0"/>
          </a:p>
        </p:txBody>
      </p:sp>
      <p:sp>
        <p:nvSpPr>
          <p:cNvPr id="28" name="Text 25"/>
          <p:cNvSpPr/>
          <p:nvPr/>
        </p:nvSpPr>
        <p:spPr>
          <a:xfrm>
            <a:off x="594360" y="2880360"/>
            <a:ext cx="3726180" cy="1645920"/>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首次在单阶段检测器中系统性地利用多尺度特征图，通过Default Box在不同分辨率上直接预测。VOC2007 mAP达77.2%，速度59 FPS，实现了精度与速度的新平衡。</a:t>
            </a:r>
            <a:endParaRPr lang="en-US" sz="1000" dirty="0"/>
          </a:p>
        </p:txBody>
      </p:sp>
      <p:sp>
        <p:nvSpPr>
          <p:cNvPr id="29" name="Shape 26"/>
          <p:cNvSpPr/>
          <p:nvPr/>
        </p:nvSpPr>
        <p:spPr>
          <a:xfrm>
            <a:off x="4686300" y="2514600"/>
            <a:ext cx="4000500" cy="2103120"/>
          </a:xfrm>
          <a:prstGeom prst="roundRect">
            <a:avLst>
              <a:gd name="adj" fmla="val 4348"/>
            </a:avLst>
          </a:prstGeom>
          <a:solidFill>
            <a:srgbClr val="FFFFFF"/>
          </a:solidFill>
          <a:ln/>
          <a:effectLst>
            <a:outerShdw sx="100000" sy="100000" kx="0" ky="0" algn="bl" rotWithShape="0" blurRad="152400" dist="50800" dir="8100000">
              <a:srgbClr val="000000">
                <a:alpha val="28000"/>
              </a:srgbClr>
            </a:outerShdw>
          </a:effectLst>
        </p:spPr>
      </p:sp>
      <p:sp>
        <p:nvSpPr>
          <p:cNvPr id="30" name="Text 27"/>
          <p:cNvSpPr/>
          <p:nvPr/>
        </p:nvSpPr>
        <p:spPr>
          <a:xfrm>
            <a:off x="4823460" y="2587752"/>
            <a:ext cx="3726180" cy="256032"/>
          </a:xfrm>
          <a:prstGeom prst="rect">
            <a:avLst/>
          </a:prstGeom>
          <a:noFill/>
          <a:ln/>
        </p:spPr>
        <p:txBody>
          <a:bodyPr wrap="square" rtlCol="0" anchor="ctr">
            <a:normAutofit/>
          </a:bodyPr>
          <a:lstStyle/>
          <a:p>
            <a:pPr indent="0" marL="0">
              <a:buNone/>
            </a:pPr>
            <a:r>
              <a:rPr lang="en-US" sz="1200" b="1" dirty="0">
                <a:solidFill>
                  <a:srgbClr val="D4A843"/>
                </a:solidFill>
                <a:latin typeface="Georgia" pitchFamily="34" charset="0"/>
                <a:ea typeface="Georgia" pitchFamily="34" charset="-122"/>
                <a:cs typeface="Georgia" pitchFamily="34" charset="-120"/>
              </a:rPr>
              <a:t>FPN的历史意义</a:t>
            </a:r>
            <a:endParaRPr lang="en-US" sz="1200" dirty="0"/>
          </a:p>
        </p:txBody>
      </p:sp>
      <p:sp>
        <p:nvSpPr>
          <p:cNvPr id="31" name="Text 28"/>
          <p:cNvSpPr/>
          <p:nvPr/>
        </p:nvSpPr>
        <p:spPr>
          <a:xfrm>
            <a:off x="4823460" y="2880360"/>
            <a:ext cx="3726180" cy="1645920"/>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提出自顶向下特征金字塔结构，通过横向连接融合不同层级特征。成为COCO竞赛冠军方案标配组件，深刻影响了几乎所有后续检测器设计（Mask R-CNN, RetinaNet等）。</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713232"/>
          </a:xfrm>
          <a:prstGeom prst="rect">
            <a:avLst/>
          </a:prstGeom>
          <a:solidFill>
            <a:srgbClr val="2C5F2D"/>
          </a:solidFill>
          <a:ln/>
        </p:spPr>
      </p:sp>
      <p:sp>
        <p:nvSpPr>
          <p:cNvPr id="4" name="Shape 1"/>
          <p:cNvSpPr/>
          <p:nvPr/>
        </p:nvSpPr>
        <p:spPr>
          <a:xfrm>
            <a:off x="0" y="713232"/>
            <a:ext cx="9144000" cy="27432"/>
          </a:xfrm>
          <a:prstGeom prst="rect">
            <a:avLst/>
          </a:prstGeom>
          <a:solidFill>
            <a:srgbClr val="D4A843"/>
          </a:solidFill>
          <a:ln/>
        </p:spPr>
      </p:sp>
      <p:sp>
        <p:nvSpPr>
          <p:cNvPr id="5" name="Text 2"/>
          <p:cNvSpPr/>
          <p:nvPr/>
        </p:nvSpPr>
        <p:spPr>
          <a:xfrm>
            <a:off x="457200" y="45720"/>
            <a:ext cx="8229600" cy="438912"/>
          </a:xfrm>
          <a:prstGeom prst="rect">
            <a:avLst/>
          </a:prstGeom>
          <a:noFill/>
          <a:ln/>
        </p:spPr>
        <p:txBody>
          <a:bodyPr wrap="square" rtlCol="0" anchor="b">
            <a:normAutofit/>
          </a:bodyPr>
          <a:lstStyle/>
          <a:p>
            <a:pPr indent="0" marL="0">
              <a:buNone/>
            </a:pPr>
            <a:r>
              <a:rPr lang="en-US" sz="2200" b="1" spc="150" kern="0" dirty="0">
                <a:solidFill>
                  <a:srgbClr val="FFFFFF"/>
                </a:solidFill>
                <a:latin typeface="Georgia" pitchFamily="34" charset="0"/>
                <a:ea typeface="Georgia" pitchFamily="34" charset="-122"/>
                <a:cs typeface="Georgia" pitchFamily="34" charset="-120"/>
              </a:rPr>
              <a:t>SSD原理概述</a:t>
            </a:r>
            <a:endParaRPr lang="en-US" sz="2200" dirty="0"/>
          </a:p>
        </p:txBody>
      </p:sp>
      <p:sp>
        <p:nvSpPr>
          <p:cNvPr id="6" name="Text 3"/>
          <p:cNvSpPr/>
          <p:nvPr/>
        </p:nvSpPr>
        <p:spPr>
          <a:xfrm>
            <a:off x="457200" y="502920"/>
            <a:ext cx="8229600" cy="201168"/>
          </a:xfrm>
          <a:prstGeom prst="rect">
            <a:avLst/>
          </a:prstGeom>
          <a:noFill/>
          <a:ln/>
        </p:spPr>
        <p:txBody>
          <a:bodyPr wrap="square" rtlCol="0" anchor="ctr">
            <a:normAutofit/>
          </a:bodyPr>
          <a:lstStyle/>
          <a:p>
            <a:pPr indent="0" marL="0">
              <a:buNone/>
            </a:pPr>
            <a:r>
              <a:rPr lang="en-US" sz="1000" spc="50" kern="0" dirty="0">
                <a:solidFill>
                  <a:srgbClr val="E8F5E9"/>
                </a:solidFill>
                <a:latin typeface="Calibri" pitchFamily="34" charset="0"/>
                <a:ea typeface="Calibri" pitchFamily="34" charset="-122"/>
                <a:cs typeface="Calibri" pitchFamily="34" charset="-120"/>
              </a:rPr>
              <a:t>核心创新思想：多尺度特征图直接检测</a:t>
            </a:r>
            <a:endParaRPr lang="en-US" sz="1000" dirty="0"/>
          </a:p>
        </p:txBody>
      </p:sp>
      <p:sp>
        <p:nvSpPr>
          <p:cNvPr id="7" name="Shape 4"/>
          <p:cNvSpPr/>
          <p:nvPr/>
        </p:nvSpPr>
        <p:spPr>
          <a:xfrm>
            <a:off x="0" y="4869180"/>
            <a:ext cx="9144000" cy="274320"/>
          </a:xfrm>
          <a:prstGeom prst="rect">
            <a:avLst/>
          </a:prstGeom>
          <a:solidFill>
            <a:srgbClr val="2C5F2D"/>
          </a:solidFill>
          <a:ln/>
        </p:spPr>
      </p:sp>
      <p:sp>
        <p:nvSpPr>
          <p:cNvPr id="8" name="Text 5"/>
          <p:cNvSpPr/>
          <p:nvPr/>
        </p:nvSpPr>
        <p:spPr>
          <a:xfrm>
            <a:off x="457200" y="4869180"/>
            <a:ext cx="3657600" cy="274320"/>
          </a:xfrm>
          <a:prstGeom prst="rect">
            <a:avLst/>
          </a:prstGeom>
          <a:noFill/>
          <a:ln/>
        </p:spPr>
        <p:txBody>
          <a:bodyPr wrap="square" rtlCol="0" anchor="ctr">
            <a:normAutofit/>
          </a:bodyPr>
          <a:lstStyle/>
          <a:p>
            <a:pPr indent="0" marL="0">
              <a:buNone/>
            </a:pPr>
            <a:r>
              <a:rPr lang="en-US" sz="800" dirty="0">
                <a:solidFill>
                  <a:srgbClr val="97BC62"/>
                </a:solidFill>
                <a:latin typeface="Calibri" pitchFamily="34" charset="0"/>
                <a:ea typeface="Calibri" pitchFamily="34" charset="-122"/>
                <a:cs typeface="Calibri" pitchFamily="34" charset="-120"/>
              </a:rPr>
              <a:t>CV 100 Days | Day 39</a:t>
            </a:r>
            <a:endParaRPr lang="en-US" sz="800" dirty="0"/>
          </a:p>
        </p:txBody>
      </p:sp>
      <p:sp>
        <p:nvSpPr>
          <p:cNvPr id="9" name="Text 6"/>
          <p:cNvSpPr/>
          <p:nvPr/>
        </p:nvSpPr>
        <p:spPr>
          <a:xfrm>
            <a:off x="7315200" y="4869180"/>
            <a:ext cx="1371600" cy="274320"/>
          </a:xfrm>
          <a:prstGeom prst="rect">
            <a:avLst/>
          </a:prstGeom>
          <a:noFill/>
          <a:ln/>
        </p:spPr>
        <p:txBody>
          <a:bodyPr wrap="square" rtlCol="0" anchor="ctr">
            <a:normAutofit/>
          </a:bodyPr>
          <a:lstStyle/>
          <a:p>
            <a:pPr algn="r" indent="0" marL="0">
              <a:buNone/>
            </a:pPr>
            <a:r>
              <a:rPr lang="en-US" sz="800" dirty="0">
                <a:solidFill>
                  <a:srgbClr val="97BC62"/>
                </a:solidFill>
                <a:latin typeface="Calibri" pitchFamily="34" charset="0"/>
                <a:ea typeface="Calibri" pitchFamily="34" charset="-122"/>
                <a:cs typeface="Calibri" pitchFamily="34" charset="-120"/>
              </a:rPr>
              <a:t>5 / 20</a:t>
            </a:r>
            <a:endParaRPr lang="en-US" sz="800" dirty="0"/>
          </a:p>
        </p:txBody>
      </p:sp>
      <p:sp>
        <p:nvSpPr>
          <p:cNvPr id="10" name="Shape 7"/>
          <p:cNvSpPr/>
          <p:nvPr/>
        </p:nvSpPr>
        <p:spPr>
          <a:xfrm>
            <a:off x="457200" y="914400"/>
            <a:ext cx="8229600" cy="1097280"/>
          </a:xfrm>
          <a:prstGeom prst="roundRect">
            <a:avLst>
              <a:gd name="adj" fmla="val 8333"/>
            </a:avLst>
          </a:prstGeom>
          <a:solidFill>
            <a:srgbClr val="E8F5E9"/>
          </a:solidFill>
          <a:ln/>
          <a:effectLst>
            <a:outerShdw sx="100000" sy="100000" kx="0" ky="0" algn="bl" rotWithShape="0" blurRad="203200" dist="76200" dir="8100000">
              <a:srgbClr val="000000">
                <a:alpha val="32000"/>
              </a:srgbClr>
            </a:outerShdw>
          </a:effectLst>
        </p:spPr>
      </p:sp>
      <p:sp>
        <p:nvSpPr>
          <p:cNvPr id="11" name="Text 8"/>
          <p:cNvSpPr/>
          <p:nvPr/>
        </p:nvSpPr>
        <p:spPr>
          <a:xfrm>
            <a:off x="640080" y="960120"/>
            <a:ext cx="1828800" cy="256032"/>
          </a:xfrm>
          <a:prstGeom prst="rect">
            <a:avLst/>
          </a:prstGeom>
          <a:noFill/>
          <a:ln/>
        </p:spPr>
        <p:txBody>
          <a:bodyPr wrap="square" rtlCol="0" anchor="ctr">
            <a:normAutofit/>
          </a:bodyPr>
          <a:lstStyle/>
          <a:p>
            <a:pPr indent="0" marL="0">
              <a:buNone/>
            </a:pPr>
            <a:r>
              <a:rPr lang="en-US" sz="1400" b="1" dirty="0">
                <a:solidFill>
                  <a:srgbClr val="2C5F2D"/>
                </a:solidFill>
                <a:latin typeface="Georgia" pitchFamily="34" charset="0"/>
                <a:ea typeface="Georgia" pitchFamily="34" charset="-122"/>
                <a:cs typeface="Georgia" pitchFamily="34" charset="-120"/>
              </a:rPr>
              <a:t>核心创新</a:t>
            </a:r>
            <a:endParaRPr lang="en-US" sz="1400" dirty="0"/>
          </a:p>
        </p:txBody>
      </p:sp>
      <p:sp>
        <p:nvSpPr>
          <p:cNvPr id="12" name="Text 9"/>
          <p:cNvSpPr/>
          <p:nvPr/>
        </p:nvSpPr>
        <p:spPr>
          <a:xfrm>
            <a:off x="640080" y="1261872"/>
            <a:ext cx="7863840" cy="658368"/>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SSD的核心思想是：在基础网络的不同层级特征图上，分别设置不同尺度和比例的Default Box（先验框），直接对这些先验框进行分类和位置微调。无需生成候选区域（RPN），一步到位完成检测。</a:t>
            </a:r>
            <a:endParaRPr lang="en-US" sz="1100" dirty="0"/>
          </a:p>
        </p:txBody>
      </p:sp>
      <p:sp>
        <p:nvSpPr>
          <p:cNvPr id="13" name="Shape 10"/>
          <p:cNvSpPr/>
          <p:nvPr/>
        </p:nvSpPr>
        <p:spPr>
          <a:xfrm>
            <a:off x="457200" y="2194560"/>
            <a:ext cx="2590800" cy="2377440"/>
          </a:xfrm>
          <a:prstGeom prst="roundRect">
            <a:avLst>
              <a:gd name="adj" fmla="val 3846"/>
            </a:avLst>
          </a:prstGeom>
          <a:solidFill>
            <a:srgbClr val="FFFFFF"/>
          </a:solidFill>
          <a:ln/>
          <a:effectLst>
            <a:outerShdw sx="100000" sy="100000" kx="0" ky="0" algn="bl" rotWithShape="0" blurRad="152400" dist="50800" dir="8100000">
              <a:srgbClr val="000000">
                <a:alpha val="28000"/>
              </a:srgbClr>
            </a:outerShdw>
          </a:effectLst>
        </p:spPr>
      </p:sp>
      <p:sp>
        <p:nvSpPr>
          <p:cNvPr id="14" name="Shape 11"/>
          <p:cNvSpPr/>
          <p:nvPr/>
        </p:nvSpPr>
        <p:spPr>
          <a:xfrm>
            <a:off x="457200" y="2194560"/>
            <a:ext cx="2590800" cy="36576"/>
          </a:xfrm>
          <a:prstGeom prst="rect">
            <a:avLst/>
          </a:prstGeom>
          <a:solidFill>
            <a:srgbClr val="2C5F2D"/>
          </a:solidFill>
          <a:ln/>
        </p:spPr>
      </p:sp>
      <p:sp>
        <p:nvSpPr>
          <p:cNvPr id="15" name="Text 12"/>
          <p:cNvSpPr/>
          <p:nvPr/>
        </p:nvSpPr>
        <p:spPr>
          <a:xfrm>
            <a:off x="594360" y="2304288"/>
            <a:ext cx="2316480" cy="27432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多尺度特征图</a:t>
            </a:r>
            <a:endParaRPr lang="en-US" sz="1300" dirty="0"/>
          </a:p>
        </p:txBody>
      </p:sp>
      <p:sp>
        <p:nvSpPr>
          <p:cNvPr id="16" name="Text 13"/>
          <p:cNvSpPr/>
          <p:nvPr/>
        </p:nvSpPr>
        <p:spPr>
          <a:xfrm>
            <a:off x="594360" y="2633472"/>
            <a:ext cx="2316480" cy="1828800"/>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利用6个不同尺寸的特征图(38x38到1x1)。浅层检测小目标，深层检测大目标。</a:t>
            </a:r>
            <a:endParaRPr lang="en-US" sz="1000" dirty="0"/>
          </a:p>
        </p:txBody>
      </p:sp>
      <p:sp>
        <p:nvSpPr>
          <p:cNvPr id="17" name="Shape 14"/>
          <p:cNvSpPr/>
          <p:nvPr/>
        </p:nvSpPr>
        <p:spPr>
          <a:xfrm>
            <a:off x="3276600" y="2194560"/>
            <a:ext cx="2590800" cy="2377440"/>
          </a:xfrm>
          <a:prstGeom prst="roundRect">
            <a:avLst>
              <a:gd name="adj" fmla="val 3846"/>
            </a:avLst>
          </a:prstGeom>
          <a:solidFill>
            <a:srgbClr val="FFFFFF"/>
          </a:solidFill>
          <a:ln/>
          <a:effectLst>
            <a:outerShdw sx="100000" sy="100000" kx="0" ky="0" algn="bl" rotWithShape="0" blurRad="152400" dist="50800" dir="8100000">
              <a:srgbClr val="000000">
                <a:alpha val="28000"/>
              </a:srgbClr>
            </a:outerShdw>
          </a:effectLst>
        </p:spPr>
      </p:sp>
      <p:sp>
        <p:nvSpPr>
          <p:cNvPr id="18" name="Shape 15"/>
          <p:cNvSpPr/>
          <p:nvPr/>
        </p:nvSpPr>
        <p:spPr>
          <a:xfrm>
            <a:off x="3276600" y="2194560"/>
            <a:ext cx="2590800" cy="36576"/>
          </a:xfrm>
          <a:prstGeom prst="rect">
            <a:avLst/>
          </a:prstGeom>
          <a:solidFill>
            <a:srgbClr val="D4A843"/>
          </a:solidFill>
          <a:ln/>
        </p:spPr>
      </p:sp>
      <p:sp>
        <p:nvSpPr>
          <p:cNvPr id="19" name="Text 16"/>
          <p:cNvSpPr/>
          <p:nvPr/>
        </p:nvSpPr>
        <p:spPr>
          <a:xfrm>
            <a:off x="3413760" y="2304288"/>
            <a:ext cx="2316480" cy="274320"/>
          </a:xfrm>
          <a:prstGeom prst="rect">
            <a:avLst/>
          </a:prstGeom>
          <a:noFill/>
          <a:ln/>
        </p:spPr>
        <p:txBody>
          <a:bodyPr wrap="square" rtlCol="0" anchor="ctr">
            <a:normAutofit/>
          </a:bodyPr>
          <a:lstStyle/>
          <a:p>
            <a:pPr indent="0" marL="0">
              <a:buNone/>
            </a:pPr>
            <a:r>
              <a:rPr lang="en-US" sz="1300" b="1" dirty="0">
                <a:solidFill>
                  <a:srgbClr val="D4A843"/>
                </a:solidFill>
                <a:latin typeface="Georgia" pitchFamily="34" charset="0"/>
                <a:ea typeface="Georgia" pitchFamily="34" charset="-122"/>
                <a:cs typeface="Georgia" pitchFamily="34" charset="-120"/>
              </a:rPr>
              <a:t>Default Box</a:t>
            </a:r>
            <a:endParaRPr lang="en-US" sz="1300" dirty="0"/>
          </a:p>
        </p:txBody>
      </p:sp>
      <p:sp>
        <p:nvSpPr>
          <p:cNvPr id="20" name="Text 17"/>
          <p:cNvSpPr/>
          <p:nvPr/>
        </p:nvSpPr>
        <p:spPr>
          <a:xfrm>
            <a:off x="3413760" y="2633472"/>
            <a:ext cx="2316480" cy="1828800"/>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在每个特征点预设多个不同尺度和宽高比的先验框，类似Anchor机制。</a:t>
            </a:r>
            <a:endParaRPr lang="en-US" sz="1000" dirty="0"/>
          </a:p>
        </p:txBody>
      </p:sp>
      <p:sp>
        <p:nvSpPr>
          <p:cNvPr id="21" name="Shape 18"/>
          <p:cNvSpPr/>
          <p:nvPr/>
        </p:nvSpPr>
        <p:spPr>
          <a:xfrm>
            <a:off x="6096000" y="2194560"/>
            <a:ext cx="2590800" cy="2377440"/>
          </a:xfrm>
          <a:prstGeom prst="roundRect">
            <a:avLst>
              <a:gd name="adj" fmla="val 3846"/>
            </a:avLst>
          </a:prstGeom>
          <a:solidFill>
            <a:srgbClr val="FFFFFF"/>
          </a:solidFill>
          <a:ln/>
          <a:effectLst>
            <a:outerShdw sx="100000" sy="100000" kx="0" ky="0" algn="bl" rotWithShape="0" blurRad="152400" dist="50800" dir="8100000">
              <a:srgbClr val="000000">
                <a:alpha val="28000"/>
              </a:srgbClr>
            </a:outerShdw>
          </a:effectLst>
        </p:spPr>
      </p:sp>
      <p:sp>
        <p:nvSpPr>
          <p:cNvPr id="22" name="Shape 19"/>
          <p:cNvSpPr/>
          <p:nvPr/>
        </p:nvSpPr>
        <p:spPr>
          <a:xfrm>
            <a:off x="6096000" y="2194560"/>
            <a:ext cx="2590800" cy="36576"/>
          </a:xfrm>
          <a:prstGeom prst="rect">
            <a:avLst/>
          </a:prstGeom>
          <a:solidFill>
            <a:srgbClr val="97BC62"/>
          </a:solidFill>
          <a:ln/>
        </p:spPr>
      </p:sp>
      <p:sp>
        <p:nvSpPr>
          <p:cNvPr id="23" name="Text 20"/>
          <p:cNvSpPr/>
          <p:nvPr/>
        </p:nvSpPr>
        <p:spPr>
          <a:xfrm>
            <a:off x="6233160" y="2304288"/>
            <a:ext cx="2316480" cy="274320"/>
          </a:xfrm>
          <a:prstGeom prst="rect">
            <a:avLst/>
          </a:prstGeom>
          <a:noFill/>
          <a:ln/>
        </p:spPr>
        <p:txBody>
          <a:bodyPr wrap="square" rtlCol="0" anchor="ctr">
            <a:normAutofit/>
          </a:bodyPr>
          <a:lstStyle/>
          <a:p>
            <a:pPr indent="0" marL="0">
              <a:buNone/>
            </a:pPr>
            <a:r>
              <a:rPr lang="en-US" sz="1300" b="1" dirty="0">
                <a:solidFill>
                  <a:srgbClr val="97BC62"/>
                </a:solidFill>
                <a:latin typeface="Georgia" pitchFamily="34" charset="0"/>
                <a:ea typeface="Georgia" pitchFamily="34" charset="-122"/>
                <a:cs typeface="Georgia" pitchFamily="34" charset="-120"/>
              </a:rPr>
              <a:t>单阶段检测</a:t>
            </a:r>
            <a:endParaRPr lang="en-US" sz="1300" dirty="0"/>
          </a:p>
        </p:txBody>
      </p:sp>
      <p:sp>
        <p:nvSpPr>
          <p:cNvPr id="24" name="Text 21"/>
          <p:cNvSpPr/>
          <p:nvPr/>
        </p:nvSpPr>
        <p:spPr>
          <a:xfrm>
            <a:off x="6233160" y="2633472"/>
            <a:ext cx="2316480" cy="1828800"/>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直接在特征图上预测类别置信度和边界框偏移，无需RPN和RoI Pooling。</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713232"/>
          </a:xfrm>
          <a:prstGeom prst="rect">
            <a:avLst/>
          </a:prstGeom>
          <a:solidFill>
            <a:srgbClr val="2C5F2D"/>
          </a:solidFill>
          <a:ln/>
        </p:spPr>
      </p:sp>
      <p:sp>
        <p:nvSpPr>
          <p:cNvPr id="4" name="Shape 1"/>
          <p:cNvSpPr/>
          <p:nvPr/>
        </p:nvSpPr>
        <p:spPr>
          <a:xfrm>
            <a:off x="0" y="713232"/>
            <a:ext cx="9144000" cy="27432"/>
          </a:xfrm>
          <a:prstGeom prst="rect">
            <a:avLst/>
          </a:prstGeom>
          <a:solidFill>
            <a:srgbClr val="D4A843"/>
          </a:solidFill>
          <a:ln/>
        </p:spPr>
      </p:sp>
      <p:sp>
        <p:nvSpPr>
          <p:cNvPr id="5" name="Text 2"/>
          <p:cNvSpPr/>
          <p:nvPr/>
        </p:nvSpPr>
        <p:spPr>
          <a:xfrm>
            <a:off x="457200" y="45720"/>
            <a:ext cx="8229600" cy="438912"/>
          </a:xfrm>
          <a:prstGeom prst="rect">
            <a:avLst/>
          </a:prstGeom>
          <a:noFill/>
          <a:ln/>
        </p:spPr>
        <p:txBody>
          <a:bodyPr wrap="square" rtlCol="0" anchor="b">
            <a:normAutofit/>
          </a:bodyPr>
          <a:lstStyle/>
          <a:p>
            <a:pPr indent="0" marL="0">
              <a:buNone/>
            </a:pPr>
            <a:r>
              <a:rPr lang="en-US" sz="2200" b="1" spc="150" kern="0" dirty="0">
                <a:solidFill>
                  <a:srgbClr val="FFFFFF"/>
                </a:solidFill>
                <a:latin typeface="Georgia" pitchFamily="34" charset="0"/>
                <a:ea typeface="Georgia" pitchFamily="34" charset="-122"/>
                <a:cs typeface="Georgia" pitchFamily="34" charset="-120"/>
              </a:rPr>
              <a:t>SSD架构详解</a:t>
            </a:r>
            <a:endParaRPr lang="en-US" sz="2200" dirty="0"/>
          </a:p>
        </p:txBody>
      </p:sp>
      <p:sp>
        <p:nvSpPr>
          <p:cNvPr id="6" name="Text 3"/>
          <p:cNvSpPr/>
          <p:nvPr/>
        </p:nvSpPr>
        <p:spPr>
          <a:xfrm>
            <a:off x="457200" y="502920"/>
            <a:ext cx="8229600" cy="201168"/>
          </a:xfrm>
          <a:prstGeom prst="rect">
            <a:avLst/>
          </a:prstGeom>
          <a:noFill/>
          <a:ln/>
        </p:spPr>
        <p:txBody>
          <a:bodyPr wrap="square" rtlCol="0" anchor="ctr">
            <a:normAutofit/>
          </a:bodyPr>
          <a:lstStyle/>
          <a:p>
            <a:pPr indent="0" marL="0">
              <a:buNone/>
            </a:pPr>
            <a:r>
              <a:rPr lang="en-US" sz="1000" spc="50" kern="0" dirty="0">
                <a:solidFill>
                  <a:srgbClr val="E8F5E9"/>
                </a:solidFill>
                <a:latin typeface="Calibri" pitchFamily="34" charset="0"/>
                <a:ea typeface="Calibri" pitchFamily="34" charset="-122"/>
                <a:cs typeface="Calibri" pitchFamily="34" charset="-120"/>
              </a:rPr>
              <a:t>6层特征图结构与Default Box机制</a:t>
            </a:r>
            <a:endParaRPr lang="en-US" sz="1000" dirty="0"/>
          </a:p>
        </p:txBody>
      </p:sp>
      <p:sp>
        <p:nvSpPr>
          <p:cNvPr id="7" name="Shape 4"/>
          <p:cNvSpPr/>
          <p:nvPr/>
        </p:nvSpPr>
        <p:spPr>
          <a:xfrm>
            <a:off x="0" y="4869180"/>
            <a:ext cx="9144000" cy="274320"/>
          </a:xfrm>
          <a:prstGeom prst="rect">
            <a:avLst/>
          </a:prstGeom>
          <a:solidFill>
            <a:srgbClr val="2C5F2D"/>
          </a:solidFill>
          <a:ln/>
        </p:spPr>
      </p:sp>
      <p:sp>
        <p:nvSpPr>
          <p:cNvPr id="8" name="Text 5"/>
          <p:cNvSpPr/>
          <p:nvPr/>
        </p:nvSpPr>
        <p:spPr>
          <a:xfrm>
            <a:off x="457200" y="4869180"/>
            <a:ext cx="3657600" cy="274320"/>
          </a:xfrm>
          <a:prstGeom prst="rect">
            <a:avLst/>
          </a:prstGeom>
          <a:noFill/>
          <a:ln/>
        </p:spPr>
        <p:txBody>
          <a:bodyPr wrap="square" rtlCol="0" anchor="ctr">
            <a:normAutofit/>
          </a:bodyPr>
          <a:lstStyle/>
          <a:p>
            <a:pPr indent="0" marL="0">
              <a:buNone/>
            </a:pPr>
            <a:r>
              <a:rPr lang="en-US" sz="800" dirty="0">
                <a:solidFill>
                  <a:srgbClr val="97BC62"/>
                </a:solidFill>
                <a:latin typeface="Calibri" pitchFamily="34" charset="0"/>
                <a:ea typeface="Calibri" pitchFamily="34" charset="-122"/>
                <a:cs typeface="Calibri" pitchFamily="34" charset="-120"/>
              </a:rPr>
              <a:t>CV 100 Days | Day 39</a:t>
            </a:r>
            <a:endParaRPr lang="en-US" sz="800" dirty="0"/>
          </a:p>
        </p:txBody>
      </p:sp>
      <p:sp>
        <p:nvSpPr>
          <p:cNvPr id="9" name="Text 6"/>
          <p:cNvSpPr/>
          <p:nvPr/>
        </p:nvSpPr>
        <p:spPr>
          <a:xfrm>
            <a:off x="7315200" y="4869180"/>
            <a:ext cx="1371600" cy="274320"/>
          </a:xfrm>
          <a:prstGeom prst="rect">
            <a:avLst/>
          </a:prstGeom>
          <a:noFill/>
          <a:ln/>
        </p:spPr>
        <p:txBody>
          <a:bodyPr wrap="square" rtlCol="0" anchor="ctr">
            <a:normAutofit/>
          </a:bodyPr>
          <a:lstStyle/>
          <a:p>
            <a:pPr algn="r" indent="0" marL="0">
              <a:buNone/>
            </a:pPr>
            <a:r>
              <a:rPr lang="en-US" sz="800" dirty="0">
                <a:solidFill>
                  <a:srgbClr val="97BC62"/>
                </a:solidFill>
                <a:latin typeface="Calibri" pitchFamily="34" charset="0"/>
                <a:ea typeface="Calibri" pitchFamily="34" charset="-122"/>
                <a:cs typeface="Calibri" pitchFamily="34" charset="-120"/>
              </a:rPr>
              <a:t>6 / 20</a:t>
            </a:r>
            <a:endParaRPr lang="en-US" sz="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914400"/>
        </p:xfrm>
        <a:graphic>
          <a:graphicData uri="http://schemas.openxmlformats.org/drawingml/2006/table">
            <a:tbl>
              <a:tblPr/>
              <a:tblGrid>
                <a:gridCol w="2286000"/>
                <a:gridCol w="1371600"/>
                <a:gridCol w="2286000"/>
                <a:gridCol w="2286000"/>
              </a:tblGrid>
              <a:tr h="292608">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特征图层</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5F2D"/>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尺寸</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5F2D"/>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Default Box数</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5F2D"/>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检测目标</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5F2D"/>
                    </a:solidFill>
                  </a:tcPr>
                </a:tc>
              </a:tr>
              <a:tr h="274320">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conv4_3</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38x38</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小目标</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74320">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fc7 (conv7)</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19x19</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中目标</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74320">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conv8_2</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10x10</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中目标</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74320">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conv9_2</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5x5</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大目标</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74320">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conv10_2</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3x3</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大目标</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74320">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conv11_2</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1x1</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333333"/>
                          </a:solidFill>
                          <a:latin typeface="Calibri" pitchFamily="34" charset="0"/>
                          <a:ea typeface="Calibri" pitchFamily="34" charset="-122"/>
                          <a:cs typeface="Calibri" pitchFamily="34" charset="-120"/>
                        </a:rPr>
                        <a:t>最大目标</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11" name="Shape 7"/>
          <p:cNvSpPr/>
          <p:nvPr/>
        </p:nvSpPr>
        <p:spPr>
          <a:xfrm>
            <a:off x="457200" y="3200400"/>
            <a:ext cx="8229600" cy="1463040"/>
          </a:xfrm>
          <a:prstGeom prst="roundRect">
            <a:avLst>
              <a:gd name="adj" fmla="val 6250"/>
            </a:avLst>
          </a:prstGeom>
          <a:solidFill>
            <a:srgbClr val="FFFFFF"/>
          </a:solidFill>
          <a:ln/>
          <a:effectLst>
            <a:outerShdw sx="100000" sy="100000" kx="0" ky="0" algn="bl" rotWithShape="0" blurRad="152400" dist="50800" dir="8100000">
              <a:srgbClr val="000000">
                <a:alpha val="28000"/>
              </a:srgbClr>
            </a:outerShdw>
          </a:effectLst>
        </p:spPr>
      </p:sp>
      <p:sp>
        <p:nvSpPr>
          <p:cNvPr id="12" name="Text 8"/>
          <p:cNvSpPr/>
          <p:nvPr/>
        </p:nvSpPr>
        <p:spPr>
          <a:xfrm>
            <a:off x="640080" y="3273552"/>
            <a:ext cx="3657600" cy="256032"/>
          </a:xfrm>
          <a:prstGeom prst="rect">
            <a:avLst/>
          </a:prstGeom>
          <a:noFill/>
          <a:ln/>
        </p:spPr>
        <p:txBody>
          <a:bodyPr wrap="square" rtlCol="0" anchor="ctr">
            <a:normAutofit/>
          </a:bodyPr>
          <a:lstStyle/>
          <a:p>
            <a:pPr indent="0" marL="0">
              <a:buNone/>
            </a:pPr>
            <a:r>
              <a:rPr lang="en-US" sz="1200" b="1" dirty="0">
                <a:solidFill>
                  <a:srgbClr val="2C5F2D"/>
                </a:solidFill>
                <a:latin typeface="Georgia" pitchFamily="34" charset="0"/>
                <a:ea typeface="Georgia" pitchFamily="34" charset="-122"/>
                <a:cs typeface="Georgia" pitchFamily="34" charset="-120"/>
              </a:rPr>
              <a:t>Default Box 机制详解</a:t>
            </a:r>
            <a:endParaRPr lang="en-US" sz="1200" dirty="0"/>
          </a:p>
        </p:txBody>
      </p:sp>
      <p:sp>
        <p:nvSpPr>
          <p:cNvPr id="13" name="Text 9"/>
          <p:cNvSpPr/>
          <p:nvPr/>
        </p:nvSpPr>
        <p:spPr>
          <a:xfrm>
            <a:off x="640080" y="3566160"/>
            <a:ext cx="7863840" cy="1005840"/>
          </a:xfrm>
          <a:prstGeom prst="rect">
            <a:avLst/>
          </a:prstGeom>
          <a:noFill/>
          <a:ln/>
        </p:spPr>
        <p:txBody>
          <a:bodyPr wrap="square" rtlCol="0" anchor="ctr"/>
          <a:lstStyle/>
          <a:p>
            <a:pPr indent="0" marL="0">
              <a:buNone/>
            </a:pPr>
            <a:r>
              <a:rPr lang="en-US" sz="1000" b="1" dirty="0">
                <a:solidFill>
                  <a:srgbClr val="D4A843"/>
                </a:solidFill>
              </a:rPr>
              <a:t>尺度规则: </a:t>
            </a:r>
            <a:pPr indent="0" marL="0">
              <a:buNone/>
            </a:pPr>
            <a:r>
              <a:rPr lang="en-US" sz="1000" dirty="0">
                <a:solidFill>
                  <a:srgbClr val="333333"/>
                </a:solidFill>
              </a:rPr>
              <a:t>s_k = s_min + (s_max - s_min)*k/(m-1)，s_min=0.2, s_max=0.9</a:t>
            </a:r>
            <a:endParaRPr lang="en-US" sz="1000" dirty="0"/>
          </a:p>
          <a:p>
            <a:pPr indent="0" marL="0">
              <a:buNone/>
            </a:pPr>
            <a:r>
              <a:rPr lang="en-US" sz="1000" b="1" dirty="0">
                <a:solidFill>
                  <a:srgbClr val="D4A843"/>
                </a:solidFill>
              </a:rPr>
              <a:t>宽高比: </a:t>
            </a:r>
            <a:pPr indent="0" marL="0">
              <a:buNone/>
            </a:pPr>
            <a:r>
              <a:rPr lang="en-US" sz="1000" dirty="0">
                <a:solidFill>
                  <a:srgbClr val="333333"/>
                </a:solidFill>
              </a:rPr>
              <a:t>a_r in {1, 2, 3, 1/2, 1/3}，每特征点4-6个Default Box</a:t>
            </a:r>
            <a:endParaRPr lang="en-US" sz="1000" dirty="0"/>
          </a:p>
          <a:p>
            <a:pPr indent="0" marL="0">
              <a:buNone/>
            </a:pPr>
            <a:r>
              <a:rPr lang="en-US" sz="1000" b="1" dirty="0">
                <a:solidFill>
                  <a:srgbClr val="D4A843"/>
                </a:solidFill>
              </a:rPr>
              <a:t>总框数: </a:t>
            </a:r>
            <a:pPr indent="0" marL="0">
              <a:buNone/>
            </a:pPr>
            <a:r>
              <a:rPr lang="en-US" sz="1000" dirty="0">
                <a:solidFill>
                  <a:srgbClr val="333333"/>
                </a:solidFill>
              </a:rPr>
              <a:t>8732个 (38x38x4 + 19x19x6 + 10x10x6 + 5x5x6 + 3x3x4 + 1x1x4)</a:t>
            </a:r>
            <a:endParaRPr lang="en-US" sz="1000" dirty="0"/>
          </a:p>
          <a:p>
            <a:pPr indent="0" marL="0">
              <a:buNone/>
            </a:pPr>
            <a:r>
              <a:rPr lang="en-US" sz="1000" b="1" dirty="0">
                <a:solidFill>
                  <a:srgbClr val="D4A843"/>
                </a:solidFill>
              </a:rPr>
              <a:t>匹配: </a:t>
            </a:r>
            <a:pPr indent="0" marL="0">
              <a:buNone/>
            </a:pPr>
            <a:r>
              <a:rPr lang="en-US" sz="1000" dirty="0">
                <a:solidFill>
                  <a:srgbClr val="333333"/>
                </a:solidFill>
              </a:rPr>
              <a:t>Jaccard &gt;= 0.5的GT框与最佳Default Box配对</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713232"/>
          </a:xfrm>
          <a:prstGeom prst="rect">
            <a:avLst/>
          </a:prstGeom>
          <a:solidFill>
            <a:srgbClr val="2C5F2D"/>
          </a:solidFill>
          <a:ln/>
        </p:spPr>
      </p:sp>
      <p:sp>
        <p:nvSpPr>
          <p:cNvPr id="4" name="Shape 1"/>
          <p:cNvSpPr/>
          <p:nvPr/>
        </p:nvSpPr>
        <p:spPr>
          <a:xfrm>
            <a:off x="0" y="713232"/>
            <a:ext cx="9144000" cy="27432"/>
          </a:xfrm>
          <a:prstGeom prst="rect">
            <a:avLst/>
          </a:prstGeom>
          <a:solidFill>
            <a:srgbClr val="D4A843"/>
          </a:solidFill>
          <a:ln/>
        </p:spPr>
      </p:sp>
      <p:sp>
        <p:nvSpPr>
          <p:cNvPr id="5" name="Text 2"/>
          <p:cNvSpPr/>
          <p:nvPr/>
        </p:nvSpPr>
        <p:spPr>
          <a:xfrm>
            <a:off x="457200" y="45720"/>
            <a:ext cx="8229600" cy="438912"/>
          </a:xfrm>
          <a:prstGeom prst="rect">
            <a:avLst/>
          </a:prstGeom>
          <a:noFill/>
          <a:ln/>
        </p:spPr>
        <p:txBody>
          <a:bodyPr wrap="square" rtlCol="0" anchor="b">
            <a:normAutofit/>
          </a:bodyPr>
          <a:lstStyle/>
          <a:p>
            <a:pPr indent="0" marL="0">
              <a:buNone/>
            </a:pPr>
            <a:r>
              <a:rPr lang="en-US" sz="2200" b="1" spc="150" kern="0" dirty="0">
                <a:solidFill>
                  <a:srgbClr val="FFFFFF"/>
                </a:solidFill>
                <a:latin typeface="Georgia" pitchFamily="34" charset="0"/>
                <a:ea typeface="Georgia" pitchFamily="34" charset="-122"/>
                <a:cs typeface="Georgia" pitchFamily="34" charset="-120"/>
              </a:rPr>
              <a:t>SSD检测流程</a:t>
            </a:r>
            <a:endParaRPr lang="en-US" sz="2200" dirty="0"/>
          </a:p>
        </p:txBody>
      </p:sp>
      <p:sp>
        <p:nvSpPr>
          <p:cNvPr id="6" name="Text 3"/>
          <p:cNvSpPr/>
          <p:nvPr/>
        </p:nvSpPr>
        <p:spPr>
          <a:xfrm>
            <a:off x="457200" y="502920"/>
            <a:ext cx="8229600" cy="201168"/>
          </a:xfrm>
          <a:prstGeom prst="rect">
            <a:avLst/>
          </a:prstGeom>
          <a:noFill/>
          <a:ln/>
        </p:spPr>
        <p:txBody>
          <a:bodyPr wrap="square" rtlCol="0" anchor="ctr">
            <a:normAutofit/>
          </a:bodyPr>
          <a:lstStyle/>
          <a:p>
            <a:pPr indent="0" marL="0">
              <a:buNone/>
            </a:pPr>
            <a:r>
              <a:rPr lang="en-US" sz="1000" spc="50" kern="0" dirty="0">
                <a:solidFill>
                  <a:srgbClr val="E8F5E9"/>
                </a:solidFill>
                <a:latin typeface="Calibri" pitchFamily="34" charset="0"/>
                <a:ea typeface="Calibri" pitchFamily="34" charset="-122"/>
                <a:cs typeface="Calibri" pitchFamily="34" charset="-120"/>
              </a:rPr>
              <a:t>从输入图像到NMS的完整Pipeline</a:t>
            </a:r>
            <a:endParaRPr lang="en-US" sz="1000" dirty="0"/>
          </a:p>
        </p:txBody>
      </p:sp>
      <p:sp>
        <p:nvSpPr>
          <p:cNvPr id="7" name="Shape 4"/>
          <p:cNvSpPr/>
          <p:nvPr/>
        </p:nvSpPr>
        <p:spPr>
          <a:xfrm>
            <a:off x="0" y="4869180"/>
            <a:ext cx="9144000" cy="274320"/>
          </a:xfrm>
          <a:prstGeom prst="rect">
            <a:avLst/>
          </a:prstGeom>
          <a:solidFill>
            <a:srgbClr val="2C5F2D"/>
          </a:solidFill>
          <a:ln/>
        </p:spPr>
      </p:sp>
      <p:sp>
        <p:nvSpPr>
          <p:cNvPr id="8" name="Text 5"/>
          <p:cNvSpPr/>
          <p:nvPr/>
        </p:nvSpPr>
        <p:spPr>
          <a:xfrm>
            <a:off x="457200" y="4869180"/>
            <a:ext cx="3657600" cy="274320"/>
          </a:xfrm>
          <a:prstGeom prst="rect">
            <a:avLst/>
          </a:prstGeom>
          <a:noFill/>
          <a:ln/>
        </p:spPr>
        <p:txBody>
          <a:bodyPr wrap="square" rtlCol="0" anchor="ctr">
            <a:normAutofit/>
          </a:bodyPr>
          <a:lstStyle/>
          <a:p>
            <a:pPr indent="0" marL="0">
              <a:buNone/>
            </a:pPr>
            <a:r>
              <a:rPr lang="en-US" sz="800" dirty="0">
                <a:solidFill>
                  <a:srgbClr val="97BC62"/>
                </a:solidFill>
                <a:latin typeface="Calibri" pitchFamily="34" charset="0"/>
                <a:ea typeface="Calibri" pitchFamily="34" charset="-122"/>
                <a:cs typeface="Calibri" pitchFamily="34" charset="-120"/>
              </a:rPr>
              <a:t>CV 100 Days | Day 39</a:t>
            </a:r>
            <a:endParaRPr lang="en-US" sz="800" dirty="0"/>
          </a:p>
        </p:txBody>
      </p:sp>
      <p:sp>
        <p:nvSpPr>
          <p:cNvPr id="9" name="Text 6"/>
          <p:cNvSpPr/>
          <p:nvPr/>
        </p:nvSpPr>
        <p:spPr>
          <a:xfrm>
            <a:off x="7315200" y="4869180"/>
            <a:ext cx="1371600" cy="274320"/>
          </a:xfrm>
          <a:prstGeom prst="rect">
            <a:avLst/>
          </a:prstGeom>
          <a:noFill/>
          <a:ln/>
        </p:spPr>
        <p:txBody>
          <a:bodyPr wrap="square" rtlCol="0" anchor="ctr">
            <a:normAutofit/>
          </a:bodyPr>
          <a:lstStyle/>
          <a:p>
            <a:pPr algn="r" indent="0" marL="0">
              <a:buNone/>
            </a:pPr>
            <a:r>
              <a:rPr lang="en-US" sz="800" dirty="0">
                <a:solidFill>
                  <a:srgbClr val="97BC62"/>
                </a:solidFill>
                <a:latin typeface="Calibri" pitchFamily="34" charset="0"/>
                <a:ea typeface="Calibri" pitchFamily="34" charset="-122"/>
                <a:cs typeface="Calibri" pitchFamily="34" charset="-120"/>
              </a:rPr>
              <a:t>7 / 20</a:t>
            </a:r>
            <a:endParaRPr lang="en-US" sz="800" dirty="0"/>
          </a:p>
        </p:txBody>
      </p:sp>
      <p:pic>
        <p:nvPicPr>
          <p:cNvPr id="10" name="Image 0" descr="/workspace/cv_learning/ppt/img-ssd-arch_4x3.jpg">    </p:cNvPr>
          <p:cNvPicPr>
            <a:picLocks noChangeAspect="1"/>
          </p:cNvPicPr>
          <p:nvPr/>
        </p:nvPicPr>
        <p:blipFill>
          <a:blip r:embed="rId1"/>
          <a:srcRect l="0" r="0" t="0" b="0"/>
          <a:stretch/>
        </p:blipFill>
        <p:spPr>
          <a:xfrm>
            <a:off x="5029200" y="914400"/>
            <a:ext cx="3474720" cy="2606040"/>
          </a:xfrm>
          <a:prstGeom prst="rect">
            <a:avLst/>
          </a:prstGeom>
        </p:spPr>
      </p:pic>
      <p:sp>
        <p:nvSpPr>
          <p:cNvPr id="11" name="Shape 7"/>
          <p:cNvSpPr/>
          <p:nvPr/>
        </p:nvSpPr>
        <p:spPr>
          <a:xfrm>
            <a:off x="548640" y="960120"/>
            <a:ext cx="347472" cy="347472"/>
          </a:xfrm>
          <a:prstGeom prst="ellipse">
            <a:avLst/>
          </a:prstGeom>
          <a:solidFill>
            <a:srgbClr val="2C5F2D"/>
          </a:solidFill>
          <a:ln/>
        </p:spPr>
      </p:sp>
      <p:sp>
        <p:nvSpPr>
          <p:cNvPr id="12" name="Text 8"/>
          <p:cNvSpPr/>
          <p:nvPr/>
        </p:nvSpPr>
        <p:spPr>
          <a:xfrm>
            <a:off x="548640" y="960120"/>
            <a:ext cx="347472" cy="347472"/>
          </a:xfrm>
          <a:prstGeom prst="rect">
            <a:avLst/>
          </a:prstGeom>
          <a:noFill/>
          <a:ln/>
        </p:spPr>
        <p:txBody>
          <a:bodyPr wrap="square" rtlCol="0" anchor="ctr">
            <a:normAutofit/>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1</a:t>
            </a:r>
            <a:endParaRPr lang="en-US" sz="1300" dirty="0"/>
          </a:p>
        </p:txBody>
      </p:sp>
      <p:sp>
        <p:nvSpPr>
          <p:cNvPr id="13" name="Text 9"/>
          <p:cNvSpPr/>
          <p:nvPr/>
        </p:nvSpPr>
        <p:spPr>
          <a:xfrm>
            <a:off x="1005840" y="941832"/>
            <a:ext cx="2926080" cy="201168"/>
          </a:xfrm>
          <a:prstGeom prst="rect">
            <a:avLst/>
          </a:prstGeom>
          <a:noFill/>
          <a:ln/>
        </p:spPr>
        <p:txBody>
          <a:bodyPr wrap="square" rtlCol="0" anchor="ctr">
            <a:normAutofit/>
          </a:bodyPr>
          <a:lstStyle/>
          <a:p>
            <a:pPr indent="0" marL="0">
              <a:buNone/>
            </a:pPr>
            <a:r>
              <a:rPr lang="en-US" sz="1100" b="1" dirty="0">
                <a:solidFill>
                  <a:srgbClr val="333333"/>
                </a:solidFill>
                <a:latin typeface="Georgia" pitchFamily="34" charset="0"/>
                <a:ea typeface="Georgia" pitchFamily="34" charset="-122"/>
                <a:cs typeface="Georgia" pitchFamily="34" charset="-120"/>
              </a:rPr>
              <a:t>输入图像</a:t>
            </a:r>
            <a:endParaRPr lang="en-US" sz="1100" dirty="0"/>
          </a:p>
        </p:txBody>
      </p:sp>
      <p:sp>
        <p:nvSpPr>
          <p:cNvPr id="14" name="Text 10"/>
          <p:cNvSpPr/>
          <p:nvPr/>
        </p:nvSpPr>
        <p:spPr>
          <a:xfrm>
            <a:off x="1005840" y="1143000"/>
            <a:ext cx="2926080" cy="182880"/>
          </a:xfrm>
          <a:prstGeom prst="rect">
            <a:avLst/>
          </a:prstGeom>
          <a:noFill/>
          <a:ln/>
        </p:spPr>
        <p:txBody>
          <a:bodyPr wrap="square" rtlCol="0" anchor="ctr">
            <a:normAutofit/>
          </a:bodyPr>
          <a:lstStyle/>
          <a:p>
            <a:pPr indent="0" marL="0">
              <a:buNone/>
            </a:pPr>
            <a:r>
              <a:rPr lang="en-US" sz="900" dirty="0">
                <a:solidFill>
                  <a:srgbClr val="666666"/>
                </a:solidFill>
                <a:latin typeface="Calibri" pitchFamily="34" charset="0"/>
                <a:ea typeface="Calibri" pitchFamily="34" charset="-122"/>
                <a:cs typeface="Calibri" pitchFamily="34" charset="-120"/>
              </a:rPr>
              <a:t>300x300 RGB，数据增强</a:t>
            </a:r>
            <a:endParaRPr lang="en-US" sz="900" dirty="0"/>
          </a:p>
        </p:txBody>
      </p:sp>
      <p:sp>
        <p:nvSpPr>
          <p:cNvPr id="15" name="Shape 11"/>
          <p:cNvSpPr/>
          <p:nvPr/>
        </p:nvSpPr>
        <p:spPr>
          <a:xfrm>
            <a:off x="548640" y="1527048"/>
            <a:ext cx="347472" cy="347472"/>
          </a:xfrm>
          <a:prstGeom prst="ellipse">
            <a:avLst/>
          </a:prstGeom>
          <a:solidFill>
            <a:srgbClr val="2C5F2D"/>
          </a:solidFill>
          <a:ln/>
        </p:spPr>
      </p:sp>
      <p:sp>
        <p:nvSpPr>
          <p:cNvPr id="16" name="Text 12"/>
          <p:cNvSpPr/>
          <p:nvPr/>
        </p:nvSpPr>
        <p:spPr>
          <a:xfrm>
            <a:off x="548640" y="1527048"/>
            <a:ext cx="347472" cy="347472"/>
          </a:xfrm>
          <a:prstGeom prst="rect">
            <a:avLst/>
          </a:prstGeom>
          <a:noFill/>
          <a:ln/>
        </p:spPr>
        <p:txBody>
          <a:bodyPr wrap="square" rtlCol="0" anchor="ctr">
            <a:normAutofit/>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2</a:t>
            </a:r>
            <a:endParaRPr lang="en-US" sz="1300" dirty="0"/>
          </a:p>
        </p:txBody>
      </p:sp>
      <p:sp>
        <p:nvSpPr>
          <p:cNvPr id="17" name="Text 13"/>
          <p:cNvSpPr/>
          <p:nvPr/>
        </p:nvSpPr>
        <p:spPr>
          <a:xfrm>
            <a:off x="1005840" y="1508760"/>
            <a:ext cx="2926080" cy="201168"/>
          </a:xfrm>
          <a:prstGeom prst="rect">
            <a:avLst/>
          </a:prstGeom>
          <a:noFill/>
          <a:ln/>
        </p:spPr>
        <p:txBody>
          <a:bodyPr wrap="square" rtlCol="0" anchor="ctr">
            <a:normAutofit/>
          </a:bodyPr>
          <a:lstStyle/>
          <a:p>
            <a:pPr indent="0" marL="0">
              <a:buNone/>
            </a:pPr>
            <a:r>
              <a:rPr lang="en-US" sz="1100" b="1" dirty="0">
                <a:solidFill>
                  <a:srgbClr val="333333"/>
                </a:solidFill>
                <a:latin typeface="Georgia" pitchFamily="34" charset="0"/>
                <a:ea typeface="Georgia" pitchFamily="34" charset="-122"/>
                <a:cs typeface="Georgia" pitchFamily="34" charset="-120"/>
              </a:rPr>
              <a:t>基础网络</a:t>
            </a:r>
            <a:endParaRPr lang="en-US" sz="1100" dirty="0"/>
          </a:p>
        </p:txBody>
      </p:sp>
      <p:sp>
        <p:nvSpPr>
          <p:cNvPr id="18" name="Text 14"/>
          <p:cNvSpPr/>
          <p:nvPr/>
        </p:nvSpPr>
        <p:spPr>
          <a:xfrm>
            <a:off x="1005840" y="1709928"/>
            <a:ext cx="2926080" cy="182880"/>
          </a:xfrm>
          <a:prstGeom prst="rect">
            <a:avLst/>
          </a:prstGeom>
          <a:noFill/>
          <a:ln/>
        </p:spPr>
        <p:txBody>
          <a:bodyPr wrap="square" rtlCol="0" anchor="ctr">
            <a:normAutofit/>
          </a:bodyPr>
          <a:lstStyle/>
          <a:p>
            <a:pPr indent="0" marL="0">
              <a:buNone/>
            </a:pPr>
            <a:r>
              <a:rPr lang="en-US" sz="900" dirty="0">
                <a:solidFill>
                  <a:srgbClr val="666666"/>
                </a:solidFill>
                <a:latin typeface="Calibri" pitchFamily="34" charset="0"/>
                <a:ea typeface="Calibri" pitchFamily="34" charset="-122"/>
                <a:cs typeface="Calibri" pitchFamily="34" charset="-120"/>
              </a:rPr>
              <a:t>VGG16 truncated</a:t>
            </a:r>
            <a:endParaRPr lang="en-US" sz="900" dirty="0"/>
          </a:p>
        </p:txBody>
      </p:sp>
      <p:sp>
        <p:nvSpPr>
          <p:cNvPr id="19" name="Shape 15"/>
          <p:cNvSpPr/>
          <p:nvPr/>
        </p:nvSpPr>
        <p:spPr>
          <a:xfrm>
            <a:off x="548640" y="2093976"/>
            <a:ext cx="347472" cy="347472"/>
          </a:xfrm>
          <a:prstGeom prst="ellipse">
            <a:avLst/>
          </a:prstGeom>
          <a:solidFill>
            <a:srgbClr val="2C5F2D"/>
          </a:solidFill>
          <a:ln/>
        </p:spPr>
      </p:sp>
      <p:sp>
        <p:nvSpPr>
          <p:cNvPr id="20" name="Text 16"/>
          <p:cNvSpPr/>
          <p:nvPr/>
        </p:nvSpPr>
        <p:spPr>
          <a:xfrm>
            <a:off x="548640" y="2093976"/>
            <a:ext cx="347472" cy="347472"/>
          </a:xfrm>
          <a:prstGeom prst="rect">
            <a:avLst/>
          </a:prstGeom>
          <a:noFill/>
          <a:ln/>
        </p:spPr>
        <p:txBody>
          <a:bodyPr wrap="square" rtlCol="0" anchor="ctr">
            <a:normAutofit/>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3</a:t>
            </a:r>
            <a:endParaRPr lang="en-US" sz="1300" dirty="0"/>
          </a:p>
        </p:txBody>
      </p:sp>
      <p:sp>
        <p:nvSpPr>
          <p:cNvPr id="21" name="Text 17"/>
          <p:cNvSpPr/>
          <p:nvPr/>
        </p:nvSpPr>
        <p:spPr>
          <a:xfrm>
            <a:off x="1005840" y="2075688"/>
            <a:ext cx="2926080" cy="201168"/>
          </a:xfrm>
          <a:prstGeom prst="rect">
            <a:avLst/>
          </a:prstGeom>
          <a:noFill/>
          <a:ln/>
        </p:spPr>
        <p:txBody>
          <a:bodyPr wrap="square" rtlCol="0" anchor="ctr">
            <a:normAutofit/>
          </a:bodyPr>
          <a:lstStyle/>
          <a:p>
            <a:pPr indent="0" marL="0">
              <a:buNone/>
            </a:pPr>
            <a:r>
              <a:rPr lang="en-US" sz="1100" b="1" dirty="0">
                <a:solidFill>
                  <a:srgbClr val="333333"/>
                </a:solidFill>
                <a:latin typeface="Georgia" pitchFamily="34" charset="0"/>
                <a:ea typeface="Georgia" pitchFamily="34" charset="-122"/>
                <a:cs typeface="Georgia" pitchFamily="34" charset="-120"/>
              </a:rPr>
              <a:t>辅助卷积层</a:t>
            </a:r>
            <a:endParaRPr lang="en-US" sz="1100" dirty="0"/>
          </a:p>
        </p:txBody>
      </p:sp>
      <p:sp>
        <p:nvSpPr>
          <p:cNvPr id="22" name="Text 18"/>
          <p:cNvSpPr/>
          <p:nvPr/>
        </p:nvSpPr>
        <p:spPr>
          <a:xfrm>
            <a:off x="1005840" y="2276856"/>
            <a:ext cx="2926080" cy="182880"/>
          </a:xfrm>
          <a:prstGeom prst="rect">
            <a:avLst/>
          </a:prstGeom>
          <a:noFill/>
          <a:ln/>
        </p:spPr>
        <p:txBody>
          <a:bodyPr wrap="square" rtlCol="0" anchor="ctr">
            <a:normAutofit/>
          </a:bodyPr>
          <a:lstStyle/>
          <a:p>
            <a:pPr indent="0" marL="0">
              <a:buNone/>
            </a:pPr>
            <a:r>
              <a:rPr lang="en-US" sz="900" dirty="0">
                <a:solidFill>
                  <a:srgbClr val="666666"/>
                </a:solidFill>
                <a:latin typeface="Calibri" pitchFamily="34" charset="0"/>
                <a:ea typeface="Calibri" pitchFamily="34" charset="-122"/>
                <a:cs typeface="Calibri" pitchFamily="34" charset="-120"/>
              </a:rPr>
              <a:t>5个额外conv层</a:t>
            </a:r>
            <a:endParaRPr lang="en-US" sz="900" dirty="0"/>
          </a:p>
        </p:txBody>
      </p:sp>
      <p:sp>
        <p:nvSpPr>
          <p:cNvPr id="23" name="Shape 19"/>
          <p:cNvSpPr/>
          <p:nvPr/>
        </p:nvSpPr>
        <p:spPr>
          <a:xfrm>
            <a:off x="548640" y="2660904"/>
            <a:ext cx="347472" cy="347472"/>
          </a:xfrm>
          <a:prstGeom prst="ellipse">
            <a:avLst/>
          </a:prstGeom>
          <a:solidFill>
            <a:srgbClr val="2C5F2D"/>
          </a:solidFill>
          <a:ln/>
        </p:spPr>
      </p:sp>
      <p:sp>
        <p:nvSpPr>
          <p:cNvPr id="24" name="Text 20"/>
          <p:cNvSpPr/>
          <p:nvPr/>
        </p:nvSpPr>
        <p:spPr>
          <a:xfrm>
            <a:off x="548640" y="2660904"/>
            <a:ext cx="347472" cy="347472"/>
          </a:xfrm>
          <a:prstGeom prst="rect">
            <a:avLst/>
          </a:prstGeom>
          <a:noFill/>
          <a:ln/>
        </p:spPr>
        <p:txBody>
          <a:bodyPr wrap="square" rtlCol="0" anchor="ctr">
            <a:normAutofit/>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4</a:t>
            </a:r>
            <a:endParaRPr lang="en-US" sz="1300" dirty="0"/>
          </a:p>
        </p:txBody>
      </p:sp>
      <p:sp>
        <p:nvSpPr>
          <p:cNvPr id="25" name="Text 21"/>
          <p:cNvSpPr/>
          <p:nvPr/>
        </p:nvSpPr>
        <p:spPr>
          <a:xfrm>
            <a:off x="1005840" y="2642616"/>
            <a:ext cx="2926080" cy="201168"/>
          </a:xfrm>
          <a:prstGeom prst="rect">
            <a:avLst/>
          </a:prstGeom>
          <a:noFill/>
          <a:ln/>
        </p:spPr>
        <p:txBody>
          <a:bodyPr wrap="square" rtlCol="0" anchor="ctr">
            <a:normAutofit/>
          </a:bodyPr>
          <a:lstStyle/>
          <a:p>
            <a:pPr indent="0" marL="0">
              <a:buNone/>
            </a:pPr>
            <a:r>
              <a:rPr lang="en-US" sz="1100" b="1" dirty="0">
                <a:solidFill>
                  <a:srgbClr val="333333"/>
                </a:solidFill>
                <a:latin typeface="Georgia" pitchFamily="34" charset="0"/>
                <a:ea typeface="Georgia" pitchFamily="34" charset="-122"/>
                <a:cs typeface="Georgia" pitchFamily="34" charset="-120"/>
              </a:rPr>
              <a:t>多尺度检测</a:t>
            </a:r>
            <a:endParaRPr lang="en-US" sz="1100" dirty="0"/>
          </a:p>
        </p:txBody>
      </p:sp>
      <p:sp>
        <p:nvSpPr>
          <p:cNvPr id="26" name="Text 22"/>
          <p:cNvSpPr/>
          <p:nvPr/>
        </p:nvSpPr>
        <p:spPr>
          <a:xfrm>
            <a:off x="1005840" y="2843784"/>
            <a:ext cx="2926080" cy="182880"/>
          </a:xfrm>
          <a:prstGeom prst="rect">
            <a:avLst/>
          </a:prstGeom>
          <a:noFill/>
          <a:ln/>
        </p:spPr>
        <p:txBody>
          <a:bodyPr wrap="square" rtlCol="0" anchor="ctr">
            <a:normAutofit/>
          </a:bodyPr>
          <a:lstStyle/>
          <a:p>
            <a:pPr indent="0" marL="0">
              <a:buNone/>
            </a:pPr>
            <a:r>
              <a:rPr lang="en-US" sz="900" dirty="0">
                <a:solidFill>
                  <a:srgbClr val="666666"/>
                </a:solidFill>
                <a:latin typeface="Calibri" pitchFamily="34" charset="0"/>
                <a:ea typeface="Calibri" pitchFamily="34" charset="-122"/>
                <a:cs typeface="Calibri" pitchFamily="34" charset="-120"/>
              </a:rPr>
              <a:t>分类+回归预测</a:t>
            </a:r>
            <a:endParaRPr lang="en-US" sz="900" dirty="0"/>
          </a:p>
        </p:txBody>
      </p:sp>
      <p:sp>
        <p:nvSpPr>
          <p:cNvPr id="27" name="Shape 23"/>
          <p:cNvSpPr/>
          <p:nvPr/>
        </p:nvSpPr>
        <p:spPr>
          <a:xfrm>
            <a:off x="548640" y="3227832"/>
            <a:ext cx="347472" cy="347472"/>
          </a:xfrm>
          <a:prstGeom prst="ellipse">
            <a:avLst/>
          </a:prstGeom>
          <a:solidFill>
            <a:srgbClr val="2C5F2D"/>
          </a:solidFill>
          <a:ln/>
        </p:spPr>
      </p:sp>
      <p:sp>
        <p:nvSpPr>
          <p:cNvPr id="28" name="Text 24"/>
          <p:cNvSpPr/>
          <p:nvPr/>
        </p:nvSpPr>
        <p:spPr>
          <a:xfrm>
            <a:off x="548640" y="3227832"/>
            <a:ext cx="347472" cy="347472"/>
          </a:xfrm>
          <a:prstGeom prst="rect">
            <a:avLst/>
          </a:prstGeom>
          <a:noFill/>
          <a:ln/>
        </p:spPr>
        <p:txBody>
          <a:bodyPr wrap="square" rtlCol="0" anchor="ctr">
            <a:normAutofit/>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5</a:t>
            </a:r>
            <a:endParaRPr lang="en-US" sz="1300" dirty="0"/>
          </a:p>
        </p:txBody>
      </p:sp>
      <p:sp>
        <p:nvSpPr>
          <p:cNvPr id="29" name="Text 25"/>
          <p:cNvSpPr/>
          <p:nvPr/>
        </p:nvSpPr>
        <p:spPr>
          <a:xfrm>
            <a:off x="1005840" y="3209544"/>
            <a:ext cx="2926080" cy="201168"/>
          </a:xfrm>
          <a:prstGeom prst="rect">
            <a:avLst/>
          </a:prstGeom>
          <a:noFill/>
          <a:ln/>
        </p:spPr>
        <p:txBody>
          <a:bodyPr wrap="square" rtlCol="0" anchor="ctr">
            <a:normAutofit/>
          </a:bodyPr>
          <a:lstStyle/>
          <a:p>
            <a:pPr indent="0" marL="0">
              <a:buNone/>
            </a:pPr>
            <a:r>
              <a:rPr lang="en-US" sz="1100" b="1" dirty="0">
                <a:solidFill>
                  <a:srgbClr val="333333"/>
                </a:solidFill>
                <a:latin typeface="Georgia" pitchFamily="34" charset="0"/>
                <a:ea typeface="Georgia" pitchFamily="34" charset="-122"/>
                <a:cs typeface="Georgia" pitchFamily="34" charset="-120"/>
              </a:rPr>
              <a:t>NMS后处理</a:t>
            </a:r>
            <a:endParaRPr lang="en-US" sz="1100" dirty="0"/>
          </a:p>
        </p:txBody>
      </p:sp>
      <p:sp>
        <p:nvSpPr>
          <p:cNvPr id="30" name="Text 26"/>
          <p:cNvSpPr/>
          <p:nvPr/>
        </p:nvSpPr>
        <p:spPr>
          <a:xfrm>
            <a:off x="1005840" y="3410712"/>
            <a:ext cx="2926080" cy="182880"/>
          </a:xfrm>
          <a:prstGeom prst="rect">
            <a:avLst/>
          </a:prstGeom>
          <a:noFill/>
          <a:ln/>
        </p:spPr>
        <p:txBody>
          <a:bodyPr wrap="square" rtlCol="0" anchor="ctr">
            <a:normAutofit/>
          </a:bodyPr>
          <a:lstStyle/>
          <a:p>
            <a:pPr indent="0" marL="0">
              <a:buNone/>
            </a:pPr>
            <a:r>
              <a:rPr lang="en-US" sz="900" dirty="0">
                <a:solidFill>
                  <a:srgbClr val="666666"/>
                </a:solidFill>
                <a:latin typeface="Calibri" pitchFamily="34" charset="0"/>
                <a:ea typeface="Calibri" pitchFamily="34" charset="-122"/>
                <a:cs typeface="Calibri" pitchFamily="34" charset="-120"/>
              </a:rPr>
              <a:t>过滤+非极大值抑制</a:t>
            </a:r>
            <a:endParaRPr lang="en-US" sz="900" dirty="0"/>
          </a:p>
        </p:txBody>
      </p:sp>
      <p:sp>
        <p:nvSpPr>
          <p:cNvPr id="31" name="Text 27"/>
          <p:cNvSpPr/>
          <p:nvPr/>
        </p:nvSpPr>
        <p:spPr>
          <a:xfrm>
            <a:off x="457200" y="3794760"/>
            <a:ext cx="4114800" cy="274320"/>
          </a:xfrm>
          <a:prstGeom prst="rect">
            <a:avLst/>
          </a:prstGeom>
          <a:noFill/>
          <a:ln/>
        </p:spPr>
        <p:txBody>
          <a:bodyPr wrap="square" rtlCol="0" anchor="ctr">
            <a:normAutofit/>
          </a:bodyPr>
          <a:lstStyle/>
          <a:p>
            <a:pPr indent="0" marL="0">
              <a:buNone/>
            </a:pPr>
            <a:r>
              <a:rPr lang="en-US" sz="1000" i="1" dirty="0">
                <a:solidFill>
                  <a:srgbClr val="D4A843"/>
                </a:solidFill>
                <a:latin typeface="Calibri" pitchFamily="34" charset="0"/>
                <a:ea typeface="Calibri" pitchFamily="34" charset="-122"/>
                <a:cs typeface="Calibri" pitchFamily="34" charset="-120"/>
              </a:rPr>
              <a:t>Loss = 分类损失(交叉熵) + 回归损失(Smooth L1)，仅在正样本上计算回归</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713232"/>
          </a:xfrm>
          <a:prstGeom prst="rect">
            <a:avLst/>
          </a:prstGeom>
          <a:solidFill>
            <a:srgbClr val="2C5F2D"/>
          </a:solidFill>
          <a:ln/>
        </p:spPr>
      </p:sp>
      <p:sp>
        <p:nvSpPr>
          <p:cNvPr id="4" name="Shape 1"/>
          <p:cNvSpPr/>
          <p:nvPr/>
        </p:nvSpPr>
        <p:spPr>
          <a:xfrm>
            <a:off x="0" y="713232"/>
            <a:ext cx="9144000" cy="27432"/>
          </a:xfrm>
          <a:prstGeom prst="rect">
            <a:avLst/>
          </a:prstGeom>
          <a:solidFill>
            <a:srgbClr val="D4A843"/>
          </a:solidFill>
          <a:ln/>
        </p:spPr>
      </p:sp>
      <p:sp>
        <p:nvSpPr>
          <p:cNvPr id="5" name="Text 2"/>
          <p:cNvSpPr/>
          <p:nvPr/>
        </p:nvSpPr>
        <p:spPr>
          <a:xfrm>
            <a:off x="457200" y="45720"/>
            <a:ext cx="8229600" cy="438912"/>
          </a:xfrm>
          <a:prstGeom prst="rect">
            <a:avLst/>
          </a:prstGeom>
          <a:noFill/>
          <a:ln/>
        </p:spPr>
        <p:txBody>
          <a:bodyPr wrap="square" rtlCol="0" anchor="b">
            <a:normAutofit/>
          </a:bodyPr>
          <a:lstStyle/>
          <a:p>
            <a:pPr indent="0" marL="0">
              <a:buNone/>
            </a:pPr>
            <a:r>
              <a:rPr lang="en-US" sz="2200" b="1" spc="150" kern="0" dirty="0">
                <a:solidFill>
                  <a:srgbClr val="FFFFFF"/>
                </a:solidFill>
                <a:latin typeface="Georgia" pitchFamily="34" charset="0"/>
                <a:ea typeface="Georgia" pitchFamily="34" charset="-122"/>
                <a:cs typeface="Georgia" pitchFamily="34" charset="-120"/>
              </a:rPr>
              <a:t>SSD关键设计</a:t>
            </a:r>
            <a:endParaRPr lang="en-US" sz="2200" dirty="0"/>
          </a:p>
        </p:txBody>
      </p:sp>
      <p:sp>
        <p:nvSpPr>
          <p:cNvPr id="6" name="Text 3"/>
          <p:cNvSpPr/>
          <p:nvPr/>
        </p:nvSpPr>
        <p:spPr>
          <a:xfrm>
            <a:off x="457200" y="502920"/>
            <a:ext cx="8229600" cy="201168"/>
          </a:xfrm>
          <a:prstGeom prst="rect">
            <a:avLst/>
          </a:prstGeom>
          <a:noFill/>
          <a:ln/>
        </p:spPr>
        <p:txBody>
          <a:bodyPr wrap="square" rtlCol="0" anchor="ctr">
            <a:normAutofit/>
          </a:bodyPr>
          <a:lstStyle/>
          <a:p>
            <a:pPr indent="0" marL="0">
              <a:buNone/>
            </a:pPr>
            <a:r>
              <a:rPr lang="en-US" sz="1000" spc="50" kern="0" dirty="0">
                <a:solidFill>
                  <a:srgbClr val="E8F5E9"/>
                </a:solidFill>
                <a:latin typeface="Calibri" pitchFamily="34" charset="0"/>
                <a:ea typeface="Calibri" pitchFamily="34" charset="-122"/>
                <a:cs typeface="Calibri" pitchFamily="34" charset="-120"/>
              </a:rPr>
              <a:t>浅层 vs 深层特征图的分工</a:t>
            </a:r>
            <a:endParaRPr lang="en-US" sz="1000" dirty="0"/>
          </a:p>
        </p:txBody>
      </p:sp>
      <p:sp>
        <p:nvSpPr>
          <p:cNvPr id="7" name="Shape 4"/>
          <p:cNvSpPr/>
          <p:nvPr/>
        </p:nvSpPr>
        <p:spPr>
          <a:xfrm>
            <a:off x="0" y="4869180"/>
            <a:ext cx="9144000" cy="274320"/>
          </a:xfrm>
          <a:prstGeom prst="rect">
            <a:avLst/>
          </a:prstGeom>
          <a:solidFill>
            <a:srgbClr val="2C5F2D"/>
          </a:solidFill>
          <a:ln/>
        </p:spPr>
      </p:sp>
      <p:sp>
        <p:nvSpPr>
          <p:cNvPr id="8" name="Text 5"/>
          <p:cNvSpPr/>
          <p:nvPr/>
        </p:nvSpPr>
        <p:spPr>
          <a:xfrm>
            <a:off x="457200" y="4869180"/>
            <a:ext cx="3657600" cy="274320"/>
          </a:xfrm>
          <a:prstGeom prst="rect">
            <a:avLst/>
          </a:prstGeom>
          <a:noFill/>
          <a:ln/>
        </p:spPr>
        <p:txBody>
          <a:bodyPr wrap="square" rtlCol="0" anchor="ctr">
            <a:normAutofit/>
          </a:bodyPr>
          <a:lstStyle/>
          <a:p>
            <a:pPr indent="0" marL="0">
              <a:buNone/>
            </a:pPr>
            <a:r>
              <a:rPr lang="en-US" sz="800" dirty="0">
                <a:solidFill>
                  <a:srgbClr val="97BC62"/>
                </a:solidFill>
                <a:latin typeface="Calibri" pitchFamily="34" charset="0"/>
                <a:ea typeface="Calibri" pitchFamily="34" charset="-122"/>
                <a:cs typeface="Calibri" pitchFamily="34" charset="-120"/>
              </a:rPr>
              <a:t>CV 100 Days | Day 39</a:t>
            </a:r>
            <a:endParaRPr lang="en-US" sz="800" dirty="0"/>
          </a:p>
        </p:txBody>
      </p:sp>
      <p:sp>
        <p:nvSpPr>
          <p:cNvPr id="9" name="Text 6"/>
          <p:cNvSpPr/>
          <p:nvPr/>
        </p:nvSpPr>
        <p:spPr>
          <a:xfrm>
            <a:off x="7315200" y="4869180"/>
            <a:ext cx="1371600" cy="274320"/>
          </a:xfrm>
          <a:prstGeom prst="rect">
            <a:avLst/>
          </a:prstGeom>
          <a:noFill/>
          <a:ln/>
        </p:spPr>
        <p:txBody>
          <a:bodyPr wrap="square" rtlCol="0" anchor="ctr">
            <a:normAutofit/>
          </a:bodyPr>
          <a:lstStyle/>
          <a:p>
            <a:pPr algn="r" indent="0" marL="0">
              <a:buNone/>
            </a:pPr>
            <a:r>
              <a:rPr lang="en-US" sz="800" dirty="0">
                <a:solidFill>
                  <a:srgbClr val="97BC62"/>
                </a:solidFill>
                <a:latin typeface="Calibri" pitchFamily="34" charset="0"/>
                <a:ea typeface="Calibri" pitchFamily="34" charset="-122"/>
                <a:cs typeface="Calibri" pitchFamily="34" charset="-120"/>
              </a:rPr>
              <a:t>8 / 20</a:t>
            </a:r>
            <a:endParaRPr lang="en-US" sz="800" dirty="0"/>
          </a:p>
        </p:txBody>
      </p:sp>
      <p:sp>
        <p:nvSpPr>
          <p:cNvPr id="10" name="Shape 7"/>
          <p:cNvSpPr/>
          <p:nvPr/>
        </p:nvSpPr>
        <p:spPr>
          <a:xfrm>
            <a:off x="457200" y="914400"/>
            <a:ext cx="3977640" cy="1645920"/>
          </a:xfrm>
          <a:prstGeom prst="roundRect">
            <a:avLst>
              <a:gd name="adj" fmla="val 5556"/>
            </a:avLst>
          </a:prstGeom>
          <a:solidFill>
            <a:srgbClr val="FFFFFF"/>
          </a:solidFill>
          <a:ln/>
          <a:effectLst>
            <a:outerShdw sx="100000" sy="100000" kx="0" ky="0" algn="bl" rotWithShape="0" blurRad="203200" dist="76200" dir="8100000">
              <a:srgbClr val="000000">
                <a:alpha val="32000"/>
              </a:srgbClr>
            </a:outerShdw>
          </a:effectLst>
        </p:spPr>
      </p:sp>
      <p:sp>
        <p:nvSpPr>
          <p:cNvPr id="11" name="Shape 8"/>
          <p:cNvSpPr/>
          <p:nvPr/>
        </p:nvSpPr>
        <p:spPr>
          <a:xfrm>
            <a:off x="457200" y="914400"/>
            <a:ext cx="3977640" cy="411480"/>
          </a:xfrm>
          <a:prstGeom prst="rect">
            <a:avLst/>
          </a:prstGeom>
          <a:solidFill>
            <a:srgbClr val="97BC62"/>
          </a:solidFill>
          <a:ln/>
        </p:spPr>
      </p:sp>
      <p:sp>
        <p:nvSpPr>
          <p:cNvPr id="12" name="Text 9"/>
          <p:cNvSpPr/>
          <p:nvPr/>
        </p:nvSpPr>
        <p:spPr>
          <a:xfrm>
            <a:off x="594360" y="932688"/>
            <a:ext cx="3703320" cy="365760"/>
          </a:xfrm>
          <a:prstGeom prst="rect">
            <a:avLst/>
          </a:prstGeom>
          <a:noFill/>
          <a:ln/>
        </p:spPr>
        <p:txBody>
          <a:bodyPr wrap="square" rtlCol="0" anchor="ctr">
            <a:normAutofit/>
          </a:bodyPr>
          <a:lstStyle/>
          <a:p>
            <a:pPr indent="0" marL="0">
              <a:buNone/>
            </a:pPr>
            <a:r>
              <a:rPr lang="en-US" sz="1300" b="1" dirty="0">
                <a:solidFill>
                  <a:srgbClr val="FFFFFF"/>
                </a:solidFill>
                <a:latin typeface="Georgia" pitchFamily="34" charset="0"/>
                <a:ea typeface="Georgia" pitchFamily="34" charset="-122"/>
                <a:cs typeface="Georgia" pitchFamily="34" charset="-120"/>
              </a:rPr>
              <a:t>浅层特征图 (conv4_3)</a:t>
            </a:r>
            <a:endParaRPr lang="en-US" sz="1300" dirty="0"/>
          </a:p>
        </p:txBody>
      </p:sp>
      <p:sp>
        <p:nvSpPr>
          <p:cNvPr id="13" name="Text 10"/>
          <p:cNvSpPr/>
          <p:nvPr/>
        </p:nvSpPr>
        <p:spPr>
          <a:xfrm>
            <a:off x="594360" y="1371600"/>
            <a:ext cx="3703320" cy="1097280"/>
          </a:xfrm>
          <a:prstGeom prst="rect">
            <a:avLst/>
          </a:prstGeom>
          <a:noFill/>
          <a:ln/>
        </p:spPr>
        <p:txBody>
          <a:bodyPr wrap="square" rtlCol="0" anchor="ctr"/>
          <a:lstStyle/>
          <a:p>
            <a:pPr indent="0" marL="0">
              <a:buNone/>
            </a:pPr>
            <a:r>
              <a:rPr lang="en-US" sz="1000" b="1" dirty="0">
                <a:solidFill>
                  <a:srgbClr val="2C5F2D"/>
                </a:solidFill>
              </a:rPr>
              <a:t>尺寸: 38x38 (大特征图)</a:t>
            </a:r>
            <a:endParaRPr lang="en-US" sz="1000" dirty="0"/>
          </a:p>
          <a:p>
            <a:pPr indent="0" marL="0">
              <a:buNone/>
            </a:pPr>
            <a:r>
              <a:rPr lang="en-US" sz="1000" dirty="0">
                <a:solidFill>
                  <a:srgbClr val="333333"/>
                </a:solidFill>
              </a:rPr>
              <a:t>感受野小，空间分辨率高</a:t>
            </a:r>
            <a:endParaRPr lang="en-US" sz="1000" dirty="0"/>
          </a:p>
          <a:p>
            <a:pPr indent="0" marL="0">
              <a:buNone/>
            </a:pPr>
            <a:r>
              <a:rPr lang="en-US" sz="1000" dirty="0">
                <a:solidFill>
                  <a:srgbClr val="333333"/>
                </a:solidFill>
              </a:rPr>
              <a:t>擅长检测小目标</a:t>
            </a:r>
            <a:endParaRPr lang="en-US" sz="1000" dirty="0"/>
          </a:p>
          <a:p>
            <a:pPr indent="0" marL="0">
              <a:buNone/>
            </a:pPr>
            <a:r>
              <a:rPr lang="en-US" sz="1000" dirty="0">
                <a:solidFill>
                  <a:srgbClr val="D4A843"/>
                </a:solidFill>
              </a:rPr>
              <a:t>Default Box尺度: 0.1~0.3</a:t>
            </a:r>
            <a:endParaRPr lang="en-US" sz="1000" dirty="0"/>
          </a:p>
          <a:p>
            <a:pPr indent="0" marL="0">
              <a:buNone/>
            </a:pPr>
            <a:r>
              <a:rPr lang="en-US" sz="1000" dirty="0">
                <a:solidFill>
                  <a:srgbClr val="666666"/>
                </a:solidFill>
              </a:rPr>
              <a:t>局限: 语义信息较弱</a:t>
            </a:r>
            <a:endParaRPr lang="en-US" sz="1000" dirty="0"/>
          </a:p>
        </p:txBody>
      </p:sp>
      <p:sp>
        <p:nvSpPr>
          <p:cNvPr id="14" name="Shape 11"/>
          <p:cNvSpPr/>
          <p:nvPr/>
        </p:nvSpPr>
        <p:spPr>
          <a:xfrm>
            <a:off x="4709160" y="914400"/>
            <a:ext cx="3977640" cy="1645920"/>
          </a:xfrm>
          <a:prstGeom prst="roundRect">
            <a:avLst>
              <a:gd name="adj" fmla="val 5556"/>
            </a:avLst>
          </a:prstGeom>
          <a:solidFill>
            <a:srgbClr val="FFFFFF"/>
          </a:solidFill>
          <a:ln/>
          <a:effectLst>
            <a:outerShdw sx="100000" sy="100000" kx="0" ky="0" algn="bl" rotWithShape="0" blurRad="203200" dist="76200" dir="8100000">
              <a:srgbClr val="000000">
                <a:alpha val="32000"/>
              </a:srgbClr>
            </a:outerShdw>
          </a:effectLst>
        </p:spPr>
      </p:sp>
      <p:sp>
        <p:nvSpPr>
          <p:cNvPr id="15" name="Shape 12"/>
          <p:cNvSpPr/>
          <p:nvPr/>
        </p:nvSpPr>
        <p:spPr>
          <a:xfrm>
            <a:off x="4709160" y="914400"/>
            <a:ext cx="3977640" cy="411480"/>
          </a:xfrm>
          <a:prstGeom prst="rect">
            <a:avLst/>
          </a:prstGeom>
          <a:solidFill>
            <a:srgbClr val="2C5F2D"/>
          </a:solidFill>
          <a:ln/>
        </p:spPr>
      </p:sp>
      <p:sp>
        <p:nvSpPr>
          <p:cNvPr id="16" name="Text 13"/>
          <p:cNvSpPr/>
          <p:nvPr/>
        </p:nvSpPr>
        <p:spPr>
          <a:xfrm>
            <a:off x="4846320" y="932688"/>
            <a:ext cx="3703320" cy="365760"/>
          </a:xfrm>
          <a:prstGeom prst="rect">
            <a:avLst/>
          </a:prstGeom>
          <a:noFill/>
          <a:ln/>
        </p:spPr>
        <p:txBody>
          <a:bodyPr wrap="square" rtlCol="0" anchor="ctr">
            <a:normAutofit/>
          </a:bodyPr>
          <a:lstStyle/>
          <a:p>
            <a:pPr indent="0" marL="0">
              <a:buNone/>
            </a:pPr>
            <a:r>
              <a:rPr lang="en-US" sz="1300" b="1" dirty="0">
                <a:solidFill>
                  <a:srgbClr val="FFFFFF"/>
                </a:solidFill>
                <a:latin typeface="Georgia" pitchFamily="34" charset="0"/>
                <a:ea typeface="Georgia" pitchFamily="34" charset="-122"/>
                <a:cs typeface="Georgia" pitchFamily="34" charset="-120"/>
              </a:rPr>
              <a:t>深层特征图 (conv11_2)</a:t>
            </a:r>
            <a:endParaRPr lang="en-US" sz="1300" dirty="0"/>
          </a:p>
        </p:txBody>
      </p:sp>
      <p:sp>
        <p:nvSpPr>
          <p:cNvPr id="17" name="Text 14"/>
          <p:cNvSpPr/>
          <p:nvPr/>
        </p:nvSpPr>
        <p:spPr>
          <a:xfrm>
            <a:off x="4846320" y="1371600"/>
            <a:ext cx="3703320" cy="1097280"/>
          </a:xfrm>
          <a:prstGeom prst="rect">
            <a:avLst/>
          </a:prstGeom>
          <a:noFill/>
          <a:ln/>
        </p:spPr>
        <p:txBody>
          <a:bodyPr wrap="square" rtlCol="0" anchor="ctr"/>
          <a:lstStyle/>
          <a:p>
            <a:pPr indent="0" marL="0">
              <a:buNone/>
            </a:pPr>
            <a:r>
              <a:rPr lang="en-US" sz="1000" b="1" dirty="0">
                <a:solidFill>
                  <a:srgbClr val="D4A843"/>
                </a:solidFill>
              </a:rPr>
              <a:t>尺寸: 1x1 (小特征图)</a:t>
            </a:r>
            <a:endParaRPr lang="en-US" sz="1000" dirty="0"/>
          </a:p>
          <a:p>
            <a:pPr indent="0" marL="0">
              <a:buNone/>
            </a:pPr>
            <a:r>
              <a:rPr lang="en-US" sz="1000" dirty="0">
                <a:solidFill>
                  <a:srgbClr val="333333"/>
                </a:solidFill>
              </a:rPr>
              <a:t>感受野大，语义信息丰富</a:t>
            </a:r>
            <a:endParaRPr lang="en-US" sz="1000" dirty="0"/>
          </a:p>
          <a:p>
            <a:pPr indent="0" marL="0">
              <a:buNone/>
            </a:pPr>
            <a:r>
              <a:rPr lang="en-US" sz="1000" dirty="0">
                <a:solidFill>
                  <a:srgbClr val="333333"/>
                </a:solidFill>
              </a:rPr>
              <a:t>擅长检测大目标</a:t>
            </a:r>
            <a:endParaRPr lang="en-US" sz="1000" dirty="0"/>
          </a:p>
          <a:p>
            <a:pPr indent="0" marL="0">
              <a:buNone/>
            </a:pPr>
            <a:r>
              <a:rPr lang="en-US" sz="1000" dirty="0">
                <a:solidFill>
                  <a:srgbClr val="D4A843"/>
                </a:solidFill>
              </a:rPr>
              <a:t>Default Box尺度: 0.7~0.9</a:t>
            </a:r>
            <a:endParaRPr lang="en-US" sz="1000" dirty="0"/>
          </a:p>
          <a:p>
            <a:pPr indent="0" marL="0">
              <a:buNone/>
            </a:pPr>
            <a:r>
              <a:rPr lang="en-US" sz="1000" dirty="0">
                <a:solidFill>
                  <a:srgbClr val="666666"/>
                </a:solidFill>
              </a:rPr>
              <a:t>局限: 空间分辨率低</a:t>
            </a:r>
            <a:endParaRPr lang="en-US" sz="1000" dirty="0"/>
          </a:p>
        </p:txBody>
      </p:sp>
      <p:sp>
        <p:nvSpPr>
          <p:cNvPr id="18" name="Shape 15"/>
          <p:cNvSpPr/>
          <p:nvPr/>
        </p:nvSpPr>
        <p:spPr>
          <a:xfrm>
            <a:off x="457200" y="2743200"/>
            <a:ext cx="8229600" cy="1828800"/>
          </a:xfrm>
          <a:prstGeom prst="roundRect">
            <a:avLst>
              <a:gd name="adj" fmla="val 5000"/>
            </a:avLst>
          </a:prstGeom>
          <a:solidFill>
            <a:srgbClr val="FFF8E1"/>
          </a:solidFill>
          <a:ln/>
          <a:effectLst>
            <a:outerShdw sx="100000" sy="100000" kx="0" ky="0" algn="bl" rotWithShape="0" blurRad="152400" dist="50800" dir="8100000">
              <a:srgbClr val="000000">
                <a:alpha val="28000"/>
              </a:srgbClr>
            </a:outerShdw>
          </a:effectLst>
        </p:spPr>
      </p:sp>
      <p:sp>
        <p:nvSpPr>
          <p:cNvPr id="19" name="Text 16"/>
          <p:cNvSpPr/>
          <p:nvPr/>
        </p:nvSpPr>
        <p:spPr>
          <a:xfrm>
            <a:off x="640080" y="2816352"/>
            <a:ext cx="1828800" cy="256032"/>
          </a:xfrm>
          <a:prstGeom prst="rect">
            <a:avLst/>
          </a:prstGeom>
          <a:noFill/>
          <a:ln/>
        </p:spPr>
        <p:txBody>
          <a:bodyPr wrap="square" rtlCol="0" anchor="ctr">
            <a:normAutofit/>
          </a:bodyPr>
          <a:lstStyle/>
          <a:p>
            <a:pPr indent="0" marL="0">
              <a:buNone/>
            </a:pPr>
            <a:r>
              <a:rPr lang="en-US" sz="1300" b="1" dirty="0">
                <a:solidFill>
                  <a:srgbClr val="D4A843"/>
                </a:solidFill>
                <a:latin typeface="Georgia" pitchFamily="34" charset="0"/>
                <a:ea typeface="Georgia" pitchFamily="34" charset="-122"/>
                <a:cs typeface="Georgia" pitchFamily="34" charset="-120"/>
              </a:rPr>
              <a:t>设计洞察</a:t>
            </a:r>
            <a:endParaRPr lang="en-US" sz="1300" dirty="0"/>
          </a:p>
        </p:txBody>
      </p:sp>
      <p:sp>
        <p:nvSpPr>
          <p:cNvPr id="20" name="Text 17"/>
          <p:cNvSpPr/>
          <p:nvPr/>
        </p:nvSpPr>
        <p:spPr>
          <a:xfrm>
            <a:off x="640080" y="3108960"/>
            <a:ext cx="7863840" cy="1325880"/>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SSD巧妙地利用CNN自然形成的特征金字塔：浅层分辨率高但语义弱，深层语义强但分辨率低。通过在不同层级分别检测，自然实现多尺度。然而浅层语义弱是固有限制——这正是FPN要解决的问题：通过自顶向下路径增强浅层特征的语义信息。</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713232"/>
          </a:xfrm>
          <a:prstGeom prst="rect">
            <a:avLst/>
          </a:prstGeom>
          <a:solidFill>
            <a:srgbClr val="2C5F2D"/>
          </a:solidFill>
          <a:ln/>
        </p:spPr>
      </p:sp>
      <p:sp>
        <p:nvSpPr>
          <p:cNvPr id="4" name="Shape 1"/>
          <p:cNvSpPr/>
          <p:nvPr/>
        </p:nvSpPr>
        <p:spPr>
          <a:xfrm>
            <a:off x="0" y="713232"/>
            <a:ext cx="9144000" cy="27432"/>
          </a:xfrm>
          <a:prstGeom prst="rect">
            <a:avLst/>
          </a:prstGeom>
          <a:solidFill>
            <a:srgbClr val="D4A843"/>
          </a:solidFill>
          <a:ln/>
        </p:spPr>
      </p:sp>
      <p:sp>
        <p:nvSpPr>
          <p:cNvPr id="5" name="Text 2"/>
          <p:cNvSpPr/>
          <p:nvPr/>
        </p:nvSpPr>
        <p:spPr>
          <a:xfrm>
            <a:off x="457200" y="45720"/>
            <a:ext cx="8229600" cy="438912"/>
          </a:xfrm>
          <a:prstGeom prst="rect">
            <a:avLst/>
          </a:prstGeom>
          <a:noFill/>
          <a:ln/>
        </p:spPr>
        <p:txBody>
          <a:bodyPr wrap="square" rtlCol="0" anchor="b">
            <a:normAutofit/>
          </a:bodyPr>
          <a:lstStyle/>
          <a:p>
            <a:pPr indent="0" marL="0">
              <a:buNone/>
            </a:pPr>
            <a:r>
              <a:rPr lang="en-US" sz="2200" b="1" spc="150" kern="0" dirty="0">
                <a:solidFill>
                  <a:srgbClr val="FFFFFF"/>
                </a:solidFill>
                <a:latin typeface="Georgia" pitchFamily="34" charset="0"/>
                <a:ea typeface="Georgia" pitchFamily="34" charset="-122"/>
                <a:cs typeface="Georgia" pitchFamily="34" charset="-120"/>
              </a:rPr>
              <a:t>FPN原理概述</a:t>
            </a:r>
            <a:endParaRPr lang="en-US" sz="2200" dirty="0"/>
          </a:p>
        </p:txBody>
      </p:sp>
      <p:sp>
        <p:nvSpPr>
          <p:cNvPr id="6" name="Text 3"/>
          <p:cNvSpPr/>
          <p:nvPr/>
        </p:nvSpPr>
        <p:spPr>
          <a:xfrm>
            <a:off x="457200" y="502920"/>
            <a:ext cx="8229600" cy="201168"/>
          </a:xfrm>
          <a:prstGeom prst="rect">
            <a:avLst/>
          </a:prstGeom>
          <a:noFill/>
          <a:ln/>
        </p:spPr>
        <p:txBody>
          <a:bodyPr wrap="square" rtlCol="0" anchor="ctr">
            <a:normAutofit/>
          </a:bodyPr>
          <a:lstStyle/>
          <a:p>
            <a:pPr indent="0" marL="0">
              <a:buNone/>
            </a:pPr>
            <a:r>
              <a:rPr lang="en-US" sz="1000" spc="50" kern="0" dirty="0">
                <a:solidFill>
                  <a:srgbClr val="E8F5E9"/>
                </a:solidFill>
                <a:latin typeface="Calibri" pitchFamily="34" charset="0"/>
                <a:ea typeface="Calibri" pitchFamily="34" charset="-122"/>
                <a:cs typeface="Calibri" pitchFamily="34" charset="-120"/>
              </a:rPr>
              <a:t>特征金字塔网络：核心思想</a:t>
            </a:r>
            <a:endParaRPr lang="en-US" sz="1000" dirty="0"/>
          </a:p>
        </p:txBody>
      </p:sp>
      <p:sp>
        <p:nvSpPr>
          <p:cNvPr id="7" name="Shape 4"/>
          <p:cNvSpPr/>
          <p:nvPr/>
        </p:nvSpPr>
        <p:spPr>
          <a:xfrm>
            <a:off x="0" y="4869180"/>
            <a:ext cx="9144000" cy="274320"/>
          </a:xfrm>
          <a:prstGeom prst="rect">
            <a:avLst/>
          </a:prstGeom>
          <a:solidFill>
            <a:srgbClr val="2C5F2D"/>
          </a:solidFill>
          <a:ln/>
        </p:spPr>
      </p:sp>
      <p:sp>
        <p:nvSpPr>
          <p:cNvPr id="8" name="Text 5"/>
          <p:cNvSpPr/>
          <p:nvPr/>
        </p:nvSpPr>
        <p:spPr>
          <a:xfrm>
            <a:off x="457200" y="4869180"/>
            <a:ext cx="3657600" cy="274320"/>
          </a:xfrm>
          <a:prstGeom prst="rect">
            <a:avLst/>
          </a:prstGeom>
          <a:noFill/>
          <a:ln/>
        </p:spPr>
        <p:txBody>
          <a:bodyPr wrap="square" rtlCol="0" anchor="ctr">
            <a:normAutofit/>
          </a:bodyPr>
          <a:lstStyle/>
          <a:p>
            <a:pPr indent="0" marL="0">
              <a:buNone/>
            </a:pPr>
            <a:r>
              <a:rPr lang="en-US" sz="800" dirty="0">
                <a:solidFill>
                  <a:srgbClr val="97BC62"/>
                </a:solidFill>
                <a:latin typeface="Calibri" pitchFamily="34" charset="0"/>
                <a:ea typeface="Calibri" pitchFamily="34" charset="-122"/>
                <a:cs typeface="Calibri" pitchFamily="34" charset="-120"/>
              </a:rPr>
              <a:t>CV 100 Days | Day 39</a:t>
            </a:r>
            <a:endParaRPr lang="en-US" sz="800" dirty="0"/>
          </a:p>
        </p:txBody>
      </p:sp>
      <p:sp>
        <p:nvSpPr>
          <p:cNvPr id="9" name="Text 6"/>
          <p:cNvSpPr/>
          <p:nvPr/>
        </p:nvSpPr>
        <p:spPr>
          <a:xfrm>
            <a:off x="7315200" y="4869180"/>
            <a:ext cx="1371600" cy="274320"/>
          </a:xfrm>
          <a:prstGeom prst="rect">
            <a:avLst/>
          </a:prstGeom>
          <a:noFill/>
          <a:ln/>
        </p:spPr>
        <p:txBody>
          <a:bodyPr wrap="square" rtlCol="0" anchor="ctr">
            <a:normAutofit/>
          </a:bodyPr>
          <a:lstStyle/>
          <a:p>
            <a:pPr algn="r" indent="0" marL="0">
              <a:buNone/>
            </a:pPr>
            <a:r>
              <a:rPr lang="en-US" sz="800" dirty="0">
                <a:solidFill>
                  <a:srgbClr val="97BC62"/>
                </a:solidFill>
                <a:latin typeface="Calibri" pitchFamily="34" charset="0"/>
                <a:ea typeface="Calibri" pitchFamily="34" charset="-122"/>
                <a:cs typeface="Calibri" pitchFamily="34" charset="-120"/>
              </a:rPr>
              <a:t>9 / 20</a:t>
            </a:r>
            <a:endParaRPr lang="en-US" sz="800" dirty="0"/>
          </a:p>
        </p:txBody>
      </p:sp>
      <p:pic>
        <p:nvPicPr>
          <p:cNvPr id="10" name="Image 0" descr="/workspace/cv_learning/ppt/img-multiscale_4x3.jpg">    </p:cNvPr>
          <p:cNvPicPr>
            <a:picLocks noChangeAspect="1"/>
          </p:cNvPicPr>
          <p:nvPr/>
        </p:nvPicPr>
        <p:blipFill>
          <a:blip r:embed="rId1"/>
          <a:srcRect l="0" r="0" t="0" b="0"/>
          <a:stretch/>
        </p:blipFill>
        <p:spPr>
          <a:xfrm>
            <a:off x="457200" y="914400"/>
            <a:ext cx="3657600" cy="2743200"/>
          </a:xfrm>
          <a:prstGeom prst="rect">
            <a:avLst/>
          </a:prstGeom>
        </p:spPr>
      </p:pic>
      <p:sp>
        <p:nvSpPr>
          <p:cNvPr id="11" name="Shape 7"/>
          <p:cNvSpPr/>
          <p:nvPr/>
        </p:nvSpPr>
        <p:spPr>
          <a:xfrm>
            <a:off x="4754880" y="914400"/>
            <a:ext cx="4114800" cy="2743200"/>
          </a:xfrm>
          <a:prstGeom prst="roundRect">
            <a:avLst>
              <a:gd name="adj" fmla="val 3333"/>
            </a:avLst>
          </a:prstGeom>
          <a:solidFill>
            <a:srgbClr val="FFFFFF"/>
          </a:solidFill>
          <a:ln/>
          <a:effectLst>
            <a:outerShdw sx="100000" sy="100000" kx="0" ky="0" algn="bl" rotWithShape="0" blurRad="203200" dist="76200" dir="8100000">
              <a:srgbClr val="000000">
                <a:alpha val="32000"/>
              </a:srgbClr>
            </a:outerShdw>
          </a:effectLst>
        </p:spPr>
      </p:sp>
      <p:sp>
        <p:nvSpPr>
          <p:cNvPr id="12" name="Shape 8"/>
          <p:cNvSpPr/>
          <p:nvPr/>
        </p:nvSpPr>
        <p:spPr>
          <a:xfrm>
            <a:off x="4754880" y="914400"/>
            <a:ext cx="4114800" cy="36576"/>
          </a:xfrm>
          <a:prstGeom prst="rect">
            <a:avLst/>
          </a:prstGeom>
          <a:solidFill>
            <a:srgbClr val="D4A843"/>
          </a:solidFill>
          <a:ln/>
        </p:spPr>
      </p:sp>
      <p:sp>
        <p:nvSpPr>
          <p:cNvPr id="13" name="Text 9"/>
          <p:cNvSpPr/>
          <p:nvPr/>
        </p:nvSpPr>
        <p:spPr>
          <a:xfrm>
            <a:off x="4937760" y="1005840"/>
            <a:ext cx="3749040" cy="274320"/>
          </a:xfrm>
          <a:prstGeom prst="rect">
            <a:avLst/>
          </a:prstGeom>
          <a:noFill/>
          <a:ln/>
        </p:spPr>
        <p:txBody>
          <a:bodyPr wrap="square" rtlCol="0" anchor="ctr">
            <a:normAutofit/>
          </a:bodyPr>
          <a:lstStyle/>
          <a:p>
            <a:pPr indent="0" marL="0">
              <a:buNone/>
            </a:pPr>
            <a:r>
              <a:rPr lang="en-US" sz="1500" b="1" dirty="0">
                <a:solidFill>
                  <a:srgbClr val="2C5F2D"/>
                </a:solidFill>
                <a:latin typeface="Georgia" pitchFamily="34" charset="0"/>
                <a:ea typeface="Georgia" pitchFamily="34" charset="-122"/>
                <a:cs typeface="Georgia" pitchFamily="34" charset="-120"/>
              </a:rPr>
              <a:t>核心思想</a:t>
            </a:r>
            <a:endParaRPr lang="en-US" sz="1500" dirty="0"/>
          </a:p>
        </p:txBody>
      </p:sp>
      <p:sp>
        <p:nvSpPr>
          <p:cNvPr id="14" name="Text 10"/>
          <p:cNvSpPr/>
          <p:nvPr/>
        </p:nvSpPr>
        <p:spPr>
          <a:xfrm>
            <a:off x="4937760" y="1325880"/>
            <a:ext cx="3749040" cy="2194560"/>
          </a:xfrm>
          <a:prstGeom prst="rect">
            <a:avLst/>
          </a:prstGeom>
          <a:noFill/>
          <a:ln/>
        </p:spPr>
        <p:txBody>
          <a:bodyPr wrap="square" rtlCol="0" anchor="ctr"/>
          <a:lstStyle/>
          <a:p>
            <a:pPr indent="0" marL="0">
              <a:buNone/>
            </a:pPr>
            <a:r>
              <a:rPr lang="en-US" sz="1000" b="1" dirty="0">
                <a:solidFill>
                  <a:srgbClr val="D4A843"/>
                </a:solidFill>
              </a:rPr>
              <a:t>传统问题:</a:t>
            </a:r>
            <a:endParaRPr lang="en-US" sz="1000" dirty="0"/>
          </a:p>
          <a:p>
            <a:pPr indent="0" marL="0">
              <a:buNone/>
            </a:pPr>
            <a:r>
              <a:rPr lang="en-US" sz="1000" dirty="0">
                <a:solidFill>
                  <a:srgbClr val="333333"/>
                </a:solidFill>
              </a:rPr>
              <a:t>仅在顶层特征图检测，小目标信息丢失严重</a:t>
            </a:r>
            <a:endParaRPr lang="en-US" sz="1000" dirty="0"/>
          </a:p>
          <a:p>
            <a:pPr indent="0" marL="0">
              <a:buNone/>
            </a:pPr>
            <a:endParaRPr lang="en-US" sz="1000" dirty="0"/>
          </a:p>
          <a:p>
            <a:pPr indent="0" marL="0">
              <a:buNone/>
            </a:pPr>
            <a:r>
              <a:rPr lang="en-US" sz="1000" b="1" dirty="0">
                <a:solidFill>
                  <a:srgbClr val="D4A843"/>
                </a:solidFill>
              </a:rPr>
              <a:t>FPN方案:</a:t>
            </a:r>
            <a:endParaRPr lang="en-US" sz="1000" dirty="0"/>
          </a:p>
          <a:p>
            <a:pPr indent="0" marL="0">
              <a:buNone/>
            </a:pPr>
            <a:r>
              <a:rPr lang="en-US" sz="1000" dirty="0">
                <a:solidFill>
                  <a:srgbClr val="333333"/>
                </a:solidFill>
              </a:rPr>
              <a:t>构建自顶向下的特征金字塔，将高层语义通过上采样传递到低层，结合横向连接保留空间信息</a:t>
            </a:r>
            <a:endParaRPr lang="en-US" sz="1000" dirty="0"/>
          </a:p>
          <a:p>
            <a:pPr indent="0" marL="0">
              <a:buNone/>
            </a:pPr>
            <a:endParaRPr lang="en-US" sz="1000" dirty="0"/>
          </a:p>
          <a:p>
            <a:pPr indent="0" marL="0">
              <a:buNone/>
            </a:pPr>
            <a:r>
              <a:rPr lang="en-US" sz="1000" b="1" dirty="0">
                <a:solidFill>
                  <a:srgbClr val="D4A843"/>
                </a:solidFill>
              </a:rPr>
              <a:t>核心优势:</a:t>
            </a:r>
            <a:endParaRPr lang="en-US" sz="1000" dirty="0"/>
          </a:p>
          <a:p>
            <a:pPr indent="0" marL="0">
              <a:buNone/>
            </a:pPr>
            <a:r>
              <a:rPr lang="en-US" sz="1000" dirty="0">
                <a:solidFill>
                  <a:srgbClr val="333333"/>
                </a:solidFill>
              </a:rPr>
              <a:t>所有层级的特征图同时具备强语义和高分辨率</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713232"/>
          </a:xfrm>
          <a:prstGeom prst="rect">
            <a:avLst/>
          </a:prstGeom>
          <a:solidFill>
            <a:srgbClr val="2C5F2D"/>
          </a:solidFill>
          <a:ln/>
        </p:spPr>
      </p:sp>
      <p:sp>
        <p:nvSpPr>
          <p:cNvPr id="4" name="Shape 1"/>
          <p:cNvSpPr/>
          <p:nvPr/>
        </p:nvSpPr>
        <p:spPr>
          <a:xfrm>
            <a:off x="0" y="713232"/>
            <a:ext cx="9144000" cy="27432"/>
          </a:xfrm>
          <a:prstGeom prst="rect">
            <a:avLst/>
          </a:prstGeom>
          <a:solidFill>
            <a:srgbClr val="D4A843"/>
          </a:solidFill>
          <a:ln/>
        </p:spPr>
      </p:sp>
      <p:sp>
        <p:nvSpPr>
          <p:cNvPr id="5" name="Text 2"/>
          <p:cNvSpPr/>
          <p:nvPr/>
        </p:nvSpPr>
        <p:spPr>
          <a:xfrm>
            <a:off x="457200" y="45720"/>
            <a:ext cx="8229600" cy="438912"/>
          </a:xfrm>
          <a:prstGeom prst="rect">
            <a:avLst/>
          </a:prstGeom>
          <a:noFill/>
          <a:ln/>
        </p:spPr>
        <p:txBody>
          <a:bodyPr wrap="square" rtlCol="0" anchor="b">
            <a:normAutofit/>
          </a:bodyPr>
          <a:lstStyle/>
          <a:p>
            <a:pPr indent="0" marL="0">
              <a:buNone/>
            </a:pPr>
            <a:r>
              <a:rPr lang="en-US" sz="2200" b="1" spc="150" kern="0" dirty="0">
                <a:solidFill>
                  <a:srgbClr val="FFFFFF"/>
                </a:solidFill>
                <a:latin typeface="Georgia" pitchFamily="34" charset="0"/>
                <a:ea typeface="Georgia" pitchFamily="34" charset="-122"/>
                <a:cs typeface="Georgia" pitchFamily="34" charset="-120"/>
              </a:rPr>
              <a:t>FPN三要素</a:t>
            </a:r>
            <a:endParaRPr lang="en-US" sz="2200" dirty="0"/>
          </a:p>
        </p:txBody>
      </p:sp>
      <p:sp>
        <p:nvSpPr>
          <p:cNvPr id="6" name="Text 3"/>
          <p:cNvSpPr/>
          <p:nvPr/>
        </p:nvSpPr>
        <p:spPr>
          <a:xfrm>
            <a:off x="457200" y="502920"/>
            <a:ext cx="8229600" cy="201168"/>
          </a:xfrm>
          <a:prstGeom prst="rect">
            <a:avLst/>
          </a:prstGeom>
          <a:noFill/>
          <a:ln/>
        </p:spPr>
        <p:txBody>
          <a:bodyPr wrap="square" rtlCol="0" anchor="ctr">
            <a:normAutofit/>
          </a:bodyPr>
          <a:lstStyle/>
          <a:p>
            <a:pPr indent="0" marL="0">
              <a:buNone/>
            </a:pPr>
            <a:r>
              <a:rPr lang="en-US" sz="1000" spc="50" kern="0" dirty="0">
                <a:solidFill>
                  <a:srgbClr val="E8F5E9"/>
                </a:solidFill>
                <a:latin typeface="Calibri" pitchFamily="34" charset="0"/>
                <a:ea typeface="Calibri" pitchFamily="34" charset="-122"/>
                <a:cs typeface="Calibri" pitchFamily="34" charset="-120"/>
              </a:rPr>
              <a:t>自底向上、自顶向下、横向连接</a:t>
            </a:r>
            <a:endParaRPr lang="en-US" sz="1000" dirty="0"/>
          </a:p>
        </p:txBody>
      </p:sp>
      <p:sp>
        <p:nvSpPr>
          <p:cNvPr id="7" name="Shape 4"/>
          <p:cNvSpPr/>
          <p:nvPr/>
        </p:nvSpPr>
        <p:spPr>
          <a:xfrm>
            <a:off x="0" y="4869180"/>
            <a:ext cx="9144000" cy="274320"/>
          </a:xfrm>
          <a:prstGeom prst="rect">
            <a:avLst/>
          </a:prstGeom>
          <a:solidFill>
            <a:srgbClr val="2C5F2D"/>
          </a:solidFill>
          <a:ln/>
        </p:spPr>
      </p:sp>
      <p:sp>
        <p:nvSpPr>
          <p:cNvPr id="8" name="Text 5"/>
          <p:cNvSpPr/>
          <p:nvPr/>
        </p:nvSpPr>
        <p:spPr>
          <a:xfrm>
            <a:off x="457200" y="4869180"/>
            <a:ext cx="3657600" cy="274320"/>
          </a:xfrm>
          <a:prstGeom prst="rect">
            <a:avLst/>
          </a:prstGeom>
          <a:noFill/>
          <a:ln/>
        </p:spPr>
        <p:txBody>
          <a:bodyPr wrap="square" rtlCol="0" anchor="ctr">
            <a:normAutofit/>
          </a:bodyPr>
          <a:lstStyle/>
          <a:p>
            <a:pPr indent="0" marL="0">
              <a:buNone/>
            </a:pPr>
            <a:r>
              <a:rPr lang="en-US" sz="800" dirty="0">
                <a:solidFill>
                  <a:srgbClr val="97BC62"/>
                </a:solidFill>
                <a:latin typeface="Calibri" pitchFamily="34" charset="0"/>
                <a:ea typeface="Calibri" pitchFamily="34" charset="-122"/>
                <a:cs typeface="Calibri" pitchFamily="34" charset="-120"/>
              </a:rPr>
              <a:t>CV 100 Days | Day 39</a:t>
            </a:r>
            <a:endParaRPr lang="en-US" sz="800" dirty="0"/>
          </a:p>
        </p:txBody>
      </p:sp>
      <p:sp>
        <p:nvSpPr>
          <p:cNvPr id="9" name="Text 6"/>
          <p:cNvSpPr/>
          <p:nvPr/>
        </p:nvSpPr>
        <p:spPr>
          <a:xfrm>
            <a:off x="7315200" y="4869180"/>
            <a:ext cx="1371600" cy="274320"/>
          </a:xfrm>
          <a:prstGeom prst="rect">
            <a:avLst/>
          </a:prstGeom>
          <a:noFill/>
          <a:ln/>
        </p:spPr>
        <p:txBody>
          <a:bodyPr wrap="square" rtlCol="0" anchor="ctr">
            <a:normAutofit/>
          </a:bodyPr>
          <a:lstStyle/>
          <a:p>
            <a:pPr algn="r" indent="0" marL="0">
              <a:buNone/>
            </a:pPr>
            <a:r>
              <a:rPr lang="en-US" sz="800" dirty="0">
                <a:solidFill>
                  <a:srgbClr val="97BC62"/>
                </a:solidFill>
                <a:latin typeface="Calibri" pitchFamily="34" charset="0"/>
                <a:ea typeface="Calibri" pitchFamily="34" charset="-122"/>
                <a:cs typeface="Calibri" pitchFamily="34" charset="-120"/>
              </a:rPr>
              <a:t>10 / 20</a:t>
            </a:r>
            <a:endParaRPr lang="en-US" sz="800" dirty="0"/>
          </a:p>
        </p:txBody>
      </p:sp>
      <p:sp>
        <p:nvSpPr>
          <p:cNvPr id="10" name="Shape 7"/>
          <p:cNvSpPr/>
          <p:nvPr/>
        </p:nvSpPr>
        <p:spPr>
          <a:xfrm>
            <a:off x="457200" y="960120"/>
            <a:ext cx="2590800" cy="3817620"/>
          </a:xfrm>
          <a:prstGeom prst="roundRect">
            <a:avLst>
              <a:gd name="adj" fmla="val 3529"/>
            </a:avLst>
          </a:prstGeom>
          <a:solidFill>
            <a:srgbClr val="FFFFFF"/>
          </a:solidFill>
          <a:ln/>
          <a:effectLst>
            <a:outerShdw sx="100000" sy="100000" kx="0" ky="0" algn="bl" rotWithShape="0" blurRad="203200" dist="76200" dir="8100000">
              <a:srgbClr val="000000">
                <a:alpha val="32000"/>
              </a:srgbClr>
            </a:outerShdw>
          </a:effectLst>
        </p:spPr>
      </p:sp>
      <p:sp>
        <p:nvSpPr>
          <p:cNvPr id="11" name="Shape 8"/>
          <p:cNvSpPr/>
          <p:nvPr/>
        </p:nvSpPr>
        <p:spPr>
          <a:xfrm>
            <a:off x="457200" y="960120"/>
            <a:ext cx="2590800" cy="548640"/>
          </a:xfrm>
          <a:prstGeom prst="rect">
            <a:avLst/>
          </a:prstGeom>
          <a:solidFill>
            <a:srgbClr val="2C5F2D"/>
          </a:solidFill>
          <a:ln/>
        </p:spPr>
      </p:sp>
      <p:sp>
        <p:nvSpPr>
          <p:cNvPr id="12" name="Text 9"/>
          <p:cNvSpPr/>
          <p:nvPr/>
        </p:nvSpPr>
        <p:spPr>
          <a:xfrm>
            <a:off x="548640" y="987552"/>
            <a:ext cx="2407920" cy="493776"/>
          </a:xfrm>
          <a:prstGeom prst="rect">
            <a:avLst/>
          </a:prstGeom>
          <a:noFill/>
          <a:ln/>
        </p:spPr>
        <p:txBody>
          <a:bodyPr wrap="square" rtlCol="0" anchor="ctr">
            <a:normAutofit/>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自底向上</a:t>
            </a:r>
            <a:endParaRPr lang="en-US" sz="1300" dirty="0"/>
          </a:p>
          <a:p>
            <a:pPr algn="ctr" indent="0" marL="0">
              <a:buNone/>
            </a:pPr>
            <a:r>
              <a:rPr lang="en-US" sz="1300" b="1" dirty="0">
                <a:solidFill>
                  <a:srgbClr val="FFFFFF"/>
                </a:solidFill>
                <a:latin typeface="Georgia" pitchFamily="34" charset="0"/>
                <a:ea typeface="Georgia" pitchFamily="34" charset="-122"/>
                <a:cs typeface="Georgia" pitchFamily="34" charset="-120"/>
              </a:rPr>
              <a:t>(Bottom-Up)</a:t>
            </a:r>
            <a:endParaRPr lang="en-US" sz="1300" dirty="0"/>
          </a:p>
        </p:txBody>
      </p:sp>
      <p:sp>
        <p:nvSpPr>
          <p:cNvPr id="13" name="Text 10"/>
          <p:cNvSpPr/>
          <p:nvPr/>
        </p:nvSpPr>
        <p:spPr>
          <a:xfrm>
            <a:off x="594360" y="1600200"/>
            <a:ext cx="2316480" cy="3086100"/>
          </a:xfrm>
          <a:prstGeom prst="rect">
            <a:avLst/>
          </a:prstGeom>
          <a:noFill/>
          <a:ln/>
        </p:spPr>
        <p:txBody>
          <a:bodyPr wrap="square" rtlCol="0" anchor="t"/>
          <a:lstStyle/>
          <a:p>
            <a:pPr algn="ctr" indent="0" marL="0">
              <a:buNone/>
            </a:pPr>
            <a:r>
              <a:rPr lang="en-US" sz="1000" dirty="0">
                <a:solidFill>
                  <a:srgbClr val="333333"/>
                </a:solidFill>
                <a:latin typeface="Calibri" pitchFamily="34" charset="0"/>
                <a:ea typeface="Calibri" pitchFamily="34" charset="-122"/>
                <a:cs typeface="Calibri" pitchFamily="34" charset="-120"/>
              </a:rPr>
              <a:t>标准CNN前向传播</a:t>
            </a:r>
            <a:endParaRPr lang="en-US" sz="1000" dirty="0"/>
          </a:p>
          <a:p>
            <a:pPr algn="ctr" indent="0" marL="0">
              <a:buNone/>
            </a:pPr>
            <a:r>
              <a:rPr lang="en-US" sz="1000" dirty="0">
                <a:solidFill>
                  <a:srgbClr val="333333"/>
                </a:solidFill>
                <a:latin typeface="Calibri" pitchFamily="34" charset="0"/>
                <a:ea typeface="Calibri" pitchFamily="34" charset="-122"/>
                <a:cs typeface="Calibri" pitchFamily="34" charset="-120"/>
              </a:rPr>
              <a:t>特征图逐渐缩小</a:t>
            </a:r>
            <a:endParaRPr lang="en-US" sz="1000" dirty="0"/>
          </a:p>
          <a:p>
            <a:pPr algn="ctr" indent="0" marL="0">
              <a:buNone/>
            </a:pPr>
            <a:r>
              <a:rPr lang="en-US" sz="1000" dirty="0">
                <a:solidFill>
                  <a:srgbClr val="333333"/>
                </a:solidFill>
                <a:latin typeface="Calibri" pitchFamily="34" charset="0"/>
                <a:ea typeface="Calibri" pitchFamily="34" charset="-122"/>
                <a:cs typeface="Calibri" pitchFamily="34" charset="-120"/>
              </a:rPr>
              <a:t>语义信息逐渐增强</a:t>
            </a:r>
            <a:endParaRPr lang="en-US" sz="1000" dirty="0"/>
          </a:p>
          <a:p>
            <a:pPr algn="ctr" indent="0" marL="0">
              <a:buNone/>
            </a:pPr>
            <a:r>
              <a:rPr lang="en-US" sz="1000" dirty="0">
                <a:solidFill>
                  <a:srgbClr val="333333"/>
                </a:solidFill>
                <a:latin typeface="Calibri" pitchFamily="34" charset="0"/>
                <a:ea typeface="Calibri" pitchFamily="34" charset="-122"/>
                <a:cs typeface="Calibri" pitchFamily="34" charset="-120"/>
              </a:rPr>
              <a:t>例: ResNet C2-&gt;C5</a:t>
            </a:r>
            <a:endParaRPr lang="en-US" sz="1000" dirty="0"/>
          </a:p>
        </p:txBody>
      </p:sp>
      <p:sp>
        <p:nvSpPr>
          <p:cNvPr id="14" name="Shape 11"/>
          <p:cNvSpPr/>
          <p:nvPr/>
        </p:nvSpPr>
        <p:spPr>
          <a:xfrm>
            <a:off x="3276600" y="960120"/>
            <a:ext cx="2590800" cy="3817620"/>
          </a:xfrm>
          <a:prstGeom prst="roundRect">
            <a:avLst>
              <a:gd name="adj" fmla="val 3529"/>
            </a:avLst>
          </a:prstGeom>
          <a:solidFill>
            <a:srgbClr val="FFFFFF"/>
          </a:solidFill>
          <a:ln/>
          <a:effectLst>
            <a:outerShdw sx="100000" sy="100000" kx="0" ky="0" algn="bl" rotWithShape="0" blurRad="203200" dist="76200" dir="8100000">
              <a:srgbClr val="000000">
                <a:alpha val="32000"/>
              </a:srgbClr>
            </a:outerShdw>
          </a:effectLst>
        </p:spPr>
      </p:sp>
      <p:sp>
        <p:nvSpPr>
          <p:cNvPr id="15" name="Shape 12"/>
          <p:cNvSpPr/>
          <p:nvPr/>
        </p:nvSpPr>
        <p:spPr>
          <a:xfrm>
            <a:off x="3276600" y="960120"/>
            <a:ext cx="2590800" cy="548640"/>
          </a:xfrm>
          <a:prstGeom prst="rect">
            <a:avLst/>
          </a:prstGeom>
          <a:solidFill>
            <a:srgbClr val="D4A843"/>
          </a:solidFill>
          <a:ln/>
        </p:spPr>
      </p:sp>
      <p:sp>
        <p:nvSpPr>
          <p:cNvPr id="16" name="Text 13"/>
          <p:cNvSpPr/>
          <p:nvPr/>
        </p:nvSpPr>
        <p:spPr>
          <a:xfrm>
            <a:off x="3368040" y="987552"/>
            <a:ext cx="2407920" cy="493776"/>
          </a:xfrm>
          <a:prstGeom prst="rect">
            <a:avLst/>
          </a:prstGeom>
          <a:noFill/>
          <a:ln/>
        </p:spPr>
        <p:txBody>
          <a:bodyPr wrap="square" rtlCol="0" anchor="ctr">
            <a:normAutofit/>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自顶向下</a:t>
            </a:r>
            <a:endParaRPr lang="en-US" sz="1300" dirty="0"/>
          </a:p>
          <a:p>
            <a:pPr algn="ctr" indent="0" marL="0">
              <a:buNone/>
            </a:pPr>
            <a:r>
              <a:rPr lang="en-US" sz="1300" b="1" dirty="0">
                <a:solidFill>
                  <a:srgbClr val="FFFFFF"/>
                </a:solidFill>
                <a:latin typeface="Georgia" pitchFamily="34" charset="0"/>
                <a:ea typeface="Georgia" pitchFamily="34" charset="-122"/>
                <a:cs typeface="Georgia" pitchFamily="34" charset="-120"/>
              </a:rPr>
              <a:t>(Top-Down)</a:t>
            </a:r>
            <a:endParaRPr lang="en-US" sz="1300" dirty="0"/>
          </a:p>
        </p:txBody>
      </p:sp>
      <p:sp>
        <p:nvSpPr>
          <p:cNvPr id="17" name="Text 14"/>
          <p:cNvSpPr/>
          <p:nvPr/>
        </p:nvSpPr>
        <p:spPr>
          <a:xfrm>
            <a:off x="3413760" y="1600200"/>
            <a:ext cx="2316480" cy="3086100"/>
          </a:xfrm>
          <a:prstGeom prst="rect">
            <a:avLst/>
          </a:prstGeom>
          <a:noFill/>
          <a:ln/>
        </p:spPr>
        <p:txBody>
          <a:bodyPr wrap="square" rtlCol="0" anchor="t"/>
          <a:lstStyle/>
          <a:p>
            <a:pPr algn="ctr" indent="0" marL="0">
              <a:buNone/>
            </a:pPr>
            <a:r>
              <a:rPr lang="en-US" sz="1000" dirty="0">
                <a:solidFill>
                  <a:srgbClr val="333333"/>
                </a:solidFill>
                <a:latin typeface="Calibri" pitchFamily="34" charset="0"/>
                <a:ea typeface="Calibri" pitchFamily="34" charset="-122"/>
                <a:cs typeface="Calibri" pitchFamily="34" charset="-120"/>
              </a:rPr>
              <a:t>上采样(2x最近邻)</a:t>
            </a:r>
            <a:endParaRPr lang="en-US" sz="1000" dirty="0"/>
          </a:p>
          <a:p>
            <a:pPr algn="ctr" indent="0" marL="0">
              <a:buNone/>
            </a:pPr>
            <a:r>
              <a:rPr lang="en-US" sz="1000" dirty="0">
                <a:solidFill>
                  <a:srgbClr val="333333"/>
                </a:solidFill>
                <a:latin typeface="Calibri" pitchFamily="34" charset="0"/>
                <a:ea typeface="Calibri" pitchFamily="34" charset="-122"/>
                <a:cs typeface="Calibri" pitchFamily="34" charset="-120"/>
              </a:rPr>
              <a:t>高层语义传到低层</a:t>
            </a:r>
            <a:endParaRPr lang="en-US" sz="1000" dirty="0"/>
          </a:p>
          <a:p>
            <a:pPr algn="ctr" indent="0" marL="0">
              <a:buNone/>
            </a:pPr>
            <a:r>
              <a:rPr lang="en-US" sz="1000" dirty="0">
                <a:solidFill>
                  <a:srgbClr val="333333"/>
                </a:solidFill>
                <a:latin typeface="Calibri" pitchFamily="34" charset="0"/>
                <a:ea typeface="Calibri" pitchFamily="34" charset="-122"/>
                <a:cs typeface="Calibri" pitchFamily="34" charset="-120"/>
              </a:rPr>
              <a:t>P5-&gt;P4-&gt;P3-&gt;P2</a:t>
            </a:r>
            <a:endParaRPr lang="en-US" sz="1000" dirty="0"/>
          </a:p>
          <a:p>
            <a:pPr algn="ctr" indent="0" marL="0">
              <a:buNone/>
            </a:pPr>
            <a:r>
              <a:rPr lang="en-US" sz="1000" dirty="0">
                <a:solidFill>
                  <a:srgbClr val="333333"/>
                </a:solidFill>
                <a:latin typeface="Calibri" pitchFamily="34" charset="0"/>
                <a:ea typeface="Calibri" pitchFamily="34" charset="-122"/>
                <a:cs typeface="Calibri" pitchFamily="34" charset="-120"/>
              </a:rPr>
              <a:t>渐进增强</a:t>
            </a:r>
            <a:endParaRPr lang="en-US" sz="1000" dirty="0"/>
          </a:p>
        </p:txBody>
      </p:sp>
      <p:sp>
        <p:nvSpPr>
          <p:cNvPr id="18" name="Shape 15"/>
          <p:cNvSpPr/>
          <p:nvPr/>
        </p:nvSpPr>
        <p:spPr>
          <a:xfrm>
            <a:off x="6096000" y="960120"/>
            <a:ext cx="2590800" cy="3817620"/>
          </a:xfrm>
          <a:prstGeom prst="roundRect">
            <a:avLst>
              <a:gd name="adj" fmla="val 3529"/>
            </a:avLst>
          </a:prstGeom>
          <a:solidFill>
            <a:srgbClr val="FFFFFF"/>
          </a:solidFill>
          <a:ln/>
          <a:effectLst>
            <a:outerShdw sx="100000" sy="100000" kx="0" ky="0" algn="bl" rotWithShape="0" blurRad="203200" dist="76200" dir="8100000">
              <a:srgbClr val="000000">
                <a:alpha val="32000"/>
              </a:srgbClr>
            </a:outerShdw>
          </a:effectLst>
        </p:spPr>
      </p:sp>
      <p:sp>
        <p:nvSpPr>
          <p:cNvPr id="19" name="Shape 16"/>
          <p:cNvSpPr/>
          <p:nvPr/>
        </p:nvSpPr>
        <p:spPr>
          <a:xfrm>
            <a:off x="6096000" y="960120"/>
            <a:ext cx="2590800" cy="548640"/>
          </a:xfrm>
          <a:prstGeom prst="rect">
            <a:avLst/>
          </a:prstGeom>
          <a:solidFill>
            <a:srgbClr val="97BC62"/>
          </a:solidFill>
          <a:ln/>
        </p:spPr>
      </p:sp>
      <p:sp>
        <p:nvSpPr>
          <p:cNvPr id="20" name="Text 17"/>
          <p:cNvSpPr/>
          <p:nvPr/>
        </p:nvSpPr>
        <p:spPr>
          <a:xfrm>
            <a:off x="6187440" y="987552"/>
            <a:ext cx="2407920" cy="493776"/>
          </a:xfrm>
          <a:prstGeom prst="rect">
            <a:avLst/>
          </a:prstGeom>
          <a:noFill/>
          <a:ln/>
        </p:spPr>
        <p:txBody>
          <a:bodyPr wrap="square" rtlCol="0" anchor="ctr">
            <a:normAutofit/>
          </a:bodyPr>
          <a:lstStyle/>
          <a:p>
            <a:pPr algn="ctr" indent="0" marL="0">
              <a:buNone/>
            </a:pPr>
            <a:r>
              <a:rPr lang="en-US" sz="1300" b="1" dirty="0">
                <a:solidFill>
                  <a:srgbClr val="FFFFFF"/>
                </a:solidFill>
                <a:latin typeface="Georgia" pitchFamily="34" charset="0"/>
                <a:ea typeface="Georgia" pitchFamily="34" charset="-122"/>
                <a:cs typeface="Georgia" pitchFamily="34" charset="-120"/>
              </a:rPr>
              <a:t>横向连接</a:t>
            </a:r>
            <a:endParaRPr lang="en-US" sz="1300" dirty="0"/>
          </a:p>
          <a:p>
            <a:pPr algn="ctr" indent="0" marL="0">
              <a:buNone/>
            </a:pPr>
            <a:r>
              <a:rPr lang="en-US" sz="1300" b="1" dirty="0">
                <a:solidFill>
                  <a:srgbClr val="FFFFFF"/>
                </a:solidFill>
                <a:latin typeface="Georgia" pitchFamily="34" charset="0"/>
                <a:ea typeface="Georgia" pitchFamily="34" charset="-122"/>
                <a:cs typeface="Georgia" pitchFamily="34" charset="-120"/>
              </a:rPr>
              <a:t>(Lateral)</a:t>
            </a:r>
            <a:endParaRPr lang="en-US" sz="1300" dirty="0"/>
          </a:p>
        </p:txBody>
      </p:sp>
      <p:sp>
        <p:nvSpPr>
          <p:cNvPr id="21" name="Text 18"/>
          <p:cNvSpPr/>
          <p:nvPr/>
        </p:nvSpPr>
        <p:spPr>
          <a:xfrm>
            <a:off x="6233160" y="1600200"/>
            <a:ext cx="2316480" cy="3086100"/>
          </a:xfrm>
          <a:prstGeom prst="rect">
            <a:avLst/>
          </a:prstGeom>
          <a:noFill/>
          <a:ln/>
        </p:spPr>
        <p:txBody>
          <a:bodyPr wrap="square" rtlCol="0" anchor="t"/>
          <a:lstStyle/>
          <a:p>
            <a:pPr algn="ctr" indent="0" marL="0">
              <a:buNone/>
            </a:pPr>
            <a:r>
              <a:rPr lang="en-US" sz="1000" dirty="0">
                <a:solidFill>
                  <a:srgbClr val="333333"/>
                </a:solidFill>
                <a:latin typeface="Calibri" pitchFamily="34" charset="0"/>
                <a:ea typeface="Calibri" pitchFamily="34" charset="-122"/>
                <a:cs typeface="Calibri" pitchFamily="34" charset="-120"/>
              </a:rPr>
              <a:t>1x1卷积降维后</a:t>
            </a:r>
            <a:endParaRPr lang="en-US" sz="1000" dirty="0"/>
          </a:p>
          <a:p>
            <a:pPr algn="ctr" indent="0" marL="0">
              <a:buNone/>
            </a:pPr>
            <a:r>
              <a:rPr lang="en-US" sz="1000" dirty="0">
                <a:solidFill>
                  <a:srgbClr val="333333"/>
                </a:solidFill>
                <a:latin typeface="Calibri" pitchFamily="34" charset="0"/>
                <a:ea typeface="Calibri" pitchFamily="34" charset="-122"/>
                <a:cs typeface="Calibri" pitchFamily="34" charset="-120"/>
              </a:rPr>
              <a:t>逐元素相加融合</a:t>
            </a:r>
            <a:endParaRPr lang="en-US" sz="1000" dirty="0"/>
          </a:p>
          <a:p>
            <a:pPr algn="ctr" indent="0" marL="0">
              <a:buNone/>
            </a:pPr>
            <a:r>
              <a:rPr lang="en-US" sz="1000" dirty="0">
                <a:solidFill>
                  <a:srgbClr val="333333"/>
                </a:solidFill>
                <a:latin typeface="Calibri" pitchFamily="34" charset="0"/>
                <a:ea typeface="Calibri" pitchFamily="34" charset="-122"/>
                <a:cs typeface="Calibri" pitchFamily="34" charset="-120"/>
              </a:rPr>
              <a:t>P_i = M_i + Up(P_{i+1})</a:t>
            </a:r>
            <a:endParaRPr lang="en-US" sz="1000" dirty="0"/>
          </a:p>
          <a:p>
            <a:pPr algn="ctr" indent="0" marL="0">
              <a:buNone/>
            </a:pPr>
            <a:r>
              <a:rPr lang="en-US" sz="1000" dirty="0">
                <a:solidFill>
                  <a:srgbClr val="333333"/>
                </a:solidFill>
                <a:latin typeface="Calibri" pitchFamily="34" charset="0"/>
                <a:ea typeface="Calibri" pitchFamily="34" charset="-122"/>
                <a:cs typeface="Calibri" pitchFamily="34" charset="-120"/>
              </a:rPr>
              <a:t>保留空间信息</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713232"/>
          </a:xfrm>
          <a:prstGeom prst="rect">
            <a:avLst/>
          </a:prstGeom>
          <a:solidFill>
            <a:srgbClr val="2C5F2D"/>
          </a:solidFill>
          <a:ln/>
        </p:spPr>
      </p:sp>
      <p:sp>
        <p:nvSpPr>
          <p:cNvPr id="4" name="Shape 1"/>
          <p:cNvSpPr/>
          <p:nvPr/>
        </p:nvSpPr>
        <p:spPr>
          <a:xfrm>
            <a:off x="0" y="713232"/>
            <a:ext cx="9144000" cy="27432"/>
          </a:xfrm>
          <a:prstGeom prst="rect">
            <a:avLst/>
          </a:prstGeom>
          <a:solidFill>
            <a:srgbClr val="D4A843"/>
          </a:solidFill>
          <a:ln/>
        </p:spPr>
      </p:sp>
      <p:sp>
        <p:nvSpPr>
          <p:cNvPr id="5" name="Text 2"/>
          <p:cNvSpPr/>
          <p:nvPr/>
        </p:nvSpPr>
        <p:spPr>
          <a:xfrm>
            <a:off x="457200" y="45720"/>
            <a:ext cx="8229600" cy="438912"/>
          </a:xfrm>
          <a:prstGeom prst="rect">
            <a:avLst/>
          </a:prstGeom>
          <a:noFill/>
          <a:ln/>
        </p:spPr>
        <p:txBody>
          <a:bodyPr wrap="square" rtlCol="0" anchor="b">
            <a:normAutofit/>
          </a:bodyPr>
          <a:lstStyle/>
          <a:p>
            <a:pPr indent="0" marL="0">
              <a:buNone/>
            </a:pPr>
            <a:r>
              <a:rPr lang="en-US" sz="2200" b="1" spc="150" kern="0" dirty="0">
                <a:solidFill>
                  <a:srgbClr val="FFFFFF"/>
                </a:solidFill>
                <a:latin typeface="Georgia" pitchFamily="34" charset="0"/>
                <a:ea typeface="Georgia" pitchFamily="34" charset="-122"/>
                <a:cs typeface="Georgia" pitchFamily="34" charset="-120"/>
              </a:rPr>
              <a:t>FPN数学表达</a:t>
            </a:r>
            <a:endParaRPr lang="en-US" sz="2200" dirty="0"/>
          </a:p>
        </p:txBody>
      </p:sp>
      <p:sp>
        <p:nvSpPr>
          <p:cNvPr id="6" name="Text 3"/>
          <p:cNvSpPr/>
          <p:nvPr/>
        </p:nvSpPr>
        <p:spPr>
          <a:xfrm>
            <a:off x="457200" y="502920"/>
            <a:ext cx="8229600" cy="201168"/>
          </a:xfrm>
          <a:prstGeom prst="rect">
            <a:avLst/>
          </a:prstGeom>
          <a:noFill/>
          <a:ln/>
        </p:spPr>
        <p:txBody>
          <a:bodyPr wrap="square" rtlCol="0" anchor="ctr">
            <a:normAutofit/>
          </a:bodyPr>
          <a:lstStyle/>
          <a:p>
            <a:pPr indent="0" marL="0">
              <a:buNone/>
            </a:pPr>
            <a:r>
              <a:rPr lang="en-US" sz="1000" spc="50" kern="0" dirty="0">
                <a:solidFill>
                  <a:srgbClr val="E8F5E9"/>
                </a:solidFill>
                <a:latin typeface="Calibri" pitchFamily="34" charset="0"/>
                <a:ea typeface="Calibri" pitchFamily="34" charset="-122"/>
                <a:cs typeface="Calibri" pitchFamily="34" charset="-120"/>
              </a:rPr>
              <a:t>特征融合策略的数学形式化</a:t>
            </a:r>
            <a:endParaRPr lang="en-US" sz="1000" dirty="0"/>
          </a:p>
        </p:txBody>
      </p:sp>
      <p:sp>
        <p:nvSpPr>
          <p:cNvPr id="7" name="Shape 4"/>
          <p:cNvSpPr/>
          <p:nvPr/>
        </p:nvSpPr>
        <p:spPr>
          <a:xfrm>
            <a:off x="0" y="4869180"/>
            <a:ext cx="9144000" cy="274320"/>
          </a:xfrm>
          <a:prstGeom prst="rect">
            <a:avLst/>
          </a:prstGeom>
          <a:solidFill>
            <a:srgbClr val="2C5F2D"/>
          </a:solidFill>
          <a:ln/>
        </p:spPr>
      </p:sp>
      <p:sp>
        <p:nvSpPr>
          <p:cNvPr id="8" name="Text 5"/>
          <p:cNvSpPr/>
          <p:nvPr/>
        </p:nvSpPr>
        <p:spPr>
          <a:xfrm>
            <a:off x="457200" y="4869180"/>
            <a:ext cx="3657600" cy="274320"/>
          </a:xfrm>
          <a:prstGeom prst="rect">
            <a:avLst/>
          </a:prstGeom>
          <a:noFill/>
          <a:ln/>
        </p:spPr>
        <p:txBody>
          <a:bodyPr wrap="square" rtlCol="0" anchor="ctr">
            <a:normAutofit/>
          </a:bodyPr>
          <a:lstStyle/>
          <a:p>
            <a:pPr indent="0" marL="0">
              <a:buNone/>
            </a:pPr>
            <a:r>
              <a:rPr lang="en-US" sz="800" dirty="0">
                <a:solidFill>
                  <a:srgbClr val="97BC62"/>
                </a:solidFill>
                <a:latin typeface="Calibri" pitchFamily="34" charset="0"/>
                <a:ea typeface="Calibri" pitchFamily="34" charset="-122"/>
                <a:cs typeface="Calibri" pitchFamily="34" charset="-120"/>
              </a:rPr>
              <a:t>CV 100 Days | Day 39</a:t>
            </a:r>
            <a:endParaRPr lang="en-US" sz="800" dirty="0"/>
          </a:p>
        </p:txBody>
      </p:sp>
      <p:sp>
        <p:nvSpPr>
          <p:cNvPr id="9" name="Text 6"/>
          <p:cNvSpPr/>
          <p:nvPr/>
        </p:nvSpPr>
        <p:spPr>
          <a:xfrm>
            <a:off x="7315200" y="4869180"/>
            <a:ext cx="1371600" cy="274320"/>
          </a:xfrm>
          <a:prstGeom prst="rect">
            <a:avLst/>
          </a:prstGeom>
          <a:noFill/>
          <a:ln/>
        </p:spPr>
        <p:txBody>
          <a:bodyPr wrap="square" rtlCol="0" anchor="ctr">
            <a:normAutofit/>
          </a:bodyPr>
          <a:lstStyle/>
          <a:p>
            <a:pPr algn="r" indent="0" marL="0">
              <a:buNone/>
            </a:pPr>
            <a:r>
              <a:rPr lang="en-US" sz="800" dirty="0">
                <a:solidFill>
                  <a:srgbClr val="97BC62"/>
                </a:solidFill>
                <a:latin typeface="Calibri" pitchFamily="34" charset="0"/>
                <a:ea typeface="Calibri" pitchFamily="34" charset="-122"/>
                <a:cs typeface="Calibri" pitchFamily="34" charset="-120"/>
              </a:rPr>
              <a:t>11 / 20</a:t>
            </a:r>
            <a:endParaRPr lang="en-US" sz="800" dirty="0"/>
          </a:p>
        </p:txBody>
      </p:sp>
      <p:sp>
        <p:nvSpPr>
          <p:cNvPr id="10" name="Shape 7"/>
          <p:cNvSpPr/>
          <p:nvPr/>
        </p:nvSpPr>
        <p:spPr>
          <a:xfrm>
            <a:off x="457200" y="914400"/>
            <a:ext cx="8229600" cy="1097280"/>
          </a:xfrm>
          <a:prstGeom prst="roundRect">
            <a:avLst>
              <a:gd name="adj" fmla="val 8333"/>
            </a:avLst>
          </a:prstGeom>
          <a:solidFill>
            <a:srgbClr val="E8F5E9"/>
          </a:solidFill>
          <a:ln/>
          <a:effectLst>
            <a:outerShdw sx="100000" sy="100000" kx="0" ky="0" algn="bl" rotWithShape="0" blurRad="203200" dist="76200" dir="8100000">
              <a:srgbClr val="000000">
                <a:alpha val="32000"/>
              </a:srgbClr>
            </a:outerShdw>
          </a:effectLst>
        </p:spPr>
      </p:sp>
      <p:sp>
        <p:nvSpPr>
          <p:cNvPr id="11" name="Text 8"/>
          <p:cNvSpPr/>
          <p:nvPr/>
        </p:nvSpPr>
        <p:spPr>
          <a:xfrm>
            <a:off x="640080" y="960120"/>
            <a:ext cx="2743200" cy="22860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特征融合公式</a:t>
            </a:r>
            <a:endParaRPr lang="en-US" sz="1300" dirty="0"/>
          </a:p>
        </p:txBody>
      </p:sp>
      <p:sp>
        <p:nvSpPr>
          <p:cNvPr id="12" name="Text 9"/>
          <p:cNvSpPr/>
          <p:nvPr/>
        </p:nvSpPr>
        <p:spPr>
          <a:xfrm>
            <a:off x="640080" y="1207008"/>
            <a:ext cx="7863840" cy="731520"/>
          </a:xfrm>
          <a:prstGeom prst="rect">
            <a:avLst/>
          </a:prstGeom>
          <a:noFill/>
          <a:ln/>
        </p:spPr>
        <p:txBody>
          <a:bodyPr wrap="square" rtlCol="0" anchor="ctr"/>
          <a:lstStyle/>
          <a:p>
            <a:pPr indent="0" marL="0">
              <a:buNone/>
            </a:pPr>
            <a:r>
              <a:rPr lang="en-US" sz="1000" dirty="0">
                <a:solidFill>
                  <a:srgbClr val="333333"/>
                </a:solidFill>
              </a:rPr>
              <a:t>横向连接:  M_i = Conv1x1(C_i)    // 通道数降为256维</a:t>
            </a:r>
            <a:endParaRPr lang="en-US" sz="1000" dirty="0"/>
          </a:p>
          <a:p>
            <a:pPr indent="0" marL="0">
              <a:buNone/>
            </a:pPr>
            <a:r>
              <a:rPr lang="en-US" sz="1000" dirty="0">
                <a:solidFill>
                  <a:srgbClr val="333333"/>
                </a:solidFill>
              </a:rPr>
              <a:t>自顶向下:  P_i = ReLU(M_i + Upsample2x(P_{i+1}))</a:t>
            </a:r>
            <a:endParaRPr lang="en-US" sz="1000" dirty="0"/>
          </a:p>
          <a:p>
            <a:pPr indent="0" marL="0">
              <a:buNone/>
            </a:pPr>
            <a:r>
              <a:rPr lang="en-US" sz="1000" dirty="0">
                <a:solidFill>
                  <a:srgbClr val="333333"/>
                </a:solidFill>
              </a:rPr>
              <a:t>最高层:    P_5 = Conv1x1(C_5)    // 无上采样</a:t>
            </a:r>
            <a:endParaRPr lang="en-US" sz="1000" dirty="0"/>
          </a:p>
        </p:txBody>
      </p:sp>
      <p:sp>
        <p:nvSpPr>
          <p:cNvPr id="13" name="Shape 10"/>
          <p:cNvSpPr/>
          <p:nvPr/>
        </p:nvSpPr>
        <p:spPr>
          <a:xfrm>
            <a:off x="457200" y="2148840"/>
            <a:ext cx="8229600" cy="1371600"/>
          </a:xfrm>
          <a:prstGeom prst="roundRect">
            <a:avLst>
              <a:gd name="adj" fmla="val 6667"/>
            </a:avLst>
          </a:prstGeom>
          <a:solidFill>
            <a:srgbClr val="FFFFFF"/>
          </a:solidFill>
          <a:ln/>
          <a:effectLst>
            <a:outerShdw sx="100000" sy="100000" kx="0" ky="0" algn="bl" rotWithShape="0" blurRad="152400" dist="50800" dir="8100000">
              <a:srgbClr val="000000">
                <a:alpha val="28000"/>
              </a:srgbClr>
            </a:outerShdw>
          </a:effectLst>
        </p:spPr>
      </p:sp>
      <p:sp>
        <p:nvSpPr>
          <p:cNvPr id="14" name="Text 11"/>
          <p:cNvSpPr/>
          <p:nvPr/>
        </p:nvSpPr>
        <p:spPr>
          <a:xfrm>
            <a:off x="640080" y="2194560"/>
            <a:ext cx="2743200" cy="228600"/>
          </a:xfrm>
          <a:prstGeom prst="rect">
            <a:avLst/>
          </a:prstGeom>
          <a:noFill/>
          <a:ln/>
        </p:spPr>
        <p:txBody>
          <a:bodyPr wrap="square" rtlCol="0" anchor="ctr">
            <a:normAutofit/>
          </a:bodyPr>
          <a:lstStyle/>
          <a:p>
            <a:pPr indent="0" marL="0">
              <a:buNone/>
            </a:pPr>
            <a:r>
              <a:rPr lang="en-US" sz="1200" b="1" dirty="0">
                <a:solidFill>
                  <a:srgbClr val="2C5F2D"/>
                </a:solidFill>
                <a:latin typeface="Georgia" pitchFamily="34" charset="0"/>
                <a:ea typeface="Georgia" pitchFamily="34" charset="-122"/>
                <a:cs typeface="Georgia" pitchFamily="34" charset="-120"/>
              </a:rPr>
              <a:t>关键设计选择</a:t>
            </a:r>
            <a:endParaRPr lang="en-US" sz="1200" dirty="0"/>
          </a:p>
        </p:txBody>
      </p:sp>
      <p:sp>
        <p:nvSpPr>
          <p:cNvPr id="15" name="Text 12"/>
          <p:cNvSpPr/>
          <p:nvPr/>
        </p:nvSpPr>
        <p:spPr>
          <a:xfrm>
            <a:off x="640080" y="2441448"/>
            <a:ext cx="7863840" cy="1005840"/>
          </a:xfrm>
          <a:prstGeom prst="rect">
            <a:avLst/>
          </a:prstGeom>
          <a:noFill/>
          <a:ln/>
        </p:spPr>
        <p:txBody>
          <a:bodyPr wrap="square" rtlCol="0" anchor="ctr"/>
          <a:lstStyle/>
          <a:p>
            <a:pPr indent="0" marL="0">
              <a:buNone/>
            </a:pPr>
            <a:r>
              <a:rPr lang="en-US" sz="1000" dirty="0">
                <a:solidFill>
                  <a:srgbClr val="333333"/>
                </a:solidFill>
              </a:rPr>
              <a:t>1. 为何用1x1卷积？消除通道数差异(C2=256, C4=1024, C5=2048)，统一到256维</a:t>
            </a:r>
            <a:endParaRPr lang="en-US" sz="1000" dirty="0"/>
          </a:p>
          <a:p>
            <a:pPr indent="0" marL="0">
              <a:buNone/>
            </a:pPr>
            <a:r>
              <a:rPr lang="en-US" sz="1000" dirty="0">
                <a:solidFill>
                  <a:srgbClr val="333333"/>
                </a:solidFill>
              </a:rPr>
              <a:t>2. 为何逐元素相加？通道已对齐，相加比拼接更轻量且效果相当</a:t>
            </a:r>
            <a:endParaRPr lang="en-US" sz="1000" dirty="0"/>
          </a:p>
          <a:p>
            <a:pPr indent="0" marL="0">
              <a:buNone/>
            </a:pPr>
            <a:r>
              <a:rPr lang="en-US" sz="1000" dirty="0">
                <a:solidFill>
                  <a:srgbClr val="333333"/>
                </a:solidFill>
              </a:rPr>
              <a:t>3. 为何最近邻上采样？简单高效，避免转置卷积的棋盘格效应</a:t>
            </a:r>
            <a:endParaRPr lang="en-US" sz="1000" dirty="0"/>
          </a:p>
        </p:txBody>
      </p:sp>
      <p:sp>
        <p:nvSpPr>
          <p:cNvPr id="16" name="Shape 13"/>
          <p:cNvSpPr/>
          <p:nvPr/>
        </p:nvSpPr>
        <p:spPr>
          <a:xfrm>
            <a:off x="457200" y="3703320"/>
            <a:ext cx="8229600" cy="914400"/>
          </a:xfrm>
          <a:prstGeom prst="roundRect">
            <a:avLst>
              <a:gd name="adj" fmla="val 10000"/>
            </a:avLst>
          </a:prstGeom>
          <a:solidFill>
            <a:srgbClr val="FFF8E1"/>
          </a:solidFill>
          <a:ln/>
          <a:effectLst>
            <a:outerShdw sx="100000" sy="100000" kx="0" ky="0" algn="bl" rotWithShape="0" blurRad="152400" dist="50800" dir="8100000">
              <a:srgbClr val="000000">
                <a:alpha val="28000"/>
              </a:srgbClr>
            </a:outerShdw>
          </a:effectLst>
        </p:spPr>
      </p:sp>
      <p:sp>
        <p:nvSpPr>
          <p:cNvPr id="17" name="Text 14"/>
          <p:cNvSpPr/>
          <p:nvPr/>
        </p:nvSpPr>
        <p:spPr>
          <a:xfrm>
            <a:off x="640080" y="3840480"/>
            <a:ext cx="7863840" cy="640080"/>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FPN输出: P2(1/4) -&gt; P3(1/8) -&gt; P4(1/16) -&gt; P5(1/32) -&gt; P6(1/64)，所有层统一256通道</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713232"/>
          </a:xfrm>
          <a:prstGeom prst="rect">
            <a:avLst/>
          </a:prstGeom>
          <a:solidFill>
            <a:srgbClr val="2C5F2D"/>
          </a:solidFill>
          <a:ln/>
        </p:spPr>
      </p:sp>
      <p:sp>
        <p:nvSpPr>
          <p:cNvPr id="4" name="Shape 1"/>
          <p:cNvSpPr/>
          <p:nvPr/>
        </p:nvSpPr>
        <p:spPr>
          <a:xfrm>
            <a:off x="0" y="713232"/>
            <a:ext cx="9144000" cy="27432"/>
          </a:xfrm>
          <a:prstGeom prst="rect">
            <a:avLst/>
          </a:prstGeom>
          <a:solidFill>
            <a:srgbClr val="D4A843"/>
          </a:solidFill>
          <a:ln/>
        </p:spPr>
      </p:sp>
      <p:sp>
        <p:nvSpPr>
          <p:cNvPr id="5" name="Text 2"/>
          <p:cNvSpPr/>
          <p:nvPr/>
        </p:nvSpPr>
        <p:spPr>
          <a:xfrm>
            <a:off x="457200" y="45720"/>
            <a:ext cx="8229600" cy="438912"/>
          </a:xfrm>
          <a:prstGeom prst="rect">
            <a:avLst/>
          </a:prstGeom>
          <a:noFill/>
          <a:ln/>
        </p:spPr>
        <p:txBody>
          <a:bodyPr wrap="square" rtlCol="0" anchor="b">
            <a:normAutofit/>
          </a:bodyPr>
          <a:lstStyle/>
          <a:p>
            <a:pPr indent="0" marL="0">
              <a:buNone/>
            </a:pPr>
            <a:r>
              <a:rPr lang="en-US" sz="2200" b="1" spc="150" kern="0" dirty="0">
                <a:solidFill>
                  <a:srgbClr val="FFFFFF"/>
                </a:solidFill>
                <a:latin typeface="Georgia" pitchFamily="34" charset="0"/>
                <a:ea typeface="Georgia" pitchFamily="34" charset="-122"/>
                <a:cs typeface="Georgia" pitchFamily="34" charset="-120"/>
              </a:rPr>
              <a:t>FPN架构图解</a:t>
            </a:r>
            <a:endParaRPr lang="en-US" sz="2200" dirty="0"/>
          </a:p>
        </p:txBody>
      </p:sp>
      <p:sp>
        <p:nvSpPr>
          <p:cNvPr id="6" name="Text 3"/>
          <p:cNvSpPr/>
          <p:nvPr/>
        </p:nvSpPr>
        <p:spPr>
          <a:xfrm>
            <a:off x="457200" y="502920"/>
            <a:ext cx="8229600" cy="201168"/>
          </a:xfrm>
          <a:prstGeom prst="rect">
            <a:avLst/>
          </a:prstGeom>
          <a:noFill/>
          <a:ln/>
        </p:spPr>
        <p:txBody>
          <a:bodyPr wrap="square" rtlCol="0" anchor="ctr">
            <a:normAutofit/>
          </a:bodyPr>
          <a:lstStyle/>
          <a:p>
            <a:pPr indent="0" marL="0">
              <a:buNone/>
            </a:pPr>
            <a:r>
              <a:rPr lang="en-US" sz="1000" spc="50" kern="0" dirty="0">
                <a:solidFill>
                  <a:srgbClr val="E8F5E9"/>
                </a:solidFill>
                <a:latin typeface="Calibri" pitchFamily="34" charset="0"/>
                <a:ea typeface="Calibri" pitchFamily="34" charset="-122"/>
                <a:cs typeface="Calibri" pitchFamily="34" charset="-120"/>
              </a:rPr>
              <a:t>特征金字塔网络完整结构</a:t>
            </a:r>
            <a:endParaRPr lang="en-US" sz="1000" dirty="0"/>
          </a:p>
        </p:txBody>
      </p:sp>
      <p:sp>
        <p:nvSpPr>
          <p:cNvPr id="7" name="Shape 4"/>
          <p:cNvSpPr/>
          <p:nvPr/>
        </p:nvSpPr>
        <p:spPr>
          <a:xfrm>
            <a:off x="0" y="4869180"/>
            <a:ext cx="9144000" cy="274320"/>
          </a:xfrm>
          <a:prstGeom prst="rect">
            <a:avLst/>
          </a:prstGeom>
          <a:solidFill>
            <a:srgbClr val="2C5F2D"/>
          </a:solidFill>
          <a:ln/>
        </p:spPr>
      </p:sp>
      <p:sp>
        <p:nvSpPr>
          <p:cNvPr id="8" name="Text 5"/>
          <p:cNvSpPr/>
          <p:nvPr/>
        </p:nvSpPr>
        <p:spPr>
          <a:xfrm>
            <a:off x="457200" y="4869180"/>
            <a:ext cx="3657600" cy="274320"/>
          </a:xfrm>
          <a:prstGeom prst="rect">
            <a:avLst/>
          </a:prstGeom>
          <a:noFill/>
          <a:ln/>
        </p:spPr>
        <p:txBody>
          <a:bodyPr wrap="square" rtlCol="0" anchor="ctr">
            <a:normAutofit/>
          </a:bodyPr>
          <a:lstStyle/>
          <a:p>
            <a:pPr indent="0" marL="0">
              <a:buNone/>
            </a:pPr>
            <a:r>
              <a:rPr lang="en-US" sz="800" dirty="0">
                <a:solidFill>
                  <a:srgbClr val="97BC62"/>
                </a:solidFill>
                <a:latin typeface="Calibri" pitchFamily="34" charset="0"/>
                <a:ea typeface="Calibri" pitchFamily="34" charset="-122"/>
                <a:cs typeface="Calibri" pitchFamily="34" charset="-120"/>
              </a:rPr>
              <a:t>CV 100 Days | Day 39</a:t>
            </a:r>
            <a:endParaRPr lang="en-US" sz="800" dirty="0"/>
          </a:p>
        </p:txBody>
      </p:sp>
      <p:sp>
        <p:nvSpPr>
          <p:cNvPr id="9" name="Text 6"/>
          <p:cNvSpPr/>
          <p:nvPr/>
        </p:nvSpPr>
        <p:spPr>
          <a:xfrm>
            <a:off x="7315200" y="4869180"/>
            <a:ext cx="1371600" cy="274320"/>
          </a:xfrm>
          <a:prstGeom prst="rect">
            <a:avLst/>
          </a:prstGeom>
          <a:noFill/>
          <a:ln/>
        </p:spPr>
        <p:txBody>
          <a:bodyPr wrap="square" rtlCol="0" anchor="ctr">
            <a:normAutofit/>
          </a:bodyPr>
          <a:lstStyle/>
          <a:p>
            <a:pPr algn="r" indent="0" marL="0">
              <a:buNone/>
            </a:pPr>
            <a:r>
              <a:rPr lang="en-US" sz="800" dirty="0">
                <a:solidFill>
                  <a:srgbClr val="97BC62"/>
                </a:solidFill>
                <a:latin typeface="Calibri" pitchFamily="34" charset="0"/>
                <a:ea typeface="Calibri" pitchFamily="34" charset="-122"/>
                <a:cs typeface="Calibri" pitchFamily="34" charset="-120"/>
              </a:rPr>
              <a:t>12 / 20</a:t>
            </a:r>
            <a:endParaRPr lang="en-US" sz="800" dirty="0"/>
          </a:p>
        </p:txBody>
      </p:sp>
      <p:pic>
        <p:nvPicPr>
          <p:cNvPr id="10" name="Image 0" descr="/workspace/cv_learning/ppt/img-fpn-arch_4x3.jpg">    </p:cNvPr>
          <p:cNvPicPr>
            <a:picLocks noChangeAspect="1"/>
          </p:cNvPicPr>
          <p:nvPr/>
        </p:nvPicPr>
        <p:blipFill>
          <a:blip r:embed="rId1"/>
          <a:srcRect l="0" r="0" t="0" b="0"/>
          <a:stretch/>
        </p:blipFill>
        <p:spPr>
          <a:xfrm>
            <a:off x="2743200" y="914400"/>
            <a:ext cx="3657600" cy="2743200"/>
          </a:xfrm>
          <a:prstGeom prst="rect">
            <a:avLst/>
          </a:prstGeom>
        </p:spPr>
      </p:pic>
      <p:sp>
        <p:nvSpPr>
          <p:cNvPr id="11" name="Text 7"/>
          <p:cNvSpPr/>
          <p:nvPr/>
        </p:nvSpPr>
        <p:spPr>
          <a:xfrm>
            <a:off x="457200" y="1325880"/>
            <a:ext cx="2011680" cy="640080"/>
          </a:xfrm>
          <a:prstGeom prst="rect">
            <a:avLst/>
          </a:prstGeom>
          <a:noFill/>
          <a:ln/>
        </p:spPr>
        <p:txBody>
          <a:bodyPr wrap="square" rtlCol="0" anchor="ctr">
            <a:normAutofit/>
          </a:bodyPr>
          <a:lstStyle/>
          <a:p>
            <a:pPr algn="r" indent="0" marL="0">
              <a:buNone/>
            </a:pPr>
            <a:r>
              <a:rPr lang="en-US" sz="1000" dirty="0">
                <a:solidFill>
                  <a:srgbClr val="2C5F2D"/>
                </a:solidFill>
                <a:latin typeface="Calibri" pitchFamily="34" charset="0"/>
                <a:ea typeface="Calibri" pitchFamily="34" charset="-122"/>
                <a:cs typeface="Calibri" pitchFamily="34" charset="-120"/>
              </a:rPr>
              <a:t>自底向上</a:t>
            </a:r>
            <a:endParaRPr lang="en-US" sz="1000" dirty="0"/>
          </a:p>
          <a:p>
            <a:pPr algn="r" indent="0" marL="0">
              <a:buNone/>
            </a:pPr>
            <a:r>
              <a:rPr lang="en-US" sz="1000" dirty="0">
                <a:solidFill>
                  <a:srgbClr val="2C5F2D"/>
                </a:solidFill>
                <a:latin typeface="Calibri" pitchFamily="34" charset="0"/>
                <a:ea typeface="Calibri" pitchFamily="34" charset="-122"/>
                <a:cs typeface="Calibri" pitchFamily="34" charset="-120"/>
              </a:rPr>
              <a:t>(Backbone)</a:t>
            </a:r>
            <a:endParaRPr lang="en-US" sz="1000" dirty="0"/>
          </a:p>
        </p:txBody>
      </p:sp>
      <p:sp>
        <p:nvSpPr>
          <p:cNvPr id="12" name="Text 8"/>
          <p:cNvSpPr/>
          <p:nvPr/>
        </p:nvSpPr>
        <p:spPr>
          <a:xfrm>
            <a:off x="6675120" y="1325880"/>
            <a:ext cx="2011680" cy="640080"/>
          </a:xfrm>
          <a:prstGeom prst="rect">
            <a:avLst/>
          </a:prstGeom>
          <a:noFill/>
          <a:ln/>
        </p:spPr>
        <p:txBody>
          <a:bodyPr wrap="square" rtlCol="0" anchor="ctr">
            <a:normAutofit/>
          </a:bodyPr>
          <a:lstStyle/>
          <a:p>
            <a:pPr algn="l" indent="0" marL="0">
              <a:buNone/>
            </a:pPr>
            <a:r>
              <a:rPr lang="en-US" sz="1000" dirty="0">
                <a:solidFill>
                  <a:srgbClr val="D4A843"/>
                </a:solidFill>
                <a:latin typeface="Calibri" pitchFamily="34" charset="0"/>
                <a:ea typeface="Calibri" pitchFamily="34" charset="-122"/>
                <a:cs typeface="Calibri" pitchFamily="34" charset="-120"/>
              </a:rPr>
              <a:t>自顶向下</a:t>
            </a:r>
            <a:endParaRPr lang="en-US" sz="1000" dirty="0"/>
          </a:p>
          <a:p>
            <a:pPr algn="l" indent="0" marL="0">
              <a:buNone/>
            </a:pPr>
            <a:r>
              <a:rPr lang="en-US" sz="1000" dirty="0">
                <a:solidFill>
                  <a:srgbClr val="D4A843"/>
                </a:solidFill>
                <a:latin typeface="Calibri" pitchFamily="34" charset="0"/>
                <a:ea typeface="Calibri" pitchFamily="34" charset="-122"/>
                <a:cs typeface="Calibri" pitchFamily="34" charset="-120"/>
              </a:rPr>
              <a:t>(Upsample)</a:t>
            </a:r>
            <a:endParaRPr lang="en-US" sz="1000" dirty="0"/>
          </a:p>
        </p:txBody>
      </p:sp>
      <p:sp>
        <p:nvSpPr>
          <p:cNvPr id="13" name="Text 9"/>
          <p:cNvSpPr/>
          <p:nvPr/>
        </p:nvSpPr>
        <p:spPr>
          <a:xfrm>
            <a:off x="457200" y="2240280"/>
            <a:ext cx="2011680" cy="640080"/>
          </a:xfrm>
          <a:prstGeom prst="rect">
            <a:avLst/>
          </a:prstGeom>
          <a:noFill/>
          <a:ln/>
        </p:spPr>
        <p:txBody>
          <a:bodyPr wrap="square" rtlCol="0" anchor="ctr">
            <a:normAutofit/>
          </a:bodyPr>
          <a:lstStyle/>
          <a:p>
            <a:pPr algn="r" indent="0" marL="0">
              <a:buNone/>
            </a:pPr>
            <a:r>
              <a:rPr lang="en-US" sz="1000" dirty="0">
                <a:solidFill>
                  <a:srgbClr val="97BC62"/>
                </a:solidFill>
                <a:latin typeface="Calibri" pitchFamily="34" charset="0"/>
                <a:ea typeface="Calibri" pitchFamily="34" charset="-122"/>
                <a:cs typeface="Calibri" pitchFamily="34" charset="-120"/>
              </a:rPr>
              <a:t>横向连接</a:t>
            </a:r>
            <a:endParaRPr lang="en-US" sz="1000" dirty="0"/>
          </a:p>
          <a:p>
            <a:pPr algn="r" indent="0" marL="0">
              <a:buNone/>
            </a:pPr>
            <a:r>
              <a:rPr lang="en-US" sz="1000" dirty="0">
                <a:solidFill>
                  <a:srgbClr val="97BC62"/>
                </a:solidFill>
                <a:latin typeface="Calibri" pitchFamily="34" charset="0"/>
                <a:ea typeface="Calibri" pitchFamily="34" charset="-122"/>
                <a:cs typeface="Calibri" pitchFamily="34" charset="-120"/>
              </a:rPr>
              <a:t>(1x1+Add)</a:t>
            </a:r>
            <a:endParaRPr lang="en-US" sz="1000" dirty="0"/>
          </a:p>
        </p:txBody>
      </p:sp>
      <p:sp>
        <p:nvSpPr>
          <p:cNvPr id="14" name="Text 10"/>
          <p:cNvSpPr/>
          <p:nvPr/>
        </p:nvSpPr>
        <p:spPr>
          <a:xfrm>
            <a:off x="6675120" y="2240280"/>
            <a:ext cx="2011680" cy="640080"/>
          </a:xfrm>
          <a:prstGeom prst="rect">
            <a:avLst/>
          </a:prstGeom>
          <a:noFill/>
          <a:ln/>
        </p:spPr>
        <p:txBody>
          <a:bodyPr wrap="square" rtlCol="0" anchor="ctr">
            <a:normAutofit/>
          </a:bodyPr>
          <a:lstStyle/>
          <a:p>
            <a:pPr algn="l" indent="0" marL="0">
              <a:buNone/>
            </a:pPr>
            <a:r>
              <a:rPr lang="en-US" sz="1000" dirty="0">
                <a:solidFill>
                  <a:srgbClr val="333333"/>
                </a:solidFill>
                <a:latin typeface="Calibri" pitchFamily="34" charset="0"/>
                <a:ea typeface="Calibri" pitchFamily="34" charset="-122"/>
                <a:cs typeface="Calibri" pitchFamily="34" charset="-120"/>
              </a:rPr>
              <a:t>检测头</a:t>
            </a:r>
            <a:endParaRPr lang="en-US" sz="1000" dirty="0"/>
          </a:p>
          <a:p>
            <a:pPr algn="l" indent="0" marL="0">
              <a:buNone/>
            </a:pPr>
            <a:r>
              <a:rPr lang="en-US" sz="1000" dirty="0">
                <a:solidFill>
                  <a:srgbClr val="333333"/>
                </a:solidFill>
                <a:latin typeface="Calibri" pitchFamily="34" charset="0"/>
                <a:ea typeface="Calibri" pitchFamily="34" charset="-122"/>
                <a:cs typeface="Calibri" pitchFamily="34" charset="-120"/>
              </a:rPr>
              <a:t>(RPN/Retina)</a:t>
            </a:r>
            <a:endParaRPr lang="en-US" sz="1000" dirty="0"/>
          </a:p>
        </p:txBody>
      </p:sp>
      <p:sp>
        <p:nvSpPr>
          <p:cNvPr id="15" name="Text 11"/>
          <p:cNvSpPr/>
          <p:nvPr/>
        </p:nvSpPr>
        <p:spPr>
          <a:xfrm>
            <a:off x="457200" y="3794760"/>
            <a:ext cx="8229600" cy="320040"/>
          </a:xfrm>
          <a:prstGeom prst="rect">
            <a:avLst/>
          </a:prstGeom>
          <a:noFill/>
          <a:ln/>
        </p:spPr>
        <p:txBody>
          <a:bodyPr wrap="square" rtlCol="0" anchor="ctr">
            <a:normAutofit/>
          </a:bodyPr>
          <a:lstStyle/>
          <a:p>
            <a:pPr indent="0" marL="0">
              <a:buNone/>
            </a:pPr>
            <a:r>
              <a:rPr lang="en-US" sz="1000" i="1" dirty="0">
                <a:solidFill>
                  <a:srgbClr val="666666"/>
                </a:solidFill>
                <a:latin typeface="Calibri" pitchFamily="34" charset="0"/>
                <a:ea typeface="Calibri" pitchFamily="34" charset="-122"/>
                <a:cs typeface="Calibri" pitchFamily="34" charset="-120"/>
              </a:rPr>
              <a:t>FPN可与Faster R-CNN或RetinaNet等检测器无缝集成，在所有金字塔层级上独立检测</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713232"/>
          </a:xfrm>
          <a:prstGeom prst="rect">
            <a:avLst/>
          </a:prstGeom>
          <a:solidFill>
            <a:srgbClr val="2C5F2D"/>
          </a:solidFill>
          <a:ln/>
        </p:spPr>
      </p:sp>
      <p:sp>
        <p:nvSpPr>
          <p:cNvPr id="4" name="Shape 1"/>
          <p:cNvSpPr/>
          <p:nvPr/>
        </p:nvSpPr>
        <p:spPr>
          <a:xfrm>
            <a:off x="0" y="713232"/>
            <a:ext cx="9144000" cy="27432"/>
          </a:xfrm>
          <a:prstGeom prst="rect">
            <a:avLst/>
          </a:prstGeom>
          <a:solidFill>
            <a:srgbClr val="D4A843"/>
          </a:solidFill>
          <a:ln/>
        </p:spPr>
      </p:sp>
      <p:sp>
        <p:nvSpPr>
          <p:cNvPr id="5" name="Text 2"/>
          <p:cNvSpPr/>
          <p:nvPr/>
        </p:nvSpPr>
        <p:spPr>
          <a:xfrm>
            <a:off x="457200" y="45720"/>
            <a:ext cx="8229600" cy="438912"/>
          </a:xfrm>
          <a:prstGeom prst="rect">
            <a:avLst/>
          </a:prstGeom>
          <a:noFill/>
          <a:ln/>
        </p:spPr>
        <p:txBody>
          <a:bodyPr wrap="square" rtlCol="0" anchor="b">
            <a:normAutofit/>
          </a:bodyPr>
          <a:lstStyle/>
          <a:p>
            <a:pPr indent="0" marL="0">
              <a:buNone/>
            </a:pPr>
            <a:r>
              <a:rPr lang="en-US" sz="2200" b="1" spc="150" kern="0" dirty="0">
                <a:solidFill>
                  <a:srgbClr val="FFFFFF"/>
                </a:solidFill>
                <a:latin typeface="Georgia" pitchFamily="34" charset="0"/>
                <a:ea typeface="Georgia" pitchFamily="34" charset="-122"/>
                <a:cs typeface="Georgia" pitchFamily="34" charset="-120"/>
              </a:rPr>
              <a:t>SSD vs FPN 对比</a:t>
            </a:r>
            <a:endParaRPr lang="en-US" sz="2200" dirty="0"/>
          </a:p>
        </p:txBody>
      </p:sp>
      <p:sp>
        <p:nvSpPr>
          <p:cNvPr id="6" name="Text 3"/>
          <p:cNvSpPr/>
          <p:nvPr/>
        </p:nvSpPr>
        <p:spPr>
          <a:xfrm>
            <a:off x="457200" y="502920"/>
            <a:ext cx="8229600" cy="201168"/>
          </a:xfrm>
          <a:prstGeom prst="rect">
            <a:avLst/>
          </a:prstGeom>
          <a:noFill/>
          <a:ln/>
        </p:spPr>
        <p:txBody>
          <a:bodyPr wrap="square" rtlCol="0" anchor="ctr">
            <a:normAutofit/>
          </a:bodyPr>
          <a:lstStyle/>
          <a:p>
            <a:pPr indent="0" marL="0">
              <a:buNone/>
            </a:pPr>
            <a:r>
              <a:rPr lang="en-US" sz="1000" spc="50" kern="0" dirty="0">
                <a:solidFill>
                  <a:srgbClr val="E8F5E9"/>
                </a:solidFill>
                <a:latin typeface="Calibri" pitchFamily="34" charset="0"/>
                <a:ea typeface="Calibri" pitchFamily="34" charset="-122"/>
                <a:cs typeface="Calibri" pitchFamily="34" charset="-120"/>
              </a:rPr>
              <a:t>六维度全面对比分析</a:t>
            </a:r>
            <a:endParaRPr lang="en-US" sz="1000" dirty="0"/>
          </a:p>
        </p:txBody>
      </p:sp>
      <p:sp>
        <p:nvSpPr>
          <p:cNvPr id="7" name="Shape 4"/>
          <p:cNvSpPr/>
          <p:nvPr/>
        </p:nvSpPr>
        <p:spPr>
          <a:xfrm>
            <a:off x="0" y="4869180"/>
            <a:ext cx="9144000" cy="274320"/>
          </a:xfrm>
          <a:prstGeom prst="rect">
            <a:avLst/>
          </a:prstGeom>
          <a:solidFill>
            <a:srgbClr val="2C5F2D"/>
          </a:solidFill>
          <a:ln/>
        </p:spPr>
      </p:sp>
      <p:sp>
        <p:nvSpPr>
          <p:cNvPr id="8" name="Text 5"/>
          <p:cNvSpPr/>
          <p:nvPr/>
        </p:nvSpPr>
        <p:spPr>
          <a:xfrm>
            <a:off x="457200" y="4869180"/>
            <a:ext cx="3657600" cy="274320"/>
          </a:xfrm>
          <a:prstGeom prst="rect">
            <a:avLst/>
          </a:prstGeom>
          <a:noFill/>
          <a:ln/>
        </p:spPr>
        <p:txBody>
          <a:bodyPr wrap="square" rtlCol="0" anchor="ctr">
            <a:normAutofit/>
          </a:bodyPr>
          <a:lstStyle/>
          <a:p>
            <a:pPr indent="0" marL="0">
              <a:buNone/>
            </a:pPr>
            <a:r>
              <a:rPr lang="en-US" sz="800" dirty="0">
                <a:solidFill>
                  <a:srgbClr val="97BC62"/>
                </a:solidFill>
                <a:latin typeface="Calibri" pitchFamily="34" charset="0"/>
                <a:ea typeface="Calibri" pitchFamily="34" charset="-122"/>
                <a:cs typeface="Calibri" pitchFamily="34" charset="-120"/>
              </a:rPr>
              <a:t>CV 100 Days | Day 39</a:t>
            </a:r>
            <a:endParaRPr lang="en-US" sz="800" dirty="0"/>
          </a:p>
        </p:txBody>
      </p:sp>
      <p:sp>
        <p:nvSpPr>
          <p:cNvPr id="9" name="Text 6"/>
          <p:cNvSpPr/>
          <p:nvPr/>
        </p:nvSpPr>
        <p:spPr>
          <a:xfrm>
            <a:off x="7315200" y="4869180"/>
            <a:ext cx="1371600" cy="274320"/>
          </a:xfrm>
          <a:prstGeom prst="rect">
            <a:avLst/>
          </a:prstGeom>
          <a:noFill/>
          <a:ln/>
        </p:spPr>
        <p:txBody>
          <a:bodyPr wrap="square" rtlCol="0" anchor="ctr">
            <a:normAutofit/>
          </a:bodyPr>
          <a:lstStyle/>
          <a:p>
            <a:pPr algn="r" indent="0" marL="0">
              <a:buNone/>
            </a:pPr>
            <a:r>
              <a:rPr lang="en-US" sz="800" dirty="0">
                <a:solidFill>
                  <a:srgbClr val="97BC62"/>
                </a:solidFill>
                <a:latin typeface="Calibri" pitchFamily="34" charset="0"/>
                <a:ea typeface="Calibri" pitchFamily="34" charset="-122"/>
                <a:cs typeface="Calibri" pitchFamily="34" charset="-120"/>
              </a:rPr>
              <a:t>13 / 20</a:t>
            </a:r>
            <a:endParaRPr lang="en-US" sz="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914400"/>
        </p:xfrm>
        <a:graphic>
          <a:graphicData uri="http://schemas.openxmlformats.org/drawingml/2006/table">
            <a:tbl>
              <a:tblPr/>
              <a:tblGrid>
                <a:gridCol w="1645920"/>
                <a:gridCol w="3291840"/>
                <a:gridCol w="3291840"/>
              </a:tblGrid>
              <a:tr h="292608">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维度</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5F2D"/>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SSD</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5F2D"/>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FPN</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5F2D"/>
                    </a:solidFill>
                  </a:tcPr>
                </a:tc>
              </a:tr>
              <a:tr h="475488">
                <a:tc>
                  <a:txBody>
                    <a:bodyPr/>
                    <a:lstStyle/>
                    <a:p>
                      <a:pPr algn="ctr" indent="0" marL="0">
                        <a:buNone/>
                      </a:pPr>
                      <a:r>
                        <a:rPr lang="en-US" sz="900" b="1" dirty="0">
                          <a:solidFill>
                            <a:srgbClr val="333333"/>
                          </a:solidFill>
                          <a:latin typeface="Calibri" pitchFamily="34" charset="0"/>
                          <a:ea typeface="Calibri" pitchFamily="34" charset="-122"/>
                          <a:cs typeface="Calibri" pitchFamily="34" charset="-120"/>
                        </a:rPr>
                        <a:t>多尺度策略</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不同层级原始特征图</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增强型特征金字塔</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r>
              <a:tr h="475488">
                <a:tc>
                  <a:txBody>
                    <a:bodyPr/>
                    <a:lstStyle/>
                    <a:p>
                      <a:pPr algn="ctr" indent="0" marL="0">
                        <a:buNone/>
                      </a:pPr>
                      <a:r>
                        <a:rPr lang="en-US" sz="900" b="1" dirty="0">
                          <a:solidFill>
                            <a:srgbClr val="333333"/>
                          </a:solidFill>
                          <a:latin typeface="Calibri" pitchFamily="34" charset="0"/>
                          <a:ea typeface="Calibri" pitchFamily="34" charset="-122"/>
                          <a:cs typeface="Calibri" pitchFamily="34" charset="-120"/>
                        </a:rPr>
                        <a:t>特征融合</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无融合，各层独立</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自顶向下+横向连接</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r>
              <a:tr h="411480">
                <a:tc>
                  <a:txBody>
                    <a:bodyPr/>
                    <a:lstStyle/>
                    <a:p>
                      <a:pPr algn="ctr" indent="0" marL="0">
                        <a:buNone/>
                      </a:pPr>
                      <a:r>
                        <a:rPr lang="en-US" sz="900" b="1" dirty="0">
                          <a:solidFill>
                            <a:srgbClr val="333333"/>
                          </a:solidFill>
                          <a:latin typeface="Calibri" pitchFamily="34" charset="0"/>
                          <a:ea typeface="Calibri" pitchFamily="34" charset="-122"/>
                          <a:cs typeface="Calibri" pitchFamily="34" charset="-120"/>
                        </a:rPr>
                        <a:t>检测方式</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单阶段端到端</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可结合单/两阶段</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r>
              <a:tr h="411480">
                <a:tc>
                  <a:txBody>
                    <a:bodyPr/>
                    <a:lstStyle/>
                    <a:p>
                      <a:pPr algn="ctr" indent="0" marL="0">
                        <a:buNone/>
                      </a:pPr>
                      <a:r>
                        <a:rPr lang="en-US" sz="900" b="1" dirty="0">
                          <a:solidFill>
                            <a:srgbClr val="333333"/>
                          </a:solidFill>
                          <a:latin typeface="Calibri" pitchFamily="34" charset="0"/>
                          <a:ea typeface="Calibri" pitchFamily="34" charset="-122"/>
                          <a:cs typeface="Calibri" pitchFamily="34" charset="-120"/>
                        </a:rPr>
                        <a:t>小目标性能</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一般(语义弱)</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优秀(语义增强)</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r>
              <a:tr h="411480">
                <a:tc>
                  <a:txBody>
                    <a:bodyPr/>
                    <a:lstStyle/>
                    <a:p>
                      <a:pPr algn="ctr" indent="0" marL="0">
                        <a:buNone/>
                      </a:pPr>
                      <a:r>
                        <a:rPr lang="en-US" sz="900" b="1" dirty="0">
                          <a:solidFill>
                            <a:srgbClr val="333333"/>
                          </a:solidFill>
                          <a:latin typeface="Calibri" pitchFamily="34" charset="0"/>
                          <a:ea typeface="Calibri" pitchFamily="34" charset="-122"/>
                          <a:cs typeface="Calibri" pitchFamily="34" charset="-120"/>
                        </a:rPr>
                        <a:t>计算开销</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低(VGG16)</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中等(需上采样+卷积)</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r>
              <a:tr h="411480">
                <a:tc>
                  <a:txBody>
                    <a:bodyPr/>
                    <a:lstStyle/>
                    <a:p>
                      <a:pPr algn="ctr" indent="0" marL="0">
                        <a:buNone/>
                      </a:pPr>
                      <a:r>
                        <a:rPr lang="en-US" sz="900" b="1" dirty="0">
                          <a:solidFill>
                            <a:srgbClr val="333333"/>
                          </a:solidFill>
                          <a:latin typeface="Calibri" pitchFamily="34" charset="0"/>
                          <a:ea typeface="Calibri" pitchFamily="34" charset="-122"/>
                          <a:cs typeface="Calibri" pitchFamily="34" charset="-120"/>
                        </a:rPr>
                        <a:t>灵活性</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固定架构</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通用组件</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713232"/>
          </a:xfrm>
          <a:prstGeom prst="rect">
            <a:avLst/>
          </a:prstGeom>
          <a:solidFill>
            <a:srgbClr val="2C5F2D"/>
          </a:solidFill>
          <a:ln/>
        </p:spPr>
      </p:sp>
      <p:sp>
        <p:nvSpPr>
          <p:cNvPr id="4" name="Shape 1"/>
          <p:cNvSpPr/>
          <p:nvPr/>
        </p:nvSpPr>
        <p:spPr>
          <a:xfrm>
            <a:off x="0" y="713232"/>
            <a:ext cx="9144000" cy="27432"/>
          </a:xfrm>
          <a:prstGeom prst="rect">
            <a:avLst/>
          </a:prstGeom>
          <a:solidFill>
            <a:srgbClr val="D4A843"/>
          </a:solidFill>
          <a:ln/>
        </p:spPr>
      </p:sp>
      <p:sp>
        <p:nvSpPr>
          <p:cNvPr id="5" name="Text 2"/>
          <p:cNvSpPr/>
          <p:nvPr/>
        </p:nvSpPr>
        <p:spPr>
          <a:xfrm>
            <a:off x="457200" y="45720"/>
            <a:ext cx="8229600" cy="438912"/>
          </a:xfrm>
          <a:prstGeom prst="rect">
            <a:avLst/>
          </a:prstGeom>
          <a:noFill/>
          <a:ln/>
        </p:spPr>
        <p:txBody>
          <a:bodyPr wrap="square" rtlCol="0" anchor="b">
            <a:normAutofit/>
          </a:bodyPr>
          <a:lstStyle/>
          <a:p>
            <a:pPr indent="0" marL="0">
              <a:buNone/>
            </a:pPr>
            <a:r>
              <a:rPr lang="en-US" sz="2200" b="1" spc="150" kern="0" dirty="0">
                <a:solidFill>
                  <a:srgbClr val="FFFFFF"/>
                </a:solidFill>
                <a:latin typeface="Georgia" pitchFamily="34" charset="0"/>
                <a:ea typeface="Georgia" pitchFamily="34" charset="-122"/>
                <a:cs typeface="Georgia" pitchFamily="34" charset="-120"/>
              </a:rPr>
              <a:t>RetinaNet与Focal Loss</a:t>
            </a:r>
            <a:endParaRPr lang="en-US" sz="2200" dirty="0"/>
          </a:p>
        </p:txBody>
      </p:sp>
      <p:sp>
        <p:nvSpPr>
          <p:cNvPr id="6" name="Text 3"/>
          <p:cNvSpPr/>
          <p:nvPr/>
        </p:nvSpPr>
        <p:spPr>
          <a:xfrm>
            <a:off x="457200" y="502920"/>
            <a:ext cx="8229600" cy="201168"/>
          </a:xfrm>
          <a:prstGeom prst="rect">
            <a:avLst/>
          </a:prstGeom>
          <a:noFill/>
          <a:ln/>
        </p:spPr>
        <p:txBody>
          <a:bodyPr wrap="square" rtlCol="0" anchor="ctr">
            <a:normAutofit/>
          </a:bodyPr>
          <a:lstStyle/>
          <a:p>
            <a:pPr indent="0" marL="0">
              <a:buNone/>
            </a:pPr>
            <a:r>
              <a:rPr lang="en-US" sz="1000" spc="50" kern="0" dirty="0">
                <a:solidFill>
                  <a:srgbClr val="E8F5E9"/>
                </a:solidFill>
                <a:latin typeface="Calibri" pitchFamily="34" charset="0"/>
                <a:ea typeface="Calibri" pitchFamily="34" charset="-122"/>
                <a:cs typeface="Calibri" pitchFamily="34" charset="-120"/>
              </a:rPr>
              <a:t>类别不平衡问题与解决方案</a:t>
            </a:r>
            <a:endParaRPr lang="en-US" sz="1000" dirty="0"/>
          </a:p>
        </p:txBody>
      </p:sp>
      <p:sp>
        <p:nvSpPr>
          <p:cNvPr id="7" name="Shape 4"/>
          <p:cNvSpPr/>
          <p:nvPr/>
        </p:nvSpPr>
        <p:spPr>
          <a:xfrm>
            <a:off x="0" y="4869180"/>
            <a:ext cx="9144000" cy="274320"/>
          </a:xfrm>
          <a:prstGeom prst="rect">
            <a:avLst/>
          </a:prstGeom>
          <a:solidFill>
            <a:srgbClr val="2C5F2D"/>
          </a:solidFill>
          <a:ln/>
        </p:spPr>
      </p:sp>
      <p:sp>
        <p:nvSpPr>
          <p:cNvPr id="8" name="Text 5"/>
          <p:cNvSpPr/>
          <p:nvPr/>
        </p:nvSpPr>
        <p:spPr>
          <a:xfrm>
            <a:off x="457200" y="4869180"/>
            <a:ext cx="3657600" cy="274320"/>
          </a:xfrm>
          <a:prstGeom prst="rect">
            <a:avLst/>
          </a:prstGeom>
          <a:noFill/>
          <a:ln/>
        </p:spPr>
        <p:txBody>
          <a:bodyPr wrap="square" rtlCol="0" anchor="ctr">
            <a:normAutofit/>
          </a:bodyPr>
          <a:lstStyle/>
          <a:p>
            <a:pPr indent="0" marL="0">
              <a:buNone/>
            </a:pPr>
            <a:r>
              <a:rPr lang="en-US" sz="800" dirty="0">
                <a:solidFill>
                  <a:srgbClr val="97BC62"/>
                </a:solidFill>
                <a:latin typeface="Calibri" pitchFamily="34" charset="0"/>
                <a:ea typeface="Calibri" pitchFamily="34" charset="-122"/>
                <a:cs typeface="Calibri" pitchFamily="34" charset="-120"/>
              </a:rPr>
              <a:t>CV 100 Days | Day 39</a:t>
            </a:r>
            <a:endParaRPr lang="en-US" sz="800" dirty="0"/>
          </a:p>
        </p:txBody>
      </p:sp>
      <p:sp>
        <p:nvSpPr>
          <p:cNvPr id="9" name="Text 6"/>
          <p:cNvSpPr/>
          <p:nvPr/>
        </p:nvSpPr>
        <p:spPr>
          <a:xfrm>
            <a:off x="7315200" y="4869180"/>
            <a:ext cx="1371600" cy="274320"/>
          </a:xfrm>
          <a:prstGeom prst="rect">
            <a:avLst/>
          </a:prstGeom>
          <a:noFill/>
          <a:ln/>
        </p:spPr>
        <p:txBody>
          <a:bodyPr wrap="square" rtlCol="0" anchor="ctr">
            <a:normAutofit/>
          </a:bodyPr>
          <a:lstStyle/>
          <a:p>
            <a:pPr algn="r" indent="0" marL="0">
              <a:buNone/>
            </a:pPr>
            <a:r>
              <a:rPr lang="en-US" sz="800" dirty="0">
                <a:solidFill>
                  <a:srgbClr val="97BC62"/>
                </a:solidFill>
                <a:latin typeface="Calibri" pitchFamily="34" charset="0"/>
                <a:ea typeface="Calibri" pitchFamily="34" charset="-122"/>
                <a:cs typeface="Calibri" pitchFamily="34" charset="-120"/>
              </a:rPr>
              <a:t>14 / 20</a:t>
            </a:r>
            <a:endParaRPr lang="en-US" sz="800" dirty="0"/>
          </a:p>
        </p:txBody>
      </p:sp>
      <p:pic>
        <p:nvPicPr>
          <p:cNvPr id="10" name="Image 0" descr="/workspace/cv_learning/ppt/img-focal-loss_4x3.jpg">    </p:cNvPr>
          <p:cNvPicPr>
            <a:picLocks noChangeAspect="1"/>
          </p:cNvPicPr>
          <p:nvPr/>
        </p:nvPicPr>
        <p:blipFill>
          <a:blip r:embed="rId1"/>
          <a:srcRect l="0" r="0" t="0" b="0"/>
          <a:stretch/>
        </p:blipFill>
        <p:spPr>
          <a:xfrm>
            <a:off x="457200" y="914400"/>
            <a:ext cx="3657600" cy="2743200"/>
          </a:xfrm>
          <a:prstGeom prst="rect">
            <a:avLst/>
          </a:prstGeom>
        </p:spPr>
      </p:pic>
      <p:sp>
        <p:nvSpPr>
          <p:cNvPr id="11" name="Shape 7"/>
          <p:cNvSpPr/>
          <p:nvPr/>
        </p:nvSpPr>
        <p:spPr>
          <a:xfrm>
            <a:off x="4754880" y="914400"/>
            <a:ext cx="4114800" cy="2743200"/>
          </a:xfrm>
          <a:prstGeom prst="roundRect">
            <a:avLst>
              <a:gd name="adj" fmla="val 3333"/>
            </a:avLst>
          </a:prstGeom>
          <a:solidFill>
            <a:srgbClr val="FFFFFF"/>
          </a:solidFill>
          <a:ln/>
          <a:effectLst>
            <a:outerShdw sx="100000" sy="100000" kx="0" ky="0" algn="bl" rotWithShape="0" blurRad="203200" dist="76200" dir="8100000">
              <a:srgbClr val="000000">
                <a:alpha val="32000"/>
              </a:srgbClr>
            </a:outerShdw>
          </a:effectLst>
        </p:spPr>
      </p:sp>
      <p:sp>
        <p:nvSpPr>
          <p:cNvPr id="12" name="Text 8"/>
          <p:cNvSpPr/>
          <p:nvPr/>
        </p:nvSpPr>
        <p:spPr>
          <a:xfrm>
            <a:off x="4892040" y="987552"/>
            <a:ext cx="3840480" cy="256032"/>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类别不平衡问题</a:t>
            </a:r>
            <a:endParaRPr lang="en-US" sz="1300" dirty="0"/>
          </a:p>
        </p:txBody>
      </p:sp>
      <p:sp>
        <p:nvSpPr>
          <p:cNvPr id="13" name="Text 9"/>
          <p:cNvSpPr/>
          <p:nvPr/>
        </p:nvSpPr>
        <p:spPr>
          <a:xfrm>
            <a:off x="4892040" y="1280160"/>
            <a:ext cx="3840480" cy="2286000"/>
          </a:xfrm>
          <a:prstGeom prst="rect">
            <a:avLst/>
          </a:prstGeom>
          <a:noFill/>
          <a:ln/>
        </p:spPr>
        <p:txBody>
          <a:bodyPr wrap="square" rtlCol="0" anchor="ctr"/>
          <a:lstStyle/>
          <a:p>
            <a:pPr indent="0" marL="0">
              <a:buNone/>
            </a:pPr>
            <a:r>
              <a:rPr lang="en-US" sz="1000" b="1" dirty="0">
                <a:solidFill>
                  <a:srgbClr val="D4A843"/>
                </a:solidFill>
              </a:rPr>
              <a:t>问题根源:</a:t>
            </a:r>
            <a:endParaRPr lang="en-US" sz="1000" dirty="0"/>
          </a:p>
          <a:p>
            <a:pPr indent="0" marL="0">
              <a:buNone/>
            </a:pPr>
            <a:r>
              <a:rPr lang="en-US" sz="1000" dirty="0">
                <a:solidFill>
                  <a:srgbClr val="333333"/>
                </a:solidFill>
              </a:rPr>
              <a:t>背景负样本远多于正样本(~1000:1)，交叉熵损失被易分类负样本主导</a:t>
            </a:r>
            <a:endParaRPr lang="en-US" sz="1000" dirty="0"/>
          </a:p>
          <a:p>
            <a:pPr indent="0" marL="0">
              <a:buNone/>
            </a:pPr>
            <a:endParaRPr lang="en-US" sz="1000" dirty="0"/>
          </a:p>
          <a:p>
            <a:pPr indent="0" marL="0">
              <a:buNone/>
            </a:pPr>
            <a:r>
              <a:rPr lang="en-US" sz="1000" b="1" dirty="0">
                <a:solidFill>
                  <a:srgbClr val="D4A843"/>
                </a:solidFill>
              </a:rPr>
              <a:t>Focal Loss:</a:t>
            </a:r>
            <a:endParaRPr lang="en-US" sz="1000" dirty="0"/>
          </a:p>
          <a:p>
            <a:pPr indent="0" marL="0">
              <a:buNone/>
            </a:pPr>
            <a:r>
              <a:rPr lang="en-US" sz="1000" b="1" dirty="0">
                <a:solidFill>
                  <a:srgbClr val="2C5F2D"/>
                </a:solidFill>
              </a:rPr>
              <a:t>FL(p_t) = -alpha(1-p_t)^gamma * log(p_t)</a:t>
            </a:r>
            <a:endParaRPr lang="en-US" sz="1000" dirty="0"/>
          </a:p>
          <a:p>
            <a:pPr indent="0" marL="0">
              <a:buNone/>
            </a:pPr>
            <a:endParaRPr lang="en-US" sz="1000" dirty="0"/>
          </a:p>
          <a:p>
            <a:pPr indent="0" marL="0">
              <a:buNone/>
            </a:pPr>
            <a:r>
              <a:rPr lang="en-US" sz="1000" dirty="0">
                <a:solidFill>
                  <a:srgbClr val="333333"/>
                </a:solidFill>
              </a:rPr>
              <a:t>核心: 调制因子(1-p_t)^gamma降低易分类样本权重。gamma=2时p_t=0.9的损失降低100倍，让模型聚焦难分类样本。</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713232"/>
          </a:xfrm>
          <a:prstGeom prst="rect">
            <a:avLst/>
          </a:prstGeom>
          <a:solidFill>
            <a:srgbClr val="2C5F2D"/>
          </a:solidFill>
          <a:ln/>
        </p:spPr>
      </p:sp>
      <p:sp>
        <p:nvSpPr>
          <p:cNvPr id="4" name="Shape 1"/>
          <p:cNvSpPr/>
          <p:nvPr/>
        </p:nvSpPr>
        <p:spPr>
          <a:xfrm>
            <a:off x="0" y="713232"/>
            <a:ext cx="9144000" cy="27432"/>
          </a:xfrm>
          <a:prstGeom prst="rect">
            <a:avLst/>
          </a:prstGeom>
          <a:solidFill>
            <a:srgbClr val="D4A843"/>
          </a:solidFill>
          <a:ln/>
        </p:spPr>
      </p:sp>
      <p:sp>
        <p:nvSpPr>
          <p:cNvPr id="5" name="Text 2"/>
          <p:cNvSpPr/>
          <p:nvPr/>
        </p:nvSpPr>
        <p:spPr>
          <a:xfrm>
            <a:off x="457200" y="45720"/>
            <a:ext cx="8229600" cy="438912"/>
          </a:xfrm>
          <a:prstGeom prst="rect">
            <a:avLst/>
          </a:prstGeom>
          <a:noFill/>
          <a:ln/>
        </p:spPr>
        <p:txBody>
          <a:bodyPr wrap="square" rtlCol="0" anchor="b">
            <a:normAutofit/>
          </a:bodyPr>
          <a:lstStyle/>
          <a:p>
            <a:pPr indent="0" marL="0">
              <a:buNone/>
            </a:pPr>
            <a:r>
              <a:rPr lang="en-US" sz="2200" b="1" spc="150" kern="0" dirty="0">
                <a:solidFill>
                  <a:srgbClr val="FFFFFF"/>
                </a:solidFill>
                <a:latin typeface="Georgia" pitchFamily="34" charset="0"/>
                <a:ea typeface="Georgia" pitchFamily="34" charset="-122"/>
                <a:cs typeface="Georgia" pitchFamily="34" charset="-120"/>
              </a:rPr>
              <a:t>Focal Loss数学公式</a:t>
            </a:r>
            <a:endParaRPr lang="en-US" sz="2200" dirty="0"/>
          </a:p>
        </p:txBody>
      </p:sp>
      <p:sp>
        <p:nvSpPr>
          <p:cNvPr id="6" name="Text 3"/>
          <p:cNvSpPr/>
          <p:nvPr/>
        </p:nvSpPr>
        <p:spPr>
          <a:xfrm>
            <a:off x="457200" y="502920"/>
            <a:ext cx="8229600" cy="201168"/>
          </a:xfrm>
          <a:prstGeom prst="rect">
            <a:avLst/>
          </a:prstGeom>
          <a:noFill/>
          <a:ln/>
        </p:spPr>
        <p:txBody>
          <a:bodyPr wrap="square" rtlCol="0" anchor="ctr">
            <a:normAutofit/>
          </a:bodyPr>
          <a:lstStyle/>
          <a:p>
            <a:pPr indent="0" marL="0">
              <a:buNone/>
            </a:pPr>
            <a:r>
              <a:rPr lang="en-US" sz="1000" spc="50" kern="0" dirty="0">
                <a:solidFill>
                  <a:srgbClr val="E8F5E9"/>
                </a:solidFill>
                <a:latin typeface="Calibri" pitchFamily="34" charset="0"/>
                <a:ea typeface="Calibri" pitchFamily="34" charset="-122"/>
                <a:cs typeface="Calibri" pitchFamily="34" charset="-120"/>
              </a:rPr>
              <a:t>核心洞察与参数分析</a:t>
            </a:r>
            <a:endParaRPr lang="en-US" sz="1000" dirty="0"/>
          </a:p>
        </p:txBody>
      </p:sp>
      <p:sp>
        <p:nvSpPr>
          <p:cNvPr id="7" name="Shape 4"/>
          <p:cNvSpPr/>
          <p:nvPr/>
        </p:nvSpPr>
        <p:spPr>
          <a:xfrm>
            <a:off x="0" y="4869180"/>
            <a:ext cx="9144000" cy="274320"/>
          </a:xfrm>
          <a:prstGeom prst="rect">
            <a:avLst/>
          </a:prstGeom>
          <a:solidFill>
            <a:srgbClr val="2C5F2D"/>
          </a:solidFill>
          <a:ln/>
        </p:spPr>
      </p:sp>
      <p:sp>
        <p:nvSpPr>
          <p:cNvPr id="8" name="Text 5"/>
          <p:cNvSpPr/>
          <p:nvPr/>
        </p:nvSpPr>
        <p:spPr>
          <a:xfrm>
            <a:off x="457200" y="4869180"/>
            <a:ext cx="3657600" cy="274320"/>
          </a:xfrm>
          <a:prstGeom prst="rect">
            <a:avLst/>
          </a:prstGeom>
          <a:noFill/>
          <a:ln/>
        </p:spPr>
        <p:txBody>
          <a:bodyPr wrap="square" rtlCol="0" anchor="ctr">
            <a:normAutofit/>
          </a:bodyPr>
          <a:lstStyle/>
          <a:p>
            <a:pPr indent="0" marL="0">
              <a:buNone/>
            </a:pPr>
            <a:r>
              <a:rPr lang="en-US" sz="800" dirty="0">
                <a:solidFill>
                  <a:srgbClr val="97BC62"/>
                </a:solidFill>
                <a:latin typeface="Calibri" pitchFamily="34" charset="0"/>
                <a:ea typeface="Calibri" pitchFamily="34" charset="-122"/>
                <a:cs typeface="Calibri" pitchFamily="34" charset="-120"/>
              </a:rPr>
              <a:t>CV 100 Days | Day 39</a:t>
            </a:r>
            <a:endParaRPr lang="en-US" sz="800" dirty="0"/>
          </a:p>
        </p:txBody>
      </p:sp>
      <p:sp>
        <p:nvSpPr>
          <p:cNvPr id="9" name="Text 6"/>
          <p:cNvSpPr/>
          <p:nvPr/>
        </p:nvSpPr>
        <p:spPr>
          <a:xfrm>
            <a:off x="7315200" y="4869180"/>
            <a:ext cx="1371600" cy="274320"/>
          </a:xfrm>
          <a:prstGeom prst="rect">
            <a:avLst/>
          </a:prstGeom>
          <a:noFill/>
          <a:ln/>
        </p:spPr>
        <p:txBody>
          <a:bodyPr wrap="square" rtlCol="0" anchor="ctr">
            <a:normAutofit/>
          </a:bodyPr>
          <a:lstStyle/>
          <a:p>
            <a:pPr algn="r" indent="0" marL="0">
              <a:buNone/>
            </a:pPr>
            <a:r>
              <a:rPr lang="en-US" sz="800" dirty="0">
                <a:solidFill>
                  <a:srgbClr val="97BC62"/>
                </a:solidFill>
                <a:latin typeface="Calibri" pitchFamily="34" charset="0"/>
                <a:ea typeface="Calibri" pitchFamily="34" charset="-122"/>
                <a:cs typeface="Calibri" pitchFamily="34" charset="-120"/>
              </a:rPr>
              <a:t>15 / 20</a:t>
            </a:r>
            <a:endParaRPr lang="en-US" sz="800" dirty="0"/>
          </a:p>
        </p:txBody>
      </p:sp>
      <p:sp>
        <p:nvSpPr>
          <p:cNvPr id="10" name="Shape 7"/>
          <p:cNvSpPr/>
          <p:nvPr/>
        </p:nvSpPr>
        <p:spPr>
          <a:xfrm>
            <a:off x="457200" y="914400"/>
            <a:ext cx="8229600" cy="1188720"/>
          </a:xfrm>
          <a:prstGeom prst="roundRect">
            <a:avLst>
              <a:gd name="adj" fmla="val 7692"/>
            </a:avLst>
          </a:prstGeom>
          <a:solidFill>
            <a:srgbClr val="E8F5E9"/>
          </a:solidFill>
          <a:ln/>
          <a:effectLst>
            <a:outerShdw sx="100000" sy="100000" kx="0" ky="0" algn="bl" rotWithShape="0" blurRad="203200" dist="76200" dir="8100000">
              <a:srgbClr val="000000">
                <a:alpha val="32000"/>
              </a:srgbClr>
            </a:outerShdw>
          </a:effectLst>
        </p:spPr>
      </p:sp>
      <p:sp>
        <p:nvSpPr>
          <p:cNvPr id="11" name="Text 8"/>
          <p:cNvSpPr/>
          <p:nvPr/>
        </p:nvSpPr>
        <p:spPr>
          <a:xfrm>
            <a:off x="640080" y="960120"/>
            <a:ext cx="2743200" cy="256032"/>
          </a:xfrm>
          <a:prstGeom prst="rect">
            <a:avLst/>
          </a:prstGeom>
          <a:noFill/>
          <a:ln/>
        </p:spPr>
        <p:txBody>
          <a:bodyPr wrap="square" rtlCol="0" anchor="ctr">
            <a:normAutofit/>
          </a:bodyPr>
          <a:lstStyle/>
          <a:p>
            <a:pPr indent="0" marL="0">
              <a:buNone/>
            </a:pPr>
            <a:r>
              <a:rPr lang="en-US" sz="1400" b="1" dirty="0">
                <a:solidFill>
                  <a:srgbClr val="2C5F2D"/>
                </a:solidFill>
                <a:latin typeface="Georgia" pitchFamily="34" charset="0"/>
                <a:ea typeface="Georgia" pitchFamily="34" charset="-122"/>
                <a:cs typeface="Georgia" pitchFamily="34" charset="-120"/>
              </a:rPr>
              <a:t>Focal Loss 定义</a:t>
            </a:r>
            <a:endParaRPr lang="en-US" sz="1400" dirty="0"/>
          </a:p>
        </p:txBody>
      </p:sp>
      <p:sp>
        <p:nvSpPr>
          <p:cNvPr id="12" name="Text 9"/>
          <p:cNvSpPr/>
          <p:nvPr/>
        </p:nvSpPr>
        <p:spPr>
          <a:xfrm>
            <a:off x="640080" y="1234440"/>
            <a:ext cx="7863840" cy="777240"/>
          </a:xfrm>
          <a:prstGeom prst="rect">
            <a:avLst/>
          </a:prstGeom>
          <a:noFill/>
          <a:ln/>
        </p:spPr>
        <p:txBody>
          <a:bodyPr wrap="square" rtlCol="0" anchor="ctr"/>
          <a:lstStyle/>
          <a:p>
            <a:pPr indent="0" marL="0">
              <a:buNone/>
            </a:pPr>
            <a:r>
              <a:rPr lang="en-US" sz="1300" b="1" dirty="0">
                <a:solidFill>
                  <a:srgbClr val="2C5F2D"/>
                </a:solidFill>
              </a:rPr>
              <a:t>FL(p_t) = -alpha_t (1 - p_t)^gamma * log(p_t)</a:t>
            </a:r>
            <a:endParaRPr lang="en-US" sz="1300" dirty="0"/>
          </a:p>
          <a:p>
            <a:pPr indent="0" marL="0">
              <a:buNone/>
            </a:pPr>
            <a:r>
              <a:rPr lang="en-US" sz="1000" dirty="0">
                <a:solidFill>
                  <a:srgbClr val="333333"/>
                </a:solidFill>
              </a:rPr>
              <a:t>p_t = p (y=1) 或 1-p (y=0)，alpha_t为类别平衡权重，gamma为聚焦参数</a:t>
            </a:r>
            <a:endParaRPr lang="en-US" sz="1300" dirty="0"/>
          </a:p>
        </p:txBody>
      </p:sp>
      <p:sp>
        <p:nvSpPr>
          <p:cNvPr id="13" name="Shape 10"/>
          <p:cNvSpPr/>
          <p:nvPr/>
        </p:nvSpPr>
        <p:spPr>
          <a:xfrm>
            <a:off x="457200" y="2286000"/>
            <a:ext cx="4000500" cy="2286000"/>
          </a:xfrm>
          <a:prstGeom prst="roundRect">
            <a:avLst>
              <a:gd name="adj" fmla="val 4000"/>
            </a:avLst>
          </a:prstGeom>
          <a:solidFill>
            <a:srgbClr val="FFFFFF"/>
          </a:solidFill>
          <a:ln/>
          <a:effectLst>
            <a:outerShdw sx="100000" sy="100000" kx="0" ky="0" algn="bl" rotWithShape="0" blurRad="152400" dist="50800" dir="8100000">
              <a:srgbClr val="000000">
                <a:alpha val="28000"/>
              </a:srgbClr>
            </a:outerShdw>
          </a:effectLst>
        </p:spPr>
      </p:sp>
      <p:sp>
        <p:nvSpPr>
          <p:cNvPr id="14" name="Text 11"/>
          <p:cNvSpPr/>
          <p:nvPr/>
        </p:nvSpPr>
        <p:spPr>
          <a:xfrm>
            <a:off x="594360" y="2359152"/>
            <a:ext cx="3726180" cy="256032"/>
          </a:xfrm>
          <a:prstGeom prst="rect">
            <a:avLst/>
          </a:prstGeom>
          <a:noFill/>
          <a:ln/>
        </p:spPr>
        <p:txBody>
          <a:bodyPr wrap="square" rtlCol="0" anchor="ctr">
            <a:normAutofit/>
          </a:bodyPr>
          <a:lstStyle/>
          <a:p>
            <a:pPr indent="0" marL="0">
              <a:buNone/>
            </a:pPr>
            <a:r>
              <a:rPr lang="en-US" sz="1200" b="1" dirty="0">
                <a:solidFill>
                  <a:srgbClr val="D4A843"/>
                </a:solidFill>
                <a:latin typeface="Georgia" pitchFamily="34" charset="0"/>
                <a:ea typeface="Georgia" pitchFamily="34" charset="-122"/>
                <a:cs typeface="Georgia" pitchFamily="34" charset="-120"/>
              </a:rPr>
              <a:t>gamma 参数分析</a:t>
            </a:r>
            <a:endParaRPr lang="en-US" sz="1200" dirty="0"/>
          </a:p>
        </p:txBody>
      </p:sp>
      <p:sp>
        <p:nvSpPr>
          <p:cNvPr id="15" name="Text 12"/>
          <p:cNvSpPr/>
          <p:nvPr/>
        </p:nvSpPr>
        <p:spPr>
          <a:xfrm>
            <a:off x="594360" y="2633472"/>
            <a:ext cx="3726180" cy="1874520"/>
          </a:xfrm>
          <a:prstGeom prst="rect">
            <a:avLst/>
          </a:prstGeom>
          <a:noFill/>
          <a:ln/>
        </p:spPr>
        <p:txBody>
          <a:bodyPr wrap="square" rtlCol="0" anchor="ctr"/>
          <a:lstStyle/>
          <a:p>
            <a:pPr indent="0" marL="0">
              <a:buNone/>
            </a:pPr>
            <a:r>
              <a:rPr lang="en-US" sz="1000" dirty="0">
                <a:solidFill>
                  <a:srgbClr val="333333"/>
                </a:solidFill>
              </a:rPr>
              <a:t>gamma = 0: 标准交叉熵</a:t>
            </a:r>
            <a:endParaRPr lang="en-US" sz="1000" dirty="0"/>
          </a:p>
          <a:p>
            <a:pPr indent="0" marL="0">
              <a:buNone/>
            </a:pPr>
            <a:r>
              <a:rPr lang="en-US" sz="1000" dirty="0">
                <a:solidFill>
                  <a:srgbClr val="333333"/>
                </a:solidFill>
              </a:rPr>
              <a:t>gamma = 1: 中等聚焦</a:t>
            </a:r>
            <a:endParaRPr lang="en-US" sz="1000" dirty="0"/>
          </a:p>
          <a:p>
            <a:pPr indent="0" marL="0">
              <a:buNone/>
            </a:pPr>
            <a:r>
              <a:rPr lang="en-US" sz="1000" b="1" dirty="0">
                <a:solidFill>
                  <a:srgbClr val="2C5F2D"/>
                </a:solidFill>
              </a:rPr>
              <a:t>gamma = 2: 最佳平衡(推荐)</a:t>
            </a:r>
            <a:endParaRPr lang="en-US" sz="1000" dirty="0"/>
          </a:p>
          <a:p>
            <a:pPr indent="0" marL="0">
              <a:buNone/>
            </a:pPr>
            <a:r>
              <a:rPr lang="en-US" sz="1000" dirty="0">
                <a:solidFill>
                  <a:srgbClr val="333333"/>
                </a:solidFill>
              </a:rPr>
              <a:t>gamma = 5: 过度聚焦</a:t>
            </a:r>
            <a:endParaRPr lang="en-US" sz="1000" dirty="0"/>
          </a:p>
          <a:p>
            <a:pPr indent="0" marL="0">
              <a:buNone/>
            </a:pPr>
            <a:endParaRPr lang="en-US" sz="1000" dirty="0"/>
          </a:p>
          <a:p>
            <a:pPr indent="0" marL="0">
              <a:buNone/>
            </a:pPr>
            <a:r>
              <a:rPr lang="en-US" sz="900" dirty="0">
                <a:solidFill>
                  <a:srgbClr val="666666"/>
                </a:solidFill>
              </a:rPr>
              <a:t>gamma越大，易分类样本损失指数级下降</a:t>
            </a:r>
            <a:endParaRPr lang="en-US" sz="1000" dirty="0"/>
          </a:p>
        </p:txBody>
      </p:sp>
      <p:sp>
        <p:nvSpPr>
          <p:cNvPr id="16" name="Shape 13"/>
          <p:cNvSpPr/>
          <p:nvPr/>
        </p:nvSpPr>
        <p:spPr>
          <a:xfrm>
            <a:off x="4686300" y="2286000"/>
            <a:ext cx="4000500" cy="2286000"/>
          </a:xfrm>
          <a:prstGeom prst="roundRect">
            <a:avLst>
              <a:gd name="adj" fmla="val 4000"/>
            </a:avLst>
          </a:prstGeom>
          <a:solidFill>
            <a:srgbClr val="FFFFFF"/>
          </a:solidFill>
          <a:ln/>
          <a:effectLst>
            <a:outerShdw sx="100000" sy="100000" kx="0" ky="0" algn="bl" rotWithShape="0" blurRad="152400" dist="50800" dir="8100000">
              <a:srgbClr val="000000">
                <a:alpha val="28000"/>
              </a:srgbClr>
            </a:outerShdw>
          </a:effectLst>
        </p:spPr>
      </p:sp>
      <p:sp>
        <p:nvSpPr>
          <p:cNvPr id="17" name="Text 14"/>
          <p:cNvSpPr/>
          <p:nvPr/>
        </p:nvSpPr>
        <p:spPr>
          <a:xfrm>
            <a:off x="4823460" y="2359152"/>
            <a:ext cx="3726180" cy="256032"/>
          </a:xfrm>
          <a:prstGeom prst="rect">
            <a:avLst/>
          </a:prstGeom>
          <a:noFill/>
          <a:ln/>
        </p:spPr>
        <p:txBody>
          <a:bodyPr wrap="square" rtlCol="0" anchor="ctr">
            <a:normAutofit/>
          </a:bodyPr>
          <a:lstStyle/>
          <a:p>
            <a:pPr indent="0" marL="0">
              <a:buNone/>
            </a:pPr>
            <a:r>
              <a:rPr lang="en-US" sz="1200" b="1" dirty="0">
                <a:solidFill>
                  <a:srgbClr val="D4A843"/>
                </a:solidFill>
                <a:latin typeface="Georgia" pitchFamily="34" charset="0"/>
                <a:ea typeface="Georgia" pitchFamily="34" charset="-122"/>
                <a:cs typeface="Georgia" pitchFamily="34" charset="-120"/>
              </a:rPr>
              <a:t>alpha 平衡权重</a:t>
            </a:r>
            <a:endParaRPr lang="en-US" sz="1200" dirty="0"/>
          </a:p>
        </p:txBody>
      </p:sp>
      <p:sp>
        <p:nvSpPr>
          <p:cNvPr id="18" name="Text 15"/>
          <p:cNvSpPr/>
          <p:nvPr/>
        </p:nvSpPr>
        <p:spPr>
          <a:xfrm>
            <a:off x="4823460" y="2633472"/>
            <a:ext cx="3726180" cy="1874520"/>
          </a:xfrm>
          <a:prstGeom prst="rect">
            <a:avLst/>
          </a:prstGeom>
          <a:noFill/>
          <a:ln/>
        </p:spPr>
        <p:txBody>
          <a:bodyPr wrap="square" rtlCol="0" anchor="ctr"/>
          <a:lstStyle/>
          <a:p>
            <a:pPr indent="0" marL="0">
              <a:buNone/>
            </a:pPr>
            <a:r>
              <a:rPr lang="en-US" sz="1000" dirty="0">
                <a:solidFill>
                  <a:srgbClr val="333333"/>
                </a:solidFill>
              </a:rPr>
              <a:t>alpha_t: 正负样本权重</a:t>
            </a:r>
            <a:endParaRPr lang="en-US" sz="1000" dirty="0"/>
          </a:p>
          <a:p>
            <a:pPr indent="0" marL="0">
              <a:buNone/>
            </a:pPr>
            <a:r>
              <a:rPr lang="en-US" sz="1000" dirty="0">
                <a:solidFill>
                  <a:srgbClr val="97BC62"/>
                </a:solidFill>
              </a:rPr>
              <a:t>gamma控制易/难样本</a:t>
            </a:r>
            <a:endParaRPr lang="en-US" sz="1000" dirty="0"/>
          </a:p>
          <a:p>
            <a:pPr indent="0" marL="0">
              <a:buNone/>
            </a:pPr>
            <a:r>
              <a:rPr lang="en-US" sz="1000" dirty="0">
                <a:solidFill>
                  <a:srgbClr val="97BC62"/>
                </a:solidFill>
              </a:rPr>
              <a:t>alpha控制正/负样本</a:t>
            </a:r>
            <a:endParaRPr lang="en-US" sz="1000" dirty="0"/>
          </a:p>
          <a:p>
            <a:pPr indent="0" marL="0">
              <a:buNone/>
            </a:pPr>
            <a:endParaRPr lang="en-US" sz="1000" dirty="0"/>
          </a:p>
          <a:p>
            <a:pPr indent="0" marL="0">
              <a:buNone/>
            </a:pPr>
            <a:r>
              <a:rPr lang="en-US" sz="900" dirty="0">
                <a:solidFill>
                  <a:srgbClr val="666666"/>
                </a:solidFill>
              </a:rPr>
              <a:t>实验最优: alpha=0.25, gamma=2</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713232"/>
          </a:xfrm>
          <a:prstGeom prst="rect">
            <a:avLst/>
          </a:prstGeom>
          <a:solidFill>
            <a:srgbClr val="2C5F2D"/>
          </a:solidFill>
          <a:ln/>
        </p:spPr>
      </p:sp>
      <p:sp>
        <p:nvSpPr>
          <p:cNvPr id="4" name="Shape 1"/>
          <p:cNvSpPr/>
          <p:nvPr/>
        </p:nvSpPr>
        <p:spPr>
          <a:xfrm>
            <a:off x="0" y="713232"/>
            <a:ext cx="9144000" cy="27432"/>
          </a:xfrm>
          <a:prstGeom prst="rect">
            <a:avLst/>
          </a:prstGeom>
          <a:solidFill>
            <a:srgbClr val="D4A843"/>
          </a:solidFill>
          <a:ln/>
        </p:spPr>
      </p:sp>
      <p:sp>
        <p:nvSpPr>
          <p:cNvPr id="5" name="Text 2"/>
          <p:cNvSpPr/>
          <p:nvPr/>
        </p:nvSpPr>
        <p:spPr>
          <a:xfrm>
            <a:off x="457200" y="45720"/>
            <a:ext cx="8229600" cy="438912"/>
          </a:xfrm>
          <a:prstGeom prst="rect">
            <a:avLst/>
          </a:prstGeom>
          <a:noFill/>
          <a:ln/>
        </p:spPr>
        <p:txBody>
          <a:bodyPr wrap="square" rtlCol="0" anchor="b">
            <a:normAutofit/>
          </a:bodyPr>
          <a:lstStyle/>
          <a:p>
            <a:pPr indent="0" marL="0">
              <a:buNone/>
            </a:pPr>
            <a:r>
              <a:rPr lang="en-US" sz="2200" b="1" spc="150" kern="0" dirty="0">
                <a:solidFill>
                  <a:srgbClr val="FFFFFF"/>
                </a:solidFill>
                <a:latin typeface="Georgia" pitchFamily="34" charset="0"/>
                <a:ea typeface="Georgia" pitchFamily="34" charset="-122"/>
                <a:cs typeface="Georgia" pitchFamily="34" charset="-120"/>
              </a:rPr>
              <a:t>性能对比表格</a:t>
            </a:r>
            <a:endParaRPr lang="en-US" sz="2200" dirty="0"/>
          </a:p>
        </p:txBody>
      </p:sp>
      <p:sp>
        <p:nvSpPr>
          <p:cNvPr id="6" name="Text 3"/>
          <p:cNvSpPr/>
          <p:nvPr/>
        </p:nvSpPr>
        <p:spPr>
          <a:xfrm>
            <a:off x="457200" y="502920"/>
            <a:ext cx="8229600" cy="201168"/>
          </a:xfrm>
          <a:prstGeom prst="rect">
            <a:avLst/>
          </a:prstGeom>
          <a:noFill/>
          <a:ln/>
        </p:spPr>
        <p:txBody>
          <a:bodyPr wrap="square" rtlCol="0" anchor="ctr">
            <a:normAutofit/>
          </a:bodyPr>
          <a:lstStyle/>
          <a:p>
            <a:pPr indent="0" marL="0">
              <a:buNone/>
            </a:pPr>
            <a:r>
              <a:rPr lang="en-US" sz="1000" spc="50" kern="0" dirty="0">
                <a:solidFill>
                  <a:srgbClr val="E8F5E9"/>
                </a:solidFill>
                <a:latin typeface="Calibri" pitchFamily="34" charset="0"/>
                <a:ea typeface="Calibri" pitchFamily="34" charset="-122"/>
                <a:cs typeface="Calibri" pitchFamily="34" charset="-120"/>
              </a:rPr>
              <a:t>VOC/COCO mAP + 推理速度对比</a:t>
            </a:r>
            <a:endParaRPr lang="en-US" sz="1000" dirty="0"/>
          </a:p>
        </p:txBody>
      </p:sp>
      <p:sp>
        <p:nvSpPr>
          <p:cNvPr id="7" name="Shape 4"/>
          <p:cNvSpPr/>
          <p:nvPr/>
        </p:nvSpPr>
        <p:spPr>
          <a:xfrm>
            <a:off x="0" y="4869180"/>
            <a:ext cx="9144000" cy="274320"/>
          </a:xfrm>
          <a:prstGeom prst="rect">
            <a:avLst/>
          </a:prstGeom>
          <a:solidFill>
            <a:srgbClr val="2C5F2D"/>
          </a:solidFill>
          <a:ln/>
        </p:spPr>
      </p:sp>
      <p:sp>
        <p:nvSpPr>
          <p:cNvPr id="8" name="Text 5"/>
          <p:cNvSpPr/>
          <p:nvPr/>
        </p:nvSpPr>
        <p:spPr>
          <a:xfrm>
            <a:off x="457200" y="4869180"/>
            <a:ext cx="3657600" cy="274320"/>
          </a:xfrm>
          <a:prstGeom prst="rect">
            <a:avLst/>
          </a:prstGeom>
          <a:noFill/>
          <a:ln/>
        </p:spPr>
        <p:txBody>
          <a:bodyPr wrap="square" rtlCol="0" anchor="ctr">
            <a:normAutofit/>
          </a:bodyPr>
          <a:lstStyle/>
          <a:p>
            <a:pPr indent="0" marL="0">
              <a:buNone/>
            </a:pPr>
            <a:r>
              <a:rPr lang="en-US" sz="800" dirty="0">
                <a:solidFill>
                  <a:srgbClr val="97BC62"/>
                </a:solidFill>
                <a:latin typeface="Calibri" pitchFamily="34" charset="0"/>
                <a:ea typeface="Calibri" pitchFamily="34" charset="-122"/>
                <a:cs typeface="Calibri" pitchFamily="34" charset="-120"/>
              </a:rPr>
              <a:t>CV 100 Days | Day 39</a:t>
            </a:r>
            <a:endParaRPr lang="en-US" sz="800" dirty="0"/>
          </a:p>
        </p:txBody>
      </p:sp>
      <p:sp>
        <p:nvSpPr>
          <p:cNvPr id="9" name="Text 6"/>
          <p:cNvSpPr/>
          <p:nvPr/>
        </p:nvSpPr>
        <p:spPr>
          <a:xfrm>
            <a:off x="7315200" y="4869180"/>
            <a:ext cx="1371600" cy="274320"/>
          </a:xfrm>
          <a:prstGeom prst="rect">
            <a:avLst/>
          </a:prstGeom>
          <a:noFill/>
          <a:ln/>
        </p:spPr>
        <p:txBody>
          <a:bodyPr wrap="square" rtlCol="0" anchor="ctr">
            <a:normAutofit/>
          </a:bodyPr>
          <a:lstStyle/>
          <a:p>
            <a:pPr algn="r" indent="0" marL="0">
              <a:buNone/>
            </a:pPr>
            <a:r>
              <a:rPr lang="en-US" sz="800" dirty="0">
                <a:solidFill>
                  <a:srgbClr val="97BC62"/>
                </a:solidFill>
                <a:latin typeface="Calibri" pitchFamily="34" charset="0"/>
                <a:ea typeface="Calibri" pitchFamily="34" charset="-122"/>
                <a:cs typeface="Calibri" pitchFamily="34" charset="-120"/>
              </a:rPr>
              <a:t>16 / 20</a:t>
            </a:r>
            <a:endParaRPr lang="en-US" sz="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914400"/>
        </p:xfrm>
        <a:graphic>
          <a:graphicData uri="http://schemas.openxmlformats.org/drawingml/2006/table">
            <a:tbl>
              <a:tblPr/>
              <a:tblGrid>
                <a:gridCol w="1828800"/>
                <a:gridCol w="1645920"/>
                <a:gridCol w="1097280"/>
                <a:gridCol w="1097280"/>
                <a:gridCol w="1097280"/>
                <a:gridCol w="731520"/>
              </a:tblGrid>
              <a:tr h="27432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模型</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5F2D"/>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Backbone</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5F2D"/>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VOC07</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5F2D"/>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VOC07+12</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5F2D"/>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COCO</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5F2D"/>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FPS</a:t>
                      </a:r>
                      <a:endParaRPr lang="en-US" sz="9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5F2D"/>
                    </a:solidFill>
                  </a:tcPr>
                </a:tc>
              </a:tr>
              <a:tr h="384048">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Faster R-CNN</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VGG16</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b="1" dirty="0">
                          <a:solidFill>
                            <a:srgbClr val="2C5F2D"/>
                          </a:solidFill>
                          <a:latin typeface="Calibri" pitchFamily="34" charset="0"/>
                          <a:ea typeface="Calibri" pitchFamily="34" charset="-122"/>
                          <a:cs typeface="Calibri" pitchFamily="34" charset="-120"/>
                        </a:rPr>
                        <a:t>78.8</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75.9</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21.2</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84048">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YOLO</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GoogLeNet</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63.4</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57.2</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b="1" dirty="0">
                          <a:solidFill>
                            <a:srgbClr val="2C5F2D"/>
                          </a:solidFill>
                          <a:latin typeface="Calibri" pitchFamily="34" charset="0"/>
                          <a:ea typeface="Calibri" pitchFamily="34" charset="-122"/>
                          <a:cs typeface="Calibri" pitchFamily="34" charset="-120"/>
                        </a:rPr>
                        <a:t>45</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84048">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SSD300</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VGG16</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77.2</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75.5</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25.1</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46</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84048">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SSD512</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VGG16</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81.6</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80.0</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28.8</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22</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84048">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FPN+FRCNN</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ResNet-101</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36.2</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84048">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RetinaNet</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ResNet-101-FPN</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b="1" dirty="0">
                          <a:solidFill>
                            <a:srgbClr val="2C5F2D"/>
                          </a:solidFill>
                          <a:latin typeface="Calibri" pitchFamily="34" charset="0"/>
                          <a:ea typeface="Calibri" pitchFamily="34" charset="-122"/>
                          <a:cs typeface="Calibri" pitchFamily="34" charset="-120"/>
                        </a:rPr>
                        <a:t>39.1</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900" dirty="0">
                          <a:solidFill>
                            <a:srgbClr val="333333"/>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11" name="Text 7"/>
          <p:cNvSpPr/>
          <p:nvPr/>
        </p:nvSpPr>
        <p:spPr>
          <a:xfrm>
            <a:off x="457200" y="3931920"/>
            <a:ext cx="8229600" cy="320040"/>
          </a:xfrm>
          <a:prstGeom prst="rect">
            <a:avLst/>
          </a:prstGeom>
          <a:noFill/>
          <a:ln/>
        </p:spPr>
        <p:txBody>
          <a:bodyPr wrap="square" rtlCol="0" anchor="ctr">
            <a:normAutofit/>
          </a:bodyPr>
          <a:lstStyle/>
          <a:p>
            <a:pPr indent="0" marL="0">
              <a:buNone/>
            </a:pPr>
            <a:r>
              <a:rPr lang="en-US" sz="1000" b="1" i="1" dirty="0">
                <a:solidFill>
                  <a:srgbClr val="D4A843"/>
                </a:solidFill>
                <a:latin typeface="Calibri" pitchFamily="34" charset="0"/>
                <a:ea typeface="Calibri" pitchFamily="34" charset="-122"/>
                <a:cs typeface="Calibri" pitchFamily="34" charset="-120"/>
              </a:rPr>
              <a:t>RetinaNet首次在单阶段检测器上超越两阶段检测器精度，同时保持更快速度</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713232"/>
          </a:xfrm>
          <a:prstGeom prst="rect">
            <a:avLst/>
          </a:prstGeom>
          <a:solidFill>
            <a:srgbClr val="2C5F2D"/>
          </a:solidFill>
          <a:ln/>
        </p:spPr>
      </p:sp>
      <p:sp>
        <p:nvSpPr>
          <p:cNvPr id="4" name="Shape 1"/>
          <p:cNvSpPr/>
          <p:nvPr/>
        </p:nvSpPr>
        <p:spPr>
          <a:xfrm>
            <a:off x="0" y="713232"/>
            <a:ext cx="9144000" cy="27432"/>
          </a:xfrm>
          <a:prstGeom prst="rect">
            <a:avLst/>
          </a:prstGeom>
          <a:solidFill>
            <a:srgbClr val="D4A843"/>
          </a:solidFill>
          <a:ln/>
        </p:spPr>
      </p:sp>
      <p:sp>
        <p:nvSpPr>
          <p:cNvPr id="5" name="Text 2"/>
          <p:cNvSpPr/>
          <p:nvPr/>
        </p:nvSpPr>
        <p:spPr>
          <a:xfrm>
            <a:off x="457200" y="45720"/>
            <a:ext cx="8229600" cy="438912"/>
          </a:xfrm>
          <a:prstGeom prst="rect">
            <a:avLst/>
          </a:prstGeom>
          <a:noFill/>
          <a:ln/>
        </p:spPr>
        <p:txBody>
          <a:bodyPr wrap="square" rtlCol="0" anchor="b">
            <a:normAutofit/>
          </a:bodyPr>
          <a:lstStyle/>
          <a:p>
            <a:pPr indent="0" marL="0">
              <a:buNone/>
            </a:pPr>
            <a:r>
              <a:rPr lang="en-US" sz="2200" b="1" spc="150" kern="0" dirty="0">
                <a:solidFill>
                  <a:srgbClr val="FFFFFF"/>
                </a:solidFill>
                <a:latin typeface="Georgia" pitchFamily="34" charset="0"/>
                <a:ea typeface="Georgia" pitchFamily="34" charset="-122"/>
                <a:cs typeface="Georgia" pitchFamily="34" charset="-120"/>
              </a:rPr>
              <a:t>科学家故事</a:t>
            </a:r>
            <a:endParaRPr lang="en-US" sz="2200" dirty="0"/>
          </a:p>
        </p:txBody>
      </p:sp>
      <p:sp>
        <p:nvSpPr>
          <p:cNvPr id="6" name="Text 3"/>
          <p:cNvSpPr/>
          <p:nvPr/>
        </p:nvSpPr>
        <p:spPr>
          <a:xfrm>
            <a:off x="457200" y="502920"/>
            <a:ext cx="8229600" cy="201168"/>
          </a:xfrm>
          <a:prstGeom prst="rect">
            <a:avLst/>
          </a:prstGeom>
          <a:noFill/>
          <a:ln/>
        </p:spPr>
        <p:txBody>
          <a:bodyPr wrap="square" rtlCol="0" anchor="ctr">
            <a:normAutofit/>
          </a:bodyPr>
          <a:lstStyle/>
          <a:p>
            <a:pPr indent="0" marL="0">
              <a:buNone/>
            </a:pPr>
            <a:r>
              <a:rPr lang="en-US" sz="1000" spc="50" kern="0" dirty="0">
                <a:solidFill>
                  <a:srgbClr val="E8F5E9"/>
                </a:solidFill>
                <a:latin typeface="Calibri" pitchFamily="34" charset="0"/>
                <a:ea typeface="Calibri" pitchFamily="34" charset="-122"/>
                <a:cs typeface="Calibri" pitchFamily="34" charset="-120"/>
              </a:rPr>
              <a:t>Wei Liu 与 Tsung-Yi Lin</a:t>
            </a:r>
            <a:endParaRPr lang="en-US" sz="1000" dirty="0"/>
          </a:p>
        </p:txBody>
      </p:sp>
      <p:sp>
        <p:nvSpPr>
          <p:cNvPr id="7" name="Shape 4"/>
          <p:cNvSpPr/>
          <p:nvPr/>
        </p:nvSpPr>
        <p:spPr>
          <a:xfrm>
            <a:off x="0" y="4869180"/>
            <a:ext cx="9144000" cy="274320"/>
          </a:xfrm>
          <a:prstGeom prst="rect">
            <a:avLst/>
          </a:prstGeom>
          <a:solidFill>
            <a:srgbClr val="2C5F2D"/>
          </a:solidFill>
          <a:ln/>
        </p:spPr>
      </p:sp>
      <p:sp>
        <p:nvSpPr>
          <p:cNvPr id="8" name="Text 5"/>
          <p:cNvSpPr/>
          <p:nvPr/>
        </p:nvSpPr>
        <p:spPr>
          <a:xfrm>
            <a:off x="457200" y="4869180"/>
            <a:ext cx="3657600" cy="274320"/>
          </a:xfrm>
          <a:prstGeom prst="rect">
            <a:avLst/>
          </a:prstGeom>
          <a:noFill/>
          <a:ln/>
        </p:spPr>
        <p:txBody>
          <a:bodyPr wrap="square" rtlCol="0" anchor="ctr">
            <a:normAutofit/>
          </a:bodyPr>
          <a:lstStyle/>
          <a:p>
            <a:pPr indent="0" marL="0">
              <a:buNone/>
            </a:pPr>
            <a:r>
              <a:rPr lang="en-US" sz="800" dirty="0">
                <a:solidFill>
                  <a:srgbClr val="97BC62"/>
                </a:solidFill>
                <a:latin typeface="Calibri" pitchFamily="34" charset="0"/>
                <a:ea typeface="Calibri" pitchFamily="34" charset="-122"/>
                <a:cs typeface="Calibri" pitchFamily="34" charset="-120"/>
              </a:rPr>
              <a:t>CV 100 Days | Day 39</a:t>
            </a:r>
            <a:endParaRPr lang="en-US" sz="800" dirty="0"/>
          </a:p>
        </p:txBody>
      </p:sp>
      <p:sp>
        <p:nvSpPr>
          <p:cNvPr id="9" name="Text 6"/>
          <p:cNvSpPr/>
          <p:nvPr/>
        </p:nvSpPr>
        <p:spPr>
          <a:xfrm>
            <a:off x="7315200" y="4869180"/>
            <a:ext cx="1371600" cy="274320"/>
          </a:xfrm>
          <a:prstGeom prst="rect">
            <a:avLst/>
          </a:prstGeom>
          <a:noFill/>
          <a:ln/>
        </p:spPr>
        <p:txBody>
          <a:bodyPr wrap="square" rtlCol="0" anchor="ctr">
            <a:normAutofit/>
          </a:bodyPr>
          <a:lstStyle/>
          <a:p>
            <a:pPr algn="r" indent="0" marL="0">
              <a:buNone/>
            </a:pPr>
            <a:r>
              <a:rPr lang="en-US" sz="800" dirty="0">
                <a:solidFill>
                  <a:srgbClr val="97BC62"/>
                </a:solidFill>
                <a:latin typeface="Calibri" pitchFamily="34" charset="0"/>
                <a:ea typeface="Calibri" pitchFamily="34" charset="-122"/>
                <a:cs typeface="Calibri" pitchFamily="34" charset="-120"/>
              </a:rPr>
              <a:t>17 / 20</a:t>
            </a:r>
            <a:endParaRPr lang="en-US" sz="800" dirty="0"/>
          </a:p>
        </p:txBody>
      </p:sp>
      <p:sp>
        <p:nvSpPr>
          <p:cNvPr id="10" name="Shape 7"/>
          <p:cNvSpPr/>
          <p:nvPr/>
        </p:nvSpPr>
        <p:spPr>
          <a:xfrm>
            <a:off x="457200" y="914400"/>
            <a:ext cx="4000500" cy="3863340"/>
          </a:xfrm>
          <a:prstGeom prst="roundRect">
            <a:avLst>
              <a:gd name="adj" fmla="val 2367"/>
            </a:avLst>
          </a:prstGeom>
          <a:solidFill>
            <a:srgbClr val="FFFFFF"/>
          </a:solidFill>
          <a:ln/>
          <a:effectLst>
            <a:outerShdw sx="100000" sy="100000" kx="0" ky="0" algn="bl" rotWithShape="0" blurRad="203200" dist="76200" dir="8100000">
              <a:srgbClr val="000000">
                <a:alpha val="32000"/>
              </a:srgbClr>
            </a:outerShdw>
          </a:effectLst>
        </p:spPr>
      </p:sp>
      <p:sp>
        <p:nvSpPr>
          <p:cNvPr id="11" name="Shape 8"/>
          <p:cNvSpPr/>
          <p:nvPr/>
        </p:nvSpPr>
        <p:spPr>
          <a:xfrm>
            <a:off x="457200" y="914400"/>
            <a:ext cx="4000500" cy="457200"/>
          </a:xfrm>
          <a:prstGeom prst="rect">
            <a:avLst/>
          </a:prstGeom>
          <a:solidFill>
            <a:srgbClr val="2C5F2D"/>
          </a:solidFill>
          <a:ln/>
        </p:spPr>
      </p:sp>
      <p:sp>
        <p:nvSpPr>
          <p:cNvPr id="12" name="Text 9"/>
          <p:cNvSpPr/>
          <p:nvPr/>
        </p:nvSpPr>
        <p:spPr>
          <a:xfrm>
            <a:off x="548640" y="932688"/>
            <a:ext cx="3817620" cy="420624"/>
          </a:xfrm>
          <a:prstGeom prst="rect">
            <a:avLst/>
          </a:prstGeom>
          <a:noFill/>
          <a:ln/>
        </p:spPr>
        <p:txBody>
          <a:bodyPr wrap="square" rtlCol="0" anchor="ctr">
            <a:normAutofit/>
          </a:bodyPr>
          <a:lstStyle/>
          <a:p>
            <a:pPr indent="0" marL="0">
              <a:buNone/>
            </a:pPr>
            <a:r>
              <a:rPr lang="en-US" sz="1500" b="1" dirty="0">
                <a:solidFill>
                  <a:srgbClr val="FFFFFF"/>
                </a:solidFill>
                <a:latin typeface="Georgia" pitchFamily="34" charset="0"/>
                <a:ea typeface="Georgia" pitchFamily="34" charset="-122"/>
                <a:cs typeface="Georgia" pitchFamily="34" charset="-120"/>
              </a:rPr>
              <a:t>Wei Liu (刘伟)</a:t>
            </a:r>
            <a:endParaRPr lang="en-US" sz="1500" dirty="0"/>
          </a:p>
        </p:txBody>
      </p:sp>
      <p:sp>
        <p:nvSpPr>
          <p:cNvPr id="13" name="Text 10"/>
          <p:cNvSpPr/>
          <p:nvPr/>
        </p:nvSpPr>
        <p:spPr>
          <a:xfrm>
            <a:off x="594360" y="1417320"/>
            <a:ext cx="3726180" cy="3268980"/>
          </a:xfrm>
          <a:prstGeom prst="rect">
            <a:avLst/>
          </a:prstGeom>
          <a:noFill/>
          <a:ln/>
        </p:spPr>
        <p:txBody>
          <a:bodyPr wrap="square" rtlCol="0" anchor="ctr"/>
          <a:lstStyle/>
          <a:p>
            <a:pPr indent="0" marL="0">
              <a:buNone/>
            </a:pPr>
            <a:r>
              <a:rPr lang="en-US" sz="1000" b="1" dirty="0">
                <a:solidFill>
                  <a:srgbClr val="D4A843"/>
                </a:solidFill>
              </a:rPr>
              <a:t>SSD提出者 | UNC Chapel Hill</a:t>
            </a:r>
            <a:endParaRPr lang="en-US" sz="1000" dirty="0"/>
          </a:p>
          <a:p>
            <a:pPr indent="0" marL="0">
              <a:buNone/>
            </a:pPr>
            <a:endParaRPr lang="en-US" sz="1000" dirty="0"/>
          </a:p>
          <a:p>
            <a:pPr indent="0" marL="0">
              <a:buNone/>
            </a:pPr>
            <a:r>
              <a:rPr lang="en-US" sz="1000" dirty="0">
                <a:solidFill>
                  <a:srgbClr val="333333"/>
                </a:solidFill>
              </a:rPr>
              <a:t>- 2016年提出SSD (ECCV)</a:t>
            </a:r>
            <a:endParaRPr lang="en-US" sz="1000" dirty="0"/>
          </a:p>
          <a:p>
            <a:pPr indent="0" marL="0">
              <a:buNone/>
            </a:pPr>
            <a:r>
              <a:rPr lang="en-US" sz="1000" dirty="0">
                <a:solidFill>
                  <a:srgbClr val="333333"/>
                </a:solidFill>
              </a:rPr>
              <a:t>- 论文引用超20,000次</a:t>
            </a:r>
            <a:endParaRPr lang="en-US" sz="1000" dirty="0"/>
          </a:p>
          <a:p>
            <a:pPr indent="0" marL="0">
              <a:buNone/>
            </a:pPr>
            <a:r>
              <a:rPr lang="en-US" sz="1000" dirty="0">
                <a:solidFill>
                  <a:srgbClr val="333333"/>
                </a:solidFill>
              </a:rPr>
              <a:t>- 首次单阶段多尺度检测</a:t>
            </a:r>
            <a:endParaRPr lang="en-US" sz="1000" dirty="0"/>
          </a:p>
          <a:p>
            <a:pPr indent="0" marL="0">
              <a:buNone/>
            </a:pPr>
            <a:r>
              <a:rPr lang="en-US" sz="1000" dirty="0">
                <a:solidFill>
                  <a:srgbClr val="333333"/>
                </a:solidFill>
              </a:rPr>
              <a:t>- 后续提出DSSD, RefineSSD</a:t>
            </a:r>
            <a:endParaRPr lang="en-US" sz="1000" dirty="0"/>
          </a:p>
          <a:p>
            <a:pPr indent="0" marL="0">
              <a:buNone/>
            </a:pPr>
            <a:r>
              <a:rPr lang="en-US" sz="1000" dirty="0">
                <a:solidFill>
                  <a:srgbClr val="333333"/>
                </a:solidFill>
              </a:rPr>
              <a:t>- 在Google从事AI研究</a:t>
            </a:r>
            <a:endParaRPr lang="en-US" sz="1000" dirty="0"/>
          </a:p>
        </p:txBody>
      </p:sp>
      <p:sp>
        <p:nvSpPr>
          <p:cNvPr id="14" name="Shape 11"/>
          <p:cNvSpPr/>
          <p:nvPr/>
        </p:nvSpPr>
        <p:spPr>
          <a:xfrm>
            <a:off x="4686300" y="914400"/>
            <a:ext cx="4000500" cy="3863340"/>
          </a:xfrm>
          <a:prstGeom prst="roundRect">
            <a:avLst>
              <a:gd name="adj" fmla="val 2367"/>
            </a:avLst>
          </a:prstGeom>
          <a:solidFill>
            <a:srgbClr val="FFFFFF"/>
          </a:solidFill>
          <a:ln/>
          <a:effectLst>
            <a:outerShdw sx="100000" sy="100000" kx="0" ky="0" algn="bl" rotWithShape="0" blurRad="203200" dist="76200" dir="8100000">
              <a:srgbClr val="000000">
                <a:alpha val="32000"/>
              </a:srgbClr>
            </a:outerShdw>
          </a:effectLst>
        </p:spPr>
      </p:sp>
      <p:sp>
        <p:nvSpPr>
          <p:cNvPr id="15" name="Shape 12"/>
          <p:cNvSpPr/>
          <p:nvPr/>
        </p:nvSpPr>
        <p:spPr>
          <a:xfrm>
            <a:off x="4686300" y="914400"/>
            <a:ext cx="4000500" cy="457200"/>
          </a:xfrm>
          <a:prstGeom prst="rect">
            <a:avLst/>
          </a:prstGeom>
          <a:solidFill>
            <a:srgbClr val="D4A843"/>
          </a:solidFill>
          <a:ln/>
        </p:spPr>
      </p:sp>
      <p:sp>
        <p:nvSpPr>
          <p:cNvPr id="16" name="Text 13"/>
          <p:cNvSpPr/>
          <p:nvPr/>
        </p:nvSpPr>
        <p:spPr>
          <a:xfrm>
            <a:off x="4777740" y="932688"/>
            <a:ext cx="3817620" cy="420624"/>
          </a:xfrm>
          <a:prstGeom prst="rect">
            <a:avLst/>
          </a:prstGeom>
          <a:noFill/>
          <a:ln/>
        </p:spPr>
        <p:txBody>
          <a:bodyPr wrap="square" rtlCol="0" anchor="ctr">
            <a:normAutofit/>
          </a:bodyPr>
          <a:lstStyle/>
          <a:p>
            <a:pPr indent="0" marL="0">
              <a:buNone/>
            </a:pPr>
            <a:r>
              <a:rPr lang="en-US" sz="1500" b="1" dirty="0">
                <a:solidFill>
                  <a:srgbClr val="FFFFFF"/>
                </a:solidFill>
                <a:latin typeface="Georgia" pitchFamily="34" charset="0"/>
                <a:ea typeface="Georgia" pitchFamily="34" charset="-122"/>
                <a:cs typeface="Georgia" pitchFamily="34" charset="-120"/>
              </a:rPr>
              <a:t>Tsung-Yi Lin</a:t>
            </a:r>
            <a:endParaRPr lang="en-US" sz="1500" dirty="0"/>
          </a:p>
        </p:txBody>
      </p:sp>
      <p:sp>
        <p:nvSpPr>
          <p:cNvPr id="17" name="Text 14"/>
          <p:cNvSpPr/>
          <p:nvPr/>
        </p:nvSpPr>
        <p:spPr>
          <a:xfrm>
            <a:off x="4823460" y="1417320"/>
            <a:ext cx="3726180" cy="3268980"/>
          </a:xfrm>
          <a:prstGeom prst="rect">
            <a:avLst/>
          </a:prstGeom>
          <a:noFill/>
          <a:ln/>
        </p:spPr>
        <p:txBody>
          <a:bodyPr wrap="square" rtlCol="0" anchor="ctr"/>
          <a:lstStyle/>
          <a:p>
            <a:pPr indent="0" marL="0">
              <a:buNone/>
            </a:pPr>
            <a:r>
              <a:rPr lang="en-US" sz="1000" b="1" dirty="0">
                <a:solidFill>
                  <a:srgbClr val="2C5F2D"/>
                </a:solidFill>
              </a:rPr>
              <a:t>FPN/Focal Loss/RetinaNet | FAIR</a:t>
            </a:r>
            <a:endParaRPr lang="en-US" sz="1000" dirty="0"/>
          </a:p>
          <a:p>
            <a:pPr indent="0" marL="0">
              <a:buNone/>
            </a:pPr>
            <a:endParaRPr lang="en-US" sz="1000" dirty="0"/>
          </a:p>
          <a:p>
            <a:pPr indent="0" marL="0">
              <a:buNone/>
            </a:pPr>
            <a:r>
              <a:rPr lang="en-US" sz="1000" dirty="0">
                <a:solidFill>
                  <a:srgbClr val="333333"/>
                </a:solidFill>
              </a:rPr>
              <a:t>- Facebook AI Research</a:t>
            </a:r>
            <a:endParaRPr lang="en-US" sz="1000" dirty="0"/>
          </a:p>
          <a:p>
            <a:pPr indent="0" marL="0">
              <a:buNone/>
            </a:pPr>
            <a:r>
              <a:rPr lang="en-US" sz="1000" dirty="0">
                <a:solidFill>
                  <a:srgbClr val="333333"/>
                </a:solidFill>
              </a:rPr>
              <a:t>- 2017年提出FPN和Focal Loss</a:t>
            </a:r>
            <a:endParaRPr lang="en-US" sz="1000" dirty="0"/>
          </a:p>
          <a:p>
            <a:pPr indent="0" marL="0">
              <a:buNone/>
            </a:pPr>
            <a:r>
              <a:rPr lang="en-US" sz="1000" dirty="0">
                <a:solidFill>
                  <a:srgbClr val="333333"/>
                </a:solidFill>
              </a:rPr>
              <a:t>- COCO数据集创建者之一</a:t>
            </a:r>
            <a:endParaRPr lang="en-US" sz="1000" dirty="0"/>
          </a:p>
          <a:p>
            <a:pPr indent="0" marL="0">
              <a:buNone/>
            </a:pPr>
            <a:r>
              <a:rPr lang="en-US" sz="1000" dirty="0">
                <a:solidFill>
                  <a:srgbClr val="333333"/>
                </a:solidFill>
              </a:rPr>
              <a:t>- FPN引用超30,000次</a:t>
            </a:r>
            <a:endParaRPr lang="en-US" sz="1000" dirty="0"/>
          </a:p>
          <a:p>
            <a:pPr indent="0" marL="0">
              <a:buNone/>
            </a:pPr>
            <a:r>
              <a:rPr lang="en-US" sz="1000" dirty="0">
                <a:solidFill>
                  <a:srgbClr val="333333"/>
                </a:solidFill>
              </a:rPr>
              <a:t>- 现任Apple ML Lead</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713232"/>
          </a:xfrm>
          <a:prstGeom prst="rect">
            <a:avLst/>
          </a:prstGeom>
          <a:solidFill>
            <a:srgbClr val="2C5F2D"/>
          </a:solidFill>
          <a:ln/>
        </p:spPr>
      </p:sp>
      <p:sp>
        <p:nvSpPr>
          <p:cNvPr id="4" name="Shape 1"/>
          <p:cNvSpPr/>
          <p:nvPr/>
        </p:nvSpPr>
        <p:spPr>
          <a:xfrm>
            <a:off x="0" y="713232"/>
            <a:ext cx="9144000" cy="27432"/>
          </a:xfrm>
          <a:prstGeom prst="rect">
            <a:avLst/>
          </a:prstGeom>
          <a:solidFill>
            <a:srgbClr val="D4A843"/>
          </a:solidFill>
          <a:ln/>
        </p:spPr>
      </p:sp>
      <p:sp>
        <p:nvSpPr>
          <p:cNvPr id="5" name="Text 2"/>
          <p:cNvSpPr/>
          <p:nvPr/>
        </p:nvSpPr>
        <p:spPr>
          <a:xfrm>
            <a:off x="457200" y="45720"/>
            <a:ext cx="8229600" cy="438912"/>
          </a:xfrm>
          <a:prstGeom prst="rect">
            <a:avLst/>
          </a:prstGeom>
          <a:noFill/>
          <a:ln/>
        </p:spPr>
        <p:txBody>
          <a:bodyPr wrap="square" rtlCol="0" anchor="b">
            <a:normAutofit/>
          </a:bodyPr>
          <a:lstStyle/>
          <a:p>
            <a:pPr indent="0" marL="0">
              <a:buNone/>
            </a:pPr>
            <a:r>
              <a:rPr lang="en-US" sz="2200" b="1" spc="150" kern="0" dirty="0">
                <a:solidFill>
                  <a:srgbClr val="FFFFFF"/>
                </a:solidFill>
                <a:latin typeface="Georgia" pitchFamily="34" charset="0"/>
                <a:ea typeface="Georgia" pitchFamily="34" charset="-122"/>
                <a:cs typeface="Georgia" pitchFamily="34" charset="-120"/>
              </a:rPr>
              <a:t>经典实验代码示例</a:t>
            </a:r>
            <a:endParaRPr lang="en-US" sz="2200" dirty="0"/>
          </a:p>
        </p:txBody>
      </p:sp>
      <p:sp>
        <p:nvSpPr>
          <p:cNvPr id="6" name="Text 3"/>
          <p:cNvSpPr/>
          <p:nvPr/>
        </p:nvSpPr>
        <p:spPr>
          <a:xfrm>
            <a:off x="457200" y="502920"/>
            <a:ext cx="8229600" cy="201168"/>
          </a:xfrm>
          <a:prstGeom prst="rect">
            <a:avLst/>
          </a:prstGeom>
          <a:noFill/>
          <a:ln/>
        </p:spPr>
        <p:txBody>
          <a:bodyPr wrap="square" rtlCol="0" anchor="ctr">
            <a:normAutofit/>
          </a:bodyPr>
          <a:lstStyle/>
          <a:p>
            <a:pPr indent="0" marL="0">
              <a:buNone/>
            </a:pPr>
            <a:r>
              <a:rPr lang="en-US" sz="1000" spc="50" kern="0" dirty="0">
                <a:solidFill>
                  <a:srgbClr val="E8F5E9"/>
                </a:solidFill>
                <a:latin typeface="Calibri" pitchFamily="34" charset="0"/>
                <a:ea typeface="Calibri" pitchFamily="34" charset="-122"/>
                <a:cs typeface="Calibri" pitchFamily="34" charset="-120"/>
              </a:rPr>
              <a:t>Focal Loss PyTorch实现</a:t>
            </a:r>
            <a:endParaRPr lang="en-US" sz="1000" dirty="0"/>
          </a:p>
        </p:txBody>
      </p:sp>
      <p:sp>
        <p:nvSpPr>
          <p:cNvPr id="7" name="Shape 4"/>
          <p:cNvSpPr/>
          <p:nvPr/>
        </p:nvSpPr>
        <p:spPr>
          <a:xfrm>
            <a:off x="0" y="4869180"/>
            <a:ext cx="9144000" cy="274320"/>
          </a:xfrm>
          <a:prstGeom prst="rect">
            <a:avLst/>
          </a:prstGeom>
          <a:solidFill>
            <a:srgbClr val="2C5F2D"/>
          </a:solidFill>
          <a:ln/>
        </p:spPr>
      </p:sp>
      <p:sp>
        <p:nvSpPr>
          <p:cNvPr id="8" name="Text 5"/>
          <p:cNvSpPr/>
          <p:nvPr/>
        </p:nvSpPr>
        <p:spPr>
          <a:xfrm>
            <a:off x="457200" y="4869180"/>
            <a:ext cx="3657600" cy="274320"/>
          </a:xfrm>
          <a:prstGeom prst="rect">
            <a:avLst/>
          </a:prstGeom>
          <a:noFill/>
          <a:ln/>
        </p:spPr>
        <p:txBody>
          <a:bodyPr wrap="square" rtlCol="0" anchor="ctr">
            <a:normAutofit/>
          </a:bodyPr>
          <a:lstStyle/>
          <a:p>
            <a:pPr indent="0" marL="0">
              <a:buNone/>
            </a:pPr>
            <a:r>
              <a:rPr lang="en-US" sz="800" dirty="0">
                <a:solidFill>
                  <a:srgbClr val="97BC62"/>
                </a:solidFill>
                <a:latin typeface="Calibri" pitchFamily="34" charset="0"/>
                <a:ea typeface="Calibri" pitchFamily="34" charset="-122"/>
                <a:cs typeface="Calibri" pitchFamily="34" charset="-120"/>
              </a:rPr>
              <a:t>CV 100 Days | Day 39</a:t>
            </a:r>
            <a:endParaRPr lang="en-US" sz="800" dirty="0"/>
          </a:p>
        </p:txBody>
      </p:sp>
      <p:sp>
        <p:nvSpPr>
          <p:cNvPr id="9" name="Text 6"/>
          <p:cNvSpPr/>
          <p:nvPr/>
        </p:nvSpPr>
        <p:spPr>
          <a:xfrm>
            <a:off x="7315200" y="4869180"/>
            <a:ext cx="1371600" cy="274320"/>
          </a:xfrm>
          <a:prstGeom prst="rect">
            <a:avLst/>
          </a:prstGeom>
          <a:noFill/>
          <a:ln/>
        </p:spPr>
        <p:txBody>
          <a:bodyPr wrap="square" rtlCol="0" anchor="ctr">
            <a:normAutofit/>
          </a:bodyPr>
          <a:lstStyle/>
          <a:p>
            <a:pPr algn="r" indent="0" marL="0">
              <a:buNone/>
            </a:pPr>
            <a:r>
              <a:rPr lang="en-US" sz="800" dirty="0">
                <a:solidFill>
                  <a:srgbClr val="97BC62"/>
                </a:solidFill>
                <a:latin typeface="Calibri" pitchFamily="34" charset="0"/>
                <a:ea typeface="Calibri" pitchFamily="34" charset="-122"/>
                <a:cs typeface="Calibri" pitchFamily="34" charset="-120"/>
              </a:rPr>
              <a:t>18 / 20</a:t>
            </a:r>
            <a:endParaRPr lang="en-US" sz="800" dirty="0"/>
          </a:p>
        </p:txBody>
      </p:sp>
      <p:sp>
        <p:nvSpPr>
          <p:cNvPr id="10" name="Shape 7"/>
          <p:cNvSpPr/>
          <p:nvPr/>
        </p:nvSpPr>
        <p:spPr>
          <a:xfrm>
            <a:off x="457200" y="914400"/>
            <a:ext cx="8229600" cy="3063240"/>
          </a:xfrm>
          <a:prstGeom prst="roundRect">
            <a:avLst>
              <a:gd name="adj" fmla="val 2985"/>
            </a:avLst>
          </a:prstGeom>
          <a:solidFill>
            <a:srgbClr val="1E1E2E"/>
          </a:solidFill>
          <a:ln/>
          <a:effectLst>
            <a:outerShdw sx="100000" sy="100000" kx="0" ky="0" algn="bl" rotWithShape="0" blurRad="152400" dist="50800" dir="8100000">
              <a:srgbClr val="000000">
                <a:alpha val="28000"/>
              </a:srgbClr>
            </a:outerShdw>
          </a:effectLst>
        </p:spPr>
      </p:sp>
      <p:sp>
        <p:nvSpPr>
          <p:cNvPr id="11" name="Text 8"/>
          <p:cNvSpPr/>
          <p:nvPr/>
        </p:nvSpPr>
        <p:spPr>
          <a:xfrm>
            <a:off x="594360" y="960120"/>
            <a:ext cx="3657600" cy="201168"/>
          </a:xfrm>
          <a:prstGeom prst="rect">
            <a:avLst/>
          </a:prstGeom>
          <a:noFill/>
          <a:ln/>
        </p:spPr>
        <p:txBody>
          <a:bodyPr wrap="square" rtlCol="0" anchor="ctr">
            <a:normAutofit/>
          </a:bodyPr>
          <a:lstStyle/>
          <a:p>
            <a:pPr indent="0" marL="0">
              <a:buNone/>
            </a:pPr>
            <a:r>
              <a:rPr lang="en-US" sz="1000" b="1" dirty="0">
                <a:solidFill>
                  <a:srgbClr val="D4A843"/>
                </a:solidFill>
                <a:latin typeface="Consolas" pitchFamily="34" charset="0"/>
                <a:ea typeface="Consolas" pitchFamily="34" charset="-122"/>
                <a:cs typeface="Consolas" pitchFamily="34" charset="-120"/>
              </a:rPr>
              <a:t>Focal Loss — PyTorch</a:t>
            </a:r>
            <a:endParaRPr lang="en-US" sz="1000" dirty="0"/>
          </a:p>
        </p:txBody>
      </p:sp>
      <p:sp>
        <p:nvSpPr>
          <p:cNvPr id="12" name="Text 9"/>
          <p:cNvSpPr/>
          <p:nvPr/>
        </p:nvSpPr>
        <p:spPr>
          <a:xfrm>
            <a:off x="594360" y="1188720"/>
            <a:ext cx="7955280" cy="2651760"/>
          </a:xfrm>
          <a:prstGeom prst="rect">
            <a:avLst/>
          </a:prstGeom>
          <a:noFill/>
          <a:ln/>
        </p:spPr>
        <p:txBody>
          <a:bodyPr wrap="square" rtlCol="0" anchor="ctr"/>
          <a:lstStyle/>
          <a:p>
            <a:pPr indent="0" marL="0">
              <a:lnSpc>
                <a:spcPct val="92000"/>
              </a:lnSpc>
              <a:buNone/>
            </a:pPr>
            <a:r>
              <a:rPr lang="en-US" sz="850" dirty="0">
                <a:solidFill>
                  <a:srgbClr val="D4D4D4"/>
                </a:solidFill>
                <a:latin typeface="Consolas" pitchFamily="34" charset="0"/>
                <a:ea typeface="Consolas" pitchFamily="34" charset="-122"/>
                <a:cs typeface="Consolas" pitchFamily="34" charset="-120"/>
              </a:rPr>
              <a:t>import torch, torch.nn as nn, torch.nn.functional as F</a:t>
            </a:r>
            <a:endParaRPr lang="en-US" sz="850" dirty="0"/>
          </a:p>
          <a:p>
            <a:pPr indent="0" marL="0">
              <a:lnSpc>
                <a:spcPct val="92000"/>
              </a:lnSpc>
              <a:buNone/>
            </a:pPr>
            <a:endParaRPr lang="en-US" sz="850" dirty="0"/>
          </a:p>
          <a:p>
            <a:pPr indent="0" marL="0">
              <a:lnSpc>
                <a:spcPct val="92000"/>
              </a:lnSpc>
              <a:buNone/>
            </a:pPr>
            <a:r>
              <a:rPr lang="en-US" sz="850" dirty="0">
                <a:solidFill>
                  <a:srgbClr val="D4D4D4"/>
                </a:solidFill>
                <a:latin typeface="Consolas" pitchFamily="34" charset="0"/>
                <a:ea typeface="Consolas" pitchFamily="34" charset="-122"/>
                <a:cs typeface="Consolas" pitchFamily="34" charset="-120"/>
              </a:rPr>
              <a:t>class FocalLoss(nn.Module):</a:t>
            </a:r>
            <a:endParaRPr lang="en-US" sz="850" dirty="0"/>
          </a:p>
          <a:p>
            <a:pPr indent="0" marL="0">
              <a:lnSpc>
                <a:spcPct val="92000"/>
              </a:lnSpc>
              <a:buNone/>
            </a:pPr>
            <a:r>
              <a:rPr lang="en-US" sz="850" dirty="0">
                <a:solidFill>
                  <a:srgbClr val="D4D4D4"/>
                </a:solidFill>
                <a:latin typeface="Consolas" pitchFamily="34" charset="0"/>
                <a:ea typeface="Consolas" pitchFamily="34" charset="-122"/>
                <a:cs typeface="Consolas" pitchFamily="34" charset="-120"/>
              </a:rPr>
              <a:t>    def __init__(self, alpha=0.25, gamma=2.0):</a:t>
            </a:r>
            <a:endParaRPr lang="en-US" sz="850" dirty="0"/>
          </a:p>
          <a:p>
            <a:pPr indent="0" marL="0">
              <a:lnSpc>
                <a:spcPct val="92000"/>
              </a:lnSpc>
              <a:buNone/>
            </a:pPr>
            <a:r>
              <a:rPr lang="en-US" sz="850" dirty="0">
                <a:solidFill>
                  <a:srgbClr val="D4D4D4"/>
                </a:solidFill>
                <a:latin typeface="Consolas" pitchFamily="34" charset="0"/>
                <a:ea typeface="Consolas" pitchFamily="34" charset="-122"/>
                <a:cs typeface="Consolas" pitchFamily="34" charset="-120"/>
              </a:rPr>
              <a:t>        super().__init__()</a:t>
            </a:r>
            <a:endParaRPr lang="en-US" sz="850" dirty="0"/>
          </a:p>
          <a:p>
            <a:pPr indent="0" marL="0">
              <a:lnSpc>
                <a:spcPct val="92000"/>
              </a:lnSpc>
              <a:buNone/>
            </a:pPr>
            <a:r>
              <a:rPr lang="en-US" sz="850" dirty="0">
                <a:solidFill>
                  <a:srgbClr val="D4D4D4"/>
                </a:solidFill>
                <a:latin typeface="Consolas" pitchFamily="34" charset="0"/>
                <a:ea typeface="Consolas" pitchFamily="34" charset="-122"/>
                <a:cs typeface="Consolas" pitchFamily="34" charset="-120"/>
              </a:rPr>
              <a:t>        self.alpha = alpha</a:t>
            </a:r>
            <a:endParaRPr lang="en-US" sz="850" dirty="0"/>
          </a:p>
          <a:p>
            <a:pPr indent="0" marL="0">
              <a:lnSpc>
                <a:spcPct val="92000"/>
              </a:lnSpc>
              <a:buNone/>
            </a:pPr>
            <a:r>
              <a:rPr lang="en-US" sz="850" dirty="0">
                <a:solidFill>
                  <a:srgbClr val="D4D4D4"/>
                </a:solidFill>
                <a:latin typeface="Consolas" pitchFamily="34" charset="0"/>
                <a:ea typeface="Consolas" pitchFamily="34" charset="-122"/>
                <a:cs typeface="Consolas" pitchFamily="34" charset="-120"/>
              </a:rPr>
              <a:t>        self.gamma = gamma</a:t>
            </a:r>
            <a:endParaRPr lang="en-US" sz="850" dirty="0"/>
          </a:p>
          <a:p>
            <a:pPr indent="0" marL="0">
              <a:lnSpc>
                <a:spcPct val="92000"/>
              </a:lnSpc>
              <a:buNone/>
            </a:pPr>
            <a:endParaRPr lang="en-US" sz="850" dirty="0"/>
          </a:p>
          <a:p>
            <a:pPr indent="0" marL="0">
              <a:lnSpc>
                <a:spcPct val="92000"/>
              </a:lnSpc>
              <a:buNone/>
            </a:pPr>
            <a:r>
              <a:rPr lang="en-US" sz="850" dirty="0">
                <a:solidFill>
                  <a:srgbClr val="D4D4D4"/>
                </a:solidFill>
                <a:latin typeface="Consolas" pitchFamily="34" charset="0"/>
                <a:ea typeface="Consolas" pitchFamily="34" charset="-122"/>
                <a:cs typeface="Consolas" pitchFamily="34" charset="-120"/>
              </a:rPr>
              <a:t>    def forward(self, inputs, targets):</a:t>
            </a:r>
            <a:endParaRPr lang="en-US" sz="850" dirty="0"/>
          </a:p>
          <a:p>
            <a:pPr indent="0" marL="0">
              <a:lnSpc>
                <a:spcPct val="92000"/>
              </a:lnSpc>
              <a:buNone/>
            </a:pPr>
            <a:r>
              <a:rPr lang="en-US" sz="850" dirty="0">
                <a:solidFill>
                  <a:srgbClr val="D4D4D4"/>
                </a:solidFill>
                <a:latin typeface="Consolas" pitchFamily="34" charset="0"/>
                <a:ea typeface="Consolas" pitchFamily="34" charset="-122"/>
                <a:cs typeface="Consolas" pitchFamily="34" charset="-120"/>
              </a:rPr>
              <a:t>        BCE = F.binary_cross_entropy_with_logits(</a:t>
            </a:r>
            <a:endParaRPr lang="en-US" sz="850" dirty="0"/>
          </a:p>
          <a:p>
            <a:pPr indent="0" marL="0">
              <a:lnSpc>
                <a:spcPct val="92000"/>
              </a:lnSpc>
              <a:buNone/>
            </a:pPr>
            <a:r>
              <a:rPr lang="en-US" sz="850" dirty="0">
                <a:solidFill>
                  <a:srgbClr val="D4D4D4"/>
                </a:solidFill>
                <a:latin typeface="Consolas" pitchFamily="34" charset="0"/>
                <a:ea typeface="Consolas" pitchFamily="34" charset="-122"/>
                <a:cs typeface="Consolas" pitchFamily="34" charset="-120"/>
              </a:rPr>
              <a:t>            inputs, targets, reduction='none')</a:t>
            </a:r>
            <a:endParaRPr lang="en-US" sz="850" dirty="0"/>
          </a:p>
          <a:p>
            <a:pPr indent="0" marL="0">
              <a:lnSpc>
                <a:spcPct val="92000"/>
              </a:lnSpc>
              <a:buNone/>
            </a:pPr>
            <a:r>
              <a:rPr lang="en-US" sz="850" dirty="0">
                <a:solidFill>
                  <a:srgbClr val="D4D4D4"/>
                </a:solidFill>
                <a:latin typeface="Consolas" pitchFamily="34" charset="0"/>
                <a:ea typeface="Consolas" pitchFamily="34" charset="-122"/>
                <a:cs typeface="Consolas" pitchFamily="34" charset="-120"/>
              </a:rPr>
              <a:t>        pt = torch.exp(-BCE)</a:t>
            </a:r>
            <a:endParaRPr lang="en-US" sz="850" dirty="0"/>
          </a:p>
          <a:p>
            <a:pPr indent="0" marL="0">
              <a:lnSpc>
                <a:spcPct val="92000"/>
              </a:lnSpc>
              <a:buNone/>
            </a:pPr>
            <a:r>
              <a:rPr lang="en-US" sz="850" dirty="0">
                <a:solidFill>
                  <a:srgbClr val="D4D4D4"/>
                </a:solidFill>
                <a:latin typeface="Consolas" pitchFamily="34" charset="0"/>
                <a:ea typeface="Consolas" pitchFamily="34" charset="-122"/>
                <a:cs typeface="Consolas" pitchFamily="34" charset="-120"/>
              </a:rPr>
              <a:t>        loss = self.alpha * (1-pt)**self.gamma * BCE</a:t>
            </a:r>
            <a:endParaRPr lang="en-US" sz="850" dirty="0"/>
          </a:p>
          <a:p>
            <a:pPr indent="0" marL="0">
              <a:lnSpc>
                <a:spcPct val="92000"/>
              </a:lnSpc>
              <a:buNone/>
            </a:pPr>
            <a:r>
              <a:rPr lang="en-US" sz="850" dirty="0">
                <a:solidFill>
                  <a:srgbClr val="D4D4D4"/>
                </a:solidFill>
                <a:latin typeface="Consolas" pitchFamily="34" charset="0"/>
                <a:ea typeface="Consolas" pitchFamily="34" charset="-122"/>
                <a:cs typeface="Consolas" pitchFamily="34" charset="-120"/>
              </a:rPr>
              <a:t>        return loss.mean()</a:t>
            </a:r>
            <a:endParaRPr lang="en-US" sz="850" dirty="0"/>
          </a:p>
          <a:p>
            <a:pPr indent="0" marL="0">
              <a:lnSpc>
                <a:spcPct val="92000"/>
              </a:lnSpc>
              <a:buNone/>
            </a:pPr>
            <a:endParaRPr lang="en-US" sz="850" dirty="0"/>
          </a:p>
          <a:p>
            <a:pPr indent="0" marL="0">
              <a:lnSpc>
                <a:spcPct val="92000"/>
              </a:lnSpc>
              <a:buNone/>
            </a:pPr>
            <a:r>
              <a:rPr lang="en-US" sz="850" dirty="0">
                <a:solidFill>
                  <a:srgbClr val="D4D4D4"/>
                </a:solidFill>
                <a:latin typeface="Consolas" pitchFamily="34" charset="0"/>
                <a:ea typeface="Consolas" pitchFamily="34" charset="-122"/>
                <a:cs typeface="Consolas" pitchFamily="34" charset="-120"/>
              </a:rPr>
              <a:t># Usage: criterion = FocalLoss(alpha=0.25, gamma=2.0)</a:t>
            </a:r>
            <a:endParaRPr lang="en-US" sz="850" dirty="0"/>
          </a:p>
          <a:p>
            <a:pPr indent="0" marL="0">
              <a:lnSpc>
                <a:spcPct val="92000"/>
              </a:lnSpc>
              <a:buNone/>
            </a:pPr>
            <a:r>
              <a:rPr lang="en-US" sz="850" dirty="0">
                <a:solidFill>
                  <a:srgbClr val="D4D4D4"/>
                </a:solidFill>
                <a:latin typeface="Consolas" pitchFamily="34" charset="0"/>
                <a:ea typeface="Consolas" pitchFamily="34" charset="-122"/>
                <a:cs typeface="Consolas" pitchFamily="34" charset="-120"/>
              </a:rPr>
              <a:t># pred = torch.randn(4, 80, 10, 10)   # batch x cls x H x W</a:t>
            </a:r>
            <a:endParaRPr lang="en-US" sz="850" dirty="0"/>
          </a:p>
          <a:p>
            <a:pPr indent="0" marL="0">
              <a:lnSpc>
                <a:spcPct val="92000"/>
              </a:lnSpc>
              <a:buNone/>
            </a:pPr>
            <a:r>
              <a:rPr lang="en-US" sz="850" dirty="0">
                <a:solidFill>
                  <a:srgbClr val="D4D4D4"/>
                </a:solidFill>
                <a:latin typeface="Consolas" pitchFamily="34" charset="0"/>
                <a:ea typeface="Consolas" pitchFamily="34" charset="-122"/>
                <a:cs typeface="Consolas" pitchFamily="34" charset="-120"/>
              </a:rPr>
              <a:t># loss = criterion(pred, target)       # backward &amp; optimize</a:t>
            </a:r>
            <a:endParaRPr lang="en-US" sz="850" dirty="0"/>
          </a:p>
        </p:txBody>
      </p:sp>
      <p:sp>
        <p:nvSpPr>
          <p:cNvPr id="13" name="Text 10"/>
          <p:cNvSpPr/>
          <p:nvPr/>
        </p:nvSpPr>
        <p:spPr>
          <a:xfrm>
            <a:off x="457200" y="4114800"/>
            <a:ext cx="8229600" cy="457200"/>
          </a:xfrm>
          <a:prstGeom prst="rect">
            <a:avLst/>
          </a:prstGeom>
          <a:noFill/>
          <a:ln/>
        </p:spPr>
        <p:txBody>
          <a:bodyPr wrap="square" rtlCol="0" anchor="ctr"/>
          <a:lstStyle/>
          <a:p>
            <a:pPr indent="0" marL="0">
              <a:buNone/>
            </a:pPr>
            <a:r>
              <a:rPr lang="en-US" sz="900" i="1" dirty="0">
                <a:solidFill>
                  <a:srgbClr val="666666"/>
                </a:solidFill>
                <a:latin typeface="Calibri" pitchFamily="34" charset="0"/>
                <a:ea typeface="Calibri" pitchFamily="34" charset="-122"/>
                <a:cs typeface="Calibri" pitchFamily="34" charset="-120"/>
              </a:rPr>
              <a:t>要点: binary_cross_entropy_with_logits保持数值稳定; pt=exp(-BCE); (1-pt)^gamma聚焦因子</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713232"/>
          </a:xfrm>
          <a:prstGeom prst="rect">
            <a:avLst/>
          </a:prstGeom>
          <a:solidFill>
            <a:srgbClr val="2C5F2D"/>
          </a:solidFill>
          <a:ln/>
        </p:spPr>
      </p:sp>
      <p:sp>
        <p:nvSpPr>
          <p:cNvPr id="4" name="Shape 1"/>
          <p:cNvSpPr/>
          <p:nvPr/>
        </p:nvSpPr>
        <p:spPr>
          <a:xfrm>
            <a:off x="0" y="713232"/>
            <a:ext cx="9144000" cy="27432"/>
          </a:xfrm>
          <a:prstGeom prst="rect">
            <a:avLst/>
          </a:prstGeom>
          <a:solidFill>
            <a:srgbClr val="D4A843"/>
          </a:solidFill>
          <a:ln/>
        </p:spPr>
      </p:sp>
      <p:sp>
        <p:nvSpPr>
          <p:cNvPr id="5" name="Text 2"/>
          <p:cNvSpPr/>
          <p:nvPr/>
        </p:nvSpPr>
        <p:spPr>
          <a:xfrm>
            <a:off x="457200" y="45720"/>
            <a:ext cx="8229600" cy="438912"/>
          </a:xfrm>
          <a:prstGeom prst="rect">
            <a:avLst/>
          </a:prstGeom>
          <a:noFill/>
          <a:ln/>
        </p:spPr>
        <p:txBody>
          <a:bodyPr wrap="square" rtlCol="0" anchor="b">
            <a:normAutofit/>
          </a:bodyPr>
          <a:lstStyle/>
          <a:p>
            <a:pPr indent="0" marL="0">
              <a:buNone/>
            </a:pPr>
            <a:r>
              <a:rPr lang="en-US" sz="2200" b="1" spc="150" kern="0" dirty="0">
                <a:solidFill>
                  <a:srgbClr val="FFFFFF"/>
                </a:solidFill>
                <a:latin typeface="Georgia" pitchFamily="34" charset="0"/>
                <a:ea typeface="Georgia" pitchFamily="34" charset="-122"/>
                <a:cs typeface="Georgia" pitchFamily="34" charset="-120"/>
              </a:rPr>
              <a:t>思考题与下节预告</a:t>
            </a:r>
            <a:endParaRPr lang="en-US" sz="2200" dirty="0"/>
          </a:p>
        </p:txBody>
      </p:sp>
      <p:sp>
        <p:nvSpPr>
          <p:cNvPr id="6" name="Text 3"/>
          <p:cNvSpPr/>
          <p:nvPr/>
        </p:nvSpPr>
        <p:spPr>
          <a:xfrm>
            <a:off x="457200" y="502920"/>
            <a:ext cx="8229600" cy="201168"/>
          </a:xfrm>
          <a:prstGeom prst="rect">
            <a:avLst/>
          </a:prstGeom>
          <a:noFill/>
          <a:ln/>
        </p:spPr>
        <p:txBody>
          <a:bodyPr wrap="square" rtlCol="0" anchor="ctr">
            <a:normAutofit/>
          </a:bodyPr>
          <a:lstStyle/>
          <a:p>
            <a:pPr indent="0" marL="0">
              <a:buNone/>
            </a:pPr>
            <a:r>
              <a:rPr lang="en-US" sz="1000" spc="50" kern="0" dirty="0">
                <a:solidFill>
                  <a:srgbClr val="E8F5E9"/>
                </a:solidFill>
                <a:latin typeface="Calibri" pitchFamily="34" charset="0"/>
                <a:ea typeface="Calibri" pitchFamily="34" charset="-122"/>
                <a:cs typeface="Calibri" pitchFamily="34" charset="-120"/>
              </a:rPr>
              <a:t>Day 40: Anchor-Free检测</a:t>
            </a:r>
            <a:endParaRPr lang="en-US" sz="1000" dirty="0"/>
          </a:p>
        </p:txBody>
      </p:sp>
      <p:sp>
        <p:nvSpPr>
          <p:cNvPr id="7" name="Shape 4"/>
          <p:cNvSpPr/>
          <p:nvPr/>
        </p:nvSpPr>
        <p:spPr>
          <a:xfrm>
            <a:off x="0" y="4869180"/>
            <a:ext cx="9144000" cy="274320"/>
          </a:xfrm>
          <a:prstGeom prst="rect">
            <a:avLst/>
          </a:prstGeom>
          <a:solidFill>
            <a:srgbClr val="2C5F2D"/>
          </a:solidFill>
          <a:ln/>
        </p:spPr>
      </p:sp>
      <p:sp>
        <p:nvSpPr>
          <p:cNvPr id="8" name="Text 5"/>
          <p:cNvSpPr/>
          <p:nvPr/>
        </p:nvSpPr>
        <p:spPr>
          <a:xfrm>
            <a:off x="457200" y="4869180"/>
            <a:ext cx="3657600" cy="274320"/>
          </a:xfrm>
          <a:prstGeom prst="rect">
            <a:avLst/>
          </a:prstGeom>
          <a:noFill/>
          <a:ln/>
        </p:spPr>
        <p:txBody>
          <a:bodyPr wrap="square" rtlCol="0" anchor="ctr">
            <a:normAutofit/>
          </a:bodyPr>
          <a:lstStyle/>
          <a:p>
            <a:pPr indent="0" marL="0">
              <a:buNone/>
            </a:pPr>
            <a:r>
              <a:rPr lang="en-US" sz="800" dirty="0">
                <a:solidFill>
                  <a:srgbClr val="97BC62"/>
                </a:solidFill>
                <a:latin typeface="Calibri" pitchFamily="34" charset="0"/>
                <a:ea typeface="Calibri" pitchFamily="34" charset="-122"/>
                <a:cs typeface="Calibri" pitchFamily="34" charset="-120"/>
              </a:rPr>
              <a:t>CV 100 Days | Day 39</a:t>
            </a:r>
            <a:endParaRPr lang="en-US" sz="800" dirty="0"/>
          </a:p>
        </p:txBody>
      </p:sp>
      <p:sp>
        <p:nvSpPr>
          <p:cNvPr id="9" name="Text 6"/>
          <p:cNvSpPr/>
          <p:nvPr/>
        </p:nvSpPr>
        <p:spPr>
          <a:xfrm>
            <a:off x="7315200" y="4869180"/>
            <a:ext cx="1371600" cy="274320"/>
          </a:xfrm>
          <a:prstGeom prst="rect">
            <a:avLst/>
          </a:prstGeom>
          <a:noFill/>
          <a:ln/>
        </p:spPr>
        <p:txBody>
          <a:bodyPr wrap="square" rtlCol="0" anchor="ctr">
            <a:normAutofit/>
          </a:bodyPr>
          <a:lstStyle/>
          <a:p>
            <a:pPr algn="r" indent="0" marL="0">
              <a:buNone/>
            </a:pPr>
            <a:r>
              <a:rPr lang="en-US" sz="800" dirty="0">
                <a:solidFill>
                  <a:srgbClr val="97BC62"/>
                </a:solidFill>
                <a:latin typeface="Calibri" pitchFamily="34" charset="0"/>
                <a:ea typeface="Calibri" pitchFamily="34" charset="-122"/>
                <a:cs typeface="Calibri" pitchFamily="34" charset="-120"/>
              </a:rPr>
              <a:t>19 / 20</a:t>
            </a:r>
            <a:endParaRPr lang="en-US" sz="800" dirty="0"/>
          </a:p>
        </p:txBody>
      </p:sp>
      <p:sp>
        <p:nvSpPr>
          <p:cNvPr id="10" name="Shape 7"/>
          <p:cNvSpPr/>
          <p:nvPr/>
        </p:nvSpPr>
        <p:spPr>
          <a:xfrm>
            <a:off x="457200" y="914400"/>
            <a:ext cx="8229600" cy="1920240"/>
          </a:xfrm>
          <a:prstGeom prst="roundRect">
            <a:avLst>
              <a:gd name="adj" fmla="val 4762"/>
            </a:avLst>
          </a:prstGeom>
          <a:solidFill>
            <a:srgbClr val="FFFFFF"/>
          </a:solidFill>
          <a:ln/>
          <a:effectLst>
            <a:outerShdw sx="100000" sy="100000" kx="0" ky="0" algn="bl" rotWithShape="0" blurRad="203200" dist="76200" dir="8100000">
              <a:srgbClr val="000000">
                <a:alpha val="32000"/>
              </a:srgbClr>
            </a:outerShdw>
          </a:effectLst>
        </p:spPr>
      </p:sp>
      <p:sp>
        <p:nvSpPr>
          <p:cNvPr id="11" name="Text 8"/>
          <p:cNvSpPr/>
          <p:nvPr/>
        </p:nvSpPr>
        <p:spPr>
          <a:xfrm>
            <a:off x="640080" y="960120"/>
            <a:ext cx="1828800" cy="256032"/>
          </a:xfrm>
          <a:prstGeom prst="rect">
            <a:avLst/>
          </a:prstGeom>
          <a:noFill/>
          <a:ln/>
        </p:spPr>
        <p:txBody>
          <a:bodyPr wrap="square" rtlCol="0" anchor="ctr">
            <a:normAutofit/>
          </a:bodyPr>
          <a:lstStyle/>
          <a:p>
            <a:pPr indent="0" marL="0">
              <a:buNone/>
            </a:pPr>
            <a:r>
              <a:rPr lang="en-US" sz="1400" b="1" dirty="0">
                <a:solidFill>
                  <a:srgbClr val="2C5F2D"/>
                </a:solidFill>
                <a:latin typeface="Georgia" pitchFamily="34" charset="0"/>
                <a:ea typeface="Georgia" pitchFamily="34" charset="-122"/>
                <a:cs typeface="Georgia" pitchFamily="34" charset="-120"/>
              </a:rPr>
              <a:t>思考题</a:t>
            </a:r>
            <a:endParaRPr lang="en-US" sz="1400" dirty="0"/>
          </a:p>
        </p:txBody>
      </p:sp>
      <p:sp>
        <p:nvSpPr>
          <p:cNvPr id="12" name="Text 9"/>
          <p:cNvSpPr/>
          <p:nvPr/>
        </p:nvSpPr>
        <p:spPr>
          <a:xfrm>
            <a:off x="640080" y="1261872"/>
            <a:ext cx="7863840" cy="1463040"/>
          </a:xfrm>
          <a:prstGeom prst="rect">
            <a:avLst/>
          </a:prstGeom>
          <a:noFill/>
          <a:ln/>
        </p:spPr>
        <p:txBody>
          <a:bodyPr wrap="square" rtlCol="0" anchor="ctr"/>
          <a:lstStyle/>
          <a:p>
            <a:pPr marL="342900" indent="-342900">
              <a:buSzPct val="100000"/>
              <a:buChar char="•"/>
            </a:pPr>
            <a:r>
              <a:rPr lang="en-US" sz="1000" dirty="0">
                <a:solidFill>
                  <a:srgbClr val="333333"/>
                </a:solidFill>
              </a:rPr>
              <a:t>1. SSD使用VGG16作为backbone，替换为ResNet-50性能如何变化？</a:t>
            </a:r>
            <a:endParaRPr lang="en-US" sz="1000" dirty="0"/>
          </a:p>
          <a:p>
            <a:pPr marL="342900" indent="-342900">
              <a:buSzPct val="100000"/>
              <a:buChar char="•"/>
            </a:pPr>
            <a:r>
              <a:rPr lang="en-US" sz="1000" dirty="0">
                <a:solidFill>
                  <a:srgbClr val="333333"/>
                </a:solidFill>
              </a:rPr>
              <a:t>2. FPN中不使用横向连接，仅靠自顶向下上采样，结果如何？</a:t>
            </a:r>
            <a:endParaRPr lang="en-US" sz="1000" dirty="0"/>
          </a:p>
          <a:p>
            <a:pPr marL="342900" indent="-342900">
              <a:buSzPct val="100000"/>
              <a:buChar char="•"/>
            </a:pPr>
            <a:r>
              <a:rPr lang="en-US" sz="1000" dirty="0">
                <a:solidFill>
                  <a:srgbClr val="333333"/>
                </a:solidFill>
              </a:rPr>
              <a:t>3. Focal Loss的gamma=0和gamma=无穷分别对应什么行为？</a:t>
            </a:r>
            <a:endParaRPr lang="en-US" sz="1000" dirty="0"/>
          </a:p>
          <a:p>
            <a:pPr marL="342900" indent="-342900">
              <a:buSzPct val="100000"/>
              <a:buChar char="•"/>
            </a:pPr>
            <a:r>
              <a:rPr lang="en-US" sz="1000" dirty="0">
                <a:solidFill>
                  <a:srgbClr val="333333"/>
                </a:solidFill>
              </a:rPr>
              <a:t>4. 能否将FPN思想应用到语义分割任务中？</a:t>
            </a:r>
            <a:endParaRPr lang="en-US" sz="1000" dirty="0"/>
          </a:p>
        </p:txBody>
      </p:sp>
      <p:sp>
        <p:nvSpPr>
          <p:cNvPr id="13" name="Shape 10"/>
          <p:cNvSpPr/>
          <p:nvPr/>
        </p:nvSpPr>
        <p:spPr>
          <a:xfrm>
            <a:off x="457200" y="3017520"/>
            <a:ext cx="8229600" cy="1691640"/>
          </a:xfrm>
          <a:prstGeom prst="roundRect">
            <a:avLst>
              <a:gd name="adj" fmla="val 5405"/>
            </a:avLst>
          </a:prstGeom>
          <a:solidFill>
            <a:srgbClr val="FFF8E1"/>
          </a:solidFill>
          <a:ln/>
          <a:effectLst>
            <a:outerShdw sx="100000" sy="100000" kx="0" ky="0" algn="bl" rotWithShape="0" blurRad="152400" dist="50800" dir="8100000">
              <a:srgbClr val="000000">
                <a:alpha val="28000"/>
              </a:srgbClr>
            </a:outerShdw>
          </a:effectLst>
        </p:spPr>
      </p:sp>
      <p:sp>
        <p:nvSpPr>
          <p:cNvPr id="14" name="Shape 11"/>
          <p:cNvSpPr/>
          <p:nvPr/>
        </p:nvSpPr>
        <p:spPr>
          <a:xfrm>
            <a:off x="457200" y="3017520"/>
            <a:ext cx="8229600" cy="36576"/>
          </a:xfrm>
          <a:prstGeom prst="rect">
            <a:avLst/>
          </a:prstGeom>
          <a:solidFill>
            <a:srgbClr val="D4A843"/>
          </a:solidFill>
          <a:ln/>
        </p:spPr>
      </p:sp>
      <p:sp>
        <p:nvSpPr>
          <p:cNvPr id="15" name="Text 12"/>
          <p:cNvSpPr/>
          <p:nvPr/>
        </p:nvSpPr>
        <p:spPr>
          <a:xfrm>
            <a:off x="640080" y="3108960"/>
            <a:ext cx="4572000" cy="256032"/>
          </a:xfrm>
          <a:prstGeom prst="rect">
            <a:avLst/>
          </a:prstGeom>
          <a:noFill/>
          <a:ln/>
        </p:spPr>
        <p:txBody>
          <a:bodyPr wrap="square" rtlCol="0" anchor="ctr">
            <a:normAutofit/>
          </a:bodyPr>
          <a:lstStyle/>
          <a:p>
            <a:pPr indent="0" marL="0">
              <a:buNone/>
            </a:pPr>
            <a:r>
              <a:rPr lang="en-US" sz="1400" b="1" dirty="0">
                <a:solidFill>
                  <a:srgbClr val="D4A843"/>
                </a:solidFill>
                <a:latin typeface="Georgia" pitchFamily="34" charset="0"/>
                <a:ea typeface="Georgia" pitchFamily="34" charset="-122"/>
                <a:cs typeface="Georgia" pitchFamily="34" charset="-120"/>
              </a:rPr>
              <a:t>Day 40 预告: Anchor-Free检测</a:t>
            </a:r>
            <a:endParaRPr lang="en-US" sz="1400" dirty="0"/>
          </a:p>
        </p:txBody>
      </p:sp>
      <p:sp>
        <p:nvSpPr>
          <p:cNvPr id="16" name="Text 13"/>
          <p:cNvSpPr/>
          <p:nvPr/>
        </p:nvSpPr>
        <p:spPr>
          <a:xfrm>
            <a:off x="640080" y="3383280"/>
            <a:ext cx="7863840" cy="228600"/>
          </a:xfrm>
          <a:prstGeom prst="rect">
            <a:avLst/>
          </a:prstGeom>
          <a:noFill/>
          <a:ln/>
        </p:spPr>
        <p:txBody>
          <a:bodyPr wrap="square" rtlCol="0" anchor="ctr">
            <a:normAutofit/>
          </a:bodyPr>
          <a:lstStyle/>
          <a:p>
            <a:pPr indent="0" marL="0">
              <a:buNone/>
            </a:pPr>
            <a:r>
              <a:rPr lang="en-US" sz="1100" i="1" dirty="0">
                <a:solidFill>
                  <a:srgbClr val="333333"/>
                </a:solidFill>
                <a:latin typeface="Calibri" pitchFamily="34" charset="0"/>
                <a:ea typeface="Calibri" pitchFamily="34" charset="-122"/>
                <a:cs typeface="Calibri" pitchFamily="34" charset="-120"/>
              </a:rPr>
              <a:t>告别Anchor：从CenterNet到FCOS</a:t>
            </a:r>
            <a:endParaRPr lang="en-US" sz="1100" dirty="0"/>
          </a:p>
        </p:txBody>
      </p:sp>
      <p:sp>
        <p:nvSpPr>
          <p:cNvPr id="17" name="Text 14"/>
          <p:cNvSpPr/>
          <p:nvPr/>
        </p:nvSpPr>
        <p:spPr>
          <a:xfrm>
            <a:off x="640080" y="3657600"/>
            <a:ext cx="7863840" cy="914400"/>
          </a:xfrm>
          <a:prstGeom prst="rect">
            <a:avLst/>
          </a:prstGeom>
          <a:noFill/>
          <a:ln/>
        </p:spPr>
        <p:txBody>
          <a:bodyPr wrap="square" rtlCol="0" anchor="ctr"/>
          <a:lstStyle/>
          <a:p>
            <a:pPr marL="342900" indent="-342900">
              <a:buSzPct val="100000"/>
              <a:buChar char="•"/>
            </a:pPr>
            <a:r>
              <a:rPr lang="en-US" sz="1000" dirty="0">
                <a:solidFill>
                  <a:srgbClr val="333333"/>
                </a:solidFill>
              </a:rPr>
              <a:t>CenterNet: 目标建模为中心点关键点检测</a:t>
            </a:r>
            <a:endParaRPr lang="en-US" sz="1000" dirty="0"/>
          </a:p>
          <a:p>
            <a:pPr marL="342900" indent="-342900">
              <a:buSzPct val="100000"/>
              <a:buChar char="•"/>
            </a:pPr>
            <a:r>
              <a:rPr lang="en-US" sz="1000" dirty="0">
                <a:solidFill>
                  <a:srgbClr val="333333"/>
                </a:solidFill>
              </a:rPr>
              <a:t>FCOS: 逐像素预测到边界框四边的距离</a:t>
            </a:r>
            <a:endParaRPr lang="en-US" sz="1000" dirty="0"/>
          </a:p>
          <a:p>
            <a:pPr marL="342900" indent="-342900">
              <a:buSzPct val="100000"/>
              <a:buChar char="•"/>
            </a:pPr>
            <a:r>
              <a:rPr lang="en-US" sz="1000" dirty="0">
                <a:solidFill>
                  <a:srgbClr val="333333"/>
                </a:solidFill>
              </a:rPr>
              <a:t>Anchor-Free vs Anchor-Based 设计哲学对比</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0" y="0"/>
            <a:ext cx="9144000" cy="5143500"/>
          </a:xfrm>
          <a:prstGeom prst="rect">
            <a:avLst/>
          </a:prstGeom>
          <a:solidFill>
            <a:srgbClr val="000000">
              <a:alpha val="50000"/>
            </a:srgbClr>
          </a:solidFill>
          <a:ln/>
        </p:spPr>
      </p:sp>
      <p:sp>
        <p:nvSpPr>
          <p:cNvPr id="4" name="Text 1"/>
          <p:cNvSpPr/>
          <p:nvPr/>
        </p:nvSpPr>
        <p:spPr>
          <a:xfrm>
            <a:off x="914400" y="1097280"/>
            <a:ext cx="7315200" cy="914400"/>
          </a:xfrm>
          <a:prstGeom prst="rect">
            <a:avLst/>
          </a:prstGeom>
          <a:noFill/>
          <a:ln/>
        </p:spPr>
        <p:txBody>
          <a:bodyPr wrap="square" rtlCol="0" anchor="ctr">
            <a:normAutofit/>
          </a:bodyPr>
          <a:lstStyle/>
          <a:p>
            <a:pPr algn="ctr" indent="0" marL="0">
              <a:buNone/>
            </a:pPr>
            <a:r>
              <a:rPr lang="en-US" sz="4000" b="1" spc="250" kern="0" dirty="0">
                <a:solidFill>
                  <a:srgbClr val="FFFFFF"/>
                </a:solidFill>
                <a:latin typeface="Georgia" pitchFamily="34" charset="0"/>
                <a:ea typeface="Georgia" pitchFamily="34" charset="-122"/>
                <a:cs typeface="Georgia" pitchFamily="34" charset="-120"/>
              </a:rPr>
              <a:t>感谢观看</a:t>
            </a:r>
            <a:endParaRPr lang="en-US" sz="4000" dirty="0"/>
          </a:p>
        </p:txBody>
      </p:sp>
      <p:sp>
        <p:nvSpPr>
          <p:cNvPr id="5" name="Text 2"/>
          <p:cNvSpPr/>
          <p:nvPr/>
        </p:nvSpPr>
        <p:spPr>
          <a:xfrm>
            <a:off x="1371600" y="2011680"/>
            <a:ext cx="6400800" cy="457200"/>
          </a:xfrm>
          <a:prstGeom prst="rect">
            <a:avLst/>
          </a:prstGeom>
          <a:noFill/>
          <a:ln/>
        </p:spPr>
        <p:txBody>
          <a:bodyPr wrap="square" rtlCol="0" anchor="ctr">
            <a:normAutofit/>
          </a:bodyPr>
          <a:lstStyle/>
          <a:p>
            <a:pPr algn="ctr" indent="0" marL="0">
              <a:buNone/>
            </a:pPr>
            <a:r>
              <a:rPr lang="en-US" sz="1600" dirty="0">
                <a:solidFill>
                  <a:srgbClr val="97BC62"/>
                </a:solidFill>
                <a:latin typeface="Calibri" pitchFamily="34" charset="0"/>
                <a:ea typeface="Calibri" pitchFamily="34" charset="-122"/>
                <a:cs typeface="Calibri" pitchFamily="34" charset="-120"/>
              </a:rPr>
              <a:t>Day 39: SSD与FPN — 多尺度目标检测的里程碑</a:t>
            </a:r>
            <a:endParaRPr lang="en-US" sz="1600" dirty="0"/>
          </a:p>
        </p:txBody>
      </p:sp>
      <p:sp>
        <p:nvSpPr>
          <p:cNvPr id="6" name="Shape 3"/>
          <p:cNvSpPr/>
          <p:nvPr/>
        </p:nvSpPr>
        <p:spPr>
          <a:xfrm>
            <a:off x="3200400" y="2651760"/>
            <a:ext cx="2743200" cy="27432"/>
          </a:xfrm>
          <a:prstGeom prst="rect">
            <a:avLst/>
          </a:prstGeom>
          <a:solidFill>
            <a:srgbClr val="D4A843"/>
          </a:solidFill>
          <a:ln/>
        </p:spPr>
      </p:sp>
      <p:sp>
        <p:nvSpPr>
          <p:cNvPr id="7" name="Text 4"/>
          <p:cNvSpPr/>
          <p:nvPr/>
        </p:nvSpPr>
        <p:spPr>
          <a:xfrm>
            <a:off x="1371600" y="2834640"/>
            <a:ext cx="6400800" cy="1371600"/>
          </a:xfrm>
          <a:prstGeom prst="rect">
            <a:avLst/>
          </a:prstGeom>
          <a:noFill/>
          <a:ln/>
        </p:spPr>
        <p:txBody>
          <a:bodyPr wrap="square" rtlCol="0" anchor="t">
            <a:normAutofit/>
          </a:bodyPr>
          <a:lstStyle/>
          <a:p>
            <a:pPr algn="ctr" indent="0" marL="0">
              <a:buNone/>
            </a:pPr>
            <a:r>
              <a:rPr lang="en-US" sz="1200" b="1" dirty="0">
                <a:solidFill>
                  <a:srgbClr val="D4A843"/>
                </a:solidFill>
              </a:rPr>
              <a:t>参考资料</a:t>
            </a:r>
            <a:endParaRPr lang="en-US" sz="1200" dirty="0"/>
          </a:p>
          <a:p>
            <a:pPr algn="ctr" indent="0" marL="0">
              <a:buNone/>
            </a:pPr>
            <a:r>
              <a:rPr lang="en-US" sz="1000" dirty="0">
                <a:solidFill>
                  <a:srgbClr val="CCCCCC"/>
                </a:solidFill>
              </a:rPr>
              <a:t>SSD: Liu et al., ECCV 2016</a:t>
            </a:r>
            <a:endParaRPr lang="en-US" sz="1200" dirty="0"/>
          </a:p>
          <a:p>
            <a:pPr algn="ctr" indent="0" marL="0">
              <a:buNone/>
            </a:pPr>
            <a:r>
              <a:rPr lang="en-US" sz="1000" dirty="0">
                <a:solidFill>
                  <a:srgbClr val="CCCCCC"/>
                </a:solidFill>
              </a:rPr>
              <a:t>FPN: Lin et al., CVPR 2017</a:t>
            </a:r>
            <a:endParaRPr lang="en-US" sz="1200" dirty="0"/>
          </a:p>
          <a:p>
            <a:pPr algn="ctr" indent="0" marL="0">
              <a:buNone/>
            </a:pPr>
            <a:r>
              <a:rPr lang="en-US" sz="1000" dirty="0">
                <a:solidFill>
                  <a:srgbClr val="CCCCCC"/>
                </a:solidFill>
              </a:rPr>
              <a:t>RetinaNet: Lin et al., ICCV 2017</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39: SSD与FPN — 多尺度目标检测的里程碑</dc:title>
  <dc:subject>PptxGenJS Presentation</dc:subject>
  <dc:creator>CV Learning 100 Days</dc:creator>
  <cp:lastModifiedBy>CV Learning 100 Days</cp:lastModifiedBy>
  <cp:revision>1</cp:revision>
  <dcterms:created xsi:type="dcterms:W3CDTF">2026-07-03T05:18:24Z</dcterms:created>
  <dcterms:modified xsi:type="dcterms:W3CDTF">2026-07-03T05:18:24Z</dcterms:modified>
</cp:coreProperties>
</file>