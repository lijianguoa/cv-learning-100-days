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50" kern="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78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医学图像处理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DICOM to AI-Assisted Diagnosis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18288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计算机视觉100天学习计划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2026-08-11 | 演讲版 (Talk Mode)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0" y="1371600"/>
            <a:ext cx="1645920" cy="164592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3716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🔬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今日议程 Agenda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14400" y="1051560"/>
            <a:ext cx="7315200" cy="530352"/>
          </a:xfrm>
          <a:prstGeom prst="rect">
            <a:avLst>
              <a:gd name="adj" fmla="val 517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051560"/>
            <a:ext cx="73152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6984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106984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医学影像发展史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106984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X-ray to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1673352"/>
            <a:ext cx="7315200" cy="530352"/>
          </a:xfrm>
          <a:prstGeom prst="rect">
            <a:avLst>
              <a:gd name="adj" fmla="val 517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1673352"/>
            <a:ext cx="73152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691640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1691640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成像模态与DICOM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691640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CT, MRI, DICOM标准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2295144"/>
            <a:ext cx="7315200" cy="530352"/>
          </a:xfrm>
          <a:prstGeom prst="rect">
            <a:avLst>
              <a:gd name="adj" fmla="val 517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2295144"/>
            <a:ext cx="73152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2313432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37360" y="2313432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CT/MRI图像分析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0" y="231343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 &amp; 脉冲序列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2916936"/>
            <a:ext cx="7315200" cy="530352"/>
          </a:xfrm>
          <a:prstGeom prst="rect">
            <a:avLst>
              <a:gd name="adj" fmla="val 517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2916936"/>
            <a:ext cx="73152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2935224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737360" y="2935224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肺结节AI检测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93522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U-Net与检测Pipeline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" y="3538728"/>
            <a:ext cx="7315200" cy="530352"/>
          </a:xfrm>
          <a:prstGeom prst="rect">
            <a:avLst>
              <a:gd name="adj" fmla="val 517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3538728"/>
            <a:ext cx="73152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3557016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737360" y="3557016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数据集与文献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0" y="355701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关键资源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14400" y="4160520"/>
            <a:ext cx="7315200" cy="530352"/>
          </a:xfrm>
          <a:prstGeom prst="rect">
            <a:avLst>
              <a:gd name="adj" fmla="val 5172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160520"/>
            <a:ext cx="73152" cy="53035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4178808"/>
            <a:ext cx="548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737360" y="4178808"/>
            <a:ext cx="36576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总结与展望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4178808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挑战与下节预告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医学影像发展史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125年的技术演进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685800"/>
          </a:xfrm>
          <a:prstGeom prst="rect">
            <a:avLst>
              <a:gd name="adj" fmla="val 40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1188720" cy="685800"/>
          </a:xfrm>
          <a:prstGeom prst="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1895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X射线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伦琴发现，首届诺贝尔物理学奖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685800"/>
          </a:xfrm>
          <a:prstGeom prst="rect">
            <a:avLst>
              <a:gd name="adj" fmla="val 4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74520"/>
            <a:ext cx="1188720" cy="685800"/>
          </a:xfrm>
          <a:prstGeom prst="rect">
            <a:avLst>
              <a:gd name="adj" fmla="val 4000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7452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1920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2240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Hounsfield发明，3D重建革命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685800"/>
          </a:xfrm>
          <a:prstGeom prst="rect">
            <a:avLst>
              <a:gd name="adj" fmla="val 400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51760"/>
            <a:ext cx="1188720" cy="685800"/>
          </a:xfrm>
          <a:prstGeom prst="rect">
            <a:avLst>
              <a:gd name="adj" fmla="val 4000"/>
            </a:avLst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5176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26974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3017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Damadian首次人体扫描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8229600" cy="685800"/>
          </a:xfrm>
          <a:prstGeom prst="rect">
            <a:avLst>
              <a:gd name="adj" fmla="val 40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29000"/>
            <a:ext cx="1188720" cy="685800"/>
          </a:xfrm>
          <a:prstGeom prst="rect">
            <a:avLst>
              <a:gd name="adj" fmla="val 4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2900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82880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深度学习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828800" y="3794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AlexNet突破，AI进入医学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685800"/>
          </a:xfrm>
          <a:prstGeom prst="rect">
            <a:avLst>
              <a:gd name="adj" fmla="val 40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206240"/>
            <a:ext cx="1188720" cy="685800"/>
          </a:xfrm>
          <a:prstGeom prst="rect">
            <a:avLst>
              <a:gd name="adj" fmla="val 4000"/>
            </a:avLst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062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82880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COVID-19 AI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8288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CT辅助诊断大流行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医学成像模态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五种主要类型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554480" cy="2286000"/>
          </a:xfrm>
          <a:prstGeom prst="rect">
            <a:avLst>
              <a:gd name="adj" fmla="val 2941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1554480" cy="548640"/>
          </a:xfrm>
          <a:prstGeom prst="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X射线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电磁波穿透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骨折/胸部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834640"/>
            <a:ext cx="54864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188720"/>
            <a:ext cx="1554480" cy="2286000"/>
          </a:xfrm>
          <a:prstGeom prst="rect">
            <a:avLst>
              <a:gd name="adj" fmla="val 2941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188720"/>
            <a:ext cx="1554480" cy="548640"/>
          </a:xfrm>
          <a:prstGeom prst="rect">
            <a:avLst>
              <a:gd name="adj" fmla="val 8333"/>
            </a:avLst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多角度重建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三维解剖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14600" y="2834640"/>
            <a:ext cx="54864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1188720"/>
            <a:ext cx="1554480" cy="2286000"/>
          </a:xfrm>
          <a:prstGeom prst="rect">
            <a:avLst>
              <a:gd name="adj" fmla="val 2941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188720"/>
            <a:ext cx="1554480" cy="548640"/>
          </a:xfrm>
          <a:prstGeom prst="rect">
            <a:avLst>
              <a:gd name="adj" fmla="val 8333"/>
            </a:avLst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374904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磁共振信号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软组织对比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51960" y="2834640"/>
            <a:ext cx="548640" cy="45720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0" y="1188720"/>
            <a:ext cx="1554480" cy="2286000"/>
          </a:xfrm>
          <a:prstGeom prst="rect">
            <a:avLst>
              <a:gd name="adj" fmla="val 2941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0" y="1188720"/>
            <a:ext cx="1554480" cy="548640"/>
          </a:xfrm>
          <a:prstGeom prst="rect">
            <a:avLst>
              <a:gd name="adj" fmla="val 8333"/>
            </a:avLst>
          </a:pr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超声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声波反射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产科/心脏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89320" y="2834640"/>
            <a:ext cx="54864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0" y="1188720"/>
            <a:ext cx="1554480" cy="2286000"/>
          </a:xfrm>
          <a:prstGeom prst="rect">
            <a:avLst>
              <a:gd name="adj" fmla="val 2941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3760" y="1188720"/>
            <a:ext cx="1554480" cy="548640"/>
          </a:xfrm>
          <a:prstGeom prst="rect">
            <a:avLst>
              <a:gd name="adj" fmla="val 8333"/>
            </a:avLst>
          </a:pr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0" y="1188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0" y="1920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正电子湮灭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代谢成像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26680" y="2834640"/>
            <a:ext cx="54864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CT使用Hounsfield单位(HU)量化组织密度，MRI通过不同脉冲序列获得多对比度图像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DICOM标准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医学影像的国际语言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2926080"/>
          </a:xfrm>
          <a:prstGeom prst="rect">
            <a:avLst>
              <a:gd name="adj" fmla="val 1563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DICOM文件包含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像素数据 (Pixel Data)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患者信息 (Patient)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检查信息 (Study)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序列信息 (Series)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扫描参数 (Acquisition)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传输语法 (Transfer Syntax)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2926080"/>
          </a:xfrm>
          <a:prstGeom prst="rect">
            <a:avLst>
              <a:gd name="adj" fmla="val 1563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Python工具链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pydicom — DICOM读写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SimpleITK — 图像分析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MONAI — 深度学习框架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Slicer — 可视化平台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063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ITK-SNAP — 分割工具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429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dcmtk — 命令行工具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CT图像分析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Hounsfield单位与窗口技术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Hounsfield Scale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00400" cy="384048"/>
          </a:xfrm>
          <a:prstGeom prst="rect">
            <a:avLst>
              <a:gd name="adj" fmla="val 4762"/>
            </a:avLst>
          </a:prstGeom>
          <a:solidFill>
            <a:srgbClr val="E8E5DB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17320"/>
            <a:ext cx="0" cy="384048"/>
          </a:xfrm>
          <a:prstGeom prst="rect">
            <a:avLst>
              <a:gd name="adj" fmla="val Infinity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3560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143560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-1000 HU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92808"/>
            <a:ext cx="3200400" cy="384048"/>
          </a:xfrm>
          <a:prstGeom prst="rect">
            <a:avLst>
              <a:gd name="adj" fmla="val 4762"/>
            </a:avLst>
          </a:prstGeom>
          <a:solidFill>
            <a:srgbClr val="E8E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892808"/>
            <a:ext cx="480060" cy="384048"/>
          </a:xfrm>
          <a:prstGeom prst="rect">
            <a:avLst>
              <a:gd name="adj" fmla="val 4762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1109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191109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-700 HU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3200400" cy="384048"/>
          </a:xfrm>
          <a:prstGeom prst="rect">
            <a:avLst>
              <a:gd name="adj" fmla="val 4762"/>
            </a:avLst>
          </a:prstGeom>
          <a:solidFill>
            <a:srgbClr val="E8E5D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368296"/>
            <a:ext cx="1480185" cy="384048"/>
          </a:xfrm>
          <a:prstGeom prst="rect">
            <a:avLst>
              <a:gd name="adj" fmla="val 4762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38658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38658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-75 HU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43784"/>
            <a:ext cx="3200400" cy="384048"/>
          </a:xfrm>
          <a:prstGeom prst="rect">
            <a:avLst>
              <a:gd name="adj" fmla="val 4762"/>
            </a:avLst>
          </a:prstGeom>
          <a:solidFill>
            <a:srgbClr val="E8E5DB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843784"/>
            <a:ext cx="1600200" cy="384048"/>
          </a:xfrm>
          <a:prstGeom prst="rect">
            <a:avLst>
              <a:gd name="adj" fmla="val 4762"/>
            </a:avLst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86207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862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19272"/>
            <a:ext cx="3200400" cy="384048"/>
          </a:xfrm>
          <a:prstGeom prst="rect">
            <a:avLst>
              <a:gd name="adj" fmla="val 4762"/>
            </a:avLst>
          </a:prstGeom>
          <a:solidFill>
            <a:srgbClr val="E8E5DB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319272"/>
            <a:ext cx="1680210" cy="384048"/>
          </a:xfrm>
          <a:prstGeom prst="rect">
            <a:avLst>
              <a:gd name="adj" fmla="val 4762"/>
            </a:avLst>
          </a:pr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3756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软组织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3337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HU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3200400" cy="384048"/>
          </a:xfrm>
          <a:prstGeom prst="rect">
            <a:avLst>
              <a:gd name="adj" fmla="val 4762"/>
            </a:avLst>
          </a:prstGeom>
          <a:solidFill>
            <a:srgbClr val="E8E5DB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3794760"/>
            <a:ext cx="2720340" cy="384048"/>
          </a:xfrm>
          <a:prstGeom prst="rect">
            <a:avLst>
              <a:gd name="adj" fmla="val 4762"/>
            </a:avLst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8130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骨骼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43200" y="381304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HU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窗口技术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114800" y="1417320"/>
            <a:ext cx="457200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4800" y="1417320"/>
            <a:ext cx="73152" cy="7315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1463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9768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L-600, W1500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0" y="2240280"/>
            <a:ext cx="457200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0" y="2240280"/>
            <a:ext cx="73152" cy="7315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8" name="Text 36"/>
          <p:cNvSpPr/>
          <p:nvPr/>
        </p:nvSpPr>
        <p:spPr>
          <a:xfrm>
            <a:off x="4297680" y="2286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软组织窗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29768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L40, W400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0" y="3063240"/>
            <a:ext cx="457200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0" y="3063240"/>
            <a:ext cx="73152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2" name="Text 40"/>
          <p:cNvSpPr/>
          <p:nvPr/>
        </p:nvSpPr>
        <p:spPr>
          <a:xfrm>
            <a:off x="4297680" y="3108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骨窗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29768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L400, W1500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MRI图像分析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脉冲序列与对比度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28800" cy="22860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88720"/>
            <a:ext cx="1828800" cy="502920"/>
          </a:xfrm>
          <a:prstGeom prst="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T1WI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解剖结构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脂肪亮, 水暗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1188720"/>
            <a:ext cx="1828800" cy="22860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188720"/>
            <a:ext cx="1828800" cy="502920"/>
          </a:xfrm>
          <a:prstGeom prst="rect">
            <a:avLst>
              <a:gd name="adj" fmla="val 9091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T2WI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9748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病变检测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9748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9748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水亮, 脂肪中等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1828800" cy="22860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88720"/>
            <a:ext cx="1828800" cy="502920"/>
          </a:xfrm>
          <a:prstGeom prst="rect">
            <a:avLst>
              <a:gd name="adj" fmla="val 9091"/>
            </a:avLst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FLAIR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0060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脑室病变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抑制脑脊液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188720"/>
            <a:ext cx="1828800" cy="22860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0" y="1188720"/>
            <a:ext cx="1828800" cy="502920"/>
          </a:xfrm>
          <a:prstGeom prst="rect">
            <a:avLst>
              <a:gd name="adj" fmla="val 9091"/>
            </a:avLst>
          </a:pr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1188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DWI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18288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21031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急性脑梗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03720" y="24688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03720" y="27432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弥散受限高信号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MRI通过不同脉冲序列获得多种对比度，是软组织成像的金标准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肺结节检测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早期肺癌筛查的关键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840480" cy="18288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结节分类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实性结节 — 密度均匀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部分实性 — 恶性概率最高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纯磨玻璃 — 需定期随访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27000" indent="-127000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直径≤30mm的圆形病灶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097280"/>
            <a:ext cx="4206240" cy="182880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临床意义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5544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早期肺癌的重要征象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低剂量CT筛查推荐方案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AI辅助检测提升检出率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减少假阳性是核心挑战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LUNA16挑战: 888例CT, 1186个结节 | LIDC-IDRI: 1018例, 243K+切片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AI检测流程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端到端Pipeline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CT扫描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664208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1709928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预处理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98648" y="1554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145536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191256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候选生成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9976" y="1554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626864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4672584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特征提取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61304" y="1554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108192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153912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分类分割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42632" y="1554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43"/>
                </a:solidFill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589520" y="1371600"/>
            <a:ext cx="1280160" cy="914400"/>
          </a:xfrm>
          <a:prstGeom prst="rect">
            <a:avLst>
              <a:gd name="adj" fmla="val 5000"/>
            </a:avLst>
          </a:prstGeom>
          <a:solidFill>
            <a:srgbClr val="D4A843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141732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结果输出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560320"/>
            <a:ext cx="8229600" cy="1371600"/>
          </a:xfrm>
          <a:prstGeom prst="rect">
            <a:avLst>
              <a:gd name="adj" fmla="val 200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核心技术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29260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3D CNN保留空间上下文，优于2D方案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假阳性筛选 (False Positive Reduction) 是关键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评估指标: CPM曲线 (Competition Performance Metric)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多尺度特征融合提升小结节检出率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U-Net: 医学分割网络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编码器-解码器 + 跳跃连接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编码器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051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解码器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640080" cy="457200"/>
          </a:xfrm>
          <a:prstGeom prst="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80160" y="1554480"/>
            <a:ext cx="640080" cy="457200"/>
          </a:xfrm>
          <a:prstGeom prst="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1737360"/>
            <a:ext cx="640080" cy="457200"/>
          </a:xfrm>
          <a:prstGeom prst="rect">
            <a:avLst>
              <a:gd name="adj" fmla="val 6000"/>
            </a:avLst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1920240"/>
            <a:ext cx="640080" cy="457200"/>
          </a:xfrm>
          <a:prstGeom prst="rect">
            <a:avLst>
              <a:gd name="adj" fmla="val 6000"/>
            </a:avLst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292608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1920240"/>
            <a:ext cx="640080" cy="457200"/>
          </a:xfrm>
          <a:prstGeom prst="rect">
            <a:avLst>
              <a:gd name="adj" fmla="val 6000"/>
            </a:avLst>
          </a:pr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0" y="19202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1737360"/>
            <a:ext cx="640080" cy="457200"/>
          </a:xfrm>
          <a:prstGeom prst="rect">
            <a:avLst>
              <a:gd name="adj" fmla="val 6000"/>
            </a:avLst>
          </a:pr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737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1554480"/>
            <a:ext cx="640080" cy="457200"/>
          </a:xfrm>
          <a:prstGeom prst="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155448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1371600"/>
            <a:ext cx="640080" cy="457200"/>
          </a:xfrm>
          <a:prstGeom prst="rect">
            <a:avLst>
              <a:gd name="adj" fmla="val 6000"/>
            </a:avLst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37160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49040" y="2103120"/>
            <a:ext cx="640080" cy="457200"/>
          </a:xfrm>
          <a:prstGeom prst="rect">
            <a:avLst>
              <a:gd name="adj" fmla="val 6000"/>
            </a:avLst>
          </a:prstGeom>
          <a:solidFill>
            <a:srgbClr val="D4A843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97280" y="1600200"/>
            <a:ext cx="548640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920240" y="1783080"/>
            <a:ext cx="384048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2743200" y="1965960"/>
            <a:ext cx="219456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566160" y="2148840"/>
            <a:ext cx="548640" cy="0"/>
          </a:xfrm>
          <a:prstGeom prst="line">
            <a:avLst/>
          </a:prstGeom>
          <a:noFill/>
          <a:ln w="12700">
            <a:solidFill>
              <a:srgbClr val="D4A84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27432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8229600" cy="731520"/>
          </a:xfrm>
          <a:prstGeom prst="rect">
            <a:avLst>
              <a:gd name="adj" fmla="val 3750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2918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Ronneberger et al., MICCAI 2015 | 引用60,000+
</a:t>
            </a:r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编码器提取特征 → 解码器恢复分辨率 → 跳跃连接保留细节信息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关键数据集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医学影像AI研究资源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LIDC-IDRI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1018例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9728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LUNA16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肺结节检测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234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ChestX-ray14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6364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胸部X光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65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112K图像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脑肿瘤分割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多模态MRI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91840" y="274320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97BC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TCIA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42900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癌症影像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综合数据库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743200"/>
            <a:ext cx="2560320" cy="1371600"/>
          </a:xfrm>
          <a:prstGeom prst="rect">
            <a:avLst>
              <a:gd name="adj" fmla="val 3333"/>
            </a:avLst>
          </a:prstGeom>
          <a:solidFill>
            <a:srgbClr val="F0EDE3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880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ISIC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皮肤病变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皮肤镜图像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代码实战要点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实验1: DICOM读取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pydicom读取CT/MRI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HU转换 + 多窗口显示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关键: 理解DICOM元数据结构、掌握HU值转换、熟悉3D CNN与Dice损失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822960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3172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实验2: 3D体数据重建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Marching Cubes算法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78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表面提取与可视化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关键: 理解DICOM元数据结构、掌握HU值转换、熟悉3D CNN与Dice损失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822960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实验3: U-Net分割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PyTorch实现U-Net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Dice损失函数训练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关键: 理解DICOM元数据结构、掌握HU值转换、熟悉3D CNN与Dice损失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重要文献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医学AI经典论文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6984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U-Net (2015)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06984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MICCAI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06984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医学分割里程碑, 60K+引用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09928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709928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28216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皮肤癌 (2017)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1728216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728216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CNN达皮肤科医生水平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68296"/>
            <a:ext cx="73152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86584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眼底AI (2016)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386584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386584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糖尿病视网膜病变检测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26664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026664"/>
            <a:ext cx="73152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44952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LUNA16 (2017)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3044952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TMI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044952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肺结节检测系统对比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685032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85032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703320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UNet++ (2018)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17520" y="3703320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DLMIA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703320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嵌套U-Net结构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343400"/>
            <a:ext cx="73152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61688"/>
            <a:ext cx="2286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AI综述 (2017)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17520" y="4361688"/>
            <a:ext cx="1097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06240" y="4361688"/>
            <a:ext cx="4297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深度学习医学影像综述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挑战与未来方向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医学AI的前沿问题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域偏移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跨医院/跨设备泛化能力不足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05156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数据稀缺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标注成本高，罕见病例数据少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286000"/>
            <a:ext cx="73152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可解释性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黑箱模型缺乏临床可信度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28600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286000"/>
            <a:ext cx="73152" cy="10972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隐私保护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DICOM元数据中的患者信息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20440"/>
            <a:ext cx="73152" cy="10972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3D计算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体数据计算资源需求大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3931920" cy="1097280"/>
          </a:xfrm>
          <a:prstGeom prst="rect">
            <a:avLst>
              <a:gd name="adj" fmla="val 2500"/>
            </a:avLst>
          </a:prstGeom>
          <a:solidFill>
            <a:srgbClr val="F0EDE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520440"/>
            <a:ext cx="73152" cy="109728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人机协作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AI与医生决策融合机制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457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78 核心要点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6984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医学图像类型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06984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X-ray, CT, MRI, 超声, PET — 各有优势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09928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09928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28216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DICOM标准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728216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医学影像国际标准，pydicom是核心工具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68296"/>
            <a:ext cx="73152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8658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CT分析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86584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Hounsfield单位 + 窗口技术是关键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26664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2C5F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26664"/>
            <a:ext cx="73152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44952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MRI分析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044952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T1/T2/FLAIR/DWI提供多对比度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85032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97BC6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685032"/>
            <a:ext cx="73152" cy="566928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703320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肺结节检测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703320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CNN + U-Net + 假阳性筛选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566928"/>
          </a:xfrm>
          <a:prstGeom prst="rect">
            <a:avLst>
              <a:gd name="adj" fmla="val 4839"/>
            </a:avLst>
          </a:prstGeom>
          <a:solidFill>
            <a:srgbClr val="F0EDE3"/>
          </a:solidFill>
          <a:ln w="6350">
            <a:solidFill>
              <a:srgbClr val="D4A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43400"/>
            <a:ext cx="73152" cy="56692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361688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评估指标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4361688"/>
            <a:ext cx="5029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Dice系数是医学分割首选指标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8508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508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3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1828800" cy="27432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下节预告: Day 79 — 遥感图像处理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Learning, Keep Exploring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100 Days · Day 78 · 2026-08-11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78: 医学图像处理 — 演讲版</dc:title>
  <dc:subject>PptxGenJS Presentation</dc:subject>
  <dc:creator>CV Learning 100 Days</dc:creator>
  <cp:lastModifiedBy>CV Learning 100 Days</cp:lastModifiedBy>
  <cp:revision>1</cp:revision>
  <dcterms:created xsi:type="dcterms:W3CDTF">2026-08-11T05:11:06Z</dcterms:created>
  <dcterms:modified xsi:type="dcterms:W3CDTF">2026-08-11T05:11:06Z</dcterms:modified>
</cp:coreProperties>
</file>