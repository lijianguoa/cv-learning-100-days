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37744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FAF8F0">
              <a:alpha val="92000"/>
            </a:srgbClr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2377440"/>
            <a:ext cx="8229600" cy="64008"/>
          </a:xfrm>
          <a:prstGeom prst="roundRect">
            <a:avLst>
              <a:gd name="adj" fmla="val 71429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YOLO基础 — You Only Look Once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14400" y="37033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  |  2026-06-30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MODE  ·  演讲版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议程 Agenda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7680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20240" y="1325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YOLO原理与核心概念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17373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核心思想、网格预测、单阶段检测范式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23160"/>
            <a:ext cx="7680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05840" y="260604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25603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网络结构与损失函数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20240" y="2971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YOLOv1架构、损失函数设计、NMS算法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7680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384048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20240" y="37947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实验与应用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920240" y="4206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对比实验、经典结果、系列演进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目标检测发展脉络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371600" y="2103120"/>
            <a:ext cx="640080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1874520" y="1993392"/>
            <a:ext cx="256032" cy="256032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1353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R-CNN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区域提议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分类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1993392"/>
            <a:ext cx="256032" cy="256032"/>
          </a:xfrm>
          <a:prstGeom prst="ellipse">
            <a:avLst/>
          </a:prstGeom>
          <a:solidFill>
            <a:srgbClr val="AAAAAA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1353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A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R-CNN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Pooling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993392"/>
            <a:ext cx="256032" cy="256032"/>
          </a:xfrm>
          <a:prstGeom prst="ellipse">
            <a:avLst/>
          </a:prstGeom>
          <a:solidFill>
            <a:srgbClr val="77777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1353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77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R-CNN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RPN网络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FPS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99339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10972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13533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单阶段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2468880"/>
            <a:ext cx="6400800" cy="1463040"/>
          </a:xfrm>
          <a:prstGeom prst="roundRect">
            <a:avLst>
              <a:gd name="adj" fmla="val 6250"/>
            </a:avLst>
          </a:prstGeom>
          <a:solidFill>
            <a:srgbClr val="F0F4EB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371600" y="2468880"/>
            <a:ext cx="64008" cy="1463040"/>
          </a:xfrm>
          <a:prstGeom prst="roundRect">
            <a:avLst>
              <a:gd name="adj" fmla="val 71429"/>
            </a:avLst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1737360" y="2560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核心突破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37360" y="28803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YOLO将目标检测统一为单一回归问题 — 从图像像素到边界框坐标和类别概率的一次前向传播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737360" y="33375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关键词：端到端  ·  实时  ·  全局视野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YOLO核心思想 — Grid-Based Detection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28016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 x S 网格划分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1828800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4663" y="1828800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54926" y="1828800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25189" y="1828800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95451" y="1828800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5714" y="1828800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5977" y="1828800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168434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84663" y="2168434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54926" y="2168434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5189" y="2168434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95451" y="2168434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65714" y="2168434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5977" y="2168434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2508069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4663" y="2508069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54926" y="2508069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25189" y="2508069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95451" y="2508069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5714" y="2508069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35977" y="2508069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2847703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84663" y="2847703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54926" y="2847703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25189" y="2847703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95451" y="2847703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5714" y="2847703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35977" y="2847703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3187337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84663" y="3187337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54926" y="3187337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25189" y="3187337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95451" y="3187337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65714" y="3187337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35977" y="3187337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3526971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384663" y="3526971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854926" y="3526971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25189" y="3526971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95451" y="3526971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65714" y="3526971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35977" y="3526971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3866606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84663" y="3866606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854926" y="3866606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25189" y="3866606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95451" y="3866606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65714" y="3866606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35977" y="3866606"/>
            <a:ext cx="470263" cy="339634"/>
          </a:xfrm>
          <a:prstGeom prst="rect">
            <a:avLst/>
          </a:prstGeom>
          <a:solidFill>
            <a:srgbClr val="F0F4EB"/>
          </a:solidFill>
          <a:ln w="10160">
            <a:solidFill>
              <a:srgbClr val="B8D4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795451" y="2847703"/>
            <a:ext cx="470263" cy="339634"/>
          </a:xfrm>
          <a:prstGeom prst="rect">
            <a:avLst/>
          </a:prstGeom>
          <a:solidFill>
            <a:srgbClr val="97BC62">
              <a:alpha val="60000"/>
            </a:srgbClr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7346" y="2677886"/>
            <a:ext cx="1034578" cy="747195"/>
          </a:xfrm>
          <a:prstGeom prst="rect">
            <a:avLst/>
          </a:prstGeom>
          <a:solidFill>
            <a:srgbClr val="D4A843">
              <a:alpha val="25000"/>
            </a:srgbClr>
          </a:solidFill>
          <a:ln w="19050">
            <a:solidFill>
              <a:srgbClr val="D4A843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91440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S=7  →  49个网格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4572000" y="128016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47548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预测参数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846320" y="18288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2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60350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每个网格预测 2 个边界框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846320" y="26060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69" name="Text 67"/>
          <p:cNvSpPr/>
          <p:nvPr/>
        </p:nvSpPr>
        <p:spPr>
          <a:xfrm>
            <a:off x="4846320" y="2606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20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60350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VOC数据集 20 个类别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846320" y="338328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C5F2D"/>
          </a:solidFill>
          <a:ln/>
        </p:spPr>
      </p:sp>
      <p:sp>
        <p:nvSpPr>
          <p:cNvPr id="72" name="Text 70"/>
          <p:cNvSpPr/>
          <p:nvPr/>
        </p:nvSpPr>
        <p:spPr>
          <a:xfrm>
            <a:off x="4846320" y="3383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7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603504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图像划分为 7x7 网格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846320" y="3931920"/>
            <a:ext cx="3657600" cy="411480"/>
          </a:xfrm>
          <a:prstGeom prst="roundRect">
            <a:avLst>
              <a:gd name="adj" fmla="val 17778"/>
            </a:avLst>
          </a:prstGeom>
          <a:solidFill>
            <a:srgbClr val="D4A843">
              <a:alpha val="85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3931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输出张量: 7 x 7 x (Bx5 + C) = 7 x 7 x 30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网格预测机制 — Bounding Box Encoding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325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边界框编码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178308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 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中心点相对网格单元的偏移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归一化到 [0, 1]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74320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43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(w, h)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743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宽高相对整张图像的比例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归一化到 [0, 1]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03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703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Pr(Object) x IoU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包含目标的置信度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预测机制要点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93208" y="1801368"/>
            <a:ext cx="146304" cy="146304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1783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目标中心点落入哪个网格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该网格负责预测此目标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93208" y="2395728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2377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每个网格预测 B=2 个边界框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训练时只取 IoU 最大的那个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93208" y="2990088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539496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类别概率是有条件的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Pr(Class | Object)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93208" y="3584448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5394960" y="3566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置信度为零不参与损失计算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0" y="3566160"/>
            <a:ext cx="3474720" cy="365760"/>
          </a:xfrm>
          <a:prstGeom prst="roundRect">
            <a:avLst>
              <a:gd name="adj" fmla="val 20000"/>
            </a:avLst>
          </a:prstGeom>
          <a:solidFill>
            <a:srgbClr val="D4A843">
              <a:alpha val="85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Pr(Object) x IoU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YOLOv1网络架构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128016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448x448x3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94560" y="1280160"/>
            <a:ext cx="1645920" cy="1280160"/>
          </a:xfrm>
          <a:prstGeom prst="roundRect">
            <a:avLst>
              <a:gd name="adj" fmla="val 7143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13716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 Layers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layers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</a:rPr>
              <a:t>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06240" y="128016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 Layers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1645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</a:rPr>
              <a:t>▶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0" y="128016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1828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7x7x30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8346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29718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3x3 / 1x1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交替使用3x3和1x1卷积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降低维度、增加非线性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28346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880360" y="29718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288036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8036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使用Leaky ReLU激活函数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避免神经元死亡问题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8346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83480" y="29718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两个全连接层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4096 -&gt; 4096 + Dropout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9440" y="2834640"/>
            <a:ext cx="19202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86600" y="2971800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2971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SxSx30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输出7x7x30预测张量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S=7, B=2, C=20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基于GoogLeNet思想  |  输入分辨率448x448（比分类网络224x224更大）  |  最后卷积输出7x7x1024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损失函数设计 — Loss Function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508760" y="13258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坐标误差 (Coordinate Loss)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251460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2C5F2D">
              <a:alpha val="80000"/>
            </a:srgbClr>
          </a:solidFill>
          <a:ln w="1016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 x5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 w, h 取平方根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平衡大小目标误差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lambda_coord =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1325880"/>
            <a:ext cx="502920" cy="50292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6616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置信度误差 (Confidence Loss)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977640" y="251460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97BC62">
              <a:alpha val="80000"/>
            </a:srgbClr>
          </a:solidFill>
          <a:ln w="1016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有目标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预测置信度与真实值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的平方误差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仅含目标时计算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9480" y="132588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46520" y="19202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分类 + 无目标误差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0" y="251460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D4A843">
              <a:alpha val="80000"/>
            </a:srgbClr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2514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降权 x0.5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2971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无目标置信度权重降低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减少负样本影响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lambda_noobj = 0.5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总损失 = 坐标误差 + 含目标置信度误差 + 无目标置信度误差 + 分类误差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非极大值抑制 — Non-Maximum Suppression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13075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选出置信度最高的框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688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20391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计算该框与所有其他框的 IoU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2004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277063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 IoU &gt; 阈值(0.5)的框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920" y="3502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重复直至所有框处理完毕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0" y="123444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IoU 交并比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0" y="1828800"/>
            <a:ext cx="1645920" cy="1280160"/>
          </a:xfrm>
          <a:prstGeom prst="rect">
            <a:avLst/>
          </a:prstGeom>
          <a:solidFill>
            <a:srgbClr val="97BC62">
              <a:alpha val="70000"/>
            </a:srgbClr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194560"/>
            <a:ext cx="1645920" cy="1280160"/>
          </a:xfrm>
          <a:prstGeom prst="rect">
            <a:avLst/>
          </a:prstGeom>
          <a:solidFill>
            <a:srgbClr val="D4A843">
              <a:alpha val="7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194560"/>
            <a:ext cx="1005840" cy="548640"/>
          </a:xfrm>
          <a:prstGeom prst="rect">
            <a:avLst/>
          </a:prstGeom>
          <a:solidFill>
            <a:srgbClr val="2C5F2D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474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面积交集 / 面积并集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3886200"/>
            <a:ext cx="2926080" cy="365760"/>
          </a:xfrm>
          <a:prstGeom prst="roundRect">
            <a:avLst>
              <a:gd name="adj" fmla="val 20000"/>
            </a:avLst>
          </a:prstGeom>
          <a:solidFill>
            <a:srgbClr val="D4A843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394960" y="3886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常用阈值: 0.3 ~ 0.5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 vs Faster R-CNN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3749040" cy="548640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1887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R-CNN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182880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 (FPS)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196596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0F4EB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1965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196596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965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237744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(VOC2007)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51460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14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2514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292608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背景误检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06324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306324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063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较多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泛化能力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3611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更强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46320" y="3611880"/>
            <a:ext cx="374904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611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48640" y="416052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F0F4EB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4160520"/>
            <a:ext cx="64008" cy="457200"/>
          </a:xfrm>
          <a:prstGeom prst="roundRect">
            <a:avLst>
              <a:gd name="adj" fmla="val 71429"/>
            </a:avLst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17880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YOLO牺牲少量精度换取数十倍速度提升，且误检率更低、泛化更强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经典实验结果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269748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速度-精度权衡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6656" y="2002536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019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YOLO: 155 FPS (实时之王)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" y="2688336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877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YOLOv1: 45 FPS (精度-速度平衡)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3374136"/>
            <a:ext cx="109728" cy="1097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735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最佳速度-精度帕累托前沿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11887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37560" y="1188720"/>
            <a:ext cx="269748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错误类型分析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557016" y="2002536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19019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YOLO的错误更多是定位误差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57016" y="2688336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25877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而非背景误检 (False Positive)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57016" y="3374136"/>
            <a:ext cx="109728" cy="1097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32735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检测能力具备，需提升定位精度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18872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188720"/>
            <a:ext cx="269748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3716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艺术图像泛化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37376" y="2002536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19019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在梵高、毕加索画作上测试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37376" y="2688336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25877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YOLO显著优于 Faster R-CNN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37376" y="3374136"/>
            <a:ext cx="109728" cy="10972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327355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全局视野的泛化优势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Redmon — YOLO之父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18872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Joseph Redmon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华盛顿大学 (UW) 博士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1945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26岁完成YOLOv1（2015年）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导师: Ali Farhadi教授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YOLOv1/v2/v3 三代核心作者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Darknet框架开发者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YOLO里程碑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CVPR发表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9000类检测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1965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多尺度检测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200400"/>
            <a:ext cx="4114800" cy="1463040"/>
          </a:xfrm>
          <a:prstGeom prst="roundRect">
            <a:avLst>
              <a:gd name="adj" fmla="val 6250"/>
            </a:avLst>
          </a:prstGeom>
          <a:solidFill>
            <a:srgbClr val="F0F4EB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3200400"/>
            <a:ext cx="64008" cy="1463040"/>
          </a:xfrm>
          <a:prstGeom prst="roundRect">
            <a:avLst>
              <a:gd name="adj" fmla="val 71429"/>
            </a:avLst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2020年伦理告别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want my work to be used for surveillance or military purposes."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YOLO的遗产由Ultralytics团队继续发扬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第三部分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YOLO系列演进 — 2016 to 2024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1965960"/>
            <a:ext cx="7680960" cy="36576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865376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0972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097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280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1508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697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首创单阶段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186537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1737360" y="10972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1737360" y="1097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1280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1508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37360" y="21945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FPS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24231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37360" y="2697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1865376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2926080" y="10972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0" y="1097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1280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926080" y="1508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0" y="21945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24231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26080" y="2697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多尺度预测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26280" y="1865376"/>
            <a:ext cx="201168" cy="2011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Shape 33"/>
          <p:cNvSpPr/>
          <p:nvPr/>
        </p:nvSpPr>
        <p:spPr>
          <a:xfrm>
            <a:off x="4114800" y="10972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1097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1280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114800" y="1508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0" y="21945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FPS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114800" y="24231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2697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CSP, MISH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15000" y="1865376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3" name="Shape 41"/>
          <p:cNvSpPr/>
          <p:nvPr/>
        </p:nvSpPr>
        <p:spPr>
          <a:xfrm>
            <a:off x="5303520" y="10972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</p:spPr>
      </p:sp>
      <p:sp>
        <p:nvSpPr>
          <p:cNvPr id="44" name="Text 42"/>
          <p:cNvSpPr/>
          <p:nvPr/>
        </p:nvSpPr>
        <p:spPr>
          <a:xfrm>
            <a:off x="5303520" y="1097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1280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v5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03520" y="1508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303520" y="21945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FPS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24231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2697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PyTorch优化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1865376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1" name="Shape 49"/>
          <p:cNvSpPr/>
          <p:nvPr/>
        </p:nvSpPr>
        <p:spPr>
          <a:xfrm>
            <a:off x="6492240" y="10972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D4A843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0" y="1097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1280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v8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92240" y="1508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92240" y="21945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 FPS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24231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92240" y="2697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092440" y="1865376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9" name="Shape 57"/>
          <p:cNvSpPr/>
          <p:nvPr/>
        </p:nvSpPr>
        <p:spPr>
          <a:xfrm>
            <a:off x="7680960" y="1097280"/>
            <a:ext cx="1051560" cy="731520"/>
          </a:xfrm>
          <a:prstGeom prst="roundRect">
            <a:avLst>
              <a:gd name="adj" fmla="val 10000"/>
            </a:avLst>
          </a:prstGeom>
          <a:solidFill>
            <a:srgbClr val="2C5F2D"/>
          </a:solidFill>
          <a:ln/>
        </p:spPr>
      </p:sp>
      <p:sp>
        <p:nvSpPr>
          <p:cNvPr id="60" name="Text 58"/>
          <p:cNvSpPr/>
          <p:nvPr/>
        </p:nvSpPr>
        <p:spPr>
          <a:xfrm>
            <a:off x="7680960" y="10972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680960" y="1280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80960" y="15087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80960" y="21945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FPS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680960" y="2423160"/>
            <a:ext cx="1051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54.7%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680960" y="269748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C3k2, C2PSA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8640" y="3383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0F4EB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822960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演进趋势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822960" y="37947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速度持续提升 (45 FPS -&gt; 150+ FPS)  |  检测精度在COCO上趋于稳定  |  从Anchor-Based到Anchor-Free  |  架构趋于模块化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"/>
            <a:ext cx="1353312" cy="347472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参考资料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 — Key Papers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188720"/>
            <a:ext cx="64008" cy="1005840"/>
          </a:xfrm>
          <a:prstGeom prst="roundRect">
            <a:avLst>
              <a:gd name="adj" fmla="val 71429"/>
            </a:avLst>
          </a:prstGeom>
          <a:solidFill>
            <a:srgbClr val="2C5F2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4173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Only Look Once: Unified, Real-Time Object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2016  |  YOLOv1 — 首创单阶段检测范式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60020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2C5F2D">
              <a:alpha val="85000"/>
            </a:srgbClr>
          </a:solidFill>
          <a:ln w="1016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1506.02640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331720"/>
            <a:ext cx="64008" cy="1005840"/>
          </a:xfrm>
          <a:prstGeom prst="roundRect">
            <a:avLst>
              <a:gd name="adj" fmla="val 71429"/>
            </a:avLst>
          </a:prstGeom>
          <a:solidFill>
            <a:srgbClr val="2C5F2D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25603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55448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YOLO9000: Better, Faster, Stronger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2788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2017  |  YOLOv2 — Anchor Boxes, 多尺度训练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74320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97BC62">
              <a:alpha val="85000"/>
            </a:srgbClr>
          </a:solidFill>
          <a:ln w="1016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1612.08242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474720"/>
            <a:ext cx="64008" cy="1005840"/>
          </a:xfrm>
          <a:prstGeom prst="roundRect">
            <a:avLst>
              <a:gd name="adj" fmla="val 71429"/>
            </a:avLst>
          </a:prstGeom>
          <a:solidFill>
            <a:srgbClr val="2C5F2D"/>
          </a:solidFill>
          <a:ln/>
        </p:spPr>
      </p:sp>
      <p:sp>
        <p:nvSpPr>
          <p:cNvPr id="27" name="Shape 25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3566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YOLOv3: An Incremental Improvement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2018  |  YOLOv3 — Darknet-53, 多尺度预测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388620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4A843">
              <a:alpha val="85000"/>
            </a:srgbClr>
          </a:solidFill>
          <a:ln w="1016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1804.02767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所有论文均可通过 arxiv.org 免费获取  |  推荐阅读顺序: v1 -&gt; v2 -&gt; v3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 — Discussion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3258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188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为什么损失函数对宽高取平方根?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600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思考: 小目标的绝对尺寸误差与大目标相同, 但相对误差更大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6060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4688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NMS的IoU阈值设为0.5和0.7会产生什么不同效果?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思考: 阈值越大保留越多框, 小目标 vs 大目标场景有何差异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749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YOLO相比两阶段检测器的主要优势和局限?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160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思考: 速度优势、全局视野 vs 小目标检测、定位精度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关键术语 — Glossary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972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Look Once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单阶段实时目标检测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0116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网格单元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SxS网格, 每个负责检测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2926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9456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(x,y,w,h)目标矩形框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5800" y="38404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9456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交并比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9456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衡量框重叠程度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9144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10972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非极大值抑制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1280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去除重复检测框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8288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83480" y="20116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平均精度均值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9224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检测核心评估指标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7432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83480" y="29260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2926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2834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深度学习框架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9224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YOLO原生C语言框架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46320" y="365760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83480" y="38404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44" name="Text 42"/>
          <p:cNvSpPr/>
          <p:nvPr/>
        </p:nvSpPr>
        <p:spPr>
          <a:xfrm>
            <a:off x="498348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92240" y="3749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泄漏ReLU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9224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避免神经元死亡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36 — YOLO基础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046720" y="48508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总结与下节预告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14400"/>
            <a:ext cx="5029200" cy="54864"/>
          </a:xfrm>
          <a:prstGeom prst="roundRect">
            <a:avLst>
              <a:gd name="adj" fmla="val 83333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今日总结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4173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YOLO开创了单阶段实时检测范式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Grid-based检测: SxS网格 + 回归预测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YOLOv1: 24 conv + 2 FC, 45 FPS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损失函数: 坐标 + 置信度 + 分类</a:t>
            </a:r>
            <a:endParaRPr lang="en-US" sz="1300" dirty="0"/>
          </a:p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NMS: 去除重复检测的关键后处理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914400"/>
            <a:ext cx="2926080" cy="2560320"/>
          </a:xfrm>
          <a:prstGeom prst="roundRect">
            <a:avLst>
              <a:gd name="adj" fmla="val 3571"/>
            </a:avLst>
          </a:prstGeom>
          <a:solidFill>
            <a:srgbClr val="F0F4EB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914400"/>
            <a:ext cx="2926080" cy="4572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914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37 预告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 网络结构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Darknet-53 骨干网络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Pyramid</a:t>
            </a:r>
            <a:endParaRPr lang="en-US" sz="1200" dirty="0"/>
          </a:p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多尺度检测实战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YOLO开创了单阶段实时检测范式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计算机视觉100天学习计划 — Day 36 Complete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2026-06-30T05:12:07Z</dcterms:created>
  <dcterms:modified xsi:type="dcterms:W3CDTF">2026-06-30T05:12:07Z</dcterms:modified>
</cp:coreProperties>
</file>