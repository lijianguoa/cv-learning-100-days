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371600"/>
            <a:ext cx="137160" cy="22860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4630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75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spc="250" kern="0" dirty="0">
                <a:solidFill>
                  <a:srgbClr val="F7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3D目标检测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097280" y="31089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Object Detection | PointPillars · MV3D · 点云处理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3931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计算机视觉100天 | 2026-08-08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目录 Contents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0972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历史背景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0" y="1097280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383280" y="10972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3D检测方法分类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0" y="1097280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126480" y="10972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点云表示与编码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19202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PointPillars详解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0" y="1920240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83280" y="19202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MV3D详解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43600" y="1920240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26480" y="19202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3D边界框与评估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743200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27432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经典实验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200400" y="2743200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383280" y="27432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科学家故事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943600" y="2743200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126480" y="27432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思考题与总结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历史背景：自动驾驶的起源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0050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1234440"/>
            <a:ext cx="35433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DARPA城市挑战赛 (2007)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1645920"/>
            <a:ext cx="3543300" cy="2011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首次展示自动驾驶车辆在复杂城市环境中的潜力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早期3D感知依赖简单几何方法和手工特征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为后续深度学习感知奠定基础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86300" y="1005840"/>
            <a:ext cx="400050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14900" y="1234440"/>
            <a:ext cx="35433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里程碑意义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14900" y="1645920"/>
            <a:ext cx="3543300" cy="2011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证明了自动驾驶的技术可行性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推动了LiDAR等3D传感器的发展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催生了KITTI等基准数据集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7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Timeline: 2007 DARPA → 2012 KITTI → 2017 PointNet/MV3D → 2019 PointPillars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KITTI数据集 (2012)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188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黄金标准数据集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5029200" cy="2286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由卡尔斯鲁厄理工学院和丰田工业大学芝加哥分校联合发布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包含LiDAR点云、Stereo图像、GPS/IMU数据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提供6小时真实道路场景记录，超过200K个3D标注框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至今仍是评估3D检测算法的benchmark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0" y="1188720"/>
            <a:ext cx="1188720" cy="822960"/>
          </a:xfrm>
          <a:prstGeom prst="roundRect">
            <a:avLst>
              <a:gd name="adj" fmla="val 11111"/>
            </a:avLst>
          </a:prstGeom>
          <a:solidFill>
            <a:srgbClr val="97BC62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0" y="12344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200K+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943600" y="16002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Labels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0" y="1188720"/>
            <a:ext cx="1188720" cy="822960"/>
          </a:xfrm>
          <a:prstGeom prst="roundRect">
            <a:avLst>
              <a:gd name="adj" fmla="val 11111"/>
            </a:avLst>
          </a:prstGeom>
          <a:solidFill>
            <a:srgbClr val="D4A843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0" y="12344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315200" y="16002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Levels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0" y="219456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6035040" y="2286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7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/ Moderate / Hard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035040" y="269748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基于距离、遮挡程度和截断比例划分难度等级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PointNet革命 (2017)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0050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1234440"/>
            <a:ext cx="35433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核心突破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1645920"/>
            <a:ext cx="3543300" cy="2286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首个直接在原始点云上操作的深度网络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使用共享MLP对每个点独立提取特征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通过Max Pooling聚合全局信息，保证置换不变性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避免了体素化导致的信息损失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86300" y="1005840"/>
            <a:ext cx="400050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14900" y="1234440"/>
            <a:ext cx="35433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影响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14900" y="1645920"/>
            <a:ext cx="3543300" cy="2286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开创了3D深度学习的新范式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启发了PointNet++、PointCNN等后续工作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Scholar引用量超过80,000次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为PointPillars的Pillar编码奠定基础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3D检测方法分类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590800" cy="3474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2590800" cy="10972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325880"/>
            <a:ext cx="2133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基于LiDAR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213360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直接处理点云数据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利用3D几何信息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代表: VoxelNet, PointPillars, SECOND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精度高但传感器成本高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76600" y="1005840"/>
            <a:ext cx="2590800" cy="3474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76600" y="1005840"/>
            <a:ext cx="2590800" cy="109728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9" name="Text 7"/>
          <p:cNvSpPr/>
          <p:nvPr/>
        </p:nvSpPr>
        <p:spPr>
          <a:xfrm>
            <a:off x="3505200" y="1325880"/>
            <a:ext cx="2133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基于视觉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505200" y="1828800"/>
            <a:ext cx="213360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使用单目/双目图像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成本低但深度不确定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代表: Mono3D, FCOS3D, DD3D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适合大规模部署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96000" y="1005840"/>
            <a:ext cx="2590800" cy="3474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096000" y="1005840"/>
            <a:ext cx="2590800" cy="10972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3" name="Text 11"/>
          <p:cNvSpPr/>
          <p:nvPr/>
        </p:nvSpPr>
        <p:spPr>
          <a:xfrm>
            <a:off x="6324600" y="1325880"/>
            <a:ext cx="2133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多模态融合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24600" y="1828800"/>
            <a:ext cx="213360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结合LiDAR和相机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充分利用互补优势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代表: MV3D, PointPainting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精度最高但复杂度高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基于LiDAR的方法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188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核心特点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5029200" cy="2286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LiDAR提供精确的3D位置信息（厘米级精度）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不受光照条件影响，昼夜均可工作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点云稀疏且缺乏纹理信息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对远距离小目标检测存在挑战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0" y="118872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0" y="13258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7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代表方法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126480" y="17830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VoxelNet (CVPR 2018)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126480" y="21945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(Sensors 2018)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126480" y="26060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PointPillars (CVPR 2019)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26480" y="30175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PointRCNN (CVPR 2019)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26480" y="34290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PV-RCNN (CVPR 2020)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基于视觉的方法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0050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1234440"/>
            <a:ext cx="35433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单目3D检测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1645920"/>
            <a:ext cx="3543300" cy="2286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从单张图像估计3D边界框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深度估计存在尺度不确定性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需要利用几何先验（如地面平面假设）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代表：Mono3D, FCOS3D, DD3D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86300" y="1005840"/>
            <a:ext cx="400050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14900" y="1234440"/>
            <a:ext cx="35433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双目/多目3D检测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14900" y="1645920"/>
            <a:ext cx="3543300" cy="2286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利用立体视觉恢复深度信息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通过三角测量计算视差图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深度精度受基线长度限制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代表：Stereo R-CNN, DSGN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多模态融合方法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590800" cy="3474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2590800" cy="914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325880"/>
            <a:ext cx="2133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早期融合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1737360"/>
            <a:ext cx="2133600" cy="2286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在特征提取前融合原始数据，保留最多信息但计算量大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76600" y="1005840"/>
            <a:ext cx="2590800" cy="3474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76600" y="1005840"/>
            <a:ext cx="2590800" cy="9144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9" name="Text 7"/>
          <p:cNvSpPr/>
          <p:nvPr/>
        </p:nvSpPr>
        <p:spPr>
          <a:xfrm>
            <a:off x="3505200" y="1325880"/>
            <a:ext cx="2133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晚期融合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505200" y="1737360"/>
            <a:ext cx="2133600" cy="2286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各模态独立检测后融合结果，计算高效但信息交互不足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96000" y="1005840"/>
            <a:ext cx="2590800" cy="3474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096000" y="1005840"/>
            <a:ext cx="2590800" cy="914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3" name="Text 11"/>
          <p:cNvSpPr/>
          <p:nvPr/>
        </p:nvSpPr>
        <p:spPr>
          <a:xfrm>
            <a:off x="6324600" y="1325880"/>
            <a:ext cx="2133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深度融合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24600" y="1737360"/>
            <a:ext cx="2133600" cy="2286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在多个层级进行特征交互，性能最优，MV3D采用此策略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点云表示与编码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188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点云特性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无序性：点的排列顺序不影响几何含义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稀疏性：大部分空间区域没有点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非结构化：不同于规则的图像网格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编码挑战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47472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需要保持置换不变性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需要处理稀疏不规则结构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需要平衡计算效率与信息保留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0" y="1188720"/>
            <a:ext cx="2560320" cy="2377440"/>
          </a:xfrm>
          <a:prstGeom prst="roundRect">
            <a:avLst>
              <a:gd name="adj" fmla="val 3846"/>
            </a:avLst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6126480" y="13258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7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点云公式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126480" y="18288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{(xi, yi, zi)}i=1^N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126480" y="237744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N个三维空间点，每个点包含(x,y,z)坐标及可选属性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点云编码方式对比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200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7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编码方式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7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原理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7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优点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7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缺点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体素化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3D空间划分为规则网格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结构简单，易于处理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3D卷积计算量大，信息损失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柱化(Pillar)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只在x-y平面划分，z方向不分割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转化为2D CNN，效率极高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垂直方向信息压缩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投影表示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投影到BEV或FV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兼容2D检测框架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多视图融合复杂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原始点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直接使用PointNet处理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信息无损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计算量大，batch受限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PointPillars：Pillar特征编码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0050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1234440"/>
            <a:ext cx="35433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Pillar划分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1645920"/>
            <a:ext cx="3543300" cy="2286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将点云划分为x-y平面的均匀网格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每个网格单元为一个Pillar（垂直柱）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Pillar内的点数上限为N（如100）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空Pillar不占用计算资源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86300" y="1005840"/>
            <a:ext cx="400050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14900" y="1234440"/>
            <a:ext cx="35433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点特征增强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14900" y="1645920"/>
            <a:ext cx="3543300" cy="2286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原始特征：(x, y, z, r)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添加偏移量：(xc, yc, zc)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添加Pillar中心偏移：(xp, yp)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最终9维特征向量输入PointNet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PointPillars：2D CNN主干网络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971800" y="1280160"/>
            <a:ext cx="3200400" cy="640080"/>
          </a:xfrm>
          <a:prstGeom prst="roundRect">
            <a:avLst>
              <a:gd name="adj" fmla="val 14286"/>
            </a:avLst>
          </a:prstGeom>
          <a:solidFill>
            <a:srgbClr val="97BC62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971800" y="12801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伪图像 (H×W×C)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0" y="1920240"/>
            <a:ext cx="0" cy="27432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971800" y="2194560"/>
            <a:ext cx="3200400" cy="640080"/>
          </a:xfrm>
          <a:prstGeom prst="roundRect">
            <a:avLst>
              <a:gd name="adj" fmla="val 14286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971800" y="21945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VGG/ResNet 主干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0" y="2834640"/>
            <a:ext cx="0" cy="27432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971800" y="3108960"/>
            <a:ext cx="3200400" cy="640080"/>
          </a:xfrm>
          <a:prstGeom prst="roundRect">
            <a:avLst>
              <a:gd name="adj" fmla="val 14286"/>
            </a:avLst>
          </a:prstGeom>
          <a:solidFill>
            <a:srgbClr val="D4A843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971800" y="31089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FPN 特征金字塔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0" y="3749040"/>
            <a:ext cx="0" cy="27432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971800" y="4023360"/>
            <a:ext cx="3200400" cy="640080"/>
          </a:xfrm>
          <a:prstGeom prst="roundRect">
            <a:avLst>
              <a:gd name="adj" fmla="val 14286"/>
            </a:avLst>
          </a:prstGeom>
          <a:solidFill>
            <a:srgbClr val="1A2F1B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971800" y="40233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 检测头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编码后的Pillar特征组织为伪图像，使用标准2D卷积网络提取多尺度特征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PointPillars：检测头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590800" cy="3474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2590800" cy="914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325880"/>
            <a:ext cx="2133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类别分类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1737360"/>
            <a:ext cx="213360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每个anchor预测类别概率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使用Focal Loss处理类别不平衡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/ Pedestrian / Cyclist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76600" y="1005840"/>
            <a:ext cx="2590800" cy="3474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76600" y="1005840"/>
            <a:ext cx="2590800" cy="9144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9" name="Text 7"/>
          <p:cNvSpPr/>
          <p:nvPr/>
        </p:nvSpPr>
        <p:spPr>
          <a:xfrm>
            <a:off x="3505200" y="1325880"/>
            <a:ext cx="2133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3D框回归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505200" y="1737360"/>
            <a:ext cx="213360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7自由度：x, y, z, w, l, h, θ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L1 Loss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anchor-based offset回归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96000" y="1005840"/>
            <a:ext cx="2590800" cy="3474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096000" y="1005840"/>
            <a:ext cx="2590800" cy="914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3" name="Text 11"/>
          <p:cNvSpPr/>
          <p:nvPr/>
        </p:nvSpPr>
        <p:spPr>
          <a:xfrm>
            <a:off x="6324600" y="1325880"/>
            <a:ext cx="2133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方向分类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24600" y="1737360"/>
            <a:ext cx="213360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区分0°和180°方向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避免方向模糊性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使用softmax分类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MV3D：多视图编码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590800" cy="3474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2590800" cy="914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325880"/>
            <a:ext cx="2133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鸟瞰图 (BEV)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1737360"/>
            <a:ext cx="213360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点云投影到x-y平面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编码高度和强度信息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用于生成3D候选框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76600" y="1005840"/>
            <a:ext cx="2590800" cy="3474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76600" y="1005840"/>
            <a:ext cx="2590800" cy="9144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9" name="Text 7"/>
          <p:cNvSpPr/>
          <p:nvPr/>
        </p:nvSpPr>
        <p:spPr>
          <a:xfrm>
            <a:off x="3505200" y="1325880"/>
            <a:ext cx="2133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前视图 (FV)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505200" y="1737360"/>
            <a:ext cx="213360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柱坐标系投影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补充立面信息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与BEV互补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96000" y="1005840"/>
            <a:ext cx="2590800" cy="3474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096000" y="1005840"/>
            <a:ext cx="2590800" cy="914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3" name="Text 11"/>
          <p:cNvSpPr/>
          <p:nvPr/>
        </p:nvSpPr>
        <p:spPr>
          <a:xfrm>
            <a:off x="6324600" y="1325880"/>
            <a:ext cx="2133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RGB图像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24600" y="1737360"/>
            <a:ext cx="213360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高分辨率纹理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帮助识别小目标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区分相似类别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MV3D：两阶段检测流程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0" y="1280160"/>
            <a:ext cx="3657600" cy="640080"/>
          </a:xfrm>
          <a:prstGeom prst="roundRect">
            <a:avLst>
              <a:gd name="adj" fmla="val 14286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0" y="12801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1: 3D RPN on BEV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0" y="1920240"/>
            <a:ext cx="0" cy="27432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743200" y="2194560"/>
            <a:ext cx="3657600" cy="640080"/>
          </a:xfrm>
          <a:prstGeom prst="roundRect">
            <a:avLst>
              <a:gd name="adj" fmla="val 14286"/>
            </a:avLst>
          </a:prstGeom>
          <a:solidFill>
            <a:srgbClr val="97BC62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0" y="21945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生成3D候选框 (高效)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0" y="2834640"/>
            <a:ext cx="0" cy="27432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743200" y="3108960"/>
            <a:ext cx="3657600" cy="640080"/>
          </a:xfrm>
          <a:prstGeom prst="roundRect">
            <a:avLst>
              <a:gd name="adj" fmla="val 14286"/>
            </a:avLst>
          </a:prstGeom>
          <a:solidFill>
            <a:srgbClr val="D4A843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0" y="31089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2: Deep Fusion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0" y="3749040"/>
            <a:ext cx="0" cy="27432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743200" y="4023360"/>
            <a:ext cx="3657600" cy="640080"/>
          </a:xfrm>
          <a:prstGeom prst="roundRect">
            <a:avLst>
              <a:gd name="adj" fmla="val 14286"/>
            </a:avLst>
          </a:prstGeom>
          <a:solidFill>
            <a:srgbClr val="1A2F1B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743200" y="40233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多视图精细化分类+回归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BEV上目标不重叠，RPN可高效工作；深度融合在多个层级进行特征交互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3D边界框与评估指标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0050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1234440"/>
            <a:ext cx="35433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7自由度边界框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1554480"/>
            <a:ext cx="35433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(x, y, z, w, l, h, θ)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2011680"/>
            <a:ext cx="3543300" cy="1828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(x, y, z): 框中心坐标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(w, l, h): 宽度、长度、高度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θ: 航向角（BEV平面旋转）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86300" y="1005840"/>
            <a:ext cx="400050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14900" y="1234440"/>
            <a:ext cx="35433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评估指标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14900" y="1645920"/>
            <a:ext cx="3543300" cy="2286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IoU: 交集体积/并集体积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AP@0.7 (车辆) / @0.5 (行人)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KITTI: Easy/Moderate/Hard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nuScenes: NDS综合评分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经典实验：KITTI评估结果</a:t>
            </a:r>
            <a:endParaRPr lang="en-US" sz="2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560320"/>
        </p:xfrm>
        <a:graphic>
          <a:graphicData uri="http://schemas.openxmlformats.org/drawingml/2006/table">
            <a:tbl>
              <a:tblPr/>
              <a:tblGrid>
                <a:gridCol w="2286000"/>
                <a:gridCol w="1645920"/>
                <a:gridCol w="1645920"/>
                <a:gridCol w="164592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7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方法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7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7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7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7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MV3D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71.29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62.68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56.56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VoxelNet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77.82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64.76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57.86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83.34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72.55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65.82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PointPillars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384048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2C5F2D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384048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7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结论：PointPillars在保持 competitive 精度的同时，推理速度达到62Hz，满足实时自动驾驶需求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科学家故事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0050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1234440"/>
            <a:ext cx="35433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Charles R. Qi (祁芮中台)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1645920"/>
            <a:ext cx="3543300" cy="2286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PointNet第一作者，斯坦福大学博士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师从Leonidas J. Guibas教授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首次证明神经网络可直接处理原始点云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现任Google Research研究科学家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Scholar引用量超过80,000次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86300" y="1005840"/>
            <a:ext cx="400050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14900" y="1234440"/>
            <a:ext cx="35433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Oscar Beijbom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14900" y="1645920"/>
            <a:ext cx="3543300" cy="2286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PointPillars第一作者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nuTonomy（现Motional）首席科学家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追求可在车上跑的算法，非论文SOTA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将3D检测转化为高效2D卷积运算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推动了3D检测的工业落地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7315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spc="200" kern="0" dirty="0">
                <a:solidFill>
                  <a:srgbClr val="F7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思考题与总结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97280" y="1737360"/>
            <a:ext cx="6949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为什么PointPillars将点云编码为2D伪图像后可用标准2D CNN检测？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MV3D的多视图融合相比单模态有哪些优势？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3D框的7参数回归相比2D框有哪些额外挑战？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PointPillars的哪些设计选择对其速度提升最关键？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4389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下节预告：Day 76 - 点云处理 (PointNet &amp; PointNet++)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75: 3D目标检测 - 笔记版</dc:title>
  <dc:subject>PptxGenJS Presentation</dc:subject>
  <dc:creator>CV Learning 100 Days</dc:creator>
  <cp:lastModifiedBy>CV Learning 100 Days</cp:lastModifiedBy>
  <cp:revision>1</cp:revision>
  <dcterms:created xsi:type="dcterms:W3CDTF">2026-08-08T05:14:12Z</dcterms:created>
  <dcterms:modified xsi:type="dcterms:W3CDTF">2026-08-08T05:14:12Z</dcterms:modified>
</cp:coreProperties>
</file>