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C5F2D">
              <a:alpha val="35000"/>
            </a:srgbClr>
          </a:solidFill>
          <a:ln/>
        </p:spPr>
      </p:sp>
      <p:sp>
        <p:nvSpPr>
          <p:cNvPr id="3" name="Text 1"/>
          <p:cNvSpPr/>
          <p:nvPr/>
        </p:nvSpPr>
        <p:spPr>
          <a:xfrm>
            <a:off x="457200" y="1463040"/>
            <a:ext cx="8229600" cy="640080"/>
          </a:xfrm>
          <a:prstGeom prst="rect">
            <a:avLst/>
          </a:prstGeom>
          <a:noFill/>
          <a:ln/>
        </p:spPr>
        <p:txBody>
          <a:bodyPr wrap="square" rtlCol="0" anchor="ctr"/>
          <a:lstStyle/>
          <a:p>
            <a:pPr algn="ctr" indent="0" marL="0">
              <a:buNone/>
            </a:pPr>
            <a:r>
              <a:rPr lang="en-US" sz="3600" b="1" spc="250" kern="0" dirty="0">
                <a:solidFill>
                  <a:srgbClr val="FFFFFF"/>
                </a:solidFill>
                <a:latin typeface="Georgia" pitchFamily="34" charset="0"/>
                <a:ea typeface="Georgia" pitchFamily="34" charset="-122"/>
                <a:cs typeface="Georgia" pitchFamily="34" charset="-120"/>
              </a:rPr>
              <a:t>Day 31</a:t>
            </a:r>
            <a:endParaRPr lang="en-US" sz="3600" dirty="0"/>
          </a:p>
        </p:txBody>
      </p:sp>
      <p:sp>
        <p:nvSpPr>
          <p:cNvPr id="4" name="Text 2"/>
          <p:cNvSpPr/>
          <p:nvPr/>
        </p:nvSpPr>
        <p:spPr>
          <a:xfrm>
            <a:off x="457200" y="2103120"/>
            <a:ext cx="8229600" cy="731520"/>
          </a:xfrm>
          <a:prstGeom prst="rect">
            <a:avLst/>
          </a:prstGeom>
          <a:noFill/>
          <a:ln/>
        </p:spPr>
        <p:txBody>
          <a:bodyPr wrap="square" rtlCol="0" anchor="ctr"/>
          <a:lstStyle/>
          <a:p>
            <a:pPr algn="ctr" indent="0" marL="0">
              <a:buNone/>
            </a:pPr>
            <a:r>
              <a:rPr lang="en-US" sz="4000" b="1" spc="250" kern="0" dirty="0">
                <a:solidFill>
                  <a:srgbClr val="FFFFFF"/>
                </a:solidFill>
                <a:latin typeface="Georgia" pitchFamily="34" charset="0"/>
                <a:ea typeface="Georgia" pitchFamily="34" charset="-122"/>
                <a:cs typeface="Georgia" pitchFamily="34" charset="-120"/>
              </a:rPr>
              <a:t>Haar特征与级联分类器</a:t>
            </a:r>
            <a:endParaRPr lang="en-US" sz="4000" dirty="0"/>
          </a:p>
        </p:txBody>
      </p:sp>
      <p:sp>
        <p:nvSpPr>
          <p:cNvPr id="5" name="Text 3"/>
          <p:cNvSpPr/>
          <p:nvPr/>
        </p:nvSpPr>
        <p:spPr>
          <a:xfrm>
            <a:off x="457200" y="2926080"/>
            <a:ext cx="8229600" cy="365760"/>
          </a:xfrm>
          <a:prstGeom prst="rect">
            <a:avLst/>
          </a:prstGeom>
          <a:noFill/>
          <a:ln/>
        </p:spPr>
        <p:txBody>
          <a:bodyPr wrap="square" rtlCol="0" anchor="ctr"/>
          <a:lstStyle/>
          <a:p>
            <a:pPr algn="ctr" indent="0" marL="0">
              <a:buNone/>
            </a:pPr>
            <a:r>
              <a:rPr lang="en-US" sz="1600" i="1" dirty="0">
                <a:solidFill>
                  <a:srgbClr val="FFFFFF"/>
                </a:solidFill>
                <a:latin typeface="Calibri" pitchFamily="34" charset="0"/>
                <a:ea typeface="Calibri" pitchFamily="34" charset="-122"/>
                <a:cs typeface="Calibri" pitchFamily="34" charset="-120"/>
              </a:rPr>
              <a:t>Haar-like Features &amp; Cascade Classifiers</a:t>
            </a:r>
            <a:endParaRPr lang="en-US" sz="1600" dirty="0"/>
          </a:p>
        </p:txBody>
      </p:sp>
      <p:sp>
        <p:nvSpPr>
          <p:cNvPr id="6" name="Text 4"/>
          <p:cNvSpPr/>
          <p:nvPr/>
        </p:nvSpPr>
        <p:spPr>
          <a:xfrm>
            <a:off x="457200" y="3383280"/>
            <a:ext cx="8229600" cy="27432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计算机视觉学习笔记 | 2026-06-25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目录</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CONTENTS</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4"/>
          <p:cNvSpPr/>
          <p:nvPr/>
        </p:nvSpPr>
        <p:spPr>
          <a:xfrm>
            <a:off x="731520" y="1143000"/>
            <a:ext cx="7680960" cy="411480"/>
          </a:xfrm>
          <a:prstGeom prst="rect">
            <a:avLst/>
          </a:prstGeom>
          <a:noFill/>
          <a:ln/>
        </p:spPr>
        <p:txBody>
          <a:bodyPr wrap="square" rtlCol="0" anchor="ctr"/>
          <a:lstStyle/>
          <a:p>
            <a:pPr indent="0" marL="0">
              <a:buNone/>
            </a:pPr>
            <a:r>
              <a:rPr lang="en-US" sz="1500" dirty="0">
                <a:solidFill>
                  <a:srgbClr val="1F2329"/>
                </a:solidFill>
                <a:latin typeface="Calibri" pitchFamily="34" charset="0"/>
                <a:ea typeface="Calibri" pitchFamily="34" charset="-122"/>
                <a:cs typeface="Calibri" pitchFamily="34" charset="-120"/>
              </a:rPr>
              <a:t>01  历史背景 — 人脸检测演进与Viola-Jones里程碑</a:t>
            </a:r>
            <a:endParaRPr lang="en-US" sz="1500" dirty="0"/>
          </a:p>
        </p:txBody>
      </p:sp>
      <p:sp>
        <p:nvSpPr>
          <p:cNvPr id="7" name="Shape 5"/>
          <p:cNvSpPr/>
          <p:nvPr/>
        </p:nvSpPr>
        <p:spPr>
          <a:xfrm>
            <a:off x="731520" y="1536192"/>
            <a:ext cx="7680960" cy="0"/>
          </a:xfrm>
          <a:prstGeom prst="line">
            <a:avLst/>
          </a:prstGeom>
          <a:noFill/>
          <a:ln w="6350">
            <a:solidFill>
              <a:srgbClr val="E5E7EB"/>
            </a:solidFill>
            <a:prstDash val="solid"/>
          </a:ln>
        </p:spPr>
      </p:sp>
      <p:sp>
        <p:nvSpPr>
          <p:cNvPr id="8" name="Text 6"/>
          <p:cNvSpPr/>
          <p:nvPr/>
        </p:nvSpPr>
        <p:spPr>
          <a:xfrm>
            <a:off x="731520" y="1618488"/>
            <a:ext cx="7680960" cy="411480"/>
          </a:xfrm>
          <a:prstGeom prst="rect">
            <a:avLst/>
          </a:prstGeom>
          <a:noFill/>
          <a:ln/>
        </p:spPr>
        <p:txBody>
          <a:bodyPr wrap="square" rtlCol="0" anchor="ctr"/>
          <a:lstStyle/>
          <a:p>
            <a:pPr indent="0" marL="0">
              <a:buNone/>
            </a:pPr>
            <a:r>
              <a:rPr lang="en-US" sz="1500" dirty="0">
                <a:solidFill>
                  <a:srgbClr val="1F2329"/>
                </a:solidFill>
                <a:latin typeface="Calibri" pitchFamily="34" charset="0"/>
                <a:ea typeface="Calibri" pitchFamily="34" charset="-122"/>
                <a:cs typeface="Calibri" pitchFamily="34" charset="-120"/>
              </a:rPr>
              <a:t>02  核心概念 — Haar特征、AdaBoost与级联分类器</a:t>
            </a:r>
            <a:endParaRPr lang="en-US" sz="1500" dirty="0"/>
          </a:p>
        </p:txBody>
      </p:sp>
      <p:sp>
        <p:nvSpPr>
          <p:cNvPr id="9" name="Shape 7"/>
          <p:cNvSpPr/>
          <p:nvPr/>
        </p:nvSpPr>
        <p:spPr>
          <a:xfrm>
            <a:off x="731520" y="2011680"/>
            <a:ext cx="7680960" cy="0"/>
          </a:xfrm>
          <a:prstGeom prst="line">
            <a:avLst/>
          </a:prstGeom>
          <a:noFill/>
          <a:ln w="6350">
            <a:solidFill>
              <a:srgbClr val="E5E7EB"/>
            </a:solidFill>
            <a:prstDash val="solid"/>
          </a:ln>
        </p:spPr>
      </p:sp>
      <p:sp>
        <p:nvSpPr>
          <p:cNvPr id="10" name="Text 8"/>
          <p:cNvSpPr/>
          <p:nvPr/>
        </p:nvSpPr>
        <p:spPr>
          <a:xfrm>
            <a:off x="731520" y="2093976"/>
            <a:ext cx="7680960" cy="411480"/>
          </a:xfrm>
          <a:prstGeom prst="rect">
            <a:avLst/>
          </a:prstGeom>
          <a:noFill/>
          <a:ln/>
        </p:spPr>
        <p:txBody>
          <a:bodyPr wrap="square" rtlCol="0" anchor="ctr"/>
          <a:lstStyle/>
          <a:p>
            <a:pPr indent="0" marL="0">
              <a:buNone/>
            </a:pPr>
            <a:r>
              <a:rPr lang="en-US" sz="1500" dirty="0">
                <a:solidFill>
                  <a:srgbClr val="1F2329"/>
                </a:solidFill>
                <a:latin typeface="Calibri" pitchFamily="34" charset="0"/>
                <a:ea typeface="Calibri" pitchFamily="34" charset="-122"/>
                <a:cs typeface="Calibri" pitchFamily="34" charset="-120"/>
              </a:rPr>
              <a:t>03  实战演练 — OpenCV人脸检测代码与参数调优</a:t>
            </a:r>
            <a:endParaRPr lang="en-US" sz="1500" dirty="0"/>
          </a:p>
        </p:txBody>
      </p:sp>
      <p:sp>
        <p:nvSpPr>
          <p:cNvPr id="11" name="Shape 9"/>
          <p:cNvSpPr/>
          <p:nvPr/>
        </p:nvSpPr>
        <p:spPr>
          <a:xfrm>
            <a:off x="731520" y="2487168"/>
            <a:ext cx="7680960" cy="0"/>
          </a:xfrm>
          <a:prstGeom prst="line">
            <a:avLst/>
          </a:prstGeom>
          <a:noFill/>
          <a:ln w="6350">
            <a:solidFill>
              <a:srgbClr val="E5E7EB"/>
            </a:solidFill>
            <a:prstDash val="solid"/>
          </a:ln>
        </p:spPr>
      </p:sp>
      <p:sp>
        <p:nvSpPr>
          <p:cNvPr id="12" name="Text 10"/>
          <p:cNvSpPr/>
          <p:nvPr/>
        </p:nvSpPr>
        <p:spPr>
          <a:xfrm>
            <a:off x="731520" y="2569464"/>
            <a:ext cx="7680960" cy="411480"/>
          </a:xfrm>
          <a:prstGeom prst="rect">
            <a:avLst/>
          </a:prstGeom>
          <a:noFill/>
          <a:ln/>
        </p:spPr>
        <p:txBody>
          <a:bodyPr wrap="square" rtlCol="0" anchor="ctr"/>
          <a:lstStyle/>
          <a:p>
            <a:pPr indent="0" marL="0">
              <a:buNone/>
            </a:pPr>
            <a:r>
              <a:rPr lang="en-US" sz="1500" dirty="0">
                <a:solidFill>
                  <a:srgbClr val="1F2329"/>
                </a:solidFill>
                <a:latin typeface="Calibri" pitchFamily="34" charset="0"/>
                <a:ea typeface="Calibri" pitchFamily="34" charset="-122"/>
                <a:cs typeface="Calibri" pitchFamily="34" charset="-120"/>
              </a:rPr>
              <a:t>04  科学家故事 — Paul Viola与Michael Jones</a:t>
            </a:r>
            <a:endParaRPr lang="en-US" sz="1500" dirty="0"/>
          </a:p>
        </p:txBody>
      </p:sp>
      <p:sp>
        <p:nvSpPr>
          <p:cNvPr id="13" name="Shape 11"/>
          <p:cNvSpPr/>
          <p:nvPr/>
        </p:nvSpPr>
        <p:spPr>
          <a:xfrm>
            <a:off x="731520" y="2962656"/>
            <a:ext cx="7680960" cy="0"/>
          </a:xfrm>
          <a:prstGeom prst="line">
            <a:avLst/>
          </a:prstGeom>
          <a:noFill/>
          <a:ln w="6350">
            <a:solidFill>
              <a:srgbClr val="E5E7EB"/>
            </a:solidFill>
            <a:prstDash val="solid"/>
          </a:ln>
        </p:spPr>
      </p:sp>
      <p:sp>
        <p:nvSpPr>
          <p:cNvPr id="14" name="Text 12"/>
          <p:cNvSpPr/>
          <p:nvPr/>
        </p:nvSpPr>
        <p:spPr>
          <a:xfrm>
            <a:off x="731520" y="3044952"/>
            <a:ext cx="7680960" cy="411480"/>
          </a:xfrm>
          <a:prstGeom prst="rect">
            <a:avLst/>
          </a:prstGeom>
          <a:noFill/>
          <a:ln/>
        </p:spPr>
        <p:txBody>
          <a:bodyPr wrap="square" rtlCol="0" anchor="ctr"/>
          <a:lstStyle/>
          <a:p>
            <a:pPr indent="0" marL="0">
              <a:buNone/>
            </a:pPr>
            <a:r>
              <a:rPr lang="en-US" sz="1500" dirty="0">
                <a:solidFill>
                  <a:srgbClr val="1F2329"/>
                </a:solidFill>
                <a:latin typeface="Calibri" pitchFamily="34" charset="0"/>
                <a:ea typeface="Calibri" pitchFamily="34" charset="-122"/>
                <a:cs typeface="Calibri" pitchFamily="34" charset="-120"/>
              </a:rPr>
              <a:t>05  重要文献与经典实验</a:t>
            </a:r>
            <a:endParaRPr lang="en-US" sz="1500" dirty="0"/>
          </a:p>
        </p:txBody>
      </p:sp>
      <p:sp>
        <p:nvSpPr>
          <p:cNvPr id="15" name="Shape 13"/>
          <p:cNvSpPr/>
          <p:nvPr/>
        </p:nvSpPr>
        <p:spPr>
          <a:xfrm>
            <a:off x="731520" y="3438144"/>
            <a:ext cx="7680960" cy="0"/>
          </a:xfrm>
          <a:prstGeom prst="line">
            <a:avLst/>
          </a:prstGeom>
          <a:noFill/>
          <a:ln w="6350">
            <a:solidFill>
              <a:srgbClr val="E5E7EB"/>
            </a:solidFill>
            <a:prstDash val="solid"/>
          </a:ln>
        </p:spPr>
      </p:sp>
      <p:sp>
        <p:nvSpPr>
          <p:cNvPr id="16" name="Text 14"/>
          <p:cNvSpPr/>
          <p:nvPr/>
        </p:nvSpPr>
        <p:spPr>
          <a:xfrm>
            <a:off x="731520" y="3520440"/>
            <a:ext cx="7680960" cy="411480"/>
          </a:xfrm>
          <a:prstGeom prst="rect">
            <a:avLst/>
          </a:prstGeom>
          <a:noFill/>
          <a:ln/>
        </p:spPr>
        <p:txBody>
          <a:bodyPr wrap="square" rtlCol="0" anchor="ctr"/>
          <a:lstStyle/>
          <a:p>
            <a:pPr indent="0" marL="0">
              <a:buNone/>
            </a:pPr>
            <a:r>
              <a:rPr lang="en-US" sz="1500" dirty="0">
                <a:solidFill>
                  <a:srgbClr val="1F2329"/>
                </a:solidFill>
                <a:latin typeface="Calibri" pitchFamily="34" charset="0"/>
                <a:ea typeface="Calibri" pitchFamily="34" charset="-122"/>
                <a:cs typeface="Calibri" pitchFamily="34" charset="-120"/>
              </a:rPr>
              <a:t>06  小故事、思考题与术语表</a:t>
            </a:r>
            <a:endParaRPr lang="en-US" sz="1500" dirty="0"/>
          </a:p>
        </p:txBody>
      </p:sp>
      <p:sp>
        <p:nvSpPr>
          <p:cNvPr id="17" name="Shape 15"/>
          <p:cNvSpPr/>
          <p:nvPr/>
        </p:nvSpPr>
        <p:spPr>
          <a:xfrm>
            <a:off x="731520" y="3913632"/>
            <a:ext cx="7680960" cy="0"/>
          </a:xfrm>
          <a:prstGeom prst="line">
            <a:avLst/>
          </a:prstGeom>
          <a:noFill/>
          <a:ln w="6350">
            <a:solidFill>
              <a:srgbClr val="E5E7EB"/>
            </a:solidFill>
            <a:prstDash val="solid"/>
          </a:ln>
        </p:spPr>
      </p:sp>
      <p:sp>
        <p:nvSpPr>
          <p:cNvPr id="18" name="Text 16"/>
          <p:cNvSpPr/>
          <p:nvPr/>
        </p:nvSpPr>
        <p:spPr>
          <a:xfrm>
            <a:off x="731520" y="3995928"/>
            <a:ext cx="7680960" cy="411480"/>
          </a:xfrm>
          <a:prstGeom prst="rect">
            <a:avLst/>
          </a:prstGeom>
          <a:noFill/>
          <a:ln/>
        </p:spPr>
        <p:txBody>
          <a:bodyPr wrap="square" rtlCol="0" anchor="ctr"/>
          <a:lstStyle/>
          <a:p>
            <a:pPr indent="0" marL="0">
              <a:buNone/>
            </a:pPr>
            <a:r>
              <a:rPr lang="en-US" sz="1500" dirty="0">
                <a:solidFill>
                  <a:srgbClr val="1F2329"/>
                </a:solidFill>
                <a:latin typeface="Calibri" pitchFamily="34" charset="0"/>
                <a:ea typeface="Calibri" pitchFamily="34" charset="-122"/>
                <a:cs typeface="Calibri" pitchFamily="34" charset="-120"/>
              </a:rPr>
              <a:t>07  下节预告 — Day 32: DPM与HOG检测</a:t>
            </a:r>
            <a:endParaRPr lang="en-US" sz="1500" dirty="0"/>
          </a:p>
        </p:txBody>
      </p:sp>
      <p:sp>
        <p:nvSpPr>
          <p:cNvPr id="19" name="Shape 17"/>
          <p:cNvSpPr/>
          <p:nvPr/>
        </p:nvSpPr>
        <p:spPr>
          <a:xfrm>
            <a:off x="0" y="4823460"/>
            <a:ext cx="9144000" cy="320040"/>
          </a:xfrm>
          <a:prstGeom prst="rect">
            <a:avLst/>
          </a:prstGeom>
          <a:solidFill>
            <a:srgbClr val="2C5F2D"/>
          </a:solidFill>
          <a:ln/>
        </p:spPr>
      </p:sp>
      <p:sp>
        <p:nvSpPr>
          <p:cNvPr id="20" name="Text 18"/>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历史背景</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从人脸检测到实时目标检测的演进</a:t>
            </a:r>
            <a:endParaRPr lang="en-US" sz="1200" dirty="0"/>
          </a:p>
        </p:txBody>
      </p:sp>
      <p:sp>
        <p:nvSpPr>
          <p:cNvPr id="5" name="Shape 3"/>
          <p:cNvSpPr/>
          <p:nvPr/>
        </p:nvSpPr>
        <p:spPr>
          <a:xfrm>
            <a:off x="457200" y="1005840"/>
            <a:ext cx="3931920" cy="1508760"/>
          </a:xfrm>
          <a:prstGeom prst="roundRect">
            <a:avLst>
              <a:gd name="adj" fmla="val 6061"/>
            </a:avLst>
          </a:prstGeom>
          <a:solidFill>
            <a:srgbClr val="FFFFFF"/>
          </a:solidFill>
          <a:ln/>
          <a:effectLst>
            <a:outerShdw sx="100000" sy="100000" kx="0" ky="0" algn="bl" rotWithShape="0" blurRad="152400" dist="50800" dir="8100000">
              <a:srgbClr val="000000">
                <a:alpha val="28000"/>
              </a:srgbClr>
            </a:outerShdw>
          </a:effectLst>
        </p:spPr>
      </p:sp>
      <p:sp>
        <p:nvSpPr>
          <p:cNvPr id="6" name="Text 4"/>
          <p:cNvSpPr/>
          <p:nvPr/>
        </p:nvSpPr>
        <p:spPr>
          <a:xfrm>
            <a:off x="640080" y="1097280"/>
            <a:ext cx="3566160" cy="274320"/>
          </a:xfrm>
          <a:prstGeom prst="rect">
            <a:avLst/>
          </a:prstGeom>
          <a:noFill/>
          <a:ln/>
        </p:spPr>
        <p:txBody>
          <a:bodyPr wrap="square" rtlCol="0" anchor="ctr"/>
          <a:lstStyle/>
          <a:p>
            <a:pPr indent="0" marL="0">
              <a:buNone/>
            </a:pPr>
            <a:r>
              <a:rPr lang="en-US" sz="1400" b="1" dirty="0">
                <a:solidFill>
                  <a:srgbClr val="2C5F2D"/>
                </a:solidFill>
                <a:latin typeface="Georgia" pitchFamily="34" charset="0"/>
                <a:ea typeface="Georgia" pitchFamily="34" charset="-122"/>
                <a:cs typeface="Georgia" pitchFamily="34" charset="-120"/>
              </a:rPr>
              <a:t>早期方法（1990年代前）</a:t>
            </a:r>
            <a:endParaRPr lang="en-US" sz="1400" dirty="0"/>
          </a:p>
        </p:txBody>
      </p:sp>
      <p:sp>
        <p:nvSpPr>
          <p:cNvPr id="7" name="Text 5"/>
          <p:cNvSpPr/>
          <p:nvPr/>
        </p:nvSpPr>
        <p:spPr>
          <a:xfrm>
            <a:off x="640080" y="1371600"/>
            <a:ext cx="3566160" cy="960120"/>
          </a:xfrm>
          <a:prstGeom prst="rect">
            <a:avLst/>
          </a:prstGeom>
          <a:noFill/>
          <a:ln/>
        </p:spPr>
        <p:txBody>
          <a:bodyPr wrap="square" rtlCol="0" anchor="ctr"/>
          <a:lstStyle/>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基于知识的方法：利用人脸先验知识构建规则</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基于模板匹配：使用固定模板滑动窗口匹配</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基于神经网络：计算量大，实时性差</a:t>
            </a:r>
            <a:endParaRPr lang="en-US" sz="1100" dirty="0"/>
          </a:p>
        </p:txBody>
      </p:sp>
      <p:sp>
        <p:nvSpPr>
          <p:cNvPr id="8" name="Shape 6"/>
          <p:cNvSpPr/>
          <p:nvPr/>
        </p:nvSpPr>
        <p:spPr>
          <a:xfrm>
            <a:off x="457200" y="2606040"/>
            <a:ext cx="3931920" cy="2057400"/>
          </a:xfrm>
          <a:prstGeom prst="roundRect">
            <a:avLst>
              <a:gd name="adj" fmla="val 4444"/>
            </a:avLst>
          </a:prstGeom>
          <a:solidFill>
            <a:srgbClr val="FFFFFF"/>
          </a:solidFill>
          <a:ln/>
          <a:effectLst>
            <a:outerShdw sx="100000" sy="100000" kx="0" ky="0" algn="bl" rotWithShape="0" blurRad="152400" dist="50800" dir="8100000">
              <a:srgbClr val="000000">
                <a:alpha val="28000"/>
              </a:srgbClr>
            </a:outerShdw>
          </a:effectLst>
        </p:spPr>
      </p:sp>
      <p:sp>
        <p:nvSpPr>
          <p:cNvPr id="9" name="Text 7"/>
          <p:cNvSpPr/>
          <p:nvPr/>
        </p:nvSpPr>
        <p:spPr>
          <a:xfrm>
            <a:off x="640080" y="2697480"/>
            <a:ext cx="3566160" cy="274320"/>
          </a:xfrm>
          <a:prstGeom prst="rect">
            <a:avLst/>
          </a:prstGeom>
          <a:noFill/>
          <a:ln/>
        </p:spPr>
        <p:txBody>
          <a:bodyPr wrap="square" rtlCol="0" anchor="ctr"/>
          <a:lstStyle/>
          <a:p>
            <a:pPr indent="0" marL="0">
              <a:buNone/>
            </a:pPr>
            <a:r>
              <a:rPr lang="en-US" sz="1400" b="1" dirty="0">
                <a:solidFill>
                  <a:srgbClr val="D4A843"/>
                </a:solidFill>
                <a:latin typeface="Georgia" pitchFamily="34" charset="0"/>
                <a:ea typeface="Georgia" pitchFamily="34" charset="-122"/>
                <a:cs typeface="Georgia" pitchFamily="34" charset="-120"/>
              </a:rPr>
              <a:t>关键突破</a:t>
            </a:r>
            <a:endParaRPr lang="en-US" sz="1400" dirty="0"/>
          </a:p>
        </p:txBody>
      </p:sp>
      <p:sp>
        <p:nvSpPr>
          <p:cNvPr id="10" name="Text 8"/>
          <p:cNvSpPr/>
          <p:nvPr/>
        </p:nvSpPr>
        <p:spPr>
          <a:xfrm>
            <a:off x="640080" y="2971800"/>
            <a:ext cx="3566160" cy="1463040"/>
          </a:xfrm>
          <a:prstGeom prst="rect">
            <a:avLst/>
          </a:prstGeom>
          <a:noFill/>
          <a:ln/>
        </p:spPr>
        <p:txBody>
          <a:bodyPr wrap="square" rtlCol="0" anchor="ctr"/>
          <a:lstStyle/>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2001年Viola-Jones论文首次实现实时人脸检测</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当时硬件条件达到15帧/秒</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标志目标检测进入经典机器学习时代</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为HOG+SVM、DPM及深度学习奠定基础</a:t>
            </a:r>
            <a:endParaRPr lang="en-US" sz="1100" dirty="0"/>
          </a:p>
        </p:txBody>
      </p:sp>
      <p:sp>
        <p:nvSpPr>
          <p:cNvPr id="11" name="Shape 9"/>
          <p:cNvSpPr/>
          <p:nvPr/>
        </p:nvSpPr>
        <p:spPr>
          <a:xfrm>
            <a:off x="4572000" y="1005840"/>
            <a:ext cx="41148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12" name="Text 10"/>
          <p:cNvSpPr/>
          <p:nvPr/>
        </p:nvSpPr>
        <p:spPr>
          <a:xfrm>
            <a:off x="4754880" y="1097280"/>
            <a:ext cx="3749040" cy="274320"/>
          </a:xfrm>
          <a:prstGeom prst="rect">
            <a:avLst/>
          </a:prstGeom>
          <a:noFill/>
          <a:ln/>
        </p:spPr>
        <p:txBody>
          <a:bodyPr wrap="square" rtlCol="0" anchor="ctr"/>
          <a:lstStyle/>
          <a:p>
            <a:pPr indent="0" marL="0">
              <a:buNone/>
            </a:pPr>
            <a:r>
              <a:rPr lang="en-US" sz="1400" b="1" dirty="0">
                <a:solidFill>
                  <a:srgbClr val="2C5F2D"/>
                </a:solidFill>
                <a:latin typeface="Georgia" pitchFamily="34" charset="0"/>
                <a:ea typeface="Georgia" pitchFamily="34" charset="-122"/>
                <a:cs typeface="Georgia" pitchFamily="34" charset="-120"/>
              </a:rPr>
              <a:t>OpenCV中的实现</a:t>
            </a:r>
            <a:endParaRPr lang="en-US" sz="1400" dirty="0"/>
          </a:p>
        </p:txBody>
      </p:sp>
      <p:sp>
        <p:nvSpPr>
          <p:cNvPr id="13" name="Text 11"/>
          <p:cNvSpPr/>
          <p:nvPr/>
        </p:nvSpPr>
        <p:spPr>
          <a:xfrm>
            <a:off x="4754880" y="1371600"/>
            <a:ext cx="3749040" cy="1005840"/>
          </a:xfrm>
          <a:prstGeom prst="rect">
            <a:avLst/>
          </a:prstGeom>
          <a:noFill/>
          <a:ln/>
        </p:spPr>
        <p:txBody>
          <a:bodyPr wrap="square" rtlCol="0" anchor="ctr"/>
          <a:lstStyle/>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OpenCV 2.0完整实现Viola-Jones框架</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提供预训练级联分类器模型</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几行代码即可实现人脸检测</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推动安防、摄影、社交等领域应用</a:t>
            </a:r>
            <a:endParaRPr lang="en-US" sz="1100" dirty="0"/>
          </a:p>
        </p:txBody>
      </p:sp>
      <p:pic>
        <p:nvPicPr>
          <p:cNvPr id="14" name="Image 0" descr="/workspace/cv_learning/cv_day031_applications.jpg">    </p:cNvPr>
          <p:cNvPicPr>
            <a:picLocks noChangeAspect="1"/>
          </p:cNvPicPr>
          <p:nvPr/>
        </p:nvPicPr>
        <p:blipFill>
          <a:blip r:embed="rId1"/>
          <a:srcRect l="0" r="0" t="0" b="0"/>
          <a:stretch/>
        </p:blipFill>
        <p:spPr>
          <a:xfrm>
            <a:off x="4572000" y="2468880"/>
            <a:ext cx="4114800" cy="2103120"/>
          </a:xfrm>
          <a:prstGeom prst="rect">
            <a:avLst/>
          </a:prstGeom>
        </p:spPr>
      </p:pic>
      <p:sp>
        <p:nvSpPr>
          <p:cNvPr id="15" name="Shape 12"/>
          <p:cNvSpPr/>
          <p:nvPr/>
        </p:nvSpPr>
        <p:spPr>
          <a:xfrm>
            <a:off x="0" y="4823460"/>
            <a:ext cx="9144000" cy="320040"/>
          </a:xfrm>
          <a:prstGeom prst="rect">
            <a:avLst/>
          </a:prstGeom>
          <a:solidFill>
            <a:srgbClr val="2C5F2D"/>
          </a:solidFill>
          <a:ln/>
        </p:spPr>
      </p:sp>
      <p:sp>
        <p:nvSpPr>
          <p:cNvPr id="16" name="Text 13"/>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历史背景</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Viola-Jones里程碑论文</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4"/>
          <p:cNvSpPr/>
          <p:nvPr/>
        </p:nvSpPr>
        <p:spPr>
          <a:xfrm>
            <a:off x="640080" y="1097280"/>
            <a:ext cx="7863840" cy="320040"/>
          </a:xfrm>
          <a:prstGeom prst="rect">
            <a:avLst/>
          </a:prstGeom>
          <a:noFill/>
          <a:ln/>
        </p:spPr>
        <p:txBody>
          <a:bodyPr wrap="square" rtlCol="0" anchor="ctr"/>
          <a:lstStyle/>
          <a:p>
            <a:pPr indent="0" marL="0">
              <a:buNone/>
            </a:pPr>
            <a:r>
              <a:rPr lang="en-US" sz="1500" b="1" i="1" dirty="0">
                <a:solidFill>
                  <a:srgbClr val="2C5F2D"/>
                </a:solidFill>
                <a:latin typeface="Georgia" pitchFamily="34" charset="0"/>
                <a:ea typeface="Georgia" pitchFamily="34" charset="-122"/>
                <a:cs typeface="Georgia" pitchFamily="34" charset="-120"/>
              </a:rPr>
              <a:t>Rapid Object Detection using a Boosted Cascade of Simple Features</a:t>
            </a:r>
            <a:endParaRPr lang="en-US" sz="1500" dirty="0"/>
          </a:p>
        </p:txBody>
      </p:sp>
      <p:sp>
        <p:nvSpPr>
          <p:cNvPr id="7" name="Text 5"/>
          <p:cNvSpPr/>
          <p:nvPr/>
        </p:nvSpPr>
        <p:spPr>
          <a:xfrm>
            <a:off x="640080" y="1417320"/>
            <a:ext cx="7863840" cy="201168"/>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作者: Paul Viola &amp; Michael Jones | 会议: CVPR 2001</a:t>
            </a:r>
            <a:endParaRPr lang="en-US" sz="1100" dirty="0"/>
          </a:p>
        </p:txBody>
      </p:sp>
      <p:sp>
        <p:nvSpPr>
          <p:cNvPr id="8" name="Text 6"/>
          <p:cNvSpPr/>
          <p:nvPr/>
        </p:nvSpPr>
        <p:spPr>
          <a:xfrm>
            <a:off x="640080" y="1691640"/>
            <a:ext cx="7863840" cy="2651760"/>
          </a:xfrm>
          <a:prstGeom prst="rect">
            <a:avLst/>
          </a:prstGeom>
          <a:noFill/>
          <a:ln/>
        </p:spPr>
        <p:txBody>
          <a:bodyPr wrap="square" rtlCol="0" anchor="ctr"/>
          <a:lstStyle/>
          <a:p>
            <a:pPr indent="0" marL="0">
              <a:spcAft>
                <a:spcPts val="300"/>
              </a:spcAft>
              <a:buNone/>
            </a:pPr>
            <a:r>
              <a:rPr lang="en-US" sz="1200" b="1" dirty="0">
                <a:solidFill>
                  <a:srgbClr val="1F2329"/>
                </a:solidFill>
                <a:latin typeface="Calibri" pitchFamily="34" charset="0"/>
                <a:ea typeface="Calibri" pitchFamily="34" charset="-122"/>
                <a:cs typeface="Calibri" pitchFamily="34" charset="-120"/>
              </a:rPr>
              <a:t>核心贡献</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提出基于Haar特征和级联分类器的检测框架</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首次在普通硬件上实现实时人脸检测（15 FPS）</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三大技术巧妙结合：积分图 + AdaBoost + 级联结构</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引用量超过35,000次，计算机视觉领域最高引用论文之一</a:t>
            </a:r>
            <a:endParaRPr lang="en-US" sz="1200" dirty="0"/>
          </a:p>
          <a:p>
            <a:pPr indent="0" marL="0">
              <a:spcAft>
                <a:spcPts val="300"/>
              </a:spcAft>
              <a:buNone/>
            </a:pPr>
            <a:endParaRPr lang="en-US" sz="1200" dirty="0"/>
          </a:p>
          <a:p>
            <a:pPr indent="0" marL="0">
              <a:spcAft>
                <a:spcPts val="300"/>
              </a:spcAft>
              <a:buNone/>
            </a:pPr>
            <a:r>
              <a:rPr lang="en-US" sz="1200" b="1" dirty="0">
                <a:solidFill>
                  <a:srgbClr val="1F2329"/>
                </a:solidFill>
                <a:latin typeface="Calibri" pitchFamily="34" charset="0"/>
                <a:ea typeface="Calibri" pitchFamily="34" charset="-122"/>
                <a:cs typeface="Calibri" pitchFamily="34" charset="-120"/>
              </a:rPr>
              <a:t>技术影响</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Viola-Jones框架是通用目标检测框架，人脸检测因其稳定结构特征表现尤为出色</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为后续HOG+SVM、DPM以及深度学习检测方法提供重要思想基础</a:t>
            </a:r>
            <a:endParaRPr lang="en-US" sz="1200" dirty="0"/>
          </a:p>
        </p:txBody>
      </p:sp>
      <p:sp>
        <p:nvSpPr>
          <p:cNvPr id="9" name="Shape 7"/>
          <p:cNvSpPr/>
          <p:nvPr/>
        </p:nvSpPr>
        <p:spPr>
          <a:xfrm>
            <a:off x="0" y="4823460"/>
            <a:ext cx="9144000" cy="320040"/>
          </a:xfrm>
          <a:prstGeom prst="rect">
            <a:avLst/>
          </a:prstGeom>
          <a:solidFill>
            <a:srgbClr val="2C5F2D"/>
          </a:solidFill>
          <a:ln/>
        </p:spPr>
      </p:sp>
      <p:sp>
        <p:nvSpPr>
          <p:cNvPr id="10" name="Text 8"/>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核心概念</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Haar特征原理</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4"/>
          <p:cNvSpPr/>
          <p:nvPr/>
        </p:nvSpPr>
        <p:spPr>
          <a:xfrm>
            <a:off x="640080" y="1097280"/>
            <a:ext cx="7863840" cy="502920"/>
          </a:xfrm>
          <a:prstGeom prst="rect">
            <a:avLst/>
          </a:prstGeom>
          <a:noFill/>
          <a:ln/>
        </p:spPr>
        <p:txBody>
          <a:bodyPr wrap="square" rtlCol="0" anchor="ctr"/>
          <a:lstStyle/>
          <a:p>
            <a:pPr indent="0" marL="0">
              <a:buNone/>
            </a:pPr>
            <a:r>
              <a:rPr lang="en-US" sz="1200" dirty="0">
                <a:solidFill>
                  <a:srgbClr val="1F2329"/>
                </a:solidFill>
                <a:latin typeface="Calibri" pitchFamily="34" charset="0"/>
                <a:ea typeface="Calibri" pitchFamily="34" charset="-122"/>
                <a:cs typeface="Calibri" pitchFamily="34" charset="-120"/>
              </a:rPr>
              <a:t>Haar特征是一种用于目标检测的矩形特征，灵感来源于Haar小波变换。通过计算图像中相邻矩形区域的像素和之差来捕捉边缘、线段和中心环绕等局部结构信息。</a:t>
            </a:r>
            <a:endParaRPr lang="en-US" sz="1200" dirty="0"/>
          </a:p>
        </p:txBody>
      </p:sp>
      <p:sp>
        <p:nvSpPr>
          <p:cNvPr id="7" name="Text 5"/>
          <p:cNvSpPr/>
          <p:nvPr/>
        </p:nvSpPr>
        <p:spPr>
          <a:xfrm>
            <a:off x="640080" y="1645920"/>
            <a:ext cx="7863840" cy="256032"/>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四种基本类型:</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7863840" cy="1463040"/>
        </p:xfrm>
        <a:graphic>
          <a:graphicData uri="http://schemas.openxmlformats.org/drawingml/2006/table">
            <a:tbl>
              <a:tblPr/>
              <a:tblGrid>
                <a:gridCol w="1371600"/>
                <a:gridCol w="3200400"/>
                <a:gridCol w="228600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特征类型</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C5F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描述</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C5F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适用检测</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C5F2D"/>
                    </a:solidFill>
                  </a:tcPr>
                </a:tc>
              </a:tr>
              <a:tr h="292608">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边缘特征</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两个相邻矩形的像素差</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水平/垂直边缘</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r h="292608">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线特征</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三个矩形的像素组合</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线条结构</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r h="292608">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中心环绕</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中心矩形与周围矩形的差</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对比度变化区域</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r h="292608">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对角线特征</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对角分布的矩形组合</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对角边缘</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bl>
          </a:graphicData>
        </a:graphic>
      </p:graphicFrame>
      <p:sp>
        <p:nvSpPr>
          <p:cNvPr id="9" name="Text 6"/>
          <p:cNvSpPr/>
          <p:nvPr/>
        </p:nvSpPr>
        <p:spPr>
          <a:xfrm>
            <a:off x="640080" y="3520440"/>
            <a:ext cx="7863840" cy="32004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关键洞察：人脸区域中，眼睛比脸颊暗，鼻子比周围亮——Haar特征恰好能捕捉这些规律。</a:t>
            </a:r>
            <a:endParaRPr lang="en-US" sz="1200" dirty="0"/>
          </a:p>
        </p:txBody>
      </p:sp>
      <p:sp>
        <p:nvSpPr>
          <p:cNvPr id="10" name="Shape 7"/>
          <p:cNvSpPr/>
          <p:nvPr/>
        </p:nvSpPr>
        <p:spPr>
          <a:xfrm>
            <a:off x="0" y="4823460"/>
            <a:ext cx="9144000" cy="320040"/>
          </a:xfrm>
          <a:prstGeom prst="rect">
            <a:avLst/>
          </a:prstGeom>
          <a:solidFill>
            <a:srgbClr val="2C5F2D"/>
          </a:solidFill>
          <a:ln/>
        </p:spPr>
      </p:sp>
      <p:sp>
        <p:nvSpPr>
          <p:cNvPr id="11" name="Text 8"/>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核心概念</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Haar特征类型与积分图加速</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4"/>
          <p:cNvSpPr/>
          <p:nvPr/>
        </p:nvSpPr>
        <p:spPr>
          <a:xfrm>
            <a:off x="640080" y="1097280"/>
            <a:ext cx="3657600" cy="256032"/>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积分图定义</a:t>
            </a:r>
            <a:endParaRPr lang="en-US" sz="1300" dirty="0"/>
          </a:p>
        </p:txBody>
      </p:sp>
      <p:sp>
        <p:nvSpPr>
          <p:cNvPr id="7" name="Text 5"/>
          <p:cNvSpPr/>
          <p:nvPr/>
        </p:nvSpPr>
        <p:spPr>
          <a:xfrm>
            <a:off x="640080" y="1353312"/>
            <a:ext cx="3657600" cy="228600"/>
          </a:xfrm>
          <a:prstGeom prst="rect">
            <a:avLst/>
          </a:prstGeom>
          <a:noFill/>
          <a:ln/>
        </p:spPr>
        <p:txBody>
          <a:bodyPr wrap="square" rtlCol="0" anchor="ctr"/>
          <a:lstStyle/>
          <a:p>
            <a:pPr indent="0" marL="0">
              <a:buNone/>
            </a:pPr>
            <a:r>
              <a:rPr lang="en-US" sz="1200" dirty="0">
                <a:solidFill>
                  <a:srgbClr val="1F2329"/>
                </a:solidFill>
                <a:latin typeface="Courier New" pitchFamily="34" charset="0"/>
                <a:ea typeface="Courier New" pitchFamily="34" charset="-122"/>
                <a:cs typeface="Courier New" pitchFamily="34" charset="-120"/>
              </a:rPr>
              <a:t>II(x,y) = Σ I(i,j)，其中 i≤x, j≤y</a:t>
            </a:r>
            <a:endParaRPr lang="en-US" sz="1200" dirty="0"/>
          </a:p>
        </p:txBody>
      </p:sp>
      <p:sp>
        <p:nvSpPr>
          <p:cNvPr id="8" name="Text 6"/>
          <p:cNvSpPr/>
          <p:nvPr/>
        </p:nvSpPr>
        <p:spPr>
          <a:xfrm>
            <a:off x="640080" y="1627632"/>
            <a:ext cx="3657600" cy="548640"/>
          </a:xfrm>
          <a:prstGeom prst="rect">
            <a:avLst/>
          </a:prstGeom>
          <a:noFill/>
          <a:ln/>
        </p:spPr>
        <p:txBody>
          <a:bodyPr wrap="square" rtlCol="0" anchor="ctr"/>
          <a:lstStyle/>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预计算每个位置的累积像素和</a:t>
            </a:r>
            <a:endParaRPr lang="en-US" sz="1100" dirty="0"/>
          </a:p>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构建一次，重复使用</a:t>
            </a:r>
            <a:endParaRPr lang="en-US" sz="1100" dirty="0"/>
          </a:p>
        </p:txBody>
      </p:sp>
      <p:sp>
        <p:nvSpPr>
          <p:cNvPr id="9" name="Text 7"/>
          <p:cNvSpPr/>
          <p:nvPr/>
        </p:nvSpPr>
        <p:spPr>
          <a:xfrm>
            <a:off x="4572000" y="1097280"/>
            <a:ext cx="3657600" cy="256032"/>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矩形区域求和</a:t>
            </a:r>
            <a:endParaRPr lang="en-US" sz="1300" dirty="0"/>
          </a:p>
        </p:txBody>
      </p:sp>
      <p:sp>
        <p:nvSpPr>
          <p:cNvPr id="10" name="Text 8"/>
          <p:cNvSpPr/>
          <p:nvPr/>
        </p:nvSpPr>
        <p:spPr>
          <a:xfrm>
            <a:off x="4572000" y="1353312"/>
            <a:ext cx="3657600" cy="228600"/>
          </a:xfrm>
          <a:prstGeom prst="rect">
            <a:avLst/>
          </a:prstGeom>
          <a:noFill/>
          <a:ln/>
        </p:spPr>
        <p:txBody>
          <a:bodyPr wrap="square" rtlCol="0" anchor="ctr"/>
          <a:lstStyle/>
          <a:p>
            <a:pPr indent="0" marL="0">
              <a:buNone/>
            </a:pPr>
            <a:r>
              <a:rPr lang="en-US" sz="1200" dirty="0">
                <a:solidFill>
                  <a:srgbClr val="1F2329"/>
                </a:solidFill>
                <a:latin typeface="Courier New" pitchFamily="34" charset="0"/>
                <a:ea typeface="Courier New" pitchFamily="34" charset="-122"/>
                <a:cs typeface="Courier New" pitchFamily="34" charset="-120"/>
              </a:rPr>
              <a:t>Sum(D) = II(A)-II(B)-II(C)+II(D)</a:t>
            </a:r>
            <a:endParaRPr lang="en-US" sz="1200" dirty="0"/>
          </a:p>
        </p:txBody>
      </p:sp>
      <p:sp>
        <p:nvSpPr>
          <p:cNvPr id="11" name="Text 9"/>
          <p:cNvSpPr/>
          <p:nvPr/>
        </p:nvSpPr>
        <p:spPr>
          <a:xfrm>
            <a:off x="4572000" y="1627632"/>
            <a:ext cx="3657600" cy="777240"/>
          </a:xfrm>
          <a:prstGeom prst="rect">
            <a:avLst/>
          </a:prstGeom>
          <a:noFill/>
          <a:ln/>
        </p:spPr>
        <p:txBody>
          <a:bodyPr wrap="square" rtlCol="0" anchor="ctr"/>
          <a:lstStyle/>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任意矩形区域像素和 = 4次查表</a:t>
            </a:r>
            <a:endParaRPr lang="en-US" sz="1100" dirty="0"/>
          </a:p>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复杂度从 O(n²) 降到 O(1)</a:t>
            </a:r>
            <a:endParaRPr lang="en-US" sz="1100" dirty="0"/>
          </a:p>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18万+ Haar特征可在毫秒级完成</a:t>
            </a:r>
            <a:endParaRPr lang="en-US" sz="1100" dirty="0"/>
          </a:p>
        </p:txBody>
      </p:sp>
      <p:sp>
        <p:nvSpPr>
          <p:cNvPr id="12" name="Shape 10"/>
          <p:cNvSpPr/>
          <p:nvPr/>
        </p:nvSpPr>
        <p:spPr>
          <a:xfrm>
            <a:off x="640080" y="2560320"/>
            <a:ext cx="7863840" cy="0"/>
          </a:xfrm>
          <a:prstGeom prst="line">
            <a:avLst/>
          </a:prstGeom>
          <a:noFill/>
          <a:ln w="6350">
            <a:solidFill>
              <a:srgbClr val="E5E7EB"/>
            </a:solidFill>
            <a:prstDash val="solid"/>
          </a:ln>
        </p:spPr>
      </p:sp>
      <p:sp>
        <p:nvSpPr>
          <p:cNvPr id="13" name="Text 11"/>
          <p:cNvSpPr/>
          <p:nvPr/>
        </p:nvSpPr>
        <p:spPr>
          <a:xfrm>
            <a:off x="640080" y="2697480"/>
            <a:ext cx="7863840" cy="256032"/>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速度对比</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971800"/>
          <a:ext cx="7863840" cy="1097280"/>
        </p:xfrm>
        <a:graphic>
          <a:graphicData uri="http://schemas.openxmlformats.org/drawingml/2006/table">
            <a:tbl>
              <a:tblPr/>
              <a:tblGrid>
                <a:gridCol w="2286000"/>
                <a:gridCol w="2286000"/>
                <a:gridCol w="228600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方法</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C5F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计算复杂度</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C5F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18万特征耗时</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C5F2D"/>
                    </a:solidFill>
                  </a:tcPr>
                </a:tc>
              </a:tr>
              <a:tr h="365760">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直接计算</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O(n²) 每特征</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数分钟</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r h="365760">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积分图加速</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O(1) 每特征</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毫秒级</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bl>
          </a:graphicData>
        </a:graphic>
      </p:graphicFrame>
      <p:sp>
        <p:nvSpPr>
          <p:cNvPr id="15" name="Shape 12"/>
          <p:cNvSpPr/>
          <p:nvPr/>
        </p:nvSpPr>
        <p:spPr>
          <a:xfrm>
            <a:off x="0" y="4823460"/>
            <a:ext cx="9144000" cy="320040"/>
          </a:xfrm>
          <a:prstGeom prst="rect">
            <a:avLst/>
          </a:prstGeom>
          <a:solidFill>
            <a:srgbClr val="2C5F2D"/>
          </a:solidFill>
          <a:ln/>
        </p:spPr>
      </p:sp>
      <p:sp>
        <p:nvSpPr>
          <p:cNvPr id="16" name="Text 13"/>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核心概念</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AdaBoost算法</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4"/>
          <p:cNvSpPr/>
          <p:nvPr/>
        </p:nvSpPr>
        <p:spPr>
          <a:xfrm>
            <a:off x="640080" y="1097280"/>
            <a:ext cx="7863840" cy="320040"/>
          </a:xfrm>
          <a:prstGeom prst="rect">
            <a:avLst/>
          </a:prstGeom>
          <a:noFill/>
          <a:ln/>
        </p:spPr>
        <p:txBody>
          <a:bodyPr wrap="square" rtlCol="0" anchor="ctr"/>
          <a:lstStyle/>
          <a:p>
            <a:pPr indent="0" marL="0">
              <a:buNone/>
            </a:pPr>
            <a:r>
              <a:rPr lang="en-US" sz="1200" dirty="0">
                <a:solidFill>
                  <a:srgbClr val="1F2329"/>
                </a:solidFill>
                <a:latin typeface="Calibri" pitchFamily="34" charset="0"/>
                <a:ea typeface="Calibri" pitchFamily="34" charset="-122"/>
                <a:cs typeface="Calibri" pitchFamily="34" charset="-120"/>
              </a:rPr>
              <a:t>AdaBoost（Adaptive Boosting）由Freund &amp; Schapire于1995年提出，通过组合多个弱分类器构建强分类器。</a:t>
            </a:r>
            <a:endParaRPr lang="en-US" sz="1200" dirty="0"/>
          </a:p>
        </p:txBody>
      </p:sp>
      <p:sp>
        <p:nvSpPr>
          <p:cNvPr id="7" name="Text 5"/>
          <p:cNvSpPr/>
          <p:nvPr/>
        </p:nvSpPr>
        <p:spPr>
          <a:xfrm>
            <a:off x="640080" y="1463040"/>
            <a:ext cx="7863840" cy="228600"/>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核心思想:</a:t>
            </a:r>
            <a:endParaRPr lang="en-US" sz="1300" dirty="0"/>
          </a:p>
        </p:txBody>
      </p:sp>
      <p:sp>
        <p:nvSpPr>
          <p:cNvPr id="8" name="Shape 6"/>
          <p:cNvSpPr/>
          <p:nvPr/>
        </p:nvSpPr>
        <p:spPr>
          <a:xfrm>
            <a:off x="731520" y="1737360"/>
            <a:ext cx="292608" cy="292608"/>
          </a:xfrm>
          <a:prstGeom prst="ellipse">
            <a:avLst/>
          </a:prstGeom>
          <a:solidFill>
            <a:srgbClr val="D4A843"/>
          </a:solidFill>
          <a:ln/>
        </p:spPr>
      </p:sp>
      <p:sp>
        <p:nvSpPr>
          <p:cNvPr id="9" name="Text 7"/>
          <p:cNvSpPr/>
          <p:nvPr/>
        </p:nvSpPr>
        <p:spPr>
          <a:xfrm>
            <a:off x="731520" y="173736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143000" y="1737360"/>
            <a:ext cx="7315200" cy="292608"/>
          </a:xfrm>
          <a:prstGeom prst="rect">
            <a:avLst/>
          </a:prstGeom>
          <a:noFill/>
          <a:ln/>
        </p:spPr>
        <p:txBody>
          <a:bodyPr wrap="square" rtlCol="0" anchor="ctr"/>
          <a:lstStyle/>
          <a:p>
            <a:pPr indent="0" marL="0">
              <a:buNone/>
            </a:pPr>
            <a:r>
              <a:rPr lang="en-US" sz="1100" dirty="0">
                <a:solidFill>
                  <a:srgbClr val="1F2329"/>
                </a:solidFill>
                <a:latin typeface="Calibri" pitchFamily="34" charset="0"/>
                <a:ea typeface="Calibri" pitchFamily="34" charset="-122"/>
                <a:cs typeface="Calibri" pitchFamily="34" charset="-120"/>
              </a:rPr>
              <a:t>初始化权重: 给训练样本分配均匀权重</a:t>
            </a:r>
            <a:endParaRPr lang="en-US" sz="1100" dirty="0"/>
          </a:p>
        </p:txBody>
      </p:sp>
      <p:sp>
        <p:nvSpPr>
          <p:cNvPr id="11" name="Shape 9"/>
          <p:cNvSpPr/>
          <p:nvPr/>
        </p:nvSpPr>
        <p:spPr>
          <a:xfrm>
            <a:off x="731520" y="2121408"/>
            <a:ext cx="292608" cy="292608"/>
          </a:xfrm>
          <a:prstGeom prst="ellipse">
            <a:avLst/>
          </a:prstGeom>
          <a:solidFill>
            <a:srgbClr val="D4A843"/>
          </a:solidFill>
          <a:ln/>
        </p:spPr>
      </p:sp>
      <p:sp>
        <p:nvSpPr>
          <p:cNvPr id="12" name="Text 10"/>
          <p:cNvSpPr/>
          <p:nvPr/>
        </p:nvSpPr>
        <p:spPr>
          <a:xfrm>
            <a:off x="731520" y="2121408"/>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143000" y="2121408"/>
            <a:ext cx="7315200" cy="292608"/>
          </a:xfrm>
          <a:prstGeom prst="rect">
            <a:avLst/>
          </a:prstGeom>
          <a:noFill/>
          <a:ln/>
        </p:spPr>
        <p:txBody>
          <a:bodyPr wrap="square" rtlCol="0" anchor="ctr"/>
          <a:lstStyle/>
          <a:p>
            <a:pPr indent="0" marL="0">
              <a:buNone/>
            </a:pPr>
            <a:r>
              <a:rPr lang="en-US" sz="1100" dirty="0">
                <a:solidFill>
                  <a:srgbClr val="1F2329"/>
                </a:solidFill>
                <a:latin typeface="Calibri" pitchFamily="34" charset="0"/>
                <a:ea typeface="Calibri" pitchFamily="34" charset="-122"/>
                <a:cs typeface="Calibri" pitchFamily="34" charset="-120"/>
              </a:rPr>
              <a:t>迭代训练: 每轮训练一个弱分类器，根据误差调整权重</a:t>
            </a:r>
            <a:endParaRPr lang="en-US" sz="1100" dirty="0"/>
          </a:p>
        </p:txBody>
      </p:sp>
      <p:sp>
        <p:nvSpPr>
          <p:cNvPr id="14" name="Shape 12"/>
          <p:cNvSpPr/>
          <p:nvPr/>
        </p:nvSpPr>
        <p:spPr>
          <a:xfrm>
            <a:off x="731520" y="2505456"/>
            <a:ext cx="292608" cy="292608"/>
          </a:xfrm>
          <a:prstGeom prst="ellipse">
            <a:avLst/>
          </a:prstGeom>
          <a:solidFill>
            <a:srgbClr val="D4A843"/>
          </a:solidFill>
          <a:ln/>
        </p:spPr>
      </p:sp>
      <p:sp>
        <p:nvSpPr>
          <p:cNvPr id="15" name="Text 13"/>
          <p:cNvSpPr/>
          <p:nvPr/>
        </p:nvSpPr>
        <p:spPr>
          <a:xfrm>
            <a:off x="731520" y="2505456"/>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43000" y="2505456"/>
            <a:ext cx="7315200" cy="292608"/>
          </a:xfrm>
          <a:prstGeom prst="rect">
            <a:avLst/>
          </a:prstGeom>
          <a:noFill/>
          <a:ln/>
        </p:spPr>
        <p:txBody>
          <a:bodyPr wrap="square" rtlCol="0" anchor="ctr"/>
          <a:lstStyle/>
          <a:p>
            <a:pPr indent="0" marL="0">
              <a:buNone/>
            </a:pPr>
            <a:r>
              <a:rPr lang="en-US" sz="1100" dirty="0">
                <a:solidFill>
                  <a:srgbClr val="1F2329"/>
                </a:solidFill>
                <a:latin typeface="Calibri" pitchFamily="34" charset="0"/>
                <a:ea typeface="Calibri" pitchFamily="34" charset="-122"/>
                <a:cs typeface="Calibri" pitchFamily="34" charset="-120"/>
              </a:rPr>
              <a:t>关注难例: 被错分的样本获得更高权重</a:t>
            </a:r>
            <a:endParaRPr lang="en-US" sz="1100" dirty="0"/>
          </a:p>
        </p:txBody>
      </p:sp>
      <p:sp>
        <p:nvSpPr>
          <p:cNvPr id="17" name="Shape 15"/>
          <p:cNvSpPr/>
          <p:nvPr/>
        </p:nvSpPr>
        <p:spPr>
          <a:xfrm>
            <a:off x="731520" y="2889504"/>
            <a:ext cx="292608" cy="292608"/>
          </a:xfrm>
          <a:prstGeom prst="ellipse">
            <a:avLst/>
          </a:prstGeom>
          <a:solidFill>
            <a:srgbClr val="D4A843"/>
          </a:solidFill>
          <a:ln/>
        </p:spPr>
      </p:sp>
      <p:sp>
        <p:nvSpPr>
          <p:cNvPr id="18" name="Text 16"/>
          <p:cNvSpPr/>
          <p:nvPr/>
        </p:nvSpPr>
        <p:spPr>
          <a:xfrm>
            <a:off x="731520" y="2889504"/>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143000" y="2889504"/>
            <a:ext cx="7315200" cy="292608"/>
          </a:xfrm>
          <a:prstGeom prst="rect">
            <a:avLst/>
          </a:prstGeom>
          <a:noFill/>
          <a:ln/>
        </p:spPr>
        <p:txBody>
          <a:bodyPr wrap="square" rtlCol="0" anchor="ctr"/>
          <a:lstStyle/>
          <a:p>
            <a:pPr indent="0" marL="0">
              <a:buNone/>
            </a:pPr>
            <a:r>
              <a:rPr lang="en-US" sz="1100" dirty="0">
                <a:solidFill>
                  <a:srgbClr val="1F2329"/>
                </a:solidFill>
                <a:latin typeface="Calibri" pitchFamily="34" charset="0"/>
                <a:ea typeface="Calibri" pitchFamily="34" charset="-122"/>
                <a:cs typeface="Calibri" pitchFamily="34" charset="-120"/>
              </a:rPr>
              <a:t>加权组合: 将弱分类器加权组合成强分类器</a:t>
            </a:r>
            <a:endParaRPr lang="en-US" sz="1100" dirty="0"/>
          </a:p>
        </p:txBody>
      </p:sp>
      <p:sp>
        <p:nvSpPr>
          <p:cNvPr id="20" name="Shape 18"/>
          <p:cNvSpPr/>
          <p:nvPr/>
        </p:nvSpPr>
        <p:spPr>
          <a:xfrm>
            <a:off x="640080" y="3337560"/>
            <a:ext cx="7863840" cy="0"/>
          </a:xfrm>
          <a:prstGeom prst="line">
            <a:avLst/>
          </a:prstGeom>
          <a:noFill/>
          <a:ln w="6350">
            <a:solidFill>
              <a:srgbClr val="E5E7EB"/>
            </a:solidFill>
            <a:prstDash val="solid"/>
          </a:ln>
        </p:spPr>
      </p:sp>
      <p:sp>
        <p:nvSpPr>
          <p:cNvPr id="21" name="Text 19"/>
          <p:cNvSpPr/>
          <p:nvPr/>
        </p:nvSpPr>
        <p:spPr>
          <a:xfrm>
            <a:off x="640080" y="3474720"/>
            <a:ext cx="7863840" cy="228600"/>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在Haar特征中的应用</a:t>
            </a:r>
            <a:endParaRPr lang="en-US" sz="1300" dirty="0"/>
          </a:p>
        </p:txBody>
      </p:sp>
      <p:sp>
        <p:nvSpPr>
          <p:cNvPr id="22" name="Text 20"/>
          <p:cNvSpPr/>
          <p:nvPr/>
        </p:nvSpPr>
        <p:spPr>
          <a:xfrm>
            <a:off x="640080" y="3703320"/>
            <a:ext cx="7863840" cy="777240"/>
          </a:xfrm>
          <a:prstGeom prst="rect">
            <a:avLst/>
          </a:prstGeom>
          <a:noFill/>
          <a:ln/>
        </p:spPr>
        <p:txBody>
          <a:bodyPr wrap="square" rtlCol="0" anchor="ctr"/>
          <a:lstStyle/>
          <a:p>
            <a:pPr marL="342900" indent="-342900">
              <a:spcAft>
                <a:spcPts val="200"/>
              </a:spcAft>
              <a:buSzPct val="100000"/>
              <a:buChar char="•"/>
            </a:pPr>
            <a:r>
              <a:rPr lang="en-US" sz="1000" dirty="0">
                <a:solidFill>
                  <a:srgbClr val="1F2329"/>
                </a:solidFill>
                <a:latin typeface="Calibri" pitchFamily="34" charset="0"/>
                <a:ea typeface="Calibri" pitchFamily="34" charset="-122"/>
                <a:cs typeface="Calibri" pitchFamily="34" charset="-120"/>
              </a:rPr>
              <a:t>每个弱分类器 = 一个Haar特征 + 阈值 + 不等号方向</a:t>
            </a:r>
            <a:endParaRPr lang="en-US" sz="1000" dirty="0"/>
          </a:p>
          <a:p>
            <a:pPr marL="342900" indent="-342900">
              <a:spcAft>
                <a:spcPts val="200"/>
              </a:spcAft>
              <a:buSzPct val="100000"/>
              <a:buChar char="•"/>
            </a:pPr>
            <a:r>
              <a:rPr lang="en-US" sz="1000" dirty="0">
                <a:solidFill>
                  <a:srgbClr val="1F2329"/>
                </a:solidFill>
                <a:latin typeface="Calibri" pitchFamily="34" charset="0"/>
                <a:ea typeface="Calibri" pitchFamily="34" charset="-122"/>
                <a:cs typeface="Calibri" pitchFamily="34" charset="-120"/>
              </a:rPr>
              <a:t>弱分类器形式: h_j(x) = sign(α·f_j(x) - θ)</a:t>
            </a:r>
            <a:endParaRPr lang="en-US" sz="1000" dirty="0"/>
          </a:p>
          <a:p>
            <a:pPr marL="342900" indent="-342900">
              <a:spcAft>
                <a:spcPts val="200"/>
              </a:spcAft>
              <a:buSzPct val="100000"/>
              <a:buChar char="•"/>
            </a:pPr>
            <a:r>
              <a:rPr lang="en-US" sz="1000" dirty="0">
                <a:solidFill>
                  <a:srgbClr val="1F2329"/>
                </a:solidFill>
                <a:latin typeface="Calibri" pitchFamily="34" charset="0"/>
                <a:ea typeface="Calibri" pitchFamily="34" charset="-122"/>
                <a:cs typeface="Calibri" pitchFamily="34" charset="-120"/>
              </a:rPr>
              <a:t>强分类器: H(x) = sign(Σ α_t · h_t(x))</a:t>
            </a:r>
            <a:endParaRPr lang="en-US" sz="1000" dirty="0"/>
          </a:p>
          <a:p>
            <a:pPr marL="342900" indent="-342900">
              <a:spcAft>
                <a:spcPts val="200"/>
              </a:spcAft>
              <a:buSzPct val="100000"/>
              <a:buChar char="•"/>
            </a:pPr>
            <a:r>
              <a:rPr lang="en-US" sz="1000" dirty="0">
                <a:solidFill>
                  <a:srgbClr val="1F2329"/>
                </a:solidFill>
                <a:latin typeface="Calibri" pitchFamily="34" charset="0"/>
                <a:ea typeface="Calibri" pitchFamily="34" charset="-122"/>
                <a:cs typeface="Calibri" pitchFamily="34" charset="-120"/>
              </a:rPr>
              <a:t>从18万+特征中自动选出最有效的几百个</a:t>
            </a:r>
            <a:endParaRPr lang="en-US" sz="1000" dirty="0"/>
          </a:p>
        </p:txBody>
      </p:sp>
      <p:sp>
        <p:nvSpPr>
          <p:cNvPr id="23" name="Shape 21"/>
          <p:cNvSpPr/>
          <p:nvPr/>
        </p:nvSpPr>
        <p:spPr>
          <a:xfrm>
            <a:off x="0" y="4823460"/>
            <a:ext cx="9144000" cy="320040"/>
          </a:xfrm>
          <a:prstGeom prst="rect">
            <a:avLst/>
          </a:prstGeom>
          <a:solidFill>
            <a:srgbClr val="2C5F2D"/>
          </a:solidFill>
          <a:ln/>
        </p:spPr>
      </p:sp>
      <p:sp>
        <p:nvSpPr>
          <p:cNvPr id="24" name="Text 22"/>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核心概念</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AdaBoost工作流程</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Shape 4"/>
          <p:cNvSpPr/>
          <p:nvPr/>
        </p:nvSpPr>
        <p:spPr>
          <a:xfrm>
            <a:off x="640080" y="1143000"/>
            <a:ext cx="2560320" cy="411480"/>
          </a:xfrm>
          <a:prstGeom prst="roundRect">
            <a:avLst>
              <a:gd name="adj" fmla="val 17778"/>
            </a:avLst>
          </a:prstGeom>
          <a:solidFill>
            <a:srgbClr val="97BC62"/>
          </a:solidFill>
          <a:ln/>
        </p:spPr>
      </p:sp>
      <p:sp>
        <p:nvSpPr>
          <p:cNvPr id="7" name="Text 5"/>
          <p:cNvSpPr/>
          <p:nvPr/>
        </p:nvSpPr>
        <p:spPr>
          <a:xfrm>
            <a:off x="640080" y="1143000"/>
            <a:ext cx="256032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初始化</a:t>
            </a:r>
            <a:endParaRPr lang="en-US" sz="1200" dirty="0"/>
          </a:p>
        </p:txBody>
      </p:sp>
      <p:sp>
        <p:nvSpPr>
          <p:cNvPr id="8" name="Text 6"/>
          <p:cNvSpPr/>
          <p:nvPr/>
        </p:nvSpPr>
        <p:spPr>
          <a:xfrm>
            <a:off x="3383280" y="1143000"/>
            <a:ext cx="5120640" cy="411480"/>
          </a:xfrm>
          <a:prstGeom prst="rect">
            <a:avLst/>
          </a:prstGeom>
          <a:noFill/>
          <a:ln/>
        </p:spPr>
        <p:txBody>
          <a:bodyPr wrap="square" rtlCol="0" anchor="ctr"/>
          <a:lstStyle/>
          <a:p>
            <a:pPr indent="0" marL="0">
              <a:buNone/>
            </a:pPr>
            <a:r>
              <a:rPr lang="en-US" sz="1100" dirty="0">
                <a:solidFill>
                  <a:srgbClr val="1F2329"/>
                </a:solidFill>
                <a:latin typeface="Calibri" pitchFamily="34" charset="0"/>
                <a:ea typeface="Calibri" pitchFamily="34" charset="-122"/>
                <a:cs typeface="Calibri" pitchFamily="34" charset="-120"/>
              </a:rPr>
              <a:t>样本权重 w_i = 1/N</a:t>
            </a:r>
            <a:endParaRPr lang="en-US" sz="1100" dirty="0"/>
          </a:p>
        </p:txBody>
      </p:sp>
      <p:sp>
        <p:nvSpPr>
          <p:cNvPr id="9" name="Shape 7"/>
          <p:cNvSpPr/>
          <p:nvPr/>
        </p:nvSpPr>
        <p:spPr>
          <a:xfrm>
            <a:off x="1920240" y="1554480"/>
            <a:ext cx="0" cy="118872"/>
          </a:xfrm>
          <a:prstGeom prst="line">
            <a:avLst/>
          </a:prstGeom>
          <a:noFill/>
          <a:ln w="12700">
            <a:solidFill>
              <a:srgbClr val="6B7280"/>
            </a:solidFill>
            <a:prstDash val="solid"/>
            <a:tailEnd type="triangle"/>
          </a:ln>
        </p:spPr>
      </p:sp>
      <p:sp>
        <p:nvSpPr>
          <p:cNvPr id="10" name="Shape 8"/>
          <p:cNvSpPr/>
          <p:nvPr/>
        </p:nvSpPr>
        <p:spPr>
          <a:xfrm>
            <a:off x="640080" y="1673352"/>
            <a:ext cx="2560320" cy="411480"/>
          </a:xfrm>
          <a:prstGeom prst="roundRect">
            <a:avLst>
              <a:gd name="adj" fmla="val 17778"/>
            </a:avLst>
          </a:prstGeom>
          <a:solidFill>
            <a:srgbClr val="2C5F2D"/>
          </a:solidFill>
          <a:ln/>
        </p:spPr>
      </p:sp>
      <p:sp>
        <p:nvSpPr>
          <p:cNvPr id="11" name="Text 9"/>
          <p:cNvSpPr/>
          <p:nvPr/>
        </p:nvSpPr>
        <p:spPr>
          <a:xfrm>
            <a:off x="640080" y="1673352"/>
            <a:ext cx="256032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第t轮</a:t>
            </a:r>
            <a:endParaRPr lang="en-US" sz="1200" dirty="0"/>
          </a:p>
        </p:txBody>
      </p:sp>
      <p:sp>
        <p:nvSpPr>
          <p:cNvPr id="12" name="Text 10"/>
          <p:cNvSpPr/>
          <p:nvPr/>
        </p:nvSpPr>
        <p:spPr>
          <a:xfrm>
            <a:off x="3383280" y="1673352"/>
            <a:ext cx="5120640" cy="411480"/>
          </a:xfrm>
          <a:prstGeom prst="rect">
            <a:avLst/>
          </a:prstGeom>
          <a:noFill/>
          <a:ln/>
        </p:spPr>
        <p:txBody>
          <a:bodyPr wrap="square" rtlCol="0" anchor="ctr"/>
          <a:lstStyle/>
          <a:p>
            <a:pPr indent="0" marL="0">
              <a:buNone/>
            </a:pPr>
            <a:r>
              <a:rPr lang="en-US" sz="1100" dirty="0">
                <a:solidFill>
                  <a:srgbClr val="1F2329"/>
                </a:solidFill>
                <a:latin typeface="Calibri" pitchFamily="34" charset="0"/>
                <a:ea typeface="Calibri" pitchFamily="34" charset="-122"/>
                <a:cs typeface="Calibri" pitchFamily="34" charset="-120"/>
              </a:rPr>
              <a:t>选择最优弱分类器</a:t>
            </a:r>
            <a:endParaRPr lang="en-US" sz="1100" dirty="0"/>
          </a:p>
        </p:txBody>
      </p:sp>
      <p:sp>
        <p:nvSpPr>
          <p:cNvPr id="13" name="Shape 11"/>
          <p:cNvSpPr/>
          <p:nvPr/>
        </p:nvSpPr>
        <p:spPr>
          <a:xfrm>
            <a:off x="1920240" y="2084832"/>
            <a:ext cx="0" cy="118872"/>
          </a:xfrm>
          <a:prstGeom prst="line">
            <a:avLst/>
          </a:prstGeom>
          <a:noFill/>
          <a:ln w="12700">
            <a:solidFill>
              <a:srgbClr val="6B7280"/>
            </a:solidFill>
            <a:prstDash val="solid"/>
            <a:tailEnd type="triangle"/>
          </a:ln>
        </p:spPr>
      </p:sp>
      <p:sp>
        <p:nvSpPr>
          <p:cNvPr id="14" name="Shape 12"/>
          <p:cNvSpPr/>
          <p:nvPr/>
        </p:nvSpPr>
        <p:spPr>
          <a:xfrm>
            <a:off x="640080" y="2203704"/>
            <a:ext cx="2560320" cy="411480"/>
          </a:xfrm>
          <a:prstGeom prst="roundRect">
            <a:avLst>
              <a:gd name="adj" fmla="val 17778"/>
            </a:avLst>
          </a:prstGeom>
          <a:solidFill>
            <a:srgbClr val="2C5F2D"/>
          </a:solidFill>
          <a:ln/>
        </p:spPr>
      </p:sp>
      <p:sp>
        <p:nvSpPr>
          <p:cNvPr id="15" name="Text 13"/>
          <p:cNvSpPr/>
          <p:nvPr/>
        </p:nvSpPr>
        <p:spPr>
          <a:xfrm>
            <a:off x="640080" y="2203704"/>
            <a:ext cx="256032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计算误差</a:t>
            </a:r>
            <a:endParaRPr lang="en-US" sz="1200" dirty="0"/>
          </a:p>
        </p:txBody>
      </p:sp>
      <p:sp>
        <p:nvSpPr>
          <p:cNvPr id="16" name="Text 14"/>
          <p:cNvSpPr/>
          <p:nvPr/>
        </p:nvSpPr>
        <p:spPr>
          <a:xfrm>
            <a:off x="3383280" y="2203704"/>
            <a:ext cx="5120640" cy="411480"/>
          </a:xfrm>
          <a:prstGeom prst="rect">
            <a:avLst/>
          </a:prstGeom>
          <a:noFill/>
          <a:ln/>
        </p:spPr>
        <p:txBody>
          <a:bodyPr wrap="square" rtlCol="0" anchor="ctr"/>
          <a:lstStyle/>
          <a:p>
            <a:pPr indent="0" marL="0">
              <a:buNone/>
            </a:pPr>
            <a:r>
              <a:rPr lang="en-US" sz="1100" dirty="0">
                <a:solidFill>
                  <a:srgbClr val="1F2329"/>
                </a:solidFill>
                <a:latin typeface="Calibri" pitchFamily="34" charset="0"/>
                <a:ea typeface="Calibri" pitchFamily="34" charset="-122"/>
                <a:cs typeface="Calibri" pitchFamily="34" charset="-120"/>
              </a:rPr>
              <a:t>ε_t = Σ w_i · [h_t(x_i) ≠ y_i]</a:t>
            </a:r>
            <a:endParaRPr lang="en-US" sz="1100" dirty="0"/>
          </a:p>
        </p:txBody>
      </p:sp>
      <p:sp>
        <p:nvSpPr>
          <p:cNvPr id="17" name="Shape 15"/>
          <p:cNvSpPr/>
          <p:nvPr/>
        </p:nvSpPr>
        <p:spPr>
          <a:xfrm>
            <a:off x="1920240" y="2615184"/>
            <a:ext cx="0" cy="118872"/>
          </a:xfrm>
          <a:prstGeom prst="line">
            <a:avLst/>
          </a:prstGeom>
          <a:noFill/>
          <a:ln w="12700">
            <a:solidFill>
              <a:srgbClr val="6B7280"/>
            </a:solidFill>
            <a:prstDash val="solid"/>
            <a:tailEnd type="triangle"/>
          </a:ln>
        </p:spPr>
      </p:sp>
      <p:sp>
        <p:nvSpPr>
          <p:cNvPr id="18" name="Shape 16"/>
          <p:cNvSpPr/>
          <p:nvPr/>
        </p:nvSpPr>
        <p:spPr>
          <a:xfrm>
            <a:off x="640080" y="2734056"/>
            <a:ext cx="2560320" cy="411480"/>
          </a:xfrm>
          <a:prstGeom prst="roundRect">
            <a:avLst>
              <a:gd name="adj" fmla="val 17778"/>
            </a:avLst>
          </a:prstGeom>
          <a:solidFill>
            <a:srgbClr val="2C5F2D"/>
          </a:solidFill>
          <a:ln/>
        </p:spPr>
      </p:sp>
      <p:sp>
        <p:nvSpPr>
          <p:cNvPr id="19" name="Text 17"/>
          <p:cNvSpPr/>
          <p:nvPr/>
        </p:nvSpPr>
        <p:spPr>
          <a:xfrm>
            <a:off x="640080" y="2734056"/>
            <a:ext cx="256032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更新权重</a:t>
            </a:r>
            <a:endParaRPr lang="en-US" sz="1200" dirty="0"/>
          </a:p>
        </p:txBody>
      </p:sp>
      <p:sp>
        <p:nvSpPr>
          <p:cNvPr id="20" name="Text 18"/>
          <p:cNvSpPr/>
          <p:nvPr/>
        </p:nvSpPr>
        <p:spPr>
          <a:xfrm>
            <a:off x="3383280" y="2734056"/>
            <a:ext cx="5120640" cy="411480"/>
          </a:xfrm>
          <a:prstGeom prst="rect">
            <a:avLst/>
          </a:prstGeom>
          <a:noFill/>
          <a:ln/>
        </p:spPr>
        <p:txBody>
          <a:bodyPr wrap="square" rtlCol="0" anchor="ctr"/>
          <a:lstStyle/>
          <a:p>
            <a:pPr indent="0" marL="0">
              <a:buNone/>
            </a:pPr>
            <a:r>
              <a:rPr lang="en-US" sz="1100" dirty="0">
                <a:solidFill>
                  <a:srgbClr val="1F2329"/>
                </a:solidFill>
                <a:latin typeface="Calibri" pitchFamily="34" charset="0"/>
                <a:ea typeface="Calibri" pitchFamily="34" charset="-122"/>
                <a:cs typeface="Calibri" pitchFamily="34" charset="-120"/>
              </a:rPr>
              <a:t>w_i ← w_i · exp(α_t · I[错分])</a:t>
            </a:r>
            <a:endParaRPr lang="en-US" sz="1100" dirty="0"/>
          </a:p>
        </p:txBody>
      </p:sp>
      <p:sp>
        <p:nvSpPr>
          <p:cNvPr id="21" name="Shape 19"/>
          <p:cNvSpPr/>
          <p:nvPr/>
        </p:nvSpPr>
        <p:spPr>
          <a:xfrm>
            <a:off x="1920240" y="3145536"/>
            <a:ext cx="0" cy="118872"/>
          </a:xfrm>
          <a:prstGeom prst="line">
            <a:avLst/>
          </a:prstGeom>
          <a:noFill/>
          <a:ln w="12700">
            <a:solidFill>
              <a:srgbClr val="6B7280"/>
            </a:solidFill>
            <a:prstDash val="solid"/>
            <a:tailEnd type="triangle"/>
          </a:ln>
        </p:spPr>
      </p:sp>
      <p:sp>
        <p:nvSpPr>
          <p:cNvPr id="22" name="Shape 20"/>
          <p:cNvSpPr/>
          <p:nvPr/>
        </p:nvSpPr>
        <p:spPr>
          <a:xfrm>
            <a:off x="640080" y="3264408"/>
            <a:ext cx="2560320" cy="411480"/>
          </a:xfrm>
          <a:prstGeom prst="roundRect">
            <a:avLst>
              <a:gd name="adj" fmla="val 17778"/>
            </a:avLst>
          </a:prstGeom>
          <a:solidFill>
            <a:srgbClr val="2C5F2D"/>
          </a:solidFill>
          <a:ln/>
        </p:spPr>
      </p:sp>
      <p:sp>
        <p:nvSpPr>
          <p:cNvPr id="23" name="Text 21"/>
          <p:cNvSpPr/>
          <p:nvPr/>
        </p:nvSpPr>
        <p:spPr>
          <a:xfrm>
            <a:off x="640080" y="3264408"/>
            <a:ext cx="256032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归一化</a:t>
            </a:r>
            <a:endParaRPr lang="en-US" sz="1200" dirty="0"/>
          </a:p>
        </p:txBody>
      </p:sp>
      <p:sp>
        <p:nvSpPr>
          <p:cNvPr id="24" name="Text 22"/>
          <p:cNvSpPr/>
          <p:nvPr/>
        </p:nvSpPr>
        <p:spPr>
          <a:xfrm>
            <a:off x="3383280" y="3264408"/>
            <a:ext cx="5120640" cy="411480"/>
          </a:xfrm>
          <a:prstGeom prst="rect">
            <a:avLst/>
          </a:prstGeom>
          <a:noFill/>
          <a:ln/>
        </p:spPr>
        <p:txBody>
          <a:bodyPr wrap="square" rtlCol="0" anchor="ctr"/>
          <a:lstStyle/>
          <a:p>
            <a:pPr indent="0" marL="0">
              <a:buNone/>
            </a:pPr>
            <a:r>
              <a:rPr lang="en-US" sz="1100" dirty="0">
                <a:solidFill>
                  <a:srgbClr val="1F2329"/>
                </a:solidFill>
                <a:latin typeface="Calibri" pitchFamily="34" charset="0"/>
                <a:ea typeface="Calibri" pitchFamily="34" charset="-122"/>
                <a:cs typeface="Calibri" pitchFamily="34" charset="-120"/>
              </a:rPr>
              <a:t>w_i ← w_i / Σ w_j</a:t>
            </a:r>
            <a:endParaRPr lang="en-US" sz="1100" dirty="0"/>
          </a:p>
        </p:txBody>
      </p:sp>
      <p:sp>
        <p:nvSpPr>
          <p:cNvPr id="25" name="Shape 23"/>
          <p:cNvSpPr/>
          <p:nvPr/>
        </p:nvSpPr>
        <p:spPr>
          <a:xfrm>
            <a:off x="1920240" y="3675888"/>
            <a:ext cx="0" cy="118872"/>
          </a:xfrm>
          <a:prstGeom prst="line">
            <a:avLst/>
          </a:prstGeom>
          <a:noFill/>
          <a:ln w="12700">
            <a:solidFill>
              <a:srgbClr val="6B7280"/>
            </a:solidFill>
            <a:prstDash val="solid"/>
            <a:tailEnd type="triangle"/>
          </a:ln>
        </p:spPr>
      </p:sp>
      <p:sp>
        <p:nvSpPr>
          <p:cNvPr id="26" name="Shape 24"/>
          <p:cNvSpPr/>
          <p:nvPr/>
        </p:nvSpPr>
        <p:spPr>
          <a:xfrm>
            <a:off x="640080" y="3794760"/>
            <a:ext cx="2560320" cy="411480"/>
          </a:xfrm>
          <a:prstGeom prst="roundRect">
            <a:avLst>
              <a:gd name="adj" fmla="val 17778"/>
            </a:avLst>
          </a:prstGeom>
          <a:solidFill>
            <a:srgbClr val="D4A843"/>
          </a:solidFill>
          <a:ln/>
        </p:spPr>
      </p:sp>
      <p:sp>
        <p:nvSpPr>
          <p:cNvPr id="27" name="Text 25"/>
          <p:cNvSpPr/>
          <p:nvPr/>
        </p:nvSpPr>
        <p:spPr>
          <a:xfrm>
            <a:off x="640080" y="3794760"/>
            <a:ext cx="256032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组合输出</a:t>
            </a:r>
            <a:endParaRPr lang="en-US" sz="1200" dirty="0"/>
          </a:p>
        </p:txBody>
      </p:sp>
      <p:sp>
        <p:nvSpPr>
          <p:cNvPr id="28" name="Text 26"/>
          <p:cNvSpPr/>
          <p:nvPr/>
        </p:nvSpPr>
        <p:spPr>
          <a:xfrm>
            <a:off x="3383280" y="3794760"/>
            <a:ext cx="5120640" cy="411480"/>
          </a:xfrm>
          <a:prstGeom prst="rect">
            <a:avLst/>
          </a:prstGeom>
          <a:noFill/>
          <a:ln/>
        </p:spPr>
        <p:txBody>
          <a:bodyPr wrap="square" rtlCol="0" anchor="ctr"/>
          <a:lstStyle/>
          <a:p>
            <a:pPr indent="0" marL="0">
              <a:buNone/>
            </a:pPr>
            <a:r>
              <a:rPr lang="en-US" sz="1100" dirty="0">
                <a:solidFill>
                  <a:srgbClr val="1F2329"/>
                </a:solidFill>
                <a:latin typeface="Calibri" pitchFamily="34" charset="0"/>
                <a:ea typeface="Calibri" pitchFamily="34" charset="-122"/>
                <a:cs typeface="Calibri" pitchFamily="34" charset="-120"/>
              </a:rPr>
              <a:t>H(x) = sign(Σ α_t·h_t(x))</a:t>
            </a:r>
            <a:endParaRPr lang="en-US" sz="1100" dirty="0"/>
          </a:p>
        </p:txBody>
      </p:sp>
      <p:sp>
        <p:nvSpPr>
          <p:cNvPr id="29" name="Text 27"/>
          <p:cNvSpPr/>
          <p:nvPr/>
        </p:nvSpPr>
        <p:spPr>
          <a:xfrm>
            <a:off x="640080" y="4343400"/>
            <a:ext cx="7863840" cy="22860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T轮迭代后，强分类器由T个弱分类器加权组合而成，自动从18万+特征中选择最有效的几百个。</a:t>
            </a:r>
            <a:endParaRPr lang="en-US" sz="1100" dirty="0"/>
          </a:p>
        </p:txBody>
      </p:sp>
      <p:sp>
        <p:nvSpPr>
          <p:cNvPr id="30" name="Shape 28"/>
          <p:cNvSpPr/>
          <p:nvPr/>
        </p:nvSpPr>
        <p:spPr>
          <a:xfrm>
            <a:off x="0" y="4823460"/>
            <a:ext cx="9144000" cy="320040"/>
          </a:xfrm>
          <a:prstGeom prst="rect">
            <a:avLst/>
          </a:prstGeom>
          <a:solidFill>
            <a:srgbClr val="2C5F2D"/>
          </a:solidFill>
          <a:ln/>
        </p:spPr>
      </p:sp>
      <p:sp>
        <p:nvSpPr>
          <p:cNvPr id="31" name="Text 29"/>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核心概念</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级联分类器结构</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4"/>
          <p:cNvSpPr/>
          <p:nvPr/>
        </p:nvSpPr>
        <p:spPr>
          <a:xfrm>
            <a:off x="640080" y="1097280"/>
            <a:ext cx="7863840" cy="256032"/>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核心思想：逐级筛选，快速排除</a:t>
            </a:r>
            <a:endParaRPr lang="en-US" sz="1300" dirty="0"/>
          </a:p>
        </p:txBody>
      </p:sp>
      <p:sp>
        <p:nvSpPr>
          <p:cNvPr id="7" name="Text 5"/>
          <p:cNvSpPr/>
          <p:nvPr/>
        </p:nvSpPr>
        <p:spPr>
          <a:xfrm>
            <a:off x="640080" y="1389888"/>
            <a:ext cx="7863840" cy="1005840"/>
          </a:xfrm>
          <a:prstGeom prst="rect">
            <a:avLst/>
          </a:prstGeom>
          <a:noFill/>
          <a:ln/>
        </p:spPr>
        <p:txBody>
          <a:bodyPr wrap="square" rtlCol="0" anchor="ctr"/>
          <a:lstStyle/>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早期阶段：简单特征，高检测率，高误报率</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中期阶段：更多特征，逐步降低误报</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后期阶段：复杂特征，极低误报</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非目标窗口在最初几级就被快速排除</a:t>
            </a:r>
            <a:endParaRPr lang="en-US" sz="1100" dirty="0"/>
          </a:p>
        </p:txBody>
      </p:sp>
      <p:sp>
        <p:nvSpPr>
          <p:cNvPr id="8" name="Shape 6"/>
          <p:cNvSpPr/>
          <p:nvPr/>
        </p:nvSpPr>
        <p:spPr>
          <a:xfrm>
            <a:off x="640080" y="2560320"/>
            <a:ext cx="914400" cy="384048"/>
          </a:xfrm>
          <a:prstGeom prst="roundRect">
            <a:avLst>
              <a:gd name="adj" fmla="val 14286"/>
            </a:avLst>
          </a:prstGeom>
          <a:solidFill>
            <a:srgbClr val="6B7280"/>
          </a:solidFill>
          <a:ln/>
        </p:spPr>
      </p:sp>
      <p:sp>
        <p:nvSpPr>
          <p:cNvPr id="9" name="Text 7"/>
          <p:cNvSpPr/>
          <p:nvPr/>
        </p:nvSpPr>
        <p:spPr>
          <a:xfrm>
            <a:off x="640080" y="2560320"/>
            <a:ext cx="914400"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输入</a:t>
            </a:r>
            <a:endParaRPr lang="en-US" sz="1000" dirty="0"/>
          </a:p>
        </p:txBody>
      </p:sp>
      <p:sp>
        <p:nvSpPr>
          <p:cNvPr id="10" name="Text 8"/>
          <p:cNvSpPr/>
          <p:nvPr/>
        </p:nvSpPr>
        <p:spPr>
          <a:xfrm>
            <a:off x="640080" y="2990088"/>
            <a:ext cx="914400" cy="228600"/>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待检测窗口</a:t>
            </a:r>
            <a:endParaRPr lang="en-US" sz="800" dirty="0"/>
          </a:p>
        </p:txBody>
      </p:sp>
      <p:sp>
        <p:nvSpPr>
          <p:cNvPr id="11" name="Shape 9"/>
          <p:cNvSpPr/>
          <p:nvPr/>
        </p:nvSpPr>
        <p:spPr>
          <a:xfrm>
            <a:off x="1572768" y="2752344"/>
            <a:ext cx="100584" cy="0"/>
          </a:xfrm>
          <a:prstGeom prst="line">
            <a:avLst/>
          </a:prstGeom>
          <a:noFill/>
          <a:ln w="12700">
            <a:solidFill>
              <a:srgbClr val="6B7280"/>
            </a:solidFill>
            <a:prstDash val="solid"/>
            <a:tailEnd type="triangle"/>
          </a:ln>
        </p:spPr>
      </p:sp>
      <p:sp>
        <p:nvSpPr>
          <p:cNvPr id="12" name="Shape 10"/>
          <p:cNvSpPr/>
          <p:nvPr/>
        </p:nvSpPr>
        <p:spPr>
          <a:xfrm>
            <a:off x="1691640" y="2560320"/>
            <a:ext cx="914400" cy="384048"/>
          </a:xfrm>
          <a:prstGeom prst="roundRect">
            <a:avLst>
              <a:gd name="adj" fmla="val 14286"/>
            </a:avLst>
          </a:prstGeom>
          <a:solidFill>
            <a:srgbClr val="97BC62"/>
          </a:solidFill>
          <a:ln/>
        </p:spPr>
      </p:sp>
      <p:sp>
        <p:nvSpPr>
          <p:cNvPr id="13" name="Text 11"/>
          <p:cNvSpPr/>
          <p:nvPr/>
        </p:nvSpPr>
        <p:spPr>
          <a:xfrm>
            <a:off x="1691640" y="2560320"/>
            <a:ext cx="914400"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S1</a:t>
            </a:r>
            <a:endParaRPr lang="en-US" sz="1000" dirty="0"/>
          </a:p>
        </p:txBody>
      </p:sp>
      <p:sp>
        <p:nvSpPr>
          <p:cNvPr id="14" name="Text 12"/>
          <p:cNvSpPr/>
          <p:nvPr/>
        </p:nvSpPr>
        <p:spPr>
          <a:xfrm>
            <a:off x="1691640" y="2990088"/>
            <a:ext cx="914400" cy="228600"/>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简单特征</a:t>
            </a:r>
            <a:endParaRPr lang="en-US" sz="800" dirty="0"/>
          </a:p>
        </p:txBody>
      </p:sp>
      <p:sp>
        <p:nvSpPr>
          <p:cNvPr id="15" name="Shape 13"/>
          <p:cNvSpPr/>
          <p:nvPr/>
        </p:nvSpPr>
        <p:spPr>
          <a:xfrm>
            <a:off x="2624328" y="2752344"/>
            <a:ext cx="100584" cy="0"/>
          </a:xfrm>
          <a:prstGeom prst="line">
            <a:avLst/>
          </a:prstGeom>
          <a:noFill/>
          <a:ln w="12700">
            <a:solidFill>
              <a:srgbClr val="6B7280"/>
            </a:solidFill>
            <a:prstDash val="solid"/>
            <a:tailEnd type="triangle"/>
          </a:ln>
        </p:spPr>
      </p:sp>
      <p:sp>
        <p:nvSpPr>
          <p:cNvPr id="16" name="Shape 14"/>
          <p:cNvSpPr/>
          <p:nvPr/>
        </p:nvSpPr>
        <p:spPr>
          <a:xfrm>
            <a:off x="2743200" y="2560320"/>
            <a:ext cx="914400" cy="384048"/>
          </a:xfrm>
          <a:prstGeom prst="roundRect">
            <a:avLst>
              <a:gd name="adj" fmla="val 14286"/>
            </a:avLst>
          </a:prstGeom>
          <a:solidFill>
            <a:srgbClr val="7CB342"/>
          </a:solidFill>
          <a:ln/>
        </p:spPr>
      </p:sp>
      <p:sp>
        <p:nvSpPr>
          <p:cNvPr id="17" name="Text 15"/>
          <p:cNvSpPr/>
          <p:nvPr/>
        </p:nvSpPr>
        <p:spPr>
          <a:xfrm>
            <a:off x="2743200" y="2560320"/>
            <a:ext cx="914400"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S2</a:t>
            </a:r>
            <a:endParaRPr lang="en-US" sz="1000" dirty="0"/>
          </a:p>
        </p:txBody>
      </p:sp>
      <p:sp>
        <p:nvSpPr>
          <p:cNvPr id="18" name="Text 16"/>
          <p:cNvSpPr/>
          <p:nvPr/>
        </p:nvSpPr>
        <p:spPr>
          <a:xfrm>
            <a:off x="2743200" y="2990088"/>
            <a:ext cx="914400" cy="228600"/>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更多特征</a:t>
            </a:r>
            <a:endParaRPr lang="en-US" sz="800" dirty="0"/>
          </a:p>
        </p:txBody>
      </p:sp>
      <p:sp>
        <p:nvSpPr>
          <p:cNvPr id="19" name="Shape 17"/>
          <p:cNvSpPr/>
          <p:nvPr/>
        </p:nvSpPr>
        <p:spPr>
          <a:xfrm>
            <a:off x="3675888" y="2752344"/>
            <a:ext cx="100584" cy="0"/>
          </a:xfrm>
          <a:prstGeom prst="line">
            <a:avLst/>
          </a:prstGeom>
          <a:noFill/>
          <a:ln w="12700">
            <a:solidFill>
              <a:srgbClr val="6B7280"/>
            </a:solidFill>
            <a:prstDash val="solid"/>
            <a:tailEnd type="triangle"/>
          </a:ln>
        </p:spPr>
      </p:sp>
      <p:sp>
        <p:nvSpPr>
          <p:cNvPr id="20" name="Shape 18"/>
          <p:cNvSpPr/>
          <p:nvPr/>
        </p:nvSpPr>
        <p:spPr>
          <a:xfrm>
            <a:off x="3794760" y="2560320"/>
            <a:ext cx="914400" cy="384048"/>
          </a:xfrm>
          <a:prstGeom prst="roundRect">
            <a:avLst>
              <a:gd name="adj" fmla="val 14286"/>
            </a:avLst>
          </a:prstGeom>
          <a:solidFill>
            <a:srgbClr val="689F38"/>
          </a:solidFill>
          <a:ln/>
        </p:spPr>
      </p:sp>
      <p:sp>
        <p:nvSpPr>
          <p:cNvPr id="21" name="Text 19"/>
          <p:cNvSpPr/>
          <p:nvPr/>
        </p:nvSpPr>
        <p:spPr>
          <a:xfrm>
            <a:off x="3794760" y="2560320"/>
            <a:ext cx="914400"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S3</a:t>
            </a:r>
            <a:endParaRPr lang="en-US" sz="1000" dirty="0"/>
          </a:p>
        </p:txBody>
      </p:sp>
      <p:sp>
        <p:nvSpPr>
          <p:cNvPr id="22" name="Text 20"/>
          <p:cNvSpPr/>
          <p:nvPr/>
        </p:nvSpPr>
        <p:spPr>
          <a:xfrm>
            <a:off x="3794760" y="2990088"/>
            <a:ext cx="914400" cy="228600"/>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进一步筛选</a:t>
            </a:r>
            <a:endParaRPr lang="en-US" sz="800" dirty="0"/>
          </a:p>
        </p:txBody>
      </p:sp>
      <p:sp>
        <p:nvSpPr>
          <p:cNvPr id="23" name="Shape 21"/>
          <p:cNvSpPr/>
          <p:nvPr/>
        </p:nvSpPr>
        <p:spPr>
          <a:xfrm>
            <a:off x="4727448" y="2752344"/>
            <a:ext cx="100584" cy="0"/>
          </a:xfrm>
          <a:prstGeom prst="line">
            <a:avLst/>
          </a:prstGeom>
          <a:noFill/>
          <a:ln w="12700">
            <a:solidFill>
              <a:srgbClr val="6B7280"/>
            </a:solidFill>
            <a:prstDash val="solid"/>
            <a:tailEnd type="triangle"/>
          </a:ln>
        </p:spPr>
      </p:sp>
      <p:sp>
        <p:nvSpPr>
          <p:cNvPr id="24" name="Shape 22"/>
          <p:cNvSpPr/>
          <p:nvPr/>
        </p:nvSpPr>
        <p:spPr>
          <a:xfrm>
            <a:off x="4846320" y="2560320"/>
            <a:ext cx="731520" cy="384048"/>
          </a:xfrm>
          <a:prstGeom prst="roundRect">
            <a:avLst>
              <a:gd name="adj" fmla="val 14286"/>
            </a:avLst>
          </a:prstGeom>
          <a:solidFill>
            <a:srgbClr val="2C5F2D"/>
          </a:solidFill>
          <a:ln/>
        </p:spPr>
      </p:sp>
      <p:sp>
        <p:nvSpPr>
          <p:cNvPr id="25" name="Text 23"/>
          <p:cNvSpPr/>
          <p:nvPr/>
        </p:nvSpPr>
        <p:spPr>
          <a:xfrm>
            <a:off x="4846320" y="2560320"/>
            <a:ext cx="731520"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6" name="Text 24"/>
          <p:cNvSpPr/>
          <p:nvPr/>
        </p:nvSpPr>
        <p:spPr>
          <a:xfrm>
            <a:off x="4846320" y="2990088"/>
            <a:ext cx="731520" cy="228600"/>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逐级递进</a:t>
            </a:r>
            <a:endParaRPr lang="en-US" sz="800" dirty="0"/>
          </a:p>
        </p:txBody>
      </p:sp>
      <p:sp>
        <p:nvSpPr>
          <p:cNvPr id="27" name="Shape 25"/>
          <p:cNvSpPr/>
          <p:nvPr/>
        </p:nvSpPr>
        <p:spPr>
          <a:xfrm>
            <a:off x="5596128" y="2752344"/>
            <a:ext cx="100584" cy="0"/>
          </a:xfrm>
          <a:prstGeom prst="line">
            <a:avLst/>
          </a:prstGeom>
          <a:noFill/>
          <a:ln w="12700">
            <a:solidFill>
              <a:srgbClr val="6B7280"/>
            </a:solidFill>
            <a:prstDash val="solid"/>
            <a:tailEnd type="triangle"/>
          </a:ln>
        </p:spPr>
      </p:sp>
      <p:sp>
        <p:nvSpPr>
          <p:cNvPr id="28" name="Shape 26"/>
          <p:cNvSpPr/>
          <p:nvPr/>
        </p:nvSpPr>
        <p:spPr>
          <a:xfrm>
            <a:off x="5715000" y="2560320"/>
            <a:ext cx="914400" cy="384048"/>
          </a:xfrm>
          <a:prstGeom prst="roundRect">
            <a:avLst>
              <a:gd name="adj" fmla="val 14286"/>
            </a:avLst>
          </a:prstGeom>
          <a:solidFill>
            <a:srgbClr val="2C5F2D"/>
          </a:solidFill>
          <a:ln/>
        </p:spPr>
      </p:sp>
      <p:sp>
        <p:nvSpPr>
          <p:cNvPr id="29" name="Text 27"/>
          <p:cNvSpPr/>
          <p:nvPr/>
        </p:nvSpPr>
        <p:spPr>
          <a:xfrm>
            <a:off x="5715000" y="2560320"/>
            <a:ext cx="914400"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SN</a:t>
            </a:r>
            <a:endParaRPr lang="en-US" sz="1000" dirty="0"/>
          </a:p>
        </p:txBody>
      </p:sp>
      <p:sp>
        <p:nvSpPr>
          <p:cNvPr id="30" name="Text 28"/>
          <p:cNvSpPr/>
          <p:nvPr/>
        </p:nvSpPr>
        <p:spPr>
          <a:xfrm>
            <a:off x="5715000" y="2990088"/>
            <a:ext cx="914400" cy="228600"/>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复杂特征</a:t>
            </a:r>
            <a:endParaRPr lang="en-US" sz="800" dirty="0"/>
          </a:p>
        </p:txBody>
      </p:sp>
      <p:sp>
        <p:nvSpPr>
          <p:cNvPr id="31" name="Shape 29"/>
          <p:cNvSpPr/>
          <p:nvPr/>
        </p:nvSpPr>
        <p:spPr>
          <a:xfrm>
            <a:off x="6647688" y="2752344"/>
            <a:ext cx="100584" cy="0"/>
          </a:xfrm>
          <a:prstGeom prst="line">
            <a:avLst/>
          </a:prstGeom>
          <a:noFill/>
          <a:ln w="12700">
            <a:solidFill>
              <a:srgbClr val="6B7280"/>
            </a:solidFill>
            <a:prstDash val="solid"/>
            <a:tailEnd type="triangle"/>
          </a:ln>
        </p:spPr>
      </p:sp>
      <p:sp>
        <p:nvSpPr>
          <p:cNvPr id="32" name="Shape 30"/>
          <p:cNvSpPr/>
          <p:nvPr/>
        </p:nvSpPr>
        <p:spPr>
          <a:xfrm>
            <a:off x="6766560" y="2560320"/>
            <a:ext cx="914400" cy="384048"/>
          </a:xfrm>
          <a:prstGeom prst="roundRect">
            <a:avLst>
              <a:gd name="adj" fmla="val 14286"/>
            </a:avLst>
          </a:prstGeom>
          <a:solidFill>
            <a:srgbClr val="6B7280"/>
          </a:solidFill>
          <a:ln/>
        </p:spPr>
      </p:sp>
      <p:sp>
        <p:nvSpPr>
          <p:cNvPr id="33" name="Text 31"/>
          <p:cNvSpPr/>
          <p:nvPr/>
        </p:nvSpPr>
        <p:spPr>
          <a:xfrm>
            <a:off x="6766560" y="2560320"/>
            <a:ext cx="914400"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目标</a:t>
            </a:r>
            <a:endParaRPr lang="en-US" sz="1000" dirty="0"/>
          </a:p>
        </p:txBody>
      </p:sp>
      <p:sp>
        <p:nvSpPr>
          <p:cNvPr id="34" name="Text 32"/>
          <p:cNvSpPr/>
          <p:nvPr/>
        </p:nvSpPr>
        <p:spPr>
          <a:xfrm>
            <a:off x="6766560" y="2990088"/>
            <a:ext cx="914400" cy="228600"/>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正面样本</a:t>
            </a:r>
            <a:endParaRPr lang="en-US" sz="800" dirty="0"/>
          </a:p>
        </p:txBody>
      </p:sp>
      <p:sp>
        <p:nvSpPr>
          <p:cNvPr id="35" name="Text 33"/>
          <p:cNvSpPr/>
          <p:nvPr/>
        </p:nvSpPr>
        <p:spPr>
          <a:xfrm>
            <a:off x="640080" y="3383280"/>
            <a:ext cx="7863840" cy="822960"/>
          </a:xfrm>
          <a:prstGeom prst="rect">
            <a:avLst/>
          </a:prstGeom>
          <a:noFill/>
          <a:ln/>
        </p:spPr>
        <p:txBody>
          <a:bodyPr wrap="square" rtlCol="0" anchor="ctr"/>
          <a:lstStyle/>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前5级可过滤掉90%以上的非人脸窗口</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平均每个窗口仅需评估10-20个特征（而非数百个）</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自举策略：前级误报作为后级负样本</a:t>
            </a:r>
            <a:endParaRPr lang="en-US" sz="1100" dirty="0"/>
          </a:p>
        </p:txBody>
      </p:sp>
      <p:sp>
        <p:nvSpPr>
          <p:cNvPr id="36" name="Shape 34"/>
          <p:cNvSpPr/>
          <p:nvPr/>
        </p:nvSpPr>
        <p:spPr>
          <a:xfrm>
            <a:off x="0" y="4823460"/>
            <a:ext cx="9144000" cy="320040"/>
          </a:xfrm>
          <a:prstGeom prst="rect">
            <a:avLst/>
          </a:prstGeom>
          <a:solidFill>
            <a:srgbClr val="2C5F2D"/>
          </a:solidFill>
          <a:ln/>
        </p:spPr>
      </p:sp>
      <p:sp>
        <p:nvSpPr>
          <p:cNvPr id="37" name="Text 35"/>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核心概念</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级联分类器训练参数</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4"/>
          <p:cNvSpPr/>
          <p:nvPr/>
        </p:nvSpPr>
        <p:spPr>
          <a:xfrm>
            <a:off x="640080" y="1097280"/>
            <a:ext cx="7863840" cy="256032"/>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级联训练的关键参数:</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7863840" cy="1828800"/>
        </p:xfrm>
        <a:graphic>
          <a:graphicData uri="http://schemas.openxmlformats.org/drawingml/2006/table">
            <a:tbl>
              <a:tblPr/>
              <a:tblGrid>
                <a:gridCol w="1828800"/>
                <a:gridCol w="3200400"/>
                <a:gridCol w="1828800"/>
              </a:tblGrid>
              <a:tr h="3048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参数</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C5F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含义</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C5F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典型设置</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C5F2D"/>
                    </a:solidFill>
                  </a:tcPr>
                </a:tc>
              </a:tr>
              <a:tr h="304800">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hitRate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每级最小检测率</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0.995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r h="304800">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falseAlarmRate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每级最大误报率</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r h="304800">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numPos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每级训练正样本数</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根据数据集调整</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r h="304800">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numNeg</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每级训练负样本数</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根据数据集调整</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r h="304800">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numStages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级联总层数</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100" dirty="0">
                          <a:solidFill>
                            <a:srgbClr val="1F2329"/>
                          </a:solidFill>
                          <a:latin typeface="Calibri" pitchFamily="34" charset="0"/>
                          <a:ea typeface="Calibri" pitchFamily="34" charset="-122"/>
                          <a:cs typeface="Calibri" pitchFamily="34" charset="-120"/>
                        </a:rPr>
                        <a:t>10-25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bl>
          </a:graphicData>
        </a:graphic>
      </p:graphicFrame>
      <p:sp>
        <p:nvSpPr>
          <p:cNvPr id="8" name="Text 5"/>
          <p:cNvSpPr/>
          <p:nvPr/>
        </p:nvSpPr>
        <p:spPr>
          <a:xfrm>
            <a:off x="640080" y="3383280"/>
            <a:ext cx="7863840" cy="228600"/>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训练策略</a:t>
            </a:r>
            <a:endParaRPr lang="en-US" sz="1300" dirty="0"/>
          </a:p>
        </p:txBody>
      </p:sp>
      <p:sp>
        <p:nvSpPr>
          <p:cNvPr id="9" name="Text 6"/>
          <p:cNvSpPr/>
          <p:nvPr/>
        </p:nvSpPr>
        <p:spPr>
          <a:xfrm>
            <a:off x="640080" y="3611880"/>
            <a:ext cx="7863840" cy="548640"/>
          </a:xfrm>
          <a:prstGeom prst="rect">
            <a:avLst/>
          </a:prstGeom>
          <a:noFill/>
          <a:ln/>
        </p:spPr>
        <p:txBody>
          <a:bodyPr wrap="square" rtlCol="0" anchor="ctr"/>
          <a:lstStyle/>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自举（Bootstrapping）：早期级使用简单特征快速排除明显背景</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后期级逐渐增加特征数量，专注于区分困难样本</a:t>
            </a:r>
            <a:endParaRPr lang="en-US" sz="1100" dirty="0"/>
          </a:p>
        </p:txBody>
      </p:sp>
      <p:sp>
        <p:nvSpPr>
          <p:cNvPr id="10" name="Shape 7"/>
          <p:cNvSpPr/>
          <p:nvPr/>
        </p:nvSpPr>
        <p:spPr>
          <a:xfrm>
            <a:off x="0" y="4823460"/>
            <a:ext cx="9144000" cy="320040"/>
          </a:xfrm>
          <a:prstGeom prst="rect">
            <a:avLst/>
          </a:prstGeom>
          <a:solidFill>
            <a:srgbClr val="2C5F2D"/>
          </a:solidFill>
          <a:ln/>
        </p:spPr>
      </p:sp>
      <p:sp>
        <p:nvSpPr>
          <p:cNvPr id="11" name="Text 8"/>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实战演练</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OpenCV人脸检测代码</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Shape 4"/>
          <p:cNvSpPr/>
          <p:nvPr/>
        </p:nvSpPr>
        <p:spPr>
          <a:xfrm>
            <a:off x="640080" y="1143000"/>
            <a:ext cx="4572000" cy="1828800"/>
          </a:xfrm>
          <a:prstGeom prst="roundRect">
            <a:avLst>
              <a:gd name="adj" fmla="val 3000"/>
            </a:avLst>
          </a:prstGeom>
          <a:solidFill>
            <a:srgbClr val="1F2937"/>
          </a:solidFill>
          <a:ln/>
        </p:spPr>
      </p:sp>
      <p:sp>
        <p:nvSpPr>
          <p:cNvPr id="7" name="Text 5"/>
          <p:cNvSpPr/>
          <p:nvPr/>
        </p:nvSpPr>
        <p:spPr>
          <a:xfrm>
            <a:off x="777240" y="1234440"/>
            <a:ext cx="4297680" cy="1645920"/>
          </a:xfrm>
          <a:prstGeom prst="rect">
            <a:avLst/>
          </a:prstGeom>
          <a:noFill/>
          <a:ln/>
        </p:spPr>
        <p:txBody>
          <a:bodyPr wrap="square" rtlCol="0" anchor="ctr"/>
          <a:lstStyle/>
          <a:p>
            <a:pPr indent="0" marL="0">
              <a:lnSpc>
                <a:spcPts val="1800"/>
              </a:lnSpc>
              <a:spcAft>
                <a:spcPts val="100"/>
              </a:spcAft>
              <a:buNone/>
            </a:pPr>
            <a:r>
              <a:rPr lang="en-US" sz="1000" dirty="0">
                <a:solidFill>
                  <a:srgbClr val="FF79C6"/>
                </a:solidFill>
                <a:latin typeface="Courier New" pitchFamily="34" charset="0"/>
                <a:ea typeface="Courier New" pitchFamily="34" charset="-122"/>
                <a:cs typeface="Courier New" pitchFamily="34" charset="-120"/>
              </a:rPr>
              <a:t>import cv2</a:t>
            </a:r>
            <a:pPr indent="0" marL="0">
              <a:lnSpc>
                <a:spcPts val="1800"/>
              </a:lnSpc>
              <a:spcAft>
                <a:spcPts val="100"/>
              </a:spcAft>
              <a:buNone/>
            </a:pPr>
            <a:r>
              <a:rPr lang="en-US" sz="1000" dirty="0">
                <a:solidFill>
                  <a:srgbClr val="8BE9FD"/>
                </a:solidFill>
                <a:latin typeface="Courier New" pitchFamily="34" charset="0"/>
                <a:ea typeface="Courier New" pitchFamily="34" charset="-122"/>
                <a:cs typeface="Courier New" pitchFamily="34" charset="-120"/>
              </a:rPr>
              <a:t>face_cascade = cv2.CascadeClassifier(</a:t>
            </a:r>
            <a:pPr indent="0" marL="0">
              <a:lnSpc>
                <a:spcPts val="1800"/>
              </a:lnSpc>
              <a:spcAft>
                <a:spcPts val="100"/>
              </a:spcAft>
              <a:buNone/>
            </a:pPr>
            <a:r>
              <a:rPr lang="en-US" sz="1000" dirty="0">
                <a:solidFill>
                  <a:srgbClr val="F1FA8C"/>
                </a:solidFill>
                <a:latin typeface="Courier New" pitchFamily="34" charset="0"/>
                <a:ea typeface="Courier New" pitchFamily="34" charset="-122"/>
                <a:cs typeface="Courier New" pitchFamily="34" charset="-120"/>
              </a:rPr>
              <a:t>    cv2.data.haarcascades+</a:t>
            </a:r>
            <a:pPr indent="0" marL="0">
              <a:lnSpc>
                <a:spcPts val="1800"/>
              </a:lnSpc>
              <a:spcAft>
                <a:spcPts val="100"/>
              </a:spcAft>
              <a:buNone/>
            </a:pPr>
            <a:r>
              <a:rPr lang="en-US" sz="1000" dirty="0">
                <a:solidFill>
                  <a:srgbClr val="F1FA8C"/>
                </a:solidFill>
                <a:latin typeface="Courier New" pitchFamily="34" charset="0"/>
                <a:ea typeface="Courier New" pitchFamily="34" charset="-122"/>
                <a:cs typeface="Courier New" pitchFamily="34" charset="-120"/>
              </a:rPr>
              <a:t>    'haarcascade_frontalface_default.xml')</a:t>
            </a:r>
            <a:pPr indent="0" marL="0">
              <a:lnSpc>
                <a:spcPts val="1800"/>
              </a:lnSpc>
              <a:spcAft>
                <a:spcPts val="100"/>
              </a:spcAft>
              <a:buNone/>
            </a:pPr>
            <a:r>
              <a:rPr lang="en-US" sz="1000" dirty="0">
                <a:solidFill>
                  <a:srgbClr val="F8F8F2"/>
                </a:solidFill>
                <a:latin typeface="Courier New" pitchFamily="34" charset="0"/>
                <a:ea typeface="Courier New" pitchFamily="34" charset="-122"/>
                <a:cs typeface="Courier New" pitchFamily="34" charset="-120"/>
              </a:rPr>
              <a:t>gray = cv2.cvtColor(img, cv2.COLOR_BGR2GRAY)</a:t>
            </a:r>
            <a:pPr indent="0" marL="0">
              <a:lnSpc>
                <a:spcPts val="1800"/>
              </a:lnSpc>
              <a:spcAft>
                <a:spcPts val="100"/>
              </a:spcAft>
              <a:buNone/>
            </a:pPr>
            <a:r>
              <a:rPr lang="en-US" sz="1000" dirty="0">
                <a:solidFill>
                  <a:srgbClr val="8BE9FD"/>
                </a:solidFill>
                <a:latin typeface="Courier New" pitchFamily="34" charset="0"/>
                <a:ea typeface="Courier New" pitchFamily="34" charset="-122"/>
                <a:cs typeface="Courier New" pitchFamily="34" charset="-120"/>
              </a:rPr>
              <a:t>faces = face_cascade.detectMultiScale(</a:t>
            </a:r>
            <a:pPr indent="0" marL="0">
              <a:lnSpc>
                <a:spcPts val="1800"/>
              </a:lnSpc>
              <a:spcAft>
                <a:spcPts val="100"/>
              </a:spcAft>
              <a:buNone/>
            </a:pPr>
            <a:r>
              <a:rPr lang="en-US" sz="1000" dirty="0">
                <a:solidFill>
                  <a:srgbClr val="F1FA8C"/>
                </a:solidFill>
                <a:latin typeface="Courier New" pitchFamily="34" charset="0"/>
                <a:ea typeface="Courier New" pitchFamily="34" charset="-122"/>
                <a:cs typeface="Courier New" pitchFamily="34" charset="-120"/>
              </a:rPr>
              <a:t>    gray, scaleFactor=1.1, minNeighbors=5)</a:t>
            </a:r>
            <a:endParaRPr lang="en-US" sz="1000" dirty="0"/>
          </a:p>
        </p:txBody>
      </p:sp>
      <p:sp>
        <p:nvSpPr>
          <p:cNvPr id="8" name="Text 6"/>
          <p:cNvSpPr/>
          <p:nvPr/>
        </p:nvSpPr>
        <p:spPr>
          <a:xfrm>
            <a:off x="5394960" y="1143000"/>
            <a:ext cx="3200400" cy="274320"/>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预训练模型</a:t>
            </a:r>
            <a:endParaRPr lang="en-US" sz="1300" dirty="0"/>
          </a:p>
        </p:txBody>
      </p:sp>
      <p:sp>
        <p:nvSpPr>
          <p:cNvPr id="9" name="Text 7"/>
          <p:cNvSpPr/>
          <p:nvPr/>
        </p:nvSpPr>
        <p:spPr>
          <a:xfrm>
            <a:off x="5394960" y="1444752"/>
            <a:ext cx="3200400" cy="1371600"/>
          </a:xfrm>
          <a:prstGeom prst="rect">
            <a:avLst/>
          </a:prstGeom>
          <a:noFill/>
          <a:ln/>
        </p:spPr>
        <p:txBody>
          <a:bodyPr wrap="square" rtlCol="0" anchor="ctr"/>
          <a:lstStyle/>
          <a:p>
            <a:pPr marL="342900" indent="-342900">
              <a:spcAft>
                <a:spcPts val="200"/>
              </a:spcAft>
              <a:buSzPct val="100000"/>
              <a:buChar char="•"/>
            </a:pPr>
            <a:r>
              <a:rPr lang="en-US" sz="1000" dirty="0">
                <a:solidFill>
                  <a:srgbClr val="1F2329"/>
                </a:solidFill>
                <a:latin typeface="Calibri" pitchFamily="34" charset="0"/>
                <a:ea typeface="Calibri" pitchFamily="34" charset="-122"/>
                <a:cs typeface="Calibri" pitchFamily="34" charset="-120"/>
              </a:rPr>
              <a:t>haarcascade_frontalface_default.xml</a:t>
            </a:r>
            <a:endParaRPr lang="en-US" sz="1000" dirty="0"/>
          </a:p>
          <a:p>
            <a:pPr marL="342900" indent="-342900">
              <a:spcAft>
                <a:spcPts val="200"/>
              </a:spcAft>
              <a:buSzPct val="100000"/>
              <a:buChar char="•"/>
            </a:pPr>
            <a:r>
              <a:rPr lang="en-US" sz="1000" dirty="0">
                <a:solidFill>
                  <a:srgbClr val="1F2329"/>
                </a:solidFill>
                <a:latin typeface="Calibri" pitchFamily="34" charset="0"/>
                <a:ea typeface="Calibri" pitchFamily="34" charset="-122"/>
                <a:cs typeface="Calibri" pitchFamily="34" charset="-120"/>
              </a:rPr>
              <a:t>haarcascade_profileface.xml — 侧面人脸</a:t>
            </a:r>
            <a:endParaRPr lang="en-US" sz="1000" dirty="0"/>
          </a:p>
          <a:p>
            <a:pPr marL="342900" indent="-342900">
              <a:spcAft>
                <a:spcPts val="200"/>
              </a:spcAft>
              <a:buSzPct val="100000"/>
              <a:buChar char="•"/>
            </a:pPr>
            <a:r>
              <a:rPr lang="en-US" sz="1000" dirty="0">
                <a:solidFill>
                  <a:srgbClr val="1F2329"/>
                </a:solidFill>
                <a:latin typeface="Calibri" pitchFamily="34" charset="0"/>
                <a:ea typeface="Calibri" pitchFamily="34" charset="-122"/>
                <a:cs typeface="Calibri" pitchFamily="34" charset="-120"/>
              </a:rPr>
              <a:t>haarcascade_eye.xml — 眼睛检测</a:t>
            </a:r>
            <a:endParaRPr lang="en-US" sz="1000" dirty="0"/>
          </a:p>
          <a:p>
            <a:pPr marL="342900" indent="-342900">
              <a:spcAft>
                <a:spcPts val="200"/>
              </a:spcAft>
              <a:buSzPct val="100000"/>
              <a:buChar char="•"/>
            </a:pPr>
            <a:r>
              <a:rPr lang="en-US" sz="1000" dirty="0">
                <a:solidFill>
                  <a:srgbClr val="1F2329"/>
                </a:solidFill>
                <a:latin typeface="Calibri" pitchFamily="34" charset="0"/>
                <a:ea typeface="Calibri" pitchFamily="34" charset="-122"/>
                <a:cs typeface="Calibri" pitchFamily="34" charset="-120"/>
              </a:rPr>
              <a:t>haarcascade_smile.xml — 微笑检测</a:t>
            </a:r>
            <a:endParaRPr lang="en-US" sz="1000" dirty="0"/>
          </a:p>
        </p:txBody>
      </p:sp>
      <p:sp>
        <p:nvSpPr>
          <p:cNvPr id="10" name="Text 8"/>
          <p:cNvSpPr/>
          <p:nvPr/>
        </p:nvSpPr>
        <p:spPr>
          <a:xfrm>
            <a:off x="640080" y="3108960"/>
            <a:ext cx="7863840" cy="228600"/>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检测流程</a:t>
            </a:r>
            <a:endParaRPr lang="en-US" sz="1300" dirty="0"/>
          </a:p>
        </p:txBody>
      </p:sp>
      <p:sp>
        <p:nvSpPr>
          <p:cNvPr id="11" name="Text 9"/>
          <p:cNvSpPr/>
          <p:nvPr/>
        </p:nvSpPr>
        <p:spPr>
          <a:xfrm>
            <a:off x="640080" y="3364992"/>
            <a:ext cx="7863840" cy="1005840"/>
          </a:xfrm>
          <a:prstGeom prst="rect">
            <a:avLst/>
          </a:prstGeom>
          <a:noFill/>
          <a:ln/>
        </p:spPr>
        <p:txBody>
          <a:bodyPr wrap="square" rtlCol="0" anchor="ctr"/>
          <a:lstStyle/>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加载预训练级联分类器XML文件</a:t>
            </a:r>
            <a:endParaRPr lang="en-US" sz="1100" dirty="0"/>
          </a:p>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输入图像转换为灰度图</a:t>
            </a:r>
            <a:endParaRPr lang="en-US" sz="1100" dirty="0"/>
          </a:p>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detectMultiScale 多尺度检测</a:t>
            </a:r>
            <a:endParaRPr lang="en-US" sz="1100" dirty="0"/>
          </a:p>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在检测到的人脸位置绘制矩形框</a:t>
            </a:r>
            <a:endParaRPr lang="en-US" sz="1100" dirty="0"/>
          </a:p>
        </p:txBody>
      </p:sp>
      <p:sp>
        <p:nvSpPr>
          <p:cNvPr id="12" name="Shape 10"/>
          <p:cNvSpPr/>
          <p:nvPr/>
        </p:nvSpPr>
        <p:spPr>
          <a:xfrm>
            <a:off x="0" y="4823460"/>
            <a:ext cx="9144000" cy="320040"/>
          </a:xfrm>
          <a:prstGeom prst="rect">
            <a:avLst/>
          </a:prstGeom>
          <a:solidFill>
            <a:srgbClr val="2C5F2D"/>
          </a:solidFill>
          <a:ln/>
        </p:spPr>
      </p:sp>
      <p:sp>
        <p:nvSpPr>
          <p:cNvPr id="13" name="Text 11"/>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实战演练</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detectMultiScale参数详解</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143000"/>
          <a:ext cx="7863840" cy="1463040"/>
        </p:xfrm>
        <a:graphic>
          <a:graphicData uri="http://schemas.openxmlformats.org/drawingml/2006/table">
            <a:tbl>
              <a:tblPr/>
              <a:tblGrid>
                <a:gridCol w="1828800"/>
                <a:gridCol w="3200400"/>
                <a:gridCol w="182880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参数</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含义</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C5F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建议值</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C5F2D"/>
                    </a:solidFill>
                  </a:tcPr>
                </a:tc>
              </a:tr>
              <a:tr h="292608">
                <a:tc>
                  <a:txBody>
                    <a:bodyPr/>
                    <a:lstStyle/>
                    <a:p>
                      <a:pPr indent="0" marL="0">
                        <a:buNone/>
                      </a:pPr>
                      <a:r>
                        <a:rPr lang="en-US" sz="1200" dirty="0">
                          <a:solidFill>
                            <a:srgbClr val="1F2329"/>
                          </a:solidFill>
                          <a:latin typeface="Calibri" pitchFamily="34" charset="0"/>
                          <a:ea typeface="Calibri" pitchFamily="34" charset="-122"/>
                          <a:cs typeface="Calibri" pitchFamily="34" charset="-120"/>
                        </a:rPr>
                        <a:t>scaleFactor</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200" dirty="0">
                          <a:solidFill>
                            <a:srgbClr val="1F2329"/>
                          </a:solidFill>
                          <a:latin typeface="Calibri" pitchFamily="34" charset="0"/>
                          <a:ea typeface="Calibri" pitchFamily="34" charset="-122"/>
                          <a:cs typeface="Calibri" pitchFamily="34" charset="-120"/>
                        </a:rPr>
                        <a:t>每次图像缩小的比例</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200" dirty="0">
                          <a:solidFill>
                            <a:srgbClr val="1F2329"/>
                          </a:solidFill>
                          <a:latin typeface="Calibri" pitchFamily="34" charset="0"/>
                          <a:ea typeface="Calibri" pitchFamily="34" charset="-122"/>
                          <a:cs typeface="Calibri" pitchFamily="34" charset="-120"/>
                        </a:rPr>
                        <a:t>1.1 - 1.3</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r h="292608">
                <a:tc>
                  <a:txBody>
                    <a:bodyPr/>
                    <a:lstStyle/>
                    <a:p>
                      <a:pPr indent="0" marL="0">
                        <a:buNone/>
                      </a:pPr>
                      <a:r>
                        <a:rPr lang="en-US" sz="1200" dirty="0">
                          <a:solidFill>
                            <a:srgbClr val="1F2329"/>
                          </a:solidFill>
                          <a:latin typeface="Calibri" pitchFamily="34" charset="0"/>
                          <a:ea typeface="Calibri" pitchFamily="34" charset="-122"/>
                          <a:cs typeface="Calibri" pitchFamily="34" charset="-120"/>
                        </a:rPr>
                        <a:t>minNeighbors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200" dirty="0">
                          <a:solidFill>
                            <a:srgbClr val="1F2329"/>
                          </a:solidFill>
                          <a:latin typeface="Calibri" pitchFamily="34" charset="0"/>
                          <a:ea typeface="Calibri" pitchFamily="34" charset="-122"/>
                          <a:cs typeface="Calibri" pitchFamily="34" charset="-120"/>
                        </a:rPr>
                        <a:t>最小邻居数，过滤误报</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200" dirty="0">
                          <a:solidFill>
                            <a:srgbClr val="1F2329"/>
                          </a:solidFill>
                          <a:latin typeface="Calibri" pitchFamily="34" charset="0"/>
                          <a:ea typeface="Calibri" pitchFamily="34" charset="-122"/>
                          <a:cs typeface="Calibri" pitchFamily="34" charset="-120"/>
                        </a:rPr>
                        <a:t>3 - 6</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r h="292608">
                <a:tc>
                  <a:txBody>
                    <a:bodyPr/>
                    <a:lstStyle/>
                    <a:p>
                      <a:pPr indent="0" marL="0">
                        <a:buNone/>
                      </a:pPr>
                      <a:r>
                        <a:rPr lang="en-US" sz="1200" dirty="0">
                          <a:solidFill>
                            <a:srgbClr val="1F2329"/>
                          </a:solidFill>
                          <a:latin typeface="Calibri" pitchFamily="34" charset="0"/>
                          <a:ea typeface="Calibri" pitchFamily="34" charset="-122"/>
                          <a:cs typeface="Calibri" pitchFamily="34" charset="-120"/>
                        </a:rPr>
                        <a:t>minSize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200" dirty="0">
                          <a:solidFill>
                            <a:srgbClr val="1F2329"/>
                          </a:solidFill>
                          <a:latin typeface="Calibri" pitchFamily="34" charset="0"/>
                          <a:ea typeface="Calibri" pitchFamily="34" charset="-122"/>
                          <a:cs typeface="Calibri" pitchFamily="34" charset="-120"/>
                        </a:rPr>
                        <a:t>最小检测窗口大小</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200" dirty="0">
                          <a:solidFill>
                            <a:srgbClr val="1F2329"/>
                          </a:solidFill>
                          <a:latin typeface="Calibri" pitchFamily="34" charset="0"/>
                          <a:ea typeface="Calibri" pitchFamily="34" charset="-122"/>
                          <a:cs typeface="Calibri" pitchFamily="34" charset="-120"/>
                        </a:rPr>
                        <a:t>(30, 30)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r h="292608">
                <a:tc>
                  <a:txBody>
                    <a:bodyPr/>
                    <a:lstStyle/>
                    <a:p>
                      <a:pPr indent="0" marL="0">
                        <a:buNone/>
                      </a:pPr>
                      <a:r>
                        <a:rPr lang="en-US" sz="1200" dirty="0">
                          <a:solidFill>
                            <a:srgbClr val="1F2329"/>
                          </a:solidFill>
                          <a:latin typeface="Calibri" pitchFamily="34" charset="0"/>
                          <a:ea typeface="Calibri" pitchFamily="34" charset="-122"/>
                          <a:cs typeface="Calibri" pitchFamily="34" charset="-120"/>
                        </a:rPr>
                        <a:t>maxSize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200" dirty="0">
                          <a:solidFill>
                            <a:srgbClr val="1F2329"/>
                          </a:solidFill>
                          <a:latin typeface="Calibri" pitchFamily="34" charset="0"/>
                          <a:ea typeface="Calibri" pitchFamily="34" charset="-122"/>
                          <a:cs typeface="Calibri" pitchFamily="34" charset="-120"/>
                        </a:rPr>
                        <a:t>最大检测窗口大小</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200" dirty="0">
                          <a:solidFill>
                            <a:srgbClr val="1F2329"/>
                          </a:solidFill>
                          <a:latin typeface="Calibri" pitchFamily="34" charset="0"/>
                          <a:ea typeface="Calibri" pitchFamily="34" charset="-122"/>
                          <a:cs typeface="Calibri" pitchFamily="34" charset="-120"/>
                        </a:rPr>
                        <a:t>根据图像调整</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bl>
          </a:graphicData>
        </a:graphic>
      </p:graphicFrame>
      <p:sp>
        <p:nvSpPr>
          <p:cNvPr id="7" name="Text 4"/>
          <p:cNvSpPr/>
          <p:nvPr/>
        </p:nvSpPr>
        <p:spPr>
          <a:xfrm>
            <a:off x="640080" y="2788920"/>
            <a:ext cx="7863840" cy="228600"/>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调参建议</a:t>
            </a:r>
            <a:endParaRPr lang="en-US" sz="1300" dirty="0"/>
          </a:p>
        </p:txBody>
      </p:sp>
      <p:sp>
        <p:nvSpPr>
          <p:cNvPr id="8" name="Text 5"/>
          <p:cNvSpPr/>
          <p:nvPr/>
        </p:nvSpPr>
        <p:spPr>
          <a:xfrm>
            <a:off x="640080" y="3035808"/>
            <a:ext cx="7863840" cy="777240"/>
          </a:xfrm>
          <a:prstGeom prst="rect">
            <a:avLst/>
          </a:prstGeom>
          <a:noFill/>
          <a:ln/>
        </p:spPr>
        <p:txBody>
          <a:bodyPr wrap="square" rtlCol="0" anchor="ctr"/>
          <a:lstStyle/>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较小的 scaleFactor 提高检测率但降低速度</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较大的 minNeighbors 降低误报但也可能漏检</a:t>
            </a:r>
            <a:endParaRPr lang="en-US" sz="1100" dirty="0"/>
          </a:p>
          <a:p>
            <a:pPr marL="342900" indent="-342900">
              <a:spcAft>
                <a:spcPts val="300"/>
              </a:spcAft>
              <a:buSzPct val="100000"/>
              <a:buChar char="•"/>
            </a:pPr>
            <a:r>
              <a:rPr lang="en-US" sz="1100" dirty="0">
                <a:solidFill>
                  <a:srgbClr val="1F2329"/>
                </a:solidFill>
                <a:latin typeface="Calibri" pitchFamily="34" charset="0"/>
                <a:ea typeface="Calibri" pitchFamily="34" charset="-122"/>
                <a:cs typeface="Calibri" pitchFamily="34" charset="-120"/>
              </a:rPr>
              <a:t>minSize 应根据实际人脸大小设置以过滤噪声</a:t>
            </a:r>
            <a:endParaRPr lang="en-US" sz="1100" dirty="0"/>
          </a:p>
        </p:txBody>
      </p:sp>
      <p:sp>
        <p:nvSpPr>
          <p:cNvPr id="9" name="Shape 6"/>
          <p:cNvSpPr/>
          <p:nvPr/>
        </p:nvSpPr>
        <p:spPr>
          <a:xfrm>
            <a:off x="640080" y="3886200"/>
            <a:ext cx="7863840" cy="502920"/>
          </a:xfrm>
          <a:prstGeom prst="roundRect">
            <a:avLst>
              <a:gd name="adj" fmla="val 10909"/>
            </a:avLst>
          </a:prstGeom>
          <a:solidFill>
            <a:srgbClr val="F0EDE3"/>
          </a:solidFill>
          <a:ln/>
        </p:spPr>
      </p:sp>
      <p:sp>
        <p:nvSpPr>
          <p:cNvPr id="10" name="Text 7"/>
          <p:cNvSpPr/>
          <p:nvPr/>
        </p:nvSpPr>
        <p:spPr>
          <a:xfrm>
            <a:off x="822960" y="3886200"/>
            <a:ext cx="7498080" cy="502920"/>
          </a:xfrm>
          <a:prstGeom prst="rect">
            <a:avLst/>
          </a:prstGeom>
          <a:noFill/>
          <a:ln/>
        </p:spPr>
        <p:txBody>
          <a:bodyPr wrap="square"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完整预训练模型列表: frontalface_default, profileface, eye, smile, fullbody, upperbody</a:t>
            </a:r>
            <a:endParaRPr lang="en-US" sz="1100" dirty="0"/>
          </a:p>
        </p:txBody>
      </p:sp>
      <p:sp>
        <p:nvSpPr>
          <p:cNvPr id="11" name="Shape 8"/>
          <p:cNvSpPr/>
          <p:nvPr/>
        </p:nvSpPr>
        <p:spPr>
          <a:xfrm>
            <a:off x="0" y="4823460"/>
            <a:ext cx="9144000" cy="320040"/>
          </a:xfrm>
          <a:prstGeom prst="rect">
            <a:avLst/>
          </a:prstGeom>
          <a:solidFill>
            <a:srgbClr val="2C5F2D"/>
          </a:solidFill>
          <a:ln/>
        </p:spPr>
      </p:sp>
      <p:sp>
        <p:nvSpPr>
          <p:cNvPr id="12" name="Text 9"/>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科学家故事</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Paul Viola</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4"/>
          <p:cNvSpPr/>
          <p:nvPr/>
        </p:nvSpPr>
        <p:spPr>
          <a:xfrm>
            <a:off x="640080" y="1097280"/>
            <a:ext cx="7863840" cy="320040"/>
          </a:xfrm>
          <a:prstGeom prst="rect">
            <a:avLst/>
          </a:prstGeom>
          <a:noFill/>
          <a:ln/>
        </p:spPr>
        <p:txBody>
          <a:bodyPr wrap="square" rtlCol="0" anchor="ctr"/>
          <a:lstStyle/>
          <a:p>
            <a:pPr indent="0" marL="0">
              <a:buNone/>
            </a:pPr>
            <a:r>
              <a:rPr lang="en-US" sz="1600" b="1" dirty="0">
                <a:solidFill>
                  <a:srgbClr val="2C5F2D"/>
                </a:solidFill>
                <a:latin typeface="Georgia" pitchFamily="34" charset="0"/>
                <a:ea typeface="Georgia" pitchFamily="34" charset="-122"/>
                <a:cs typeface="Georgia" pitchFamily="34" charset="-120"/>
              </a:rPr>
              <a:t>Paul Viola（MIT博士）</a:t>
            </a:r>
            <a:endParaRPr lang="en-US" sz="1600" dirty="0"/>
          </a:p>
        </p:txBody>
      </p:sp>
      <p:sp>
        <p:nvSpPr>
          <p:cNvPr id="7" name="Text 5"/>
          <p:cNvSpPr/>
          <p:nvPr/>
        </p:nvSpPr>
        <p:spPr>
          <a:xfrm>
            <a:off x="640080" y="1463040"/>
            <a:ext cx="7863840" cy="548640"/>
          </a:xfrm>
          <a:prstGeom prst="rect">
            <a:avLst/>
          </a:prstGeom>
          <a:noFill/>
          <a:ln/>
        </p:spPr>
        <p:txBody>
          <a:bodyPr wrap="square" rtlCol="0" anchor="ctr"/>
          <a:lstStyle/>
          <a:p>
            <a:pPr indent="0" marL="0">
              <a:buNone/>
            </a:pPr>
            <a:r>
              <a:rPr lang="en-US" sz="1200" dirty="0">
                <a:solidFill>
                  <a:srgbClr val="1F2329"/>
                </a:solidFill>
                <a:latin typeface="Calibri" pitchFamily="34" charset="0"/>
                <a:ea typeface="Calibri" pitchFamily="34" charset="-122"/>
                <a:cs typeface="Calibri" pitchFamily="34" charset="-120"/>
              </a:rPr>
              <a:t>1995年获得MIT博士学位，师从人工智能传奇人物Tomaso Poggio。攻读博士期间专注于机器学习与计算机视觉的交叉领域，致力于解决目标检测的计算效率问题。</a:t>
            </a:r>
            <a:endParaRPr lang="en-US" sz="1200" dirty="0"/>
          </a:p>
        </p:txBody>
      </p:sp>
      <p:sp>
        <p:nvSpPr>
          <p:cNvPr id="8" name="Text 6"/>
          <p:cNvSpPr/>
          <p:nvPr/>
        </p:nvSpPr>
        <p:spPr>
          <a:xfrm>
            <a:off x="640080" y="2103120"/>
            <a:ext cx="7863840" cy="1188720"/>
          </a:xfrm>
          <a:prstGeom prst="rect">
            <a:avLst/>
          </a:prstGeom>
          <a:noFill/>
          <a:ln/>
        </p:spPr>
        <p:txBody>
          <a:bodyPr wrap="square" rtlCol="0" anchor="ctr"/>
          <a:lstStyle/>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2001年与Michael Jones合作发表里程碑论文</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巧妙结合积分图、AdaBoost、级联分类器三大技术</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形成完整的、可实时运行的检测系统</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后加入微软研究院，2013年入职亚马逊任Principal Scientist</a:t>
            </a:r>
            <a:endParaRPr lang="en-US" sz="1200" dirty="0"/>
          </a:p>
        </p:txBody>
      </p:sp>
      <p:sp>
        <p:nvSpPr>
          <p:cNvPr id="9" name="Shape 7"/>
          <p:cNvSpPr/>
          <p:nvPr/>
        </p:nvSpPr>
        <p:spPr>
          <a:xfrm>
            <a:off x="640080" y="3429000"/>
            <a:ext cx="7863840" cy="502920"/>
          </a:xfrm>
          <a:prstGeom prst="roundRect">
            <a:avLst>
              <a:gd name="adj" fmla="val 10909"/>
            </a:avLst>
          </a:prstGeom>
          <a:solidFill>
            <a:srgbClr val="F0EDE3"/>
          </a:solidFill>
          <a:ln/>
        </p:spPr>
      </p:sp>
      <p:sp>
        <p:nvSpPr>
          <p:cNvPr id="10" name="Text 8"/>
          <p:cNvSpPr/>
          <p:nvPr/>
        </p:nvSpPr>
        <p:spPr>
          <a:xfrm>
            <a:off x="822960" y="3429000"/>
            <a:ext cx="7498080" cy="502920"/>
          </a:xfrm>
          <a:prstGeom prst="rect">
            <a:avLst/>
          </a:prstGeom>
          <a:noFill/>
          <a:ln/>
        </p:spPr>
        <p:txBody>
          <a:bodyPr wrap="square"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Viola的工作不仅推动了人脸检测，还为HOG、DPM等后续算法提供了重要思想基础。</a:t>
            </a:r>
            <a:endParaRPr lang="en-US" sz="1100" dirty="0"/>
          </a:p>
        </p:txBody>
      </p:sp>
      <p:sp>
        <p:nvSpPr>
          <p:cNvPr id="11" name="Shape 9"/>
          <p:cNvSpPr/>
          <p:nvPr/>
        </p:nvSpPr>
        <p:spPr>
          <a:xfrm>
            <a:off x="0" y="4823460"/>
            <a:ext cx="9144000" cy="320040"/>
          </a:xfrm>
          <a:prstGeom prst="rect">
            <a:avLst/>
          </a:prstGeom>
          <a:solidFill>
            <a:srgbClr val="2C5F2D"/>
          </a:solidFill>
          <a:ln/>
        </p:spPr>
      </p:sp>
      <p:sp>
        <p:nvSpPr>
          <p:cNvPr id="12" name="Text 10"/>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科学家故事</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Michael Jones</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4"/>
          <p:cNvSpPr/>
          <p:nvPr/>
        </p:nvSpPr>
        <p:spPr>
          <a:xfrm>
            <a:off x="640080" y="1097280"/>
            <a:ext cx="7863840" cy="320040"/>
          </a:xfrm>
          <a:prstGeom prst="rect">
            <a:avLst/>
          </a:prstGeom>
          <a:noFill/>
          <a:ln/>
        </p:spPr>
        <p:txBody>
          <a:bodyPr wrap="square" rtlCol="0" anchor="ctr"/>
          <a:lstStyle/>
          <a:p>
            <a:pPr indent="0" marL="0">
              <a:buNone/>
            </a:pPr>
            <a:r>
              <a:rPr lang="en-US" sz="1600" b="1" dirty="0">
                <a:solidFill>
                  <a:srgbClr val="2C5F2D"/>
                </a:solidFill>
                <a:latin typeface="Georgia" pitchFamily="34" charset="0"/>
                <a:ea typeface="Georgia" pitchFamily="34" charset="-122"/>
                <a:cs typeface="Georgia" pitchFamily="34" charset="-120"/>
              </a:rPr>
              <a:t>Michael Jones</a:t>
            </a:r>
            <a:endParaRPr lang="en-US" sz="1600" dirty="0"/>
          </a:p>
        </p:txBody>
      </p:sp>
      <p:sp>
        <p:nvSpPr>
          <p:cNvPr id="7" name="Text 5"/>
          <p:cNvSpPr/>
          <p:nvPr/>
        </p:nvSpPr>
        <p:spPr>
          <a:xfrm>
            <a:off x="640080" y="1463040"/>
            <a:ext cx="7863840" cy="548640"/>
          </a:xfrm>
          <a:prstGeom prst="rect">
            <a:avLst/>
          </a:prstGeom>
          <a:noFill/>
          <a:ln/>
        </p:spPr>
        <p:txBody>
          <a:bodyPr wrap="square" rtlCol="0" anchor="ctr"/>
          <a:lstStyle/>
          <a:p>
            <a:pPr indent="0" marL="0">
              <a:buNone/>
            </a:pPr>
            <a:r>
              <a:rPr lang="en-US" sz="1200" dirty="0">
                <a:solidFill>
                  <a:srgbClr val="1F2329"/>
                </a:solidFill>
                <a:latin typeface="Calibri" pitchFamily="34" charset="0"/>
                <a:ea typeface="Calibri" pitchFamily="34" charset="-122"/>
                <a:cs typeface="Calibri" pitchFamily="34" charset="-120"/>
              </a:rPr>
              <a:t>与Viola的合作堪称计算机视觉领域的典范——两位研究者将机器学习的理论创新与计算机视觉的实际需求完美结合，解决了困扰领域多年的实时检测难题。</a:t>
            </a:r>
            <a:endParaRPr lang="en-US" sz="1200" dirty="0"/>
          </a:p>
        </p:txBody>
      </p:sp>
      <p:sp>
        <p:nvSpPr>
          <p:cNvPr id="8" name="Text 6"/>
          <p:cNvSpPr/>
          <p:nvPr/>
        </p:nvSpPr>
        <p:spPr>
          <a:xfrm>
            <a:off x="640080" y="2103120"/>
            <a:ext cx="7863840" cy="1188720"/>
          </a:xfrm>
          <a:prstGeom prst="rect">
            <a:avLst/>
          </a:prstGeom>
          <a:noFill/>
          <a:ln/>
        </p:spPr>
        <p:txBody>
          <a:bodyPr wrap="square" rtlCol="0" anchor="ctr"/>
          <a:lstStyle/>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将ML理论创新与CV实际需求完美结合</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解决了困扰领域多年的实时检测难题</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Viola-Jones最初是通用目标检测框架</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人脸稳定的结构特征使该框架在该任务上表现尤为出色</a:t>
            </a:r>
            <a:endParaRPr lang="en-US" sz="1200" dirty="0"/>
          </a:p>
        </p:txBody>
      </p:sp>
      <p:sp>
        <p:nvSpPr>
          <p:cNvPr id="9" name="Shape 7"/>
          <p:cNvSpPr/>
          <p:nvPr/>
        </p:nvSpPr>
        <p:spPr>
          <a:xfrm>
            <a:off x="640080" y="3429000"/>
            <a:ext cx="7863840" cy="502920"/>
          </a:xfrm>
          <a:prstGeom prst="roundRect">
            <a:avLst>
              <a:gd name="adj" fmla="val 10909"/>
            </a:avLst>
          </a:prstGeom>
          <a:solidFill>
            <a:srgbClr val="F0EDE3"/>
          </a:solidFill>
          <a:ln/>
        </p:spPr>
      </p:sp>
      <p:sp>
        <p:nvSpPr>
          <p:cNvPr id="10" name="Text 8"/>
          <p:cNvSpPr/>
          <p:nvPr/>
        </p:nvSpPr>
        <p:spPr>
          <a:xfrm>
            <a:off x="822960" y="3429000"/>
            <a:ext cx="7498080" cy="502920"/>
          </a:xfrm>
          <a:prstGeom prst="rect">
            <a:avLst/>
          </a:prstGeom>
          <a:noFill/>
          <a:ln/>
        </p:spPr>
        <p:txBody>
          <a:bodyPr wrap="square"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有趣的是，Viola-Jones检测器最初并非专门为人脸检测设计，而是通用框架。</a:t>
            </a:r>
            <a:endParaRPr lang="en-US" sz="1100" dirty="0"/>
          </a:p>
        </p:txBody>
      </p:sp>
      <p:sp>
        <p:nvSpPr>
          <p:cNvPr id="11" name="Shape 9"/>
          <p:cNvSpPr/>
          <p:nvPr/>
        </p:nvSpPr>
        <p:spPr>
          <a:xfrm>
            <a:off x="0" y="4823460"/>
            <a:ext cx="9144000" cy="320040"/>
          </a:xfrm>
          <a:prstGeom prst="rect">
            <a:avLst/>
          </a:prstGeom>
          <a:solidFill>
            <a:srgbClr val="2C5F2D"/>
          </a:solidFill>
          <a:ln/>
        </p:spPr>
      </p:sp>
      <p:sp>
        <p:nvSpPr>
          <p:cNvPr id="12" name="Text 10"/>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重要文献</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必读论文与相关综述</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4"/>
          <p:cNvSpPr/>
          <p:nvPr/>
        </p:nvSpPr>
        <p:spPr>
          <a:xfrm>
            <a:off x="640080" y="1097280"/>
            <a:ext cx="7863840" cy="3383280"/>
          </a:xfrm>
          <a:prstGeom prst="rect">
            <a:avLst/>
          </a:prstGeom>
          <a:noFill/>
          <a:ln/>
        </p:spPr>
        <p:txBody>
          <a:bodyPr wrap="square" rtlCol="0" anchor="ctr"/>
          <a:lstStyle/>
          <a:p>
            <a:pPr marL="342900" indent="-342900">
              <a:spcAft>
                <a:spcPts val="200"/>
              </a:spcAft>
              <a:buSzPct val="100000"/>
              <a:buChar char="•"/>
            </a:pPr>
            <a:r>
              <a:rPr lang="en-US" sz="1300" dirty="0">
                <a:solidFill>
                  <a:srgbClr val="1F2329"/>
                </a:solidFill>
                <a:latin typeface="Calibri" pitchFamily="34" charset="0"/>
                <a:ea typeface="Calibri" pitchFamily="34" charset="-122"/>
                <a:cs typeface="Calibri" pitchFamily="34" charset="-120"/>
              </a:rPr>
              <a:t>[1] Viola &amp; Jones (2001). CVPR.</a:t>
            </a:r>
            <a:endParaRPr lang="en-US" sz="1300" dirty="0"/>
          </a:p>
          <a:p>
            <a:pPr indent="0" marL="0">
              <a:spcAft>
                <a:spcPts val="200"/>
              </a:spcAft>
              <a:buNone/>
            </a:pPr>
            <a:r>
              <a:rPr lang="en-US" sz="1200" dirty="0">
                <a:solidFill>
                  <a:srgbClr val="6B7280"/>
                </a:solidFill>
                <a:latin typeface="Calibri" pitchFamily="34" charset="0"/>
                <a:ea typeface="Calibri" pitchFamily="34" charset="-122"/>
                <a:cs typeface="Calibri" pitchFamily="34" charset="-120"/>
              </a:rPr>
              <a:t>    Rapid Object Detection using a Boosted Cascade of Simple Features</a:t>
            </a:r>
            <a:pPr indent="0" marL="0">
              <a:spcAft>
                <a:spcPts val="200"/>
              </a:spcAft>
              <a:buNone/>
            </a:pPr>
            <a:r>
              <a:rPr lang="en-US" sz="1100" dirty="0">
                <a:solidFill>
                  <a:srgbClr val="6B7280"/>
                </a:solidFill>
                <a:latin typeface="Calibri" pitchFamily="34" charset="0"/>
                <a:ea typeface="Calibri" pitchFamily="34" charset="-122"/>
                <a:cs typeface="Calibri" pitchFamily="34" charset="-120"/>
              </a:rPr>
              <a:t>    贡献: 提出完整Viola-Jones框架 | 引用量: 35,000+</a:t>
            </a:r>
            <a:pPr indent="0" marL="0">
              <a:spcAft>
                <a:spcPts val="200"/>
              </a:spcAft>
              <a:buNone/>
            </a:pPr>
            <a:endParaRPr lang="en-US" sz="1300" dirty="0"/>
          </a:p>
          <a:p>
            <a:pPr marL="342900" indent="-342900">
              <a:spcAft>
                <a:spcPts val="200"/>
              </a:spcAft>
              <a:buSzPct val="100000"/>
              <a:buChar char="•"/>
            </a:pPr>
            <a:r>
              <a:rPr lang="en-US" sz="1300" dirty="0">
                <a:solidFill>
                  <a:srgbClr val="1F2329"/>
                </a:solidFill>
                <a:latin typeface="Calibri" pitchFamily="34" charset="0"/>
                <a:ea typeface="Calibri" pitchFamily="34" charset="-122"/>
                <a:cs typeface="Calibri" pitchFamily="34" charset="-120"/>
              </a:rPr>
              <a:t>[2] Viola &amp; Jones (2004). IJCV.</a:t>
            </a:r>
            <a:endParaRPr lang="en-US" sz="1300" dirty="0"/>
          </a:p>
          <a:p>
            <a:pPr indent="0" marL="0">
              <a:spcAft>
                <a:spcPts val="200"/>
              </a:spcAft>
              <a:buNone/>
            </a:pPr>
            <a:r>
              <a:rPr lang="en-US" sz="1200" dirty="0">
                <a:solidFill>
                  <a:srgbClr val="6B7280"/>
                </a:solidFill>
                <a:latin typeface="Calibri" pitchFamily="34" charset="0"/>
                <a:ea typeface="Calibri" pitchFamily="34" charset="-122"/>
                <a:cs typeface="Calibri" pitchFamily="34" charset="-120"/>
              </a:rPr>
              <a:t>    Robust Real-Time Face Detection</a:t>
            </a:r>
            <a:pPr indent="0" marL="0">
              <a:spcAft>
                <a:spcPts val="200"/>
              </a:spcAft>
              <a:buNone/>
            </a:pPr>
            <a:r>
              <a:rPr lang="en-US" sz="1100" dirty="0">
                <a:solidFill>
                  <a:srgbClr val="6B7280"/>
                </a:solidFill>
                <a:latin typeface="Calibri" pitchFamily="34" charset="0"/>
                <a:ea typeface="Calibri" pitchFamily="34" charset="-122"/>
                <a:cs typeface="Calibri" pitchFamily="34" charset="-120"/>
              </a:rPr>
              <a:t>    贡献: 扩展实现细节和实验分析</a:t>
            </a:r>
            <a:pPr indent="0" marL="0">
              <a:spcAft>
                <a:spcPts val="200"/>
              </a:spcAft>
              <a:buNone/>
            </a:pPr>
            <a:endParaRPr lang="en-US" sz="1300" dirty="0"/>
          </a:p>
          <a:p>
            <a:pPr marL="342900" indent="-342900">
              <a:spcAft>
                <a:spcPts val="200"/>
              </a:spcAft>
              <a:buSzPct val="100000"/>
              <a:buChar char="•"/>
            </a:pPr>
            <a:r>
              <a:rPr lang="en-US" sz="1300" dirty="0">
                <a:solidFill>
                  <a:srgbClr val="1F2329"/>
                </a:solidFill>
                <a:latin typeface="Calibri" pitchFamily="34" charset="0"/>
                <a:ea typeface="Calibri" pitchFamily="34" charset="-122"/>
                <a:cs typeface="Calibri" pitchFamily="34" charset="-120"/>
              </a:rPr>
              <a:t>[3] Freund &amp; Schapire (1997). JCSS.</a:t>
            </a:r>
            <a:endParaRPr lang="en-US" sz="1300" dirty="0"/>
          </a:p>
          <a:p>
            <a:pPr indent="0" marL="0">
              <a:spcAft>
                <a:spcPts val="200"/>
              </a:spcAft>
              <a:buNone/>
            </a:pPr>
            <a:r>
              <a:rPr lang="en-US" sz="1200" dirty="0">
                <a:solidFill>
                  <a:srgbClr val="6B7280"/>
                </a:solidFill>
                <a:latin typeface="Calibri" pitchFamily="34" charset="0"/>
                <a:ea typeface="Calibri" pitchFamily="34" charset="-122"/>
                <a:cs typeface="Calibri" pitchFamily="34" charset="-120"/>
              </a:rPr>
              <a:t>    A Decision-Theoretic Generalization of On-Line Learning...</a:t>
            </a:r>
            <a:pPr indent="0" marL="0">
              <a:spcAft>
                <a:spcPts val="200"/>
              </a:spcAft>
              <a:buNone/>
            </a:pPr>
            <a:r>
              <a:rPr lang="en-US" sz="1100" dirty="0">
                <a:solidFill>
                  <a:srgbClr val="6B7280"/>
                </a:solidFill>
                <a:latin typeface="Calibri" pitchFamily="34" charset="0"/>
                <a:ea typeface="Calibri" pitchFamily="34" charset="-122"/>
                <a:cs typeface="Calibri" pitchFamily="34" charset="-120"/>
              </a:rPr>
              <a:t>    贡献: AdaBoost算法的理论基础</a:t>
            </a:r>
            <a:pPr indent="0" marL="0">
              <a:spcAft>
                <a:spcPts val="200"/>
              </a:spcAft>
              <a:buNone/>
            </a:pPr>
            <a:endParaRPr lang="en-US" sz="1300" dirty="0"/>
          </a:p>
          <a:p>
            <a:pPr marL="342900" indent="-342900">
              <a:spcAft>
                <a:spcPts val="200"/>
              </a:spcAft>
              <a:buSzPct val="100000"/>
              <a:buChar char="•"/>
            </a:pPr>
            <a:r>
              <a:rPr lang="en-US" sz="1300" dirty="0">
                <a:solidFill>
                  <a:srgbClr val="1F2329"/>
                </a:solidFill>
                <a:latin typeface="Calibri" pitchFamily="34" charset="0"/>
                <a:ea typeface="Calibri" pitchFamily="34" charset="-122"/>
                <a:cs typeface="Calibri" pitchFamily="34" charset="-120"/>
              </a:rPr>
              <a:t>[4] Lienhart &amp; Maydt (2002). ICIP.</a:t>
            </a:r>
            <a:endParaRPr lang="en-US" sz="1300" dirty="0"/>
          </a:p>
          <a:p>
            <a:pPr indent="0" marL="0">
              <a:spcAft>
                <a:spcPts val="200"/>
              </a:spcAft>
              <a:buNone/>
            </a:pPr>
            <a:r>
              <a:rPr lang="en-US" sz="1200" dirty="0">
                <a:solidFill>
                  <a:srgbClr val="6B7280"/>
                </a:solidFill>
                <a:latin typeface="Calibri" pitchFamily="34" charset="0"/>
                <a:ea typeface="Calibri" pitchFamily="34" charset="-122"/>
                <a:cs typeface="Calibri" pitchFamily="34" charset="-120"/>
              </a:rPr>
              <a:t>    An Extended Set of Haar-like Features for Rapid Object Detection</a:t>
            </a:r>
            <a:pPr indent="0" marL="0">
              <a:spcAft>
                <a:spcPts val="200"/>
              </a:spcAft>
              <a:buNone/>
            </a:pPr>
            <a:r>
              <a:rPr lang="en-US" sz="1100" dirty="0">
                <a:solidFill>
                  <a:srgbClr val="6B7280"/>
                </a:solidFill>
                <a:latin typeface="Calibri" pitchFamily="34" charset="0"/>
                <a:ea typeface="Calibri" pitchFamily="34" charset="-122"/>
                <a:cs typeface="Calibri" pitchFamily="34" charset="-120"/>
              </a:rPr>
              <a:t>    贡献: 扩展Haar特征集合，增加旋转特征</a:t>
            </a:r>
            <a:endParaRPr lang="en-US" sz="1300" dirty="0"/>
          </a:p>
        </p:txBody>
      </p:sp>
      <p:sp>
        <p:nvSpPr>
          <p:cNvPr id="7" name="Shape 5"/>
          <p:cNvSpPr/>
          <p:nvPr/>
        </p:nvSpPr>
        <p:spPr>
          <a:xfrm>
            <a:off x="0" y="4823460"/>
            <a:ext cx="9144000" cy="320040"/>
          </a:xfrm>
          <a:prstGeom prst="rect">
            <a:avLst/>
          </a:prstGeom>
          <a:solidFill>
            <a:srgbClr val="2C5F2D"/>
          </a:solidFill>
          <a:ln/>
        </p:spPr>
      </p:sp>
      <p:sp>
        <p:nvSpPr>
          <p:cNvPr id="8" name="Text 6"/>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经典实验</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验证与理解核心原理</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4"/>
          <p:cNvSpPr/>
          <p:nvPr/>
        </p:nvSpPr>
        <p:spPr>
          <a:xfrm>
            <a:off x="640080" y="1097280"/>
            <a:ext cx="4114800" cy="274320"/>
          </a:xfrm>
          <a:prstGeom prst="rect">
            <a:avLst/>
          </a:prstGeom>
          <a:noFill/>
          <a:ln/>
        </p:spPr>
        <p:txBody>
          <a:bodyPr wrap="square" rtlCol="0" anchor="ctr"/>
          <a:lstStyle/>
          <a:p>
            <a:pPr indent="0" marL="0">
              <a:buNone/>
            </a:pPr>
            <a:r>
              <a:rPr lang="en-US" sz="1400" b="1" dirty="0">
                <a:solidFill>
                  <a:srgbClr val="2C5F2D"/>
                </a:solidFill>
                <a:latin typeface="Georgia" pitchFamily="34" charset="0"/>
                <a:ea typeface="Georgia" pitchFamily="34" charset="-122"/>
                <a:cs typeface="Georgia" pitchFamily="34" charset="-120"/>
              </a:rPr>
              <a:t>实验1: Haar特征可视化</a:t>
            </a:r>
            <a:endParaRPr lang="en-US" sz="1400" dirty="0"/>
          </a:p>
        </p:txBody>
      </p:sp>
      <p:sp>
        <p:nvSpPr>
          <p:cNvPr id="7" name="Text 5"/>
          <p:cNvSpPr/>
          <p:nvPr/>
        </p:nvSpPr>
        <p:spPr>
          <a:xfrm>
            <a:off x="640080" y="1417320"/>
            <a:ext cx="4114800" cy="868680"/>
          </a:xfrm>
          <a:prstGeom prst="rect">
            <a:avLst/>
          </a:prstGeom>
          <a:noFill/>
          <a:ln/>
        </p:spPr>
        <p:txBody>
          <a:bodyPr wrap="square" rtlCol="0" anchor="ctr"/>
          <a:lstStyle/>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计算人脸各区域的Haar特征响应</a:t>
            </a:r>
            <a:endParaRPr lang="en-US" sz="1100" dirty="0"/>
          </a:p>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眉毛-眼睛：水平边缘特征响应强</a:t>
            </a:r>
            <a:endParaRPr lang="en-US" sz="1100" dirty="0"/>
          </a:p>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鼻子区域：中心环绕特征响应明显</a:t>
            </a:r>
            <a:endParaRPr lang="en-US" sz="1100" dirty="0"/>
          </a:p>
        </p:txBody>
      </p:sp>
      <p:sp>
        <p:nvSpPr>
          <p:cNvPr id="8" name="Text 6"/>
          <p:cNvSpPr/>
          <p:nvPr/>
        </p:nvSpPr>
        <p:spPr>
          <a:xfrm>
            <a:off x="4754880" y="1097280"/>
            <a:ext cx="3931920" cy="274320"/>
          </a:xfrm>
          <a:prstGeom prst="rect">
            <a:avLst/>
          </a:prstGeom>
          <a:noFill/>
          <a:ln/>
        </p:spPr>
        <p:txBody>
          <a:bodyPr wrap="square" rtlCol="0" anchor="ctr"/>
          <a:lstStyle/>
          <a:p>
            <a:pPr indent="0" marL="0">
              <a:buNone/>
            </a:pPr>
            <a:r>
              <a:rPr lang="en-US" sz="1400" b="1" dirty="0">
                <a:solidFill>
                  <a:srgbClr val="2C5F2D"/>
                </a:solidFill>
                <a:latin typeface="Georgia" pitchFamily="34" charset="0"/>
                <a:ea typeface="Georgia" pitchFamily="34" charset="-122"/>
                <a:cs typeface="Georgia" pitchFamily="34" charset="-120"/>
              </a:rPr>
              <a:t>实验2: AdaBoost特征选择</a:t>
            </a:r>
            <a:endParaRPr lang="en-US" sz="1400" dirty="0"/>
          </a:p>
        </p:txBody>
      </p:sp>
      <p:sp>
        <p:nvSpPr>
          <p:cNvPr id="9" name="Text 7"/>
          <p:cNvSpPr/>
          <p:nvPr/>
        </p:nvSpPr>
        <p:spPr>
          <a:xfrm>
            <a:off x="4754880" y="1417320"/>
            <a:ext cx="3931920" cy="868680"/>
          </a:xfrm>
          <a:prstGeom prst="rect">
            <a:avLst/>
          </a:prstGeom>
          <a:noFill/>
          <a:ln/>
        </p:spPr>
        <p:txBody>
          <a:bodyPr wrap="square" rtlCol="0" anchor="ctr"/>
          <a:lstStyle/>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观察每轮选择的Haar特征位置</a:t>
            </a:r>
            <a:endParaRPr lang="en-US" sz="1100" dirty="0"/>
          </a:p>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早期特征位于眼睛、鼻子等区域</a:t>
            </a:r>
            <a:endParaRPr lang="en-US" sz="1100" dirty="0"/>
          </a:p>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前100个特征捕获大部分判别信息</a:t>
            </a:r>
            <a:endParaRPr lang="en-US" sz="1100" dirty="0"/>
          </a:p>
        </p:txBody>
      </p:sp>
      <p:sp>
        <p:nvSpPr>
          <p:cNvPr id="10" name="Text 8"/>
          <p:cNvSpPr/>
          <p:nvPr/>
        </p:nvSpPr>
        <p:spPr>
          <a:xfrm>
            <a:off x="640080" y="2468880"/>
            <a:ext cx="4114800" cy="274320"/>
          </a:xfrm>
          <a:prstGeom prst="rect">
            <a:avLst/>
          </a:prstGeom>
          <a:noFill/>
          <a:ln/>
        </p:spPr>
        <p:txBody>
          <a:bodyPr wrap="square" rtlCol="0" anchor="ctr"/>
          <a:lstStyle/>
          <a:p>
            <a:pPr indent="0" marL="0">
              <a:buNone/>
            </a:pPr>
            <a:r>
              <a:rPr lang="en-US" sz="1400" b="1" dirty="0">
                <a:solidFill>
                  <a:srgbClr val="2C5F2D"/>
                </a:solidFill>
                <a:latin typeface="Georgia" pitchFamily="34" charset="0"/>
                <a:ea typeface="Georgia" pitchFamily="34" charset="-122"/>
                <a:cs typeface="Georgia" pitchFamily="34" charset="-120"/>
              </a:rPr>
              <a:t>实验3: 级联各阶段性能</a:t>
            </a:r>
            <a:endParaRPr lang="en-US" sz="1400" dirty="0"/>
          </a:p>
        </p:txBody>
      </p:sp>
      <p:sp>
        <p:nvSpPr>
          <p:cNvPr id="11" name="Text 9"/>
          <p:cNvSpPr/>
          <p:nvPr/>
        </p:nvSpPr>
        <p:spPr>
          <a:xfrm>
            <a:off x="640080" y="2788920"/>
            <a:ext cx="4114800" cy="640080"/>
          </a:xfrm>
          <a:prstGeom prst="rect">
            <a:avLst/>
          </a:prstGeom>
          <a:noFill/>
          <a:ln/>
        </p:spPr>
        <p:txBody>
          <a:bodyPr wrap="square" rtlCol="0" anchor="ctr"/>
          <a:lstStyle/>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前5级过滤90%+非人脸窗口</a:t>
            </a:r>
            <a:endParaRPr lang="en-US" sz="1100" dirty="0"/>
          </a:p>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平均特征评估数从数百降到10-20个</a:t>
            </a:r>
            <a:endParaRPr lang="en-US" sz="1100" dirty="0"/>
          </a:p>
        </p:txBody>
      </p:sp>
      <p:sp>
        <p:nvSpPr>
          <p:cNvPr id="12" name="Text 10"/>
          <p:cNvSpPr/>
          <p:nvPr/>
        </p:nvSpPr>
        <p:spPr>
          <a:xfrm>
            <a:off x="4754880" y="2468880"/>
            <a:ext cx="3931920" cy="274320"/>
          </a:xfrm>
          <a:prstGeom prst="rect">
            <a:avLst/>
          </a:prstGeom>
          <a:noFill/>
          <a:ln/>
        </p:spPr>
        <p:txBody>
          <a:bodyPr wrap="square" rtlCol="0" anchor="ctr"/>
          <a:lstStyle/>
          <a:p>
            <a:pPr indent="0" marL="0">
              <a:buNone/>
            </a:pPr>
            <a:r>
              <a:rPr lang="en-US" sz="1400" b="1" dirty="0">
                <a:solidFill>
                  <a:srgbClr val="2C5F2D"/>
                </a:solidFill>
                <a:latin typeface="Georgia" pitchFamily="34" charset="0"/>
                <a:ea typeface="Georgia" pitchFamily="34" charset="-122"/>
                <a:cs typeface="Georgia" pitchFamily="34" charset="-120"/>
              </a:rPr>
              <a:t>实验4: OpenCV模型性能测试</a:t>
            </a:r>
            <a:endParaRPr lang="en-US" sz="1400" dirty="0"/>
          </a:p>
        </p:txBody>
      </p:sp>
      <p:sp>
        <p:nvSpPr>
          <p:cNvPr id="13" name="Text 11"/>
          <p:cNvSpPr/>
          <p:nvPr/>
        </p:nvSpPr>
        <p:spPr>
          <a:xfrm>
            <a:off x="4754880" y="2788920"/>
            <a:ext cx="3931920" cy="640080"/>
          </a:xfrm>
          <a:prstGeom prst="rect">
            <a:avLst/>
          </a:prstGeom>
          <a:noFill/>
          <a:ln/>
        </p:spPr>
        <p:txBody>
          <a:bodyPr wrap="square" rtlCol="0" anchor="ctr"/>
          <a:lstStyle/>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对比default/alt/alt2模型检测率</a:t>
            </a:r>
            <a:endParaRPr lang="en-US" sz="1100" dirty="0"/>
          </a:p>
          <a:p>
            <a:pPr marL="342900" indent="-342900">
              <a:spcAft>
                <a:spcPts val="200"/>
              </a:spcAft>
              <a:buSzPct val="100000"/>
              <a:buChar char="•"/>
            </a:pPr>
            <a:r>
              <a:rPr lang="en-US" sz="1100" dirty="0">
                <a:solidFill>
                  <a:srgbClr val="1F2329"/>
                </a:solidFill>
                <a:latin typeface="Calibri" pitchFamily="34" charset="0"/>
                <a:ea typeface="Calibri" pitchFamily="34" charset="-122"/>
                <a:cs typeface="Calibri" pitchFamily="34" charset="-120"/>
              </a:rPr>
              <a:t>调整minNeighbors和scaleFactor</a:t>
            </a:r>
            <a:endParaRPr lang="en-US" sz="1100" dirty="0"/>
          </a:p>
        </p:txBody>
      </p:sp>
      <p:sp>
        <p:nvSpPr>
          <p:cNvPr id="14" name="Shape 12"/>
          <p:cNvSpPr/>
          <p:nvPr/>
        </p:nvSpPr>
        <p:spPr>
          <a:xfrm>
            <a:off x="640080" y="3611880"/>
            <a:ext cx="7863840" cy="502920"/>
          </a:xfrm>
          <a:prstGeom prst="roundRect">
            <a:avLst>
              <a:gd name="adj" fmla="val 10909"/>
            </a:avLst>
          </a:prstGeom>
          <a:solidFill>
            <a:srgbClr val="F0EDE3"/>
          </a:solidFill>
          <a:ln/>
        </p:spPr>
      </p:sp>
      <p:sp>
        <p:nvSpPr>
          <p:cNvPr id="15" name="Text 13"/>
          <p:cNvSpPr/>
          <p:nvPr/>
        </p:nvSpPr>
        <p:spPr>
          <a:xfrm>
            <a:off x="822960" y="3611880"/>
            <a:ext cx="7498080" cy="502920"/>
          </a:xfrm>
          <a:prstGeom prst="rect">
            <a:avLst/>
          </a:prstGeom>
          <a:noFill/>
          <a:ln/>
        </p:spPr>
        <p:txBody>
          <a:bodyPr wrap="square"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建议结合OpenCV官方教程动手实践，通过调整参数观察检测效果变化。</a:t>
            </a:r>
            <a:endParaRPr lang="en-US" sz="1100" dirty="0"/>
          </a:p>
        </p:txBody>
      </p:sp>
      <p:sp>
        <p:nvSpPr>
          <p:cNvPr id="16" name="Shape 14"/>
          <p:cNvSpPr/>
          <p:nvPr/>
        </p:nvSpPr>
        <p:spPr>
          <a:xfrm>
            <a:off x="0" y="4823460"/>
            <a:ext cx="9144000" cy="320040"/>
          </a:xfrm>
          <a:prstGeom prst="rect">
            <a:avLst/>
          </a:prstGeom>
          <a:solidFill>
            <a:srgbClr val="2C5F2D"/>
          </a:solidFill>
          <a:ln/>
        </p:spPr>
      </p:sp>
      <p:sp>
        <p:nvSpPr>
          <p:cNvPr id="17" name="Text 15"/>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小故事</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从笑脸快门到科幻现实</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4"/>
          <p:cNvSpPr/>
          <p:nvPr/>
        </p:nvSpPr>
        <p:spPr>
          <a:xfrm>
            <a:off x="640080" y="1097280"/>
            <a:ext cx="7863840" cy="274320"/>
          </a:xfrm>
          <a:prstGeom prst="rect">
            <a:avLst/>
          </a:prstGeom>
          <a:noFill/>
          <a:ln/>
        </p:spPr>
        <p:txBody>
          <a:bodyPr wrap="square" rtlCol="0" anchor="ctr"/>
          <a:lstStyle/>
          <a:p>
            <a:pPr indent="0" marL="0">
              <a:buNone/>
            </a:pPr>
            <a:r>
              <a:rPr lang="en-US" sz="1500" b="1" dirty="0">
                <a:solidFill>
                  <a:srgbClr val="2C5F2D"/>
                </a:solidFill>
                <a:latin typeface="Georgia" pitchFamily="34" charset="0"/>
                <a:ea typeface="Georgia" pitchFamily="34" charset="-122"/>
                <a:cs typeface="Georgia" pitchFamily="34" charset="-120"/>
              </a:rPr>
              <a:t>数码相机里的"笑脸快门"</a:t>
            </a:r>
            <a:endParaRPr lang="en-US" sz="1500" dirty="0"/>
          </a:p>
        </p:txBody>
      </p:sp>
      <p:sp>
        <p:nvSpPr>
          <p:cNvPr id="7" name="Text 5"/>
          <p:cNvSpPr/>
          <p:nvPr/>
        </p:nvSpPr>
        <p:spPr>
          <a:xfrm>
            <a:off x="640080" y="1417320"/>
            <a:ext cx="7863840" cy="777240"/>
          </a:xfrm>
          <a:prstGeom prst="rect">
            <a:avLst/>
          </a:prstGeom>
          <a:noFill/>
          <a:ln/>
        </p:spPr>
        <p:txBody>
          <a:bodyPr wrap="square" rtlCol="0" anchor="ctr"/>
          <a:lstStyle/>
          <a:p>
            <a:pPr indent="0" marL="0">
              <a:buNone/>
            </a:pPr>
            <a:r>
              <a:rPr lang="en-US" sz="1200" dirty="0">
                <a:solidFill>
                  <a:srgbClr val="1F2329"/>
                </a:solidFill>
                <a:latin typeface="Calibri" pitchFamily="34" charset="0"/>
                <a:ea typeface="Calibri" pitchFamily="34" charset="-122"/>
                <a:cs typeface="Calibri" pitchFamily="34" charset="-120"/>
              </a:rPr>
              <a:t>2008年索尼推出"笑脸快门"功能，当相机检测到微笑时自动按下快门。核心正是Haar级联分类器——先检测人脸，再检测嘴巴，判断是否符合微笑特征。虽然以今天的标准看来很简单，但在当时是非常酷炫的卖点。</a:t>
            </a:r>
            <a:endParaRPr lang="en-US" sz="1200" dirty="0"/>
          </a:p>
        </p:txBody>
      </p:sp>
      <p:sp>
        <p:nvSpPr>
          <p:cNvPr id="8" name="Text 6"/>
          <p:cNvSpPr/>
          <p:nvPr/>
        </p:nvSpPr>
        <p:spPr>
          <a:xfrm>
            <a:off x="640080" y="2331720"/>
            <a:ext cx="7863840" cy="274320"/>
          </a:xfrm>
          <a:prstGeom prst="rect">
            <a:avLst/>
          </a:prstGeom>
          <a:noFill/>
          <a:ln/>
        </p:spPr>
        <p:txBody>
          <a:bodyPr wrap="square" rtlCol="0" anchor="ctr"/>
          <a:lstStyle/>
          <a:p>
            <a:pPr indent="0" marL="0">
              <a:buNone/>
            </a:pPr>
            <a:r>
              <a:rPr lang="en-US" sz="1500" b="1" dirty="0">
                <a:solidFill>
                  <a:srgbClr val="2C5F2D"/>
                </a:solidFill>
                <a:latin typeface="Georgia" pitchFamily="34" charset="0"/>
                <a:ea typeface="Georgia" pitchFamily="34" charset="-122"/>
                <a:cs typeface="Georgia" pitchFamily="34" charset="-120"/>
              </a:rPr>
              <a:t>从《少数派报告》到现实</a:t>
            </a:r>
            <a:endParaRPr lang="en-US" sz="1500" dirty="0"/>
          </a:p>
        </p:txBody>
      </p:sp>
      <p:sp>
        <p:nvSpPr>
          <p:cNvPr id="9" name="Text 7"/>
          <p:cNvSpPr/>
          <p:nvPr/>
        </p:nvSpPr>
        <p:spPr>
          <a:xfrm>
            <a:off x="640080" y="2651760"/>
            <a:ext cx="7863840" cy="777240"/>
          </a:xfrm>
          <a:prstGeom prst="rect">
            <a:avLst/>
          </a:prstGeom>
          <a:noFill/>
          <a:ln/>
        </p:spPr>
        <p:txBody>
          <a:bodyPr wrap="square" rtlCol="0" anchor="ctr"/>
          <a:lstStyle/>
          <a:p>
            <a:pPr indent="0" marL="0">
              <a:buNone/>
            </a:pPr>
            <a:r>
              <a:rPr lang="en-US" sz="1200" dirty="0">
                <a:solidFill>
                  <a:srgbClr val="1F2329"/>
                </a:solidFill>
                <a:latin typeface="Calibri" pitchFamily="34" charset="0"/>
                <a:ea typeface="Calibri" pitchFamily="34" charset="-122"/>
                <a:cs typeface="Calibri" pitchFamily="34" charset="-120"/>
              </a:rPr>
              <a:t>2002年电影《少数派报告》中，广告牌通过扫描识别身份推送个性化广告。当时被视为科幻，但Viola-Jones检测器已在2001年为这一愿景奠定了技术基础。今天，实时人脸检测已成为手机、安防、社交应用的标配。</a:t>
            </a:r>
            <a:endParaRPr lang="en-US" sz="1200" dirty="0"/>
          </a:p>
        </p:txBody>
      </p:sp>
      <p:sp>
        <p:nvSpPr>
          <p:cNvPr id="10" name="Shape 8"/>
          <p:cNvSpPr/>
          <p:nvPr/>
        </p:nvSpPr>
        <p:spPr>
          <a:xfrm>
            <a:off x="640080" y="3611880"/>
            <a:ext cx="7863840" cy="502920"/>
          </a:xfrm>
          <a:prstGeom prst="roundRect">
            <a:avLst>
              <a:gd name="adj" fmla="val 10909"/>
            </a:avLst>
          </a:prstGeom>
          <a:solidFill>
            <a:srgbClr val="F0EDE3"/>
          </a:solidFill>
          <a:ln/>
        </p:spPr>
      </p:sp>
      <p:sp>
        <p:nvSpPr>
          <p:cNvPr id="11" name="Text 9"/>
          <p:cNvSpPr/>
          <p:nvPr/>
        </p:nvSpPr>
        <p:spPr>
          <a:xfrm>
            <a:off x="822960" y="3611880"/>
            <a:ext cx="7498080" cy="502920"/>
          </a:xfrm>
          <a:prstGeom prst="rect">
            <a:avLst/>
          </a:prstGeom>
          <a:noFill/>
          <a:ln/>
        </p:spPr>
        <p:txBody>
          <a:bodyPr wrap="square"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"笑脸快门"有时过于灵敏，在人们没有真正微笑但嘴角略微上扬时触发——这也反映了Haar级联分类器对特征定义固定的局限性。</a:t>
            </a:r>
            <a:endParaRPr lang="en-US" sz="1100" dirty="0"/>
          </a:p>
        </p:txBody>
      </p:sp>
      <p:sp>
        <p:nvSpPr>
          <p:cNvPr id="12" name="Shape 10"/>
          <p:cNvSpPr/>
          <p:nvPr/>
        </p:nvSpPr>
        <p:spPr>
          <a:xfrm>
            <a:off x="0" y="4823460"/>
            <a:ext cx="9144000" cy="320040"/>
          </a:xfrm>
          <a:prstGeom prst="rect">
            <a:avLst/>
          </a:prstGeom>
          <a:solidFill>
            <a:srgbClr val="2C5F2D"/>
          </a:solidFill>
          <a:ln/>
        </p:spPr>
      </p:sp>
      <p:sp>
        <p:nvSpPr>
          <p:cNvPr id="13" name="Text 11"/>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思考题</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深入理解与拓展</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4"/>
          <p:cNvSpPr/>
          <p:nvPr/>
        </p:nvSpPr>
        <p:spPr>
          <a:xfrm>
            <a:off x="640080" y="1097280"/>
            <a:ext cx="7863840" cy="3383280"/>
          </a:xfrm>
          <a:prstGeom prst="rect">
            <a:avLst/>
          </a:prstGeom>
          <a:noFill/>
          <a:ln/>
        </p:spPr>
        <p:txBody>
          <a:bodyPr wrap="square" rtlCol="0" anchor="ctr"/>
          <a:lstStyle/>
          <a:p>
            <a:pPr marL="342900" indent="-342900">
              <a:spcAft>
                <a:spcPts val="200"/>
              </a:spcAft>
              <a:buSzPct val="100000"/>
              <a:buChar char="•"/>
            </a:pPr>
            <a:r>
              <a:rPr lang="en-US" sz="1300" dirty="0">
                <a:solidFill>
                  <a:srgbClr val="1F2329"/>
                </a:solidFill>
                <a:latin typeface="Calibri" pitchFamily="34" charset="0"/>
                <a:ea typeface="Calibri" pitchFamily="34" charset="-122"/>
                <a:cs typeface="Calibri" pitchFamily="34" charset="-120"/>
              </a:rPr>
              <a:t>1. Haar特征与卷积核的异同</a:t>
            </a:r>
            <a:endParaRPr lang="en-US" sz="1300" dirty="0"/>
          </a:p>
          <a:p>
            <a:pPr indent="0" marL="0">
              <a:spcAft>
                <a:spcPts val="200"/>
              </a:spcAft>
              <a:buNone/>
            </a:pPr>
            <a:r>
              <a:rPr lang="en-US" sz="1100" dirty="0">
                <a:solidFill>
                  <a:srgbClr val="6B7280"/>
                </a:solidFill>
                <a:latin typeface="Calibri" pitchFamily="34" charset="0"/>
                <a:ea typeface="Calibri" pitchFamily="34" charset="-122"/>
                <a:cs typeface="Calibri" pitchFamily="34" charset="-120"/>
              </a:rPr>
              <a:t>   比较Haar特征与Sobel、CNN卷积核，为什么Haar在深度学习时代被淘汰？</a:t>
            </a:r>
            <a:pPr indent="0" marL="0">
              <a:spcAft>
                <a:spcPts val="200"/>
              </a:spcAft>
              <a:buNone/>
            </a:pPr>
            <a:endParaRPr lang="en-US" sz="1300" dirty="0"/>
          </a:p>
          <a:p>
            <a:pPr marL="342900" indent="-342900">
              <a:spcAft>
                <a:spcPts val="200"/>
              </a:spcAft>
              <a:buSzPct val="100000"/>
              <a:buChar char="•"/>
            </a:pPr>
            <a:r>
              <a:rPr lang="en-US" sz="1300" dirty="0">
                <a:solidFill>
                  <a:srgbClr val="1F2329"/>
                </a:solidFill>
                <a:latin typeface="Calibri" pitchFamily="34" charset="0"/>
                <a:ea typeface="Calibri" pitchFamily="34" charset="-122"/>
                <a:cs typeface="Calibri" pitchFamily="34" charset="-120"/>
              </a:rPr>
              <a:t>2. AdaBoost的特征选择优势</a:t>
            </a:r>
            <a:endParaRPr lang="en-US" sz="1300" dirty="0"/>
          </a:p>
          <a:p>
            <a:pPr indent="0" marL="0">
              <a:spcAft>
                <a:spcPts val="200"/>
              </a:spcAft>
              <a:buNone/>
            </a:pPr>
            <a:r>
              <a:rPr lang="en-US" sz="1100" dirty="0">
                <a:solidFill>
                  <a:srgbClr val="6B7280"/>
                </a:solidFill>
                <a:latin typeface="Calibri" pitchFamily="34" charset="0"/>
                <a:ea typeface="Calibri" pitchFamily="34" charset="-122"/>
                <a:cs typeface="Calibri" pitchFamily="34" charset="-120"/>
              </a:rPr>
              <a:t>   随机选几百个特征 vs AdaBoost选择，性能差异有多大？</a:t>
            </a:r>
            <a:pPr indent="0" marL="0">
              <a:spcAft>
                <a:spcPts val="200"/>
              </a:spcAft>
              <a:buNone/>
            </a:pPr>
            <a:endParaRPr lang="en-US" sz="1300" dirty="0"/>
          </a:p>
          <a:p>
            <a:pPr marL="342900" indent="-342900">
              <a:spcAft>
                <a:spcPts val="200"/>
              </a:spcAft>
              <a:buSzPct val="100000"/>
              <a:buChar char="•"/>
            </a:pPr>
            <a:r>
              <a:rPr lang="en-US" sz="1300" dirty="0">
                <a:solidFill>
                  <a:srgbClr val="1F2329"/>
                </a:solidFill>
                <a:latin typeface="Calibri" pitchFamily="34" charset="0"/>
                <a:ea typeface="Calibri" pitchFamily="34" charset="-122"/>
                <a:cs typeface="Calibri" pitchFamily="34" charset="-120"/>
              </a:rPr>
              <a:t>3. 级联结构的代价</a:t>
            </a:r>
            <a:endParaRPr lang="en-US" sz="1300" dirty="0"/>
          </a:p>
          <a:p>
            <a:pPr indent="0" marL="0">
              <a:spcAft>
                <a:spcPts val="200"/>
              </a:spcAft>
              <a:buNone/>
            </a:pPr>
            <a:r>
              <a:rPr lang="en-US" sz="1100" dirty="0">
                <a:solidFill>
                  <a:srgbClr val="6B7280"/>
                </a:solidFill>
                <a:latin typeface="Calibri" pitchFamily="34" charset="0"/>
                <a:ea typeface="Calibri" pitchFamily="34" charset="-122"/>
                <a:cs typeface="Calibri" pitchFamily="34" charset="-120"/>
              </a:rPr>
              <a:t>   级联可能带来漏检和训练复杂度增加，如何权衡速度与精度？</a:t>
            </a:r>
            <a:pPr indent="0" marL="0">
              <a:spcAft>
                <a:spcPts val="200"/>
              </a:spcAft>
              <a:buNone/>
            </a:pPr>
            <a:endParaRPr lang="en-US" sz="1300" dirty="0"/>
          </a:p>
          <a:p>
            <a:pPr marL="342900" indent="-342900">
              <a:spcAft>
                <a:spcPts val="200"/>
              </a:spcAft>
              <a:buSzPct val="100000"/>
              <a:buChar char="•"/>
            </a:pPr>
            <a:r>
              <a:rPr lang="en-US" sz="1300" dirty="0">
                <a:solidFill>
                  <a:srgbClr val="1F2329"/>
                </a:solidFill>
                <a:latin typeface="Calibri" pitchFamily="34" charset="0"/>
                <a:ea typeface="Calibri" pitchFamily="34" charset="-122"/>
                <a:cs typeface="Calibri" pitchFamily="34" charset="-120"/>
              </a:rPr>
              <a:t>4. Haar vs HOG+SVM vs CNN</a:t>
            </a:r>
            <a:endParaRPr lang="en-US" sz="1300" dirty="0"/>
          </a:p>
          <a:p>
            <a:pPr indent="0" marL="0">
              <a:spcAft>
                <a:spcPts val="200"/>
              </a:spcAft>
              <a:buNone/>
            </a:pPr>
            <a:r>
              <a:rPr lang="en-US" sz="1100" dirty="0">
                <a:solidFill>
                  <a:srgbClr val="6B7280"/>
                </a:solidFill>
                <a:latin typeface="Calibri" pitchFamily="34" charset="0"/>
                <a:ea typeface="Calibri" pitchFamily="34" charset="-122"/>
                <a:cs typeface="Calibri" pitchFamily="34" charset="-120"/>
              </a:rPr>
              <a:t>   从精度、速度、训练难度等维度比较三种检测器</a:t>
            </a:r>
            <a:pPr indent="0" marL="0">
              <a:spcAft>
                <a:spcPts val="200"/>
              </a:spcAft>
              <a:buNone/>
            </a:pPr>
            <a:endParaRPr lang="en-US" sz="1300" dirty="0"/>
          </a:p>
          <a:p>
            <a:pPr marL="342900" indent="-342900">
              <a:spcAft>
                <a:spcPts val="200"/>
              </a:spcAft>
              <a:buSzPct val="100000"/>
              <a:buChar char="•"/>
            </a:pPr>
            <a:r>
              <a:rPr lang="en-US" sz="1300" dirty="0">
                <a:solidFill>
                  <a:srgbClr val="1F2329"/>
                </a:solidFill>
                <a:latin typeface="Calibri" pitchFamily="34" charset="0"/>
                <a:ea typeface="Calibri" pitchFamily="34" charset="-122"/>
                <a:cs typeface="Calibri" pitchFamily="34" charset="-120"/>
              </a:rPr>
              <a:t>5. 积分图的局限性</a:t>
            </a:r>
            <a:endParaRPr lang="en-US" sz="1300" dirty="0"/>
          </a:p>
          <a:p>
            <a:pPr indent="0" marL="0">
              <a:spcAft>
                <a:spcPts val="200"/>
              </a:spcAft>
              <a:buNone/>
            </a:pPr>
            <a:r>
              <a:rPr lang="en-US" sz="1100" dirty="0">
                <a:solidFill>
                  <a:srgbClr val="6B7280"/>
                </a:solidFill>
                <a:latin typeface="Calibri" pitchFamily="34" charset="0"/>
                <a:ea typeface="Calibri" pitchFamily="34" charset="-122"/>
                <a:cs typeface="Calibri" pitchFamily="34" charset="-120"/>
              </a:rPr>
              <a:t>   积分图能否直接用于HOG、LBP等其他特征？为什么？</a:t>
            </a:r>
            <a:endParaRPr lang="en-US" sz="1300" dirty="0"/>
          </a:p>
        </p:txBody>
      </p:sp>
      <p:sp>
        <p:nvSpPr>
          <p:cNvPr id="7" name="Shape 5"/>
          <p:cNvSpPr/>
          <p:nvPr/>
        </p:nvSpPr>
        <p:spPr>
          <a:xfrm>
            <a:off x="0" y="4823460"/>
            <a:ext cx="9144000" cy="320040"/>
          </a:xfrm>
          <a:prstGeom prst="rect">
            <a:avLst/>
          </a:prstGeom>
          <a:solidFill>
            <a:srgbClr val="2C5F2D"/>
          </a:solidFill>
          <a:ln/>
        </p:spPr>
      </p:sp>
      <p:sp>
        <p:nvSpPr>
          <p:cNvPr id="8" name="Text 6"/>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术语表</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GLOSSARY</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097280"/>
          <a:ext cx="7863840" cy="2560320"/>
        </p:xfrm>
        <a:graphic>
          <a:graphicData uri="http://schemas.openxmlformats.org/drawingml/2006/table">
            <a:tbl>
              <a:tblPr/>
              <a:tblGrid>
                <a:gridCol w="1371600"/>
                <a:gridCol w="2011680"/>
                <a:gridCol w="3474720"/>
              </a:tblGrid>
              <a:tr h="4267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术语</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C5F2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英文</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C5F2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定义</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C5F2D"/>
                    </a:solidFill>
                  </a:tcPr>
                </a:tc>
              </a:tr>
              <a:tr h="426720">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Haar特征</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Haar-like Feature</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矩形区域像素差特征，捕获局部结构</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r h="426720">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积分图</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Integral Image</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支持O(1)计算任意矩形区域像素和</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r h="426720">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AdaBoost</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Adaptive Boosting</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组合弱分类器构建强分类器</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r h="426720">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级联结构</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Cascade Structure</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早期级快速排除负样本，后期级精细判断</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r h="426720">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自举</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Bootstrapping</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前级误报作为后续级的负样本</a:t>
                      </a:r>
                      <a:endParaRPr lang="en-US" sz="10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AF8F0"/>
                    </a:solidFill>
                  </a:tcPr>
                </a:tc>
              </a:tr>
            </a:tbl>
          </a:graphicData>
        </a:graphic>
      </p:graphicFrame>
      <p:sp>
        <p:nvSpPr>
          <p:cNvPr id="7" name="Text 4"/>
          <p:cNvSpPr/>
          <p:nvPr/>
        </p:nvSpPr>
        <p:spPr>
          <a:xfrm>
            <a:off x="640080" y="3794760"/>
            <a:ext cx="786384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更多术语: 弱分类器、强分类器、检测率、误报率、滑动窗口、多尺度检测</a:t>
            </a:r>
            <a:endParaRPr lang="en-US" sz="1100" dirty="0"/>
          </a:p>
        </p:txBody>
      </p:sp>
      <p:sp>
        <p:nvSpPr>
          <p:cNvPr id="8" name="Shape 5"/>
          <p:cNvSpPr/>
          <p:nvPr/>
        </p:nvSpPr>
        <p:spPr>
          <a:xfrm>
            <a:off x="0" y="4823460"/>
            <a:ext cx="9144000" cy="320040"/>
          </a:xfrm>
          <a:prstGeom prst="rect">
            <a:avLst/>
          </a:prstGeom>
          <a:solidFill>
            <a:srgbClr val="2C5F2D"/>
          </a:solidFill>
          <a:ln/>
        </p:spPr>
      </p:sp>
      <p:sp>
        <p:nvSpPr>
          <p:cNvPr id="9" name="Text 6"/>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F2D"/>
          </a:solidFill>
          <a:ln/>
        </p:spPr>
      </p:sp>
      <p:sp>
        <p:nvSpPr>
          <p:cNvPr id="3" name="Text 1"/>
          <p:cNvSpPr/>
          <p:nvPr/>
        </p:nvSpPr>
        <p:spPr>
          <a:xfrm>
            <a:off x="457200" y="137160"/>
            <a:ext cx="8229600" cy="365760"/>
          </a:xfrm>
          <a:prstGeom prst="rect">
            <a:avLst/>
          </a:prstGeom>
          <a:noFill/>
          <a:ln/>
        </p:spPr>
        <p:txBody>
          <a:bodyPr wrap="square" rtlCol="0" anchor="ctr"/>
          <a:lstStyle/>
          <a:p>
            <a:pPr indent="0" marL="0">
              <a:buNone/>
            </a:pPr>
            <a:r>
              <a:rPr lang="en-US" sz="2200" b="1" spc="150" kern="0" dirty="0">
                <a:solidFill>
                  <a:srgbClr val="FFFFFF"/>
                </a:solidFill>
                <a:latin typeface="Georgia" pitchFamily="34" charset="0"/>
                <a:ea typeface="Georgia" pitchFamily="34" charset="-122"/>
                <a:cs typeface="Georgia" pitchFamily="34" charset="-120"/>
              </a:rPr>
              <a:t>总结与下节预告</a:t>
            </a:r>
            <a:endParaRPr lang="en-US" sz="2200" dirty="0"/>
          </a:p>
        </p:txBody>
      </p:sp>
      <p:sp>
        <p:nvSpPr>
          <p:cNvPr id="4" name="Text 2"/>
          <p:cNvSpPr/>
          <p:nvPr/>
        </p:nvSpPr>
        <p:spPr>
          <a:xfrm>
            <a:off x="457200" y="502920"/>
            <a:ext cx="82296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Day 32: DPM与HOG检测</a:t>
            </a:r>
            <a:endParaRPr lang="en-US" sz="1200" dirty="0"/>
          </a:p>
        </p:txBody>
      </p:sp>
      <p:sp>
        <p:nvSpPr>
          <p:cNvPr id="5" name="Shape 3"/>
          <p:cNvSpPr/>
          <p:nvPr/>
        </p:nvSpPr>
        <p:spPr>
          <a:xfrm>
            <a:off x="457200" y="100584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4"/>
          <p:cNvSpPr/>
          <p:nvPr/>
        </p:nvSpPr>
        <p:spPr>
          <a:xfrm>
            <a:off x="640080" y="1097280"/>
            <a:ext cx="3931920" cy="274320"/>
          </a:xfrm>
          <a:prstGeom prst="rect">
            <a:avLst/>
          </a:prstGeom>
          <a:noFill/>
          <a:ln/>
        </p:spPr>
        <p:txBody>
          <a:bodyPr wrap="square" rtlCol="0" anchor="ctr"/>
          <a:lstStyle/>
          <a:p>
            <a:pPr indent="0" marL="0">
              <a:buNone/>
            </a:pPr>
            <a:r>
              <a:rPr lang="en-US" sz="1500" b="1" dirty="0">
                <a:solidFill>
                  <a:srgbClr val="2C5F2D"/>
                </a:solidFill>
                <a:latin typeface="Georgia" pitchFamily="34" charset="0"/>
                <a:ea typeface="Georgia" pitchFamily="34" charset="-122"/>
                <a:cs typeface="Georgia" pitchFamily="34" charset="-120"/>
              </a:rPr>
              <a:t>今日总结</a:t>
            </a:r>
            <a:endParaRPr lang="en-US" sz="1500" dirty="0"/>
          </a:p>
        </p:txBody>
      </p:sp>
      <p:sp>
        <p:nvSpPr>
          <p:cNvPr id="7" name="Text 5"/>
          <p:cNvSpPr/>
          <p:nvPr/>
        </p:nvSpPr>
        <p:spPr>
          <a:xfrm>
            <a:off x="640080" y="1417320"/>
            <a:ext cx="3931920" cy="1188720"/>
          </a:xfrm>
          <a:prstGeom prst="rect">
            <a:avLst/>
          </a:prstGeom>
          <a:noFill/>
          <a:ln/>
        </p:spPr>
        <p:txBody>
          <a:bodyPr wrap="square" rtlCol="0" anchor="ctr"/>
          <a:lstStyle/>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Haar特征：矩形像素差，捕捉局部结构</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积分图：O(1)计算任意矩形和</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AdaBoost：组合弱分类器为强分类器</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级联结构：逐级筛选，实现实时检测</a:t>
            </a:r>
            <a:endParaRPr lang="en-US" sz="1200" dirty="0"/>
          </a:p>
        </p:txBody>
      </p:sp>
      <p:sp>
        <p:nvSpPr>
          <p:cNvPr id="8" name="Text 6"/>
          <p:cNvSpPr/>
          <p:nvPr/>
        </p:nvSpPr>
        <p:spPr>
          <a:xfrm>
            <a:off x="4754880" y="1097280"/>
            <a:ext cx="3931920" cy="274320"/>
          </a:xfrm>
          <a:prstGeom prst="rect">
            <a:avLst/>
          </a:prstGeom>
          <a:noFill/>
          <a:ln/>
        </p:spPr>
        <p:txBody>
          <a:bodyPr wrap="square" rtlCol="0" anchor="ctr"/>
          <a:lstStyle/>
          <a:p>
            <a:pPr indent="0" marL="0">
              <a:buNone/>
            </a:pPr>
            <a:r>
              <a:rPr lang="en-US" sz="1500" b="1" dirty="0">
                <a:solidFill>
                  <a:srgbClr val="2C5F2D"/>
                </a:solidFill>
                <a:latin typeface="Georgia" pitchFamily="34" charset="0"/>
                <a:ea typeface="Georgia" pitchFamily="34" charset="-122"/>
                <a:cs typeface="Georgia" pitchFamily="34" charset="-120"/>
              </a:rPr>
              <a:t>Day 32: DPM与HOG检测</a:t>
            </a:r>
            <a:endParaRPr lang="en-US" sz="1500" dirty="0"/>
          </a:p>
        </p:txBody>
      </p:sp>
      <p:sp>
        <p:nvSpPr>
          <p:cNvPr id="9" name="Text 7"/>
          <p:cNvSpPr/>
          <p:nvPr/>
        </p:nvSpPr>
        <p:spPr>
          <a:xfrm>
            <a:off x="4754880" y="1417320"/>
            <a:ext cx="3931920" cy="1188720"/>
          </a:xfrm>
          <a:prstGeom prst="rect">
            <a:avLst/>
          </a:prstGeom>
          <a:noFill/>
          <a:ln/>
        </p:spPr>
        <p:txBody>
          <a:bodyPr wrap="square" rtlCol="0" anchor="ctr"/>
          <a:lstStyle/>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HOG特征：方向梯度直方图</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DPM：可变形部件模型</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非极大值抑制（NMS）</a:t>
            </a:r>
            <a:endParaRPr lang="en-US" sz="1200" dirty="0"/>
          </a:p>
          <a:p>
            <a:pPr marL="342900" indent="-342900">
              <a:spcAft>
                <a:spcPts val="300"/>
              </a:spcAft>
              <a:buSzPct val="100000"/>
              <a:buChar char="•"/>
            </a:pPr>
            <a:r>
              <a:rPr lang="en-US" sz="1200" dirty="0">
                <a:solidFill>
                  <a:srgbClr val="1F2329"/>
                </a:solidFill>
                <a:latin typeface="Calibri" pitchFamily="34" charset="0"/>
                <a:ea typeface="Calibri" pitchFamily="34" charset="-122"/>
                <a:cs typeface="Calibri" pitchFamily="34" charset="-120"/>
              </a:rPr>
              <a:t>实战：OpenCV行人检测</a:t>
            </a:r>
            <a:endParaRPr lang="en-US" sz="1200" dirty="0"/>
          </a:p>
        </p:txBody>
      </p:sp>
      <p:sp>
        <p:nvSpPr>
          <p:cNvPr id="10" name="Shape 8"/>
          <p:cNvSpPr/>
          <p:nvPr/>
        </p:nvSpPr>
        <p:spPr>
          <a:xfrm>
            <a:off x="640080" y="2788920"/>
            <a:ext cx="7863840" cy="640080"/>
          </a:xfrm>
          <a:prstGeom prst="roundRect">
            <a:avLst>
              <a:gd name="adj" fmla="val 8571"/>
            </a:avLst>
          </a:prstGeom>
          <a:solidFill>
            <a:srgbClr val="F0EDE3"/>
          </a:solidFill>
          <a:ln/>
        </p:spPr>
      </p:sp>
      <p:sp>
        <p:nvSpPr>
          <p:cNvPr id="11" name="Text 9"/>
          <p:cNvSpPr/>
          <p:nvPr/>
        </p:nvSpPr>
        <p:spPr>
          <a:xfrm>
            <a:off x="822960" y="2788920"/>
            <a:ext cx="7498080" cy="640080"/>
          </a:xfrm>
          <a:prstGeom prst="rect">
            <a:avLst/>
          </a:prstGeom>
          <a:noFill/>
          <a:ln/>
        </p:spPr>
        <p:txBody>
          <a:bodyPr wrap="square"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HOG+SVM和DPM代表了经典机器学习时代目标检测的最高水平，敬请期待！</a:t>
            </a:r>
            <a:endParaRPr lang="en-US" sz="1300" dirty="0"/>
          </a:p>
        </p:txBody>
      </p:sp>
      <p:sp>
        <p:nvSpPr>
          <p:cNvPr id="12" name="Text 10"/>
          <p:cNvSpPr/>
          <p:nvPr/>
        </p:nvSpPr>
        <p:spPr>
          <a:xfrm>
            <a:off x="640080" y="3611880"/>
            <a:ext cx="7863840" cy="365760"/>
          </a:xfrm>
          <a:prstGeom prst="rect">
            <a:avLst/>
          </a:prstGeom>
          <a:noFill/>
          <a:ln/>
        </p:spPr>
        <p:txBody>
          <a:bodyPr wrap="square" rtlCol="0" anchor="ctr"/>
          <a:lstStyle/>
          <a:p>
            <a:pPr algn="ctr" indent="0" marL="0">
              <a:buNone/>
            </a:pPr>
            <a:r>
              <a:rPr lang="en-US" sz="1800" b="1" dirty="0">
                <a:solidFill>
                  <a:srgbClr val="D4A843"/>
                </a:solidFill>
                <a:latin typeface="Georgia" pitchFamily="34" charset="0"/>
                <a:ea typeface="Georgia" pitchFamily="34" charset="-122"/>
                <a:cs typeface="Georgia" pitchFamily="34" charset="-120"/>
              </a:rPr>
              <a:t>感谢学习！</a:t>
            </a:r>
            <a:endParaRPr lang="en-US" sz="1800" dirty="0"/>
          </a:p>
        </p:txBody>
      </p:sp>
      <p:sp>
        <p:nvSpPr>
          <p:cNvPr id="13" name="Shape 11"/>
          <p:cNvSpPr/>
          <p:nvPr/>
        </p:nvSpPr>
        <p:spPr>
          <a:xfrm>
            <a:off x="0" y="4823460"/>
            <a:ext cx="9144000" cy="320040"/>
          </a:xfrm>
          <a:prstGeom prst="rect">
            <a:avLst/>
          </a:prstGeom>
          <a:solidFill>
            <a:srgbClr val="2C5F2D"/>
          </a:solidFill>
          <a:ln/>
        </p:spPr>
      </p:sp>
      <p:sp>
        <p:nvSpPr>
          <p:cNvPr id="14" name="Text 12"/>
          <p:cNvSpPr/>
          <p:nvPr/>
        </p:nvSpPr>
        <p:spPr>
          <a:xfrm>
            <a:off x="457200" y="4823460"/>
            <a:ext cx="8229600" cy="32004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Day 31: Haar特征与级联分类器</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31: Haar特征与级联分类器</dc:title>
  <dc:subject>PptxGenJS Presentation</dc:subject>
  <dc:creator>CV Learning</dc:creator>
  <cp:lastModifiedBy>CV Learning</cp:lastModifiedBy>
  <cp:revision>1</cp:revision>
  <dcterms:created xsi:type="dcterms:W3CDTF">2026-06-25T05:39:16Z</dcterms:created>
  <dcterms:modified xsi:type="dcterms:W3CDTF">2026-06-25T05:39:16Z</dcterms:modified>
</cp:coreProperties>
</file>