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欢迎来到Day 80。今天我们探讨工业检测应用，这是计算机视觉在工业领域最重要的应用之一。从缺陷检测到尺寸测量，工业视觉是现代智能制造的核心技术。本次演讲将覆盖工业视觉概述、缺陷检测、尺寸测量以及PEC缺陷检测实战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本次演讲分为四个部分：工业视觉概述、缺陷检测技术、尺寸测量方法，以及PEC缺陷检测实战案例。前三部分为理论基础，最后一部分为实践应用。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工业视觉起源于20世纪50年代的模式识别研究。随着相机和计算技术的发展，机器视觉在80年代开始工业化应用，如仅2000s年数字相机普及，到2010s年代后深度学习正在彻底改变这个领域。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一个完整的机器视觉系统包括光源、镜头、相机、采集卡、图像处理软件和执行机构。每个环节都影响最终的检测精度和可靠性。硬件层决定图像质量，算法层决定检测能力，应用层决定系统集成。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传统缺陷检测方法主要依赖手工特征提取。边缘检测用Canny算子，模板匹配用NCC算法，纹理分析用GLCM或LBP特征。这些方法在特定场景下仍然有效，但泛化能力有限。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深度学习方法已成为缺陷检测的主流。CNN适合分类，YOLO适合实时检测，U-Net适合像素级分割。选择哪种方法取决于检测任务和数据量。深度学习的优势在于泛化能力强，但需要大量标注数据。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尺寸测量的核心在于边缘定位和亚像素精度。通过亚像素插值可以达到0.01像素级别的精度，配合几何拟合实现高精度测量。坐标变换将像素坐标转换为物理坐标，最后通过公差评估判定合格与否。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远心镜头消除了透视畸变，是精密测量的关键。相机标定则建立了像素坐标到物理坐标的映射关系，包括内参数、外参数和畸变系数。两者结合实现高精度尺寸测量。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PCB是电子产品的核心，其质量直接影响产品可靠性。PCB缺陷检测面临图案复杂、缺陷微小、检测速度要求高等挑战。应用场景包括SMT贴片检测、裸板AOI、引线缺陷检测等。全球市场规模持续增长。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PCB缺陷主要分为短路、断路、缺件、错件、偏移和焦点缺陷六类。每类缺陷需要不同的检测算法和策略。表格展示了每种缺陷的特征和常用检测方法。工业级PCB检测要求准确率超99.5%，误报率低于0.1%。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PCB检测系统包括图像采集、预处理、缺陷检测、结果分类和报警输出五个环节。每个环节都需要针对PCB特点进行优化。设计原则强调实时性、鲁棒性、可扩展性和可追溯性。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V模板匹配是最基础的PCB检测方法。通过TM_CCOEFF_NORMED方法可以快速定位元件位置，适合标准化程度高的检测场景。优势是速度快、无需训练，局限是不抗旋转和缩放变化。阈值设定很关键，需要根据实际场景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U-Net的编码器-解码器结构非常适合表面缺陷分割。通过跳跃连接保留细节信息，可以实现像素级的缺陷区域标注。训练时使用BCE+Dice联合损失，配合数据增强提升泛化性。在PCB划痕数据集上IoU达0.87。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YOLOv8在PCB元件检测中表现出色。其单阶段检测架构兼顾速度和精度，配合数据增强可以处理各类PCB元件。使用YOLOv8n轻量化模型，TensorRT FP16加速后可达42FPS，mAP50达0.92，满足实时检测需求。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工业视觉已广泛应用于半导体、汽车、食品等领域。未来趋势包括3D视觉、多模态融合和边缘AI部署。这些技术将进一步提升工业检测的精度、速度和智能化水平。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感谢聊听！工业视觉是计算机视觉最有价值的应用领域之一。今天我们从工业视觉概述到PCB缺陷检测实战，覆盖了传统方法与深度学习方法。继续学习，实践出真知。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132320" y="91440"/>
            <a:ext cx="1828800" cy="18288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32320" y="3108960"/>
            <a:ext cx="1828800" cy="182880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2880" y="3200400"/>
            <a:ext cx="1645920" cy="1645920"/>
          </a:xfrm>
          <a:prstGeom prst="ellipse">
            <a:avLst/>
          </a:prstGeom>
          <a:solidFill>
            <a:srgbClr val="97BC62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234440"/>
            <a:ext cx="5486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工业检测应用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Inspection Applications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计算机视觉学习之旅  ·  Computer Vision Learning Journey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4297680"/>
            <a:ext cx="228600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议程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38988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98448" y="140817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工业视觉概述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98448" y="1691640"/>
            <a:ext cx="2958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Vision Overview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43300" y="235458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8F0DC"/>
          </a:solidFill>
          <a:ln/>
        </p:spPr>
      </p:sp>
      <p:sp>
        <p:nvSpPr>
          <p:cNvPr id="12" name="Text 9"/>
          <p:cNvSpPr/>
          <p:nvPr/>
        </p:nvSpPr>
        <p:spPr>
          <a:xfrm>
            <a:off x="3543300" y="23545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P3 - P4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87468" y="1389888"/>
            <a:ext cx="502920" cy="502920"/>
          </a:xfrm>
          <a:prstGeom prst="ellipse">
            <a:avLst/>
          </a:prstGeom>
          <a:solidFill>
            <a:srgbClr val="3A7038"/>
          </a:solidFill>
          <a:ln/>
        </p:spPr>
      </p:sp>
      <p:sp>
        <p:nvSpPr>
          <p:cNvPr id="15" name="Text 12"/>
          <p:cNvSpPr/>
          <p:nvPr/>
        </p:nvSpPr>
        <p:spPr>
          <a:xfrm>
            <a:off x="4887468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27548" y="140817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缺陷检测技术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27548" y="1691640"/>
            <a:ext cx="2958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Detection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0" y="235458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8F0DC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0" y="23545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P5 - P6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" y="319582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1958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98448" y="321411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尺寸测量方法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98448" y="3497580"/>
            <a:ext cx="2958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Measurement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543300" y="416052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8F0DC"/>
          </a:solidFill>
          <a:ln/>
        </p:spPr>
      </p:sp>
      <p:sp>
        <p:nvSpPr>
          <p:cNvPr id="26" name="Text 23"/>
          <p:cNvSpPr/>
          <p:nvPr/>
        </p:nvSpPr>
        <p:spPr>
          <a:xfrm>
            <a:off x="3543300" y="4160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P7 - P8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87468" y="3195828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9" name="Text 26"/>
          <p:cNvSpPr/>
          <p:nvPr/>
        </p:nvSpPr>
        <p:spPr>
          <a:xfrm>
            <a:off x="4887468" y="31958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527548" y="321411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PCB缺陷检测实战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527548" y="3497580"/>
            <a:ext cx="2958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 Detection Practice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72400" y="416052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8F0DC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0" y="4160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P9 - P14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工业视觉概述与历史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Vision Overview &amp; History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353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什么是工业视觉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1645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Industrial Vision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1938528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利用图像采集与处理技术，实现工业自动化检测与控制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缺陷检测与识别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尺寸测量与定位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表面检查与分类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导引与装配导向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0" y="118872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1188720"/>
            <a:ext cx="457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4315968" y="1353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发展历史时间线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15968" y="1645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Timeline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43400" y="1965960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480560" y="2258568"/>
            <a:ext cx="18288" cy="329184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947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模式识别理论起源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43400" y="2587752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434340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480560" y="2880360"/>
            <a:ext cx="18288" cy="329184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25694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机器视觉产业兴起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43400" y="3209544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434340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4480560" y="3502152"/>
            <a:ext cx="18288" cy="329184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31912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数字相机与自动化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43400" y="3831336"/>
            <a:ext cx="292608" cy="29260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8" name="Text 25"/>
          <p:cNvSpPr/>
          <p:nvPr/>
        </p:nvSpPr>
        <p:spPr>
          <a:xfrm>
            <a:off x="434340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2010s+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754880" y="38130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深度学习革命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机器视觉系统架构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Vision System Architecture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1772" y="1600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87552" y="1709928"/>
            <a:ext cx="365760" cy="36576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8755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7492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光源照明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7492" y="2313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79092" y="2057400"/>
            <a:ext cx="283464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62556" y="1600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88336" y="1709928"/>
            <a:ext cx="365760" cy="36576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688336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■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08276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镜头相机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208276" y="2313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&amp; Camera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579876" y="2057400"/>
            <a:ext cx="283464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863340" y="1600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89120" y="1709928"/>
            <a:ext cx="365760" cy="36576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38912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▲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90906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图像采集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09060" y="2313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280660" y="2057400"/>
            <a:ext cx="283464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564124" y="1600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89904" y="1709928"/>
            <a:ext cx="365760" cy="36576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089904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○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609844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图像处理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609844" y="2313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81444" y="2057400"/>
            <a:ext cx="283464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264908" y="1600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790688" y="1709928"/>
            <a:ext cx="365760" cy="36576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79068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★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310628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决策控制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0628" y="2313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" y="28803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7200" y="2880360"/>
            <a:ext cx="8229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58368" y="3319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Layer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58368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光源、镜头、相机、采集卡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决定图像质量与稳定性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36976" y="3108960"/>
            <a:ext cx="13716" cy="1005840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41" name="Text 38"/>
          <p:cNvSpPr/>
          <p:nvPr/>
        </p:nvSpPr>
        <p:spPr>
          <a:xfrm>
            <a:off x="329184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算法层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3291840" y="3319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Layer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29184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预处理、特征提取、分类检测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决定检测精度与效率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870448" y="3108960"/>
            <a:ext cx="13716" cy="1005840"/>
          </a:xfrm>
          <a:prstGeom prst="rect">
            <a:avLst/>
          </a:prstGeom>
          <a:solidFill>
            <a:srgbClr val="E8F0DC"/>
          </a:solidFill>
          <a:ln/>
        </p:spPr>
      </p:sp>
      <p:sp>
        <p:nvSpPr>
          <p:cNvPr id="45" name="Text 42"/>
          <p:cNvSpPr/>
          <p:nvPr/>
        </p:nvSpPr>
        <p:spPr>
          <a:xfrm>
            <a:off x="5925312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925312" y="3319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25312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决策逻辑、控制输出、数据管理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决定系统集成与可靠性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缺陷检测：传统方法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Detection: Traditional Methods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590800" cy="2743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25908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▲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527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边缘检测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52728" y="1728216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Detection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2194560"/>
            <a:ext cx="2188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利用梯度运算提取物体边界，检测表面划痕、裂缝等缺陷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3566160"/>
            <a:ext cx="2188464" cy="274320"/>
          </a:xfrm>
          <a:prstGeom prst="roundRect">
            <a:avLst>
              <a:gd name="adj" fmla="val 16667"/>
            </a:avLst>
          </a:prstGeom>
          <a:solidFill>
            <a:srgbClr val="E8F0DC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3566160"/>
            <a:ext cx="218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Canny  ·  Sobel  ·  Prewitt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76600" y="1234440"/>
            <a:ext cx="2590800" cy="2743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76600" y="1234440"/>
            <a:ext cx="2590800" cy="54864"/>
          </a:xfrm>
          <a:prstGeom prst="rect">
            <a:avLst/>
          </a:prstGeom>
          <a:solidFill>
            <a:srgbClr val="3A7038"/>
          </a:solidFill>
          <a:ln/>
        </p:spPr>
      </p:sp>
      <p:sp>
        <p:nvSpPr>
          <p:cNvPr id="17" name="Shape 14"/>
          <p:cNvSpPr/>
          <p:nvPr/>
        </p:nvSpPr>
        <p:spPr>
          <a:xfrm>
            <a:off x="3477768" y="1481328"/>
            <a:ext cx="457200" cy="457200"/>
          </a:xfrm>
          <a:prstGeom prst="ellipse">
            <a:avLst/>
          </a:prstGeom>
          <a:solidFill>
            <a:srgbClr val="3A7038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4777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7038"/>
                </a:solidFill>
              </a:rPr>
              <a:t>■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721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模板匹配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72128" y="1728216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Matching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77768" y="2194560"/>
            <a:ext cx="2188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将标准模板与待测图像滑动匹配，找出偏差区域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7768" y="3566160"/>
            <a:ext cx="2188464" cy="274320"/>
          </a:xfrm>
          <a:prstGeom prst="roundRect">
            <a:avLst>
              <a:gd name="adj" fmla="val 16667"/>
            </a:avLst>
          </a:prstGeom>
          <a:solidFill>
            <a:srgbClr val="E8F0DC"/>
          </a:solidFill>
          <a:ln/>
        </p:spPr>
      </p:sp>
      <p:sp>
        <p:nvSpPr>
          <p:cNvPr id="23" name="Text 20"/>
          <p:cNvSpPr/>
          <p:nvPr/>
        </p:nvSpPr>
        <p:spPr>
          <a:xfrm>
            <a:off x="3477768" y="3566160"/>
            <a:ext cx="218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NCC  ·  SSD  ·  SAD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96000" y="1234440"/>
            <a:ext cx="2590800" cy="2743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96000" y="1234440"/>
            <a:ext cx="2590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Shape 23"/>
          <p:cNvSpPr/>
          <p:nvPr/>
        </p:nvSpPr>
        <p:spPr>
          <a:xfrm>
            <a:off x="6297168" y="1481328"/>
            <a:ext cx="457200" cy="45720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971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○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915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纹理分析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91528" y="1728216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 Analysis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97168" y="2194560"/>
            <a:ext cx="2188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统计纹理特征参数，检测表面纹理异常区域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97168" y="3566160"/>
            <a:ext cx="2188464" cy="274320"/>
          </a:xfrm>
          <a:prstGeom prst="roundRect">
            <a:avLst>
              <a:gd name="adj" fmla="val 16667"/>
            </a:avLst>
          </a:prstGeom>
          <a:solidFill>
            <a:srgbClr val="E8F0DC"/>
          </a:solidFill>
          <a:ln/>
        </p:spPr>
      </p:sp>
      <p:sp>
        <p:nvSpPr>
          <p:cNvPr id="32" name="Text 29"/>
          <p:cNvSpPr/>
          <p:nvPr/>
        </p:nvSpPr>
        <p:spPr>
          <a:xfrm>
            <a:off x="6297168" y="3566160"/>
            <a:ext cx="218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GLCM  ·  LBP  ·  Gabor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：速度快、可解释性强    </a:t>
            </a:r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：泛化能力差、依赖人工设计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缺陷检测：深度学习方法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Detection: Deep Learning Methods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590800" cy="2743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25908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527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CNN分类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52728" y="1728216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Classification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2194560"/>
            <a:ext cx="2188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将缺陷检测转化为分类任务，判断图像是否存在缺陷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3566160"/>
            <a:ext cx="2188464" cy="274320"/>
          </a:xfrm>
          <a:prstGeom prst="roundRect">
            <a:avLst>
              <a:gd name="adj" fmla="val 16667"/>
            </a:avLst>
          </a:prstGeom>
          <a:solidFill>
            <a:srgbClr val="E8F0DC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3566160"/>
            <a:ext cx="218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  ·  VGG  ·  EfficientNet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76600" y="1234440"/>
            <a:ext cx="2590800" cy="2743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76600" y="1234440"/>
            <a:ext cx="2590800" cy="54864"/>
          </a:xfrm>
          <a:prstGeom prst="rect">
            <a:avLst/>
          </a:prstGeom>
          <a:solidFill>
            <a:srgbClr val="3A7038"/>
          </a:solidFill>
          <a:ln/>
        </p:spPr>
      </p:sp>
      <p:sp>
        <p:nvSpPr>
          <p:cNvPr id="17" name="Shape 14"/>
          <p:cNvSpPr/>
          <p:nvPr/>
        </p:nvSpPr>
        <p:spPr>
          <a:xfrm>
            <a:off x="3477768" y="1481328"/>
            <a:ext cx="457200" cy="457200"/>
          </a:xfrm>
          <a:prstGeom prst="ellipse">
            <a:avLst/>
          </a:prstGeom>
          <a:solidFill>
            <a:srgbClr val="3A7038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4777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7038"/>
                </a:solidFill>
              </a:rPr>
              <a:t>■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721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YOLO检测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72128" y="1728216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Detection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77768" y="2194560"/>
            <a:ext cx="2188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实时目标检测，定位缺陷位置与类别，适合在线检测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77768" y="3566160"/>
            <a:ext cx="2188464" cy="274320"/>
          </a:xfrm>
          <a:prstGeom prst="roundRect">
            <a:avLst>
              <a:gd name="adj" fmla="val 16667"/>
            </a:avLst>
          </a:prstGeom>
          <a:solidFill>
            <a:srgbClr val="E8F0DC"/>
          </a:solidFill>
          <a:ln/>
        </p:spPr>
      </p:sp>
      <p:sp>
        <p:nvSpPr>
          <p:cNvPr id="23" name="Text 20"/>
          <p:cNvSpPr/>
          <p:nvPr/>
        </p:nvSpPr>
        <p:spPr>
          <a:xfrm>
            <a:off x="3477768" y="3566160"/>
            <a:ext cx="218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  ·  SSD  ·  RetinaNet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96000" y="1234440"/>
            <a:ext cx="2590800" cy="2743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96000" y="1234440"/>
            <a:ext cx="2590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Shape 23"/>
          <p:cNvSpPr/>
          <p:nvPr/>
        </p:nvSpPr>
        <p:spPr>
          <a:xfrm>
            <a:off x="6297168" y="1481328"/>
            <a:ext cx="457200" cy="457200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971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▲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915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U-Net分割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91528" y="1728216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Segmentation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97168" y="2194560"/>
            <a:ext cx="2188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像素级缺陷分割，精确标注缺陷区域边界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97168" y="3566160"/>
            <a:ext cx="2188464" cy="274320"/>
          </a:xfrm>
          <a:prstGeom prst="roundRect">
            <a:avLst>
              <a:gd name="adj" fmla="val 16667"/>
            </a:avLst>
          </a:prstGeom>
          <a:solidFill>
            <a:srgbClr val="E8F0DC"/>
          </a:solidFill>
          <a:ln/>
        </p:spPr>
      </p:sp>
      <p:sp>
        <p:nvSpPr>
          <p:cNvPr id="32" name="Text 29"/>
          <p:cNvSpPr/>
          <p:nvPr/>
        </p:nvSpPr>
        <p:spPr>
          <a:xfrm>
            <a:off x="6297168" y="3566160"/>
            <a:ext cx="218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U-Net  ·  DeepLab  ·  Mask R-CNN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：泛化强、端到端检测    </a:t>
            </a:r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：需大量标注数据、计算资源要求高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尺寸测量核心技术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Measurement Technologies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005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389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61288" y="1389888"/>
            <a:ext cx="3095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边缘定位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61288" y="1645920"/>
            <a:ext cx="3095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Localization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" y="1965960"/>
            <a:ext cx="3598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亚像素插值达到0.01px精度，精准定位物体边界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86300" y="1188720"/>
            <a:ext cx="40005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6300" y="1188720"/>
            <a:ext cx="54864" cy="1554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1"/>
          <p:cNvSpPr/>
          <p:nvPr/>
        </p:nvSpPr>
        <p:spPr>
          <a:xfrm>
            <a:off x="4887468" y="1389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90388" y="1389888"/>
            <a:ext cx="3095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几何拟合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90388" y="1645920"/>
            <a:ext cx="3095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Fitting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87468" y="1965960"/>
            <a:ext cx="3598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直线、圆、椭圆拟合，计算尺寸与形状参数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971800"/>
            <a:ext cx="40005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971800"/>
            <a:ext cx="54864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61288" y="3172968"/>
            <a:ext cx="3095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坐标变换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61288" y="3429000"/>
            <a:ext cx="3095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 Transform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" y="3749040"/>
            <a:ext cx="3598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像素坐标到世界坐标映射，实现真实尺寸测量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86300" y="2971800"/>
            <a:ext cx="40005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86300" y="2971800"/>
            <a:ext cx="54864" cy="1554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3"/>
          <p:cNvSpPr/>
          <p:nvPr/>
        </p:nvSpPr>
        <p:spPr>
          <a:xfrm>
            <a:off x="4887468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390388" y="3172968"/>
            <a:ext cx="3095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公差评估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390388" y="3429000"/>
            <a:ext cx="3095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Tolerance Evaluation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87468" y="3749040"/>
            <a:ext cx="3598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对比设计标准，判定合格与否，生成质量报告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远心成像与相机标定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Telecentric Imaging &amp; Camera Calibration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77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39776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389888"/>
            <a:ext cx="411480" cy="411480"/>
          </a:xfrm>
          <a:prstGeom prst="ellipse">
            <a:avLst/>
          </a:prstGeom>
          <a:solidFill>
            <a:srgbClr val="2C5F2D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88720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远心成像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88720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Telecentric Imaging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1938528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消除透视畸变，放大倍率恒定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深度变化不影响成像大小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适合高精度尺寸测量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精密零件尺寸检测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PCB引线宽度测量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188720"/>
            <a:ext cx="3977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188720"/>
            <a:ext cx="39776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Shape 12"/>
          <p:cNvSpPr/>
          <p:nvPr/>
        </p:nvSpPr>
        <p:spPr>
          <a:xfrm>
            <a:off x="4910328" y="1389888"/>
            <a:ext cx="411480" cy="41148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91032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■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40680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相机标定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40680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Calibration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10328" y="1938528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标定参数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内参数：焦距、主点、畸变系数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外参数：旋转、平移矩阵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畸变系数：镜头畸变修正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常用方法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Zhang标定法（沿棋盘）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手眼标定法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PCB缺陷检测背景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 Defect Detection Background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25908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527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行业背景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52728" y="1737360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Background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2194560"/>
            <a:ext cx="2188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PCB是电子产品的核心基础，其质量直接影响产品可靠性。随着电子产业快速发展，PCB检测需求日益增长。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766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76600" y="1234440"/>
            <a:ext cx="2590800" cy="54864"/>
          </a:xfrm>
          <a:prstGeom prst="rect">
            <a:avLst/>
          </a:prstGeom>
          <a:solidFill>
            <a:srgbClr val="3A7038"/>
          </a:solidFill>
          <a:ln/>
        </p:spPr>
      </p:sp>
      <p:sp>
        <p:nvSpPr>
          <p:cNvPr id="15" name="Shape 12"/>
          <p:cNvSpPr/>
          <p:nvPr/>
        </p:nvSpPr>
        <p:spPr>
          <a:xfrm>
            <a:off x="3477768" y="1481328"/>
            <a:ext cx="457200" cy="457200"/>
          </a:xfrm>
          <a:prstGeom prst="ellipse">
            <a:avLst/>
          </a:prstGeom>
          <a:solidFill>
            <a:srgbClr val="3A7038"/>
          </a:solidFill>
          <a:ln/>
        </p:spPr>
      </p:sp>
      <p:sp>
        <p:nvSpPr>
          <p:cNvPr id="16" name="Text 13"/>
          <p:cNvSpPr/>
          <p:nvPr/>
        </p:nvSpPr>
        <p:spPr>
          <a:xfrm>
            <a:off x="34777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721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检测挑战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072128" y="1737360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Challenges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77768" y="2194560"/>
            <a:ext cx="2188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图案复杂、缺陷微小（十微米级）、检测速度要求高、缺陷样本不均衡。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96000" y="123444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96000" y="1234440"/>
            <a:ext cx="2590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Shape 19"/>
          <p:cNvSpPr/>
          <p:nvPr/>
        </p:nvSpPr>
        <p:spPr>
          <a:xfrm>
            <a:off x="6297168" y="148132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62971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91528" y="1481328"/>
            <a:ext cx="159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应用场景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91528" y="1737360"/>
            <a:ext cx="1594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Scenarios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97168" y="2194560"/>
            <a:ext cx="2188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SMT贴片检测、裸板AOI检测、焦点检测、引线缺陷检测等多个环节。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：全球PCB AOI市场预计2027年达45亿美元，年复合增长率超17%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PCB缺陷类型一览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 Defect Types Overview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7432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缺陷类型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English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特征描述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检测方法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短路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A5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Short Circuit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非预期导通连接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图像差分 / 形态学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断路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A5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 Circuit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线路断裂或缺失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边缘检测 / 连通性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A5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Missing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元器未贴装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模板匹配 / YOLO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A5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Wrong Part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元器型号错误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特征匹配 / 分类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A5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Misalignment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元器位置偏差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模板匹配 / 检测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焦点缺陷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A5A4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Solder Defect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焊点不良或虚焊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图像分割 / 分类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D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关键指标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：检测准确率 &gt; 99.5%    误报率 &lt; 0.1%    处理速度 &gt; 10张/秒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PCB检测系统流程设计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PCB Detection System Flow Design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28700" y="1554480"/>
            <a:ext cx="320040" cy="320040"/>
          </a:xfrm>
          <a:prstGeom prst="ellipse">
            <a:avLst/>
          </a:prstGeom>
          <a:solidFill>
            <a:srgbClr val="1A3320"/>
          </a:solidFill>
          <a:ln/>
        </p:spPr>
      </p:sp>
      <p:sp>
        <p:nvSpPr>
          <p:cNvPr id="8" name="Text 5"/>
          <p:cNvSpPr/>
          <p:nvPr/>
        </p:nvSpPr>
        <p:spPr>
          <a:xfrm>
            <a:off x="10287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图像采集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121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高分辨相机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均匀光照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874520" y="2011680"/>
            <a:ext cx="3200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194560" y="14630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20340" y="1554480"/>
            <a:ext cx="320040" cy="320040"/>
          </a:xfrm>
          <a:prstGeom prst="ellipse">
            <a:avLst/>
          </a:prstGeom>
          <a:solidFill>
            <a:srgbClr val="1A3320"/>
          </a:solidFill>
          <a:ln/>
        </p:spPr>
      </p:sp>
      <p:sp>
        <p:nvSpPr>
          <p:cNvPr id="15" name="Text 12"/>
          <p:cNvSpPr/>
          <p:nvPr/>
        </p:nvSpPr>
        <p:spPr>
          <a:xfrm>
            <a:off x="27203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24028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预处理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240280" y="2121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24028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去噪、增强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二值化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566160" y="2011680"/>
            <a:ext cx="3200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886200" y="14630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11980" y="1554480"/>
            <a:ext cx="320040" cy="320040"/>
          </a:xfrm>
          <a:prstGeom prst="ellipse">
            <a:avLst/>
          </a:prstGeom>
          <a:solidFill>
            <a:srgbClr val="1A3320"/>
          </a:solidFill>
          <a:ln/>
        </p:spPr>
      </p:sp>
      <p:sp>
        <p:nvSpPr>
          <p:cNvPr id="22" name="Text 19"/>
          <p:cNvSpPr/>
          <p:nvPr/>
        </p:nvSpPr>
        <p:spPr>
          <a:xfrm>
            <a:off x="441198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3192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缺陷检测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931920" y="2121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9319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算法检测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YOLO / U-Net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257800" y="2011680"/>
            <a:ext cx="3200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577840" y="14630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03620" y="1554480"/>
            <a:ext cx="320040" cy="320040"/>
          </a:xfrm>
          <a:prstGeom prst="ellipse">
            <a:avLst/>
          </a:prstGeom>
          <a:solidFill>
            <a:srgbClr val="1A3320"/>
          </a:solidFill>
          <a:ln/>
        </p:spPr>
      </p:sp>
      <p:sp>
        <p:nvSpPr>
          <p:cNvPr id="29" name="Text 26"/>
          <p:cNvSpPr/>
          <p:nvPr/>
        </p:nvSpPr>
        <p:spPr>
          <a:xfrm>
            <a:off x="61036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2356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结果分类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623560" y="2121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2356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缺陷分类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严重级别判定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6949440" y="2011680"/>
            <a:ext cx="3200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269480" y="14630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795260" y="1554480"/>
            <a:ext cx="320040" cy="320040"/>
          </a:xfrm>
          <a:prstGeom prst="ellipse">
            <a:avLst/>
          </a:prstGeom>
          <a:solidFill>
            <a:srgbClr val="1A3320"/>
          </a:solidFill>
          <a:ln/>
        </p:spPr>
      </p:sp>
      <p:sp>
        <p:nvSpPr>
          <p:cNvPr id="36" name="Text 33"/>
          <p:cNvSpPr/>
          <p:nvPr/>
        </p:nvSpPr>
        <p:spPr>
          <a:xfrm>
            <a:off x="77952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31520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报警输出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315200" y="2121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Output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31520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标记定位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实时报警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57200" y="2880360"/>
            <a:ext cx="8229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2" name="Text 39"/>
          <p:cNvSpPr/>
          <p:nvPr/>
        </p:nvSpPr>
        <p:spPr>
          <a:xfrm>
            <a:off x="658368" y="3044952"/>
            <a:ext cx="7827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设计原则  |  Design Principles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85800" y="3429000"/>
            <a:ext cx="1851660" cy="320040"/>
          </a:xfrm>
          <a:prstGeom prst="roundRect">
            <a:avLst>
              <a:gd name="adj" fmla="val 14286"/>
            </a:avLst>
          </a:prstGeom>
          <a:solidFill>
            <a:srgbClr val="E8F0DC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" y="3429000"/>
            <a:ext cx="185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实时性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85800" y="3794760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处理延迟 &lt; 100ms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628900" y="3429000"/>
            <a:ext cx="1851660" cy="320040"/>
          </a:xfrm>
          <a:prstGeom prst="roundRect">
            <a:avLst>
              <a:gd name="adj" fmla="val 14286"/>
            </a:avLst>
          </a:prstGeom>
          <a:solidFill>
            <a:srgbClr val="E8F0DC"/>
          </a:solidFill>
          <a:ln/>
        </p:spPr>
      </p:sp>
      <p:sp>
        <p:nvSpPr>
          <p:cNvPr id="47" name="Text 44"/>
          <p:cNvSpPr/>
          <p:nvPr/>
        </p:nvSpPr>
        <p:spPr>
          <a:xfrm>
            <a:off x="2628900" y="3429000"/>
            <a:ext cx="185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鲁棒性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628900" y="3794760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抗噪声、抗光变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572000" y="3429000"/>
            <a:ext cx="1851660" cy="320040"/>
          </a:xfrm>
          <a:prstGeom prst="roundRect">
            <a:avLst>
              <a:gd name="adj" fmla="val 14286"/>
            </a:avLst>
          </a:prstGeom>
          <a:solidFill>
            <a:srgbClr val="E8F0DC"/>
          </a:solidFill>
          <a:ln/>
        </p:spPr>
      </p:sp>
      <p:sp>
        <p:nvSpPr>
          <p:cNvPr id="50" name="Text 47"/>
          <p:cNvSpPr/>
          <p:nvPr/>
        </p:nvSpPr>
        <p:spPr>
          <a:xfrm>
            <a:off x="4572000" y="3429000"/>
            <a:ext cx="185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可扩展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572000" y="3794760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支持多产品线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515100" y="3429000"/>
            <a:ext cx="1851660" cy="320040"/>
          </a:xfrm>
          <a:prstGeom prst="roundRect">
            <a:avLst>
              <a:gd name="adj" fmla="val 14286"/>
            </a:avLst>
          </a:prstGeom>
          <a:solidFill>
            <a:srgbClr val="E8F0DC"/>
          </a:solidFill>
          <a:ln/>
        </p:spPr>
      </p:sp>
      <p:sp>
        <p:nvSpPr>
          <p:cNvPr id="53" name="Text 50"/>
          <p:cNvSpPr/>
          <p:nvPr/>
        </p:nvSpPr>
        <p:spPr>
          <a:xfrm>
            <a:off x="6515100" y="3429000"/>
            <a:ext cx="1851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可追溯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515100" y="3794760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图像与结果存档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技术栃：</a:t>
            </a:r>
            <a:pPr algn="ctr"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PyTorch + TensorRT + C++ 部署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  <p:sp>
        <p:nvSpPr>
          <p:cNvPr id="5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实战：OpenCV模板匹配检测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Practice: OpenCV Template Matching Detection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754880" cy="3337560"/>
          </a:xfrm>
          <a:prstGeom prst="roundRect">
            <a:avLst>
              <a:gd name="adj" fmla="val 2192"/>
            </a:avLst>
          </a:prstGeom>
          <a:solidFill>
            <a:srgbClr val="1A3320"/>
          </a:solidFill>
          <a:ln/>
          <a:effectLst>
            <a:outerShdw sx="100000" sy="100000" kx="0" ky="0" algn="bl" rotWithShape="0" blurRad="203200" dist="762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4754880" cy="320040"/>
          </a:xfrm>
          <a:prstGeom prst="rect">
            <a:avLst/>
          </a:prstGeom>
          <a:solidFill>
            <a:srgbClr val="0D1F10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29844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129844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7"/>
          <p:cNvSpPr/>
          <p:nvPr/>
        </p:nvSpPr>
        <p:spPr>
          <a:xfrm>
            <a:off x="905256" y="129844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1261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template_match.py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572768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images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cv2.imread('pcb.png')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tmpl = cv2.imread('template.png')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Template matching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cv2.matchTemplate(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img, tmpl,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cv2.TM_CCOEFF_NORMED)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&amp; locate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 = np.where(res &gt;= 0.85)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pt in zip(*loc[::-1]):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cv2.rectangle(img, pt,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(pt[0]+w, pt[1]+h),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(0,255,0), 2)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94960" y="118872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1188720"/>
            <a:ext cx="32918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5596128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实现要点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96128" y="16276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96128" y="18745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匹配方法选择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TM_CCOEFF_NORMED 最佳泛化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对亮度变化不敏感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阈值设定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0.80-0.90 常用范围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过高漏检，过低误报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优势与局限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速度快，无需训练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不抗旋转与缩放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实战：U-Net表面缺陷分割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Practice: U-Net Surface Defect Segmentation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3000" y="1280160"/>
            <a:ext cx="1005840" cy="777240"/>
          </a:xfrm>
          <a:prstGeom prst="roundRect">
            <a:avLst>
              <a:gd name="adj" fmla="val 11765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88720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256x256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148840" y="1668780"/>
            <a:ext cx="228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377440" y="128016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2316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编码器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23160" y="1664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23160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Conv+Pool x3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749040" y="1668780"/>
            <a:ext cx="228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977640" y="12801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02336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瓶颈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023360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02336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x2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166360" y="1668780"/>
            <a:ext cx="228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394960" y="128016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4068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解码器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40680" y="1664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440680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UpConv+Conv x3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6766560" y="1668780"/>
            <a:ext cx="228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995160" y="1280160"/>
            <a:ext cx="1005840" cy="777240"/>
          </a:xfrm>
          <a:prstGeom prst="roundRect">
            <a:avLst>
              <a:gd name="adj" fmla="val 11765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4088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040880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040880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1ch Mask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⎩ Skip Connections: 保留细节信息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2514600"/>
            <a:ext cx="40005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" y="251460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" y="2679192"/>
            <a:ext cx="3598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训练配置  |  Training Config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58368" y="2990088"/>
            <a:ext cx="35981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损失函数：BCE + Dice Loss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优化器：Adam (lr=1e-4)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Size: 8  |  Epochs: 100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数据增强：旋转、缩放、噪声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86300" y="2514600"/>
            <a:ext cx="40005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86300" y="251460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7" name="Text 34"/>
          <p:cNvSpPr/>
          <p:nvPr/>
        </p:nvSpPr>
        <p:spPr>
          <a:xfrm>
            <a:off x="4887468" y="2679192"/>
            <a:ext cx="3598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评估指标  |  Metrics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887468" y="301752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39" name="Text 36"/>
          <p:cNvSpPr/>
          <p:nvPr/>
        </p:nvSpPr>
        <p:spPr>
          <a:xfrm>
            <a:off x="4887468" y="301752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887468" y="333756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791581" y="301752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42" name="Text 39"/>
          <p:cNvSpPr/>
          <p:nvPr/>
        </p:nvSpPr>
        <p:spPr>
          <a:xfrm>
            <a:off x="5791581" y="301752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791581" y="333756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695694" y="301752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45" name="Text 42"/>
          <p:cNvSpPr/>
          <p:nvPr/>
        </p:nvSpPr>
        <p:spPr>
          <a:xfrm>
            <a:off x="6695694" y="301752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695694" y="333756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599807" y="301752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48" name="Text 45"/>
          <p:cNvSpPr/>
          <p:nvPr/>
        </p:nvSpPr>
        <p:spPr>
          <a:xfrm>
            <a:off x="7599807" y="301752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599807" y="333756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887468" y="3611880"/>
            <a:ext cx="359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在PCB划痕数据集上训练结果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  <p:sp>
        <p:nvSpPr>
          <p:cNvPr id="5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实战：YOLOv8 PCB元件检测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Practice: YOLOv8 PCB Component Detection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28700" y="1234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7442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442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44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标注图像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91740" y="1691640"/>
            <a:ext cx="4114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903220" y="1234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3A7038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4894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模型训练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4894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489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epochs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66260" y="1691640"/>
            <a:ext cx="4114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777740" y="1234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2346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推理检测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2346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2346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实时检测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 FPS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240780" y="1691640"/>
            <a:ext cx="4114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652260" y="1234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9798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后处理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9798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6979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NMS去重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置信度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2423160"/>
            <a:ext cx="40005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242316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2587752"/>
            <a:ext cx="3598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训练配置  |  Training Setup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58368" y="2898648"/>
            <a:ext cx="35981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模型：YOLOv8n （轻量化）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类别：电容/电阻/IC/插座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输入：640x640  |  Batch: 16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增强：Mosaic + MixUp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部署：TensorRT FP16加速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86300" y="2423160"/>
            <a:ext cx="40005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86300" y="242316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8"/>
          <p:cNvSpPr/>
          <p:nvPr/>
        </p:nvSpPr>
        <p:spPr>
          <a:xfrm>
            <a:off x="4887468" y="2587752"/>
            <a:ext cx="3598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检测结果  |  Results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887468" y="292608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33" name="Text 30"/>
          <p:cNvSpPr/>
          <p:nvPr/>
        </p:nvSpPr>
        <p:spPr>
          <a:xfrm>
            <a:off x="4887468" y="292608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887468" y="324612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791581" y="292608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36" name="Text 33"/>
          <p:cNvSpPr/>
          <p:nvPr/>
        </p:nvSpPr>
        <p:spPr>
          <a:xfrm>
            <a:off x="5791581" y="292608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791581" y="324612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695694" y="292608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39" name="Text 36"/>
          <p:cNvSpPr/>
          <p:nvPr/>
        </p:nvSpPr>
        <p:spPr>
          <a:xfrm>
            <a:off x="6695694" y="292608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6695694" y="324612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599807" y="2926080"/>
            <a:ext cx="885825" cy="502920"/>
          </a:xfrm>
          <a:prstGeom prst="roundRect">
            <a:avLst>
              <a:gd name="adj" fmla="val 10909"/>
            </a:avLst>
          </a:prstGeom>
          <a:solidFill>
            <a:srgbClr val="E8F0DC"/>
          </a:solidFill>
          <a:ln/>
        </p:spPr>
      </p:sp>
      <p:sp>
        <p:nvSpPr>
          <p:cNvPr id="42" name="Text 39"/>
          <p:cNvSpPr/>
          <p:nvPr/>
        </p:nvSpPr>
        <p:spPr>
          <a:xfrm>
            <a:off x="7599807" y="2926080"/>
            <a:ext cx="885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3.2M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599807" y="3246120"/>
            <a:ext cx="885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887468" y="3520440"/>
            <a:ext cx="359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在自建PCB元件数据集上的检测性能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92608"/>
            <a:ext cx="64008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77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应用案例与未来展望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4A5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&amp; Future Outlook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应用案例  |  Application Cases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847088"/>
            <a:ext cx="420624" cy="420624"/>
          </a:xfrm>
          <a:prstGeom prst="ellipse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1755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半导体晉圆检测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微米级缺陷，深度学习+超高分辨成像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5786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2779776"/>
            <a:ext cx="420624" cy="420624"/>
          </a:xfrm>
          <a:prstGeom prst="ellipse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汽车零部件检测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表面划痕、孔洞、边缘缺陷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511296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3712464"/>
            <a:ext cx="420624" cy="420624"/>
          </a:xfrm>
          <a:prstGeom prst="ellipse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43000" y="3621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食品包装检测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43000" y="3877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密封性、标签位置、异物识别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114300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未来趋势  |  Future Trends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16459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92040" y="1847088"/>
            <a:ext cx="420624" cy="420624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440680" y="1755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3D视觉检测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406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结构光、双目立体成像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25786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92040" y="2779776"/>
            <a:ext cx="420624" cy="420624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89204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4068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多模态融合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4068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可见光 + 红外 + 3D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4880" y="3511296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92040" y="3712464"/>
            <a:ext cx="420624" cy="420624"/>
          </a:xfrm>
          <a:prstGeom prst="ellipse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489204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440680" y="3621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边缘AI部署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440680" y="3877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嵌入式推理，低延迟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|  Industrial Inspection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772400" y="47960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" y="182880"/>
            <a:ext cx="1828800" cy="18288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32320" y="3108960"/>
            <a:ext cx="1828800" cy="182880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132320" y="182880"/>
            <a:ext cx="1645920" cy="164592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114800" y="1463040"/>
            <a:ext cx="9144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 ·  工业检测应用  ·  Industrial Inspection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0" y="3931920"/>
            <a:ext cx="182880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继续学习  ·  Keep Learning</a:t>
            </a:r>
            <a:endParaRPr lang="en-US" sz="11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80: Industrial Inspection Applications</dc:title>
  <dc:subject>PptxGenJS Presentation</dc:subject>
  <dc:creator>CV Learning Journey</dc:creator>
  <cp:lastModifiedBy>CV Learning Journey</cp:lastModifiedBy>
  <cp:revision>1</cp:revision>
  <dcterms:created xsi:type="dcterms:W3CDTF">2026-08-13T05:27:34Z</dcterms:created>
  <dcterms:modified xsi:type="dcterms:W3CDTF">2026-08-13T05:27:34Z</dcterms:modified>
</cp:coreProperties>
</file>