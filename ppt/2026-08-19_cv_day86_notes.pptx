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5F2D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2C5F2D"/>
                </a:solidFill>
                <a:latin typeface="Georgia"/>
              </a:rPr>
              <a:t>ResNet-18 on CIFAR-10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Crop+Flip</c:v>
                  </c:pt>
                  <c:pt idx="2">
                    <c:v>+Color</c:v>
                  </c:pt>
                  <c:pt idx="3">
                    <c:v>+MixUp</c:v>
                  </c:pt>
                  <c:pt idx="4">
                    <c:v>+CutMix</c:v>
                  </c:pt>
                  <c:pt idx="5">
                    <c:v>AutoAug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84.2</c:v>
                </c:pt>
                <c:pt idx="1">
                  <c:v>91.8</c:v>
                </c:pt>
                <c:pt idx="2">
                  <c:v>92.5</c:v>
                </c:pt>
                <c:pt idx="3">
                  <c:v>93.4</c:v>
                </c:pt>
                <c:pt idx="4">
                  <c:v>94.1</c:v>
                </c:pt>
                <c:pt idx="5">
                  <c:v>94.3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5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A2F1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463040"/>
            <a:ext cx="137160" cy="2560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86 / 100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8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数据增强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Augmentation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让有限数据发挥无限价值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320540"/>
            <a:ext cx="9144000" cy="457200"/>
          </a:xfrm>
          <a:prstGeom prst="rect">
            <a:avLst/>
          </a:prstGeom>
          <a:solidFill>
            <a:srgbClr val="1A2F1A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3662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计算机视觉100天学习计划  |  2026-08-19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25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今日学习目标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什么是数据增强？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0939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为什么需要数据增强？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4780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传统增强：几何变换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8620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传统增强：颜色变换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传统增强：噪声与模糊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630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MixUp：原理与公式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0142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MixUp：效果与代码实践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3982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CutMix：原理与公式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325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CutMix：与MixUp对比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7099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AutoAugment：自动搜索策略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0939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RandAugment与TrivialAugment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4780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增强策略选择指南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8620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经典实验结果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246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科学家故事：Alex Krizhevsky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630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实战建议与注意事项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0142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思考题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43982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下节预告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0" y="73152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今日学习目标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197864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978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170432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理解数据增强的核心概念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44475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掌握定义、数学公式及在深度学习中的作用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37944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93852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385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1911096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掌握传统增强方法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185416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几何变换、颜色变换、噪声注入的原理与实现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2679192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679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651760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深入MixUp与CutMix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29260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理解样本间混合增强的数学原理与差异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19272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419856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419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392424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了解自动增强策略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366674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AutoAugment、RandAugment的搜索与简化思想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059936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416052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160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4133088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具备策略选择能力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34440" y="440740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针对不同CV任务选择合适的增强策略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什么是数据增强？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Augmentation?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262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数据增强（Data Augmentation）是指在保持图像语义标签不变的前提下，通过对原始图像施加一系列变换来生成新训练样本的技术。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它是缓解深度学习模型过拟合（Overfitting）、提升泛化能力（Generalization）的最经济有效的手段之一。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核心公式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703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 = T(x; theta),  s.t.  y(x') = y(x)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160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 T 表示变换函数，theta 为随机参数，y 为标签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66360" y="10972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949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1783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保持标签不变：变换后图像的语义含义与原图一致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24688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随机性：参数 theta 通常随机采样，保证多样性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31546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在线生成：通常在训练时实时变换，不额外存储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38404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可组合：多种变换可以串联或并联使用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为什么需要数据增强？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vs Generalization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过拟合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828800"/>
            <a:ext cx="548640" cy="0"/>
          </a:xfrm>
          <a:prstGeom prst="line">
            <a:avLst/>
          </a:prstGeom>
          <a:noFill/>
          <a:ln w="25400">
            <a:solidFill>
              <a:srgbClr val="5A6B5B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743200" y="10515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数据不足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有限数据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0" y="1828800"/>
            <a:ext cx="548640" cy="0"/>
          </a:xfrm>
          <a:prstGeom prst="line">
            <a:avLst/>
          </a:prstGeom>
          <a:noFill/>
          <a:ln w="25400">
            <a:solidFill>
              <a:srgbClr val="5A6B5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303520" y="10515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数据增强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3716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泛化能力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2621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880360"/>
            <a:ext cx="2164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3291840"/>
            <a:ext cx="216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模型在训练集表现好，但在测试集/真实场景表现差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61360" y="2651760"/>
            <a:ext cx="2621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89960" y="2880360"/>
            <a:ext cx="2164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原因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89960" y="3291840"/>
            <a:ext cx="216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训练数据量有限，模型记住了样本细节而非学到通用特征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65520" y="2651760"/>
            <a:ext cx="2621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94120" y="2880360"/>
            <a:ext cx="2164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解决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94120" y="3291840"/>
            <a:ext cx="216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通过变换扩充有效训练样本，迫使模型学习不变性特征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传统增强：几何变换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Transformations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随机裁剪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361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Crop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随机截取子区域并缩放至目标尺寸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RandomResizedCrop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0972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09728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水平/垂直翻转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15361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沿水平或垂直轴镜像翻转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2606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RandomHorizontalFlip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9728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5361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按随机角度旋转图像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606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RandomRotation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10972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09728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仿射变换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95160" y="15361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平移、缩放、旋转、剪切的组合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2606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warpAffine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97BC62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886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提示：几何变换的核心是保持语义不变性。例如，随机裁剪假设物体的主要部分仍在裁剪区域内；翻转假设物体没有左右方向性（如数字6/9不可用）。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传统增强：颜色变换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Transformations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005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25880"/>
            <a:ext cx="320040" cy="3200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325880"/>
            <a:ext cx="30861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亮度调整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35433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35433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改变图像整体明暗程度，模拟不同光照条件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313432"/>
            <a:ext cx="35433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典型范围: [0.5, 1.5]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6300" y="1097280"/>
            <a:ext cx="40005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4900" y="132588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372100" y="1325880"/>
            <a:ext cx="30861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对比度调整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4900" y="1737360"/>
            <a:ext cx="35433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4900" y="2057400"/>
            <a:ext cx="35433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增强或降低像素间的差异程度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4900" y="2313432"/>
            <a:ext cx="35433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典型范围: [0.5, 1.5]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40005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01752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017520"/>
            <a:ext cx="30861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饱和度调整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3429000"/>
            <a:ext cx="35433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749040"/>
            <a:ext cx="35433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改变色彩鲜艳程度，低饱和接近灰度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005072"/>
            <a:ext cx="35433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典型范围: [0, 2]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86300" y="2788920"/>
            <a:ext cx="40005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4900" y="3017520"/>
            <a:ext cx="320040" cy="320040"/>
          </a:xfrm>
          <a:prstGeom prst="ellipse">
            <a:avLst/>
          </a:prstGeom>
          <a:solidFill>
            <a:srgbClr val="8B8B8B"/>
          </a:solidFill>
          <a:ln/>
        </p:spPr>
      </p:sp>
      <p:sp>
        <p:nvSpPr>
          <p:cNvPr id="25" name="Text 23"/>
          <p:cNvSpPr/>
          <p:nvPr/>
        </p:nvSpPr>
        <p:spPr>
          <a:xfrm>
            <a:off x="5372100" y="3017520"/>
            <a:ext cx="30861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灰度化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14900" y="3429000"/>
            <a:ext cx="35433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4900" y="3749040"/>
            <a:ext cx="35433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将彩色图转为单通道灰度图，降低颜色依赖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4900" y="4005072"/>
            <a:ext cx="35433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典型范围: p = 0.1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传统增强：噪声与模糊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&amp; Blur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5020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566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高斯噪声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模拟传感器噪声或传输过程中的随机干扰。对每个像素添加服从正态分布 N(0, sigma^2) 的随机值。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应用场景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低光照环境下的图像增强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提升模型对压缩伪影的鲁棒性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模拟老旧/低质量摄像头采集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36592" y="1097280"/>
            <a:ext cx="395020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1097280"/>
            <a:ext cx="73152" cy="3566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高斯模糊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65192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5192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模拟失焦或运动模糊效果。使用高斯核对图像进行卷积，标准差 sigma 控制模糊程度。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5192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应用场景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65192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提升模型对轻微失焦的容忍度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65192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模拟浅景深摄影效果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65192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降低模型对高频纹理的过拟合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MixUp：原理与公式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MixUp: Principle &amp; Formula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801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由 Zhang 等人于2018年提出，核心思想是将两个样本及其标签进行线性插值，在特征空间中生成虚拟样本。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核心公式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x_tilde = lambda * x_i + (1 - lambda) * x_j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8986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y_tilde = lambda * y_i + (1 - lambda) * y_j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2621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749040"/>
            <a:ext cx="2164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采样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114800"/>
            <a:ext cx="216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~ Beta(alpha, alpha)，alpha 通常取 0.2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1360" y="3520440"/>
            <a:ext cx="2621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89960" y="3749040"/>
            <a:ext cx="2164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平滑决策边界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89960" y="4114800"/>
            <a:ext cx="216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有效增强决策边界平滑性，降低模型过度自信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65520" y="3520440"/>
            <a:ext cx="2621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94120" y="3749040"/>
            <a:ext cx="2164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正则化效果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4120" y="4114800"/>
            <a:ext cx="216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可视为一种显式正则化，等价于 Vicinal Risk Minimization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MixUp：效果与代码实践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MixUp: Effects &amp; Code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26280" cy="3566160"/>
          </a:xfrm>
          <a:prstGeom prst="roundRect">
            <a:avLst>
              <a:gd name="adj" fmla="val 2564"/>
            </a:avLst>
          </a:prstGeom>
          <a:solidFill>
            <a:srgbClr val="1E2D1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实现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mixup_data(x, y, alpha=0.2):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lam = np.random.beta(alpha, alpha)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15798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batch_size = x.size()[0]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41401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index = torch.randperm(batch_size)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67004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mixed_x = lam * x + (1-lam) * x[index, :]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92608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y_a, y_b = y, y[index]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1821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return mixed_x, y_a, y_b, lam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43814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69417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mixup_criterion(criterion, pred, y_a, y_b, lam):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95020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return lam * criterion(pred, y_a) +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420624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(1-lam) * criterion(pred, y_b)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66360" y="10972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9496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实验效果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94960" y="1600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(ResNet-18)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32120" y="2363175"/>
            <a:ext cx="731520" cy="1385865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5532120" y="2134575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32120" y="37947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20840" y="2211751"/>
            <a:ext cx="731520" cy="1537289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1983151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37947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MixUp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9496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提升 +9.2%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4297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将 CIFAR-10 准确率从 84.2% 提升至 93.4%，是性价比极高的增强策略。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CutMix：原理与公式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CutMix: Principle &amp; Formula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34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CutMix 由 Yun 等人于2019年提出。与 MixUp 的全图像素级混合不同，CutMix 将一个图像的局部区域（随机裁剪的矩形补丁）粘贴到另一个图像上。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核心公式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x_tilde = M dot x_i + (1 - M) dot x_j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y_tilde = lambda * y_i + (1 - lambda) * y_j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154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 M 为二进制掩码，lambda 由裁剪区域面积比例决定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26212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794760"/>
            <a:ext cx="2164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保留局部结构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160520"/>
            <a:ext cx="216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不同于 MixUp 的全局混合，CutMix 保留清晰的局部区域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1360" y="3566160"/>
            <a:ext cx="26212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89960" y="3794760"/>
            <a:ext cx="2164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定位能力更强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89960" y="4160520"/>
            <a:ext cx="216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在目标检测等需要定位的任务中表现优于 MixUp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65520" y="3566160"/>
            <a:ext cx="26212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94120" y="3794760"/>
            <a:ext cx="2164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标签比例合理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94120" y="4160520"/>
            <a:ext cx="216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由实际裁剪面积决定，更符合直觉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CutMix：与MixUp对比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CutMix vs MixUp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对比维度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CutMix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混合方式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全图像素级线性插值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局部区域（patch）替换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图像外观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两张图半透明叠加，模糊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一张图上有清晰的另一张图区域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局部结构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被破坏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标签权重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~ Beta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= 裁剪面积比例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目标检测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效果一般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效果更好（保留定位信息）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CIFAR-10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提出时间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 (ICLR)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 (ICCV)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D4A843">
              <a:alpha val="1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251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结论：CutMix 在大多数任务中优于 MixUp，尤其是在需要空间定位信息的任务中。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AutoAugment：自动搜索策略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AutoAugment: Auto Search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搜索空间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1463040"/>
            <a:ext cx="365760" cy="0"/>
          </a:xfrm>
          <a:prstGeom prst="line">
            <a:avLst/>
          </a:prstGeom>
          <a:noFill/>
          <a:ln w="19050">
            <a:solidFill>
              <a:srgbClr val="5A6B5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118872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PPO算法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65760" cy="0"/>
          </a:xfrm>
          <a:prstGeom prst="line">
            <a:avLst/>
          </a:prstGeom>
          <a:noFill/>
          <a:ln w="19050">
            <a:solidFill>
              <a:srgbClr val="5A6B5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最优策略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365760" cy="0"/>
          </a:xfrm>
          <a:prstGeom prst="line">
            <a:avLst/>
          </a:prstGeom>
          <a:noFill/>
          <a:ln w="19050">
            <a:solidFill>
              <a:srgbClr val="5A6B5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766560" y="118872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模型训练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40005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011680"/>
            <a:ext cx="400050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148840"/>
            <a:ext cx="35433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搜索空间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2514600"/>
            <a:ext cx="35433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定义16种基本变换（旋转、平移、颜色抖动等），每种有幅度和应用概率两个参数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86300" y="2011680"/>
            <a:ext cx="40005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6300" y="2011680"/>
            <a:ext cx="400050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4914900" y="2148840"/>
            <a:ext cx="35433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强化学习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4900" y="2514600"/>
            <a:ext cx="35433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PPO 算法在子数据集上搜索最优策略组合，控制器为 RNN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40005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383280"/>
            <a:ext cx="400050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520440"/>
            <a:ext cx="35433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策略组成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3886200"/>
            <a:ext cx="35433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最终策略包含 5 个子策略，每个子策略由 2 种变换顺序组成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86300" y="3383280"/>
            <a:ext cx="40005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86300" y="3383280"/>
            <a:ext cx="400050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4914900" y="3520440"/>
            <a:ext cx="35433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迁移性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14900" y="3886200"/>
            <a:ext cx="35433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CIFAR-10 上搜索的策略可直接迁移到 CIFAR-100 和 ImageNet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RandAugment与TrivialAugment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AutoAugment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5020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50208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RandAugment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2020, Cubuk et al., Google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核心思想：去除昂贵的搜索过程，仅保留两个超参数——变换数量 N 和幅度 M，在所有变换中均匀随机采样。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无需额外搜索，训练即增强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超参极少（N, M），易于调优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在大规模数据集上效果媲美 AutoAugment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36592" y="1097280"/>
            <a:ext cx="395020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1097280"/>
            <a:ext cx="3950208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TrivialAugment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65192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2021, Müller &amp; Hutter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5192" y="19202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核心思想：进一步简化——每次只应用一种随机变换，且不使用幅度参数（始终使用最大幅度）。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5192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65192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零超参数，开箱即用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65192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计算开销极低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65192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在多种数据集上表现稳定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增强策略选择指南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Strategy Guide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8892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3017520"/>
              </a:tblGrid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任务类型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推荐增强策略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避免使用的变换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图像分类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裁剪、翻转、颜色抖动、MixUp/CutMix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目标检测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裁剪、翻转、缩放、Mosaic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可能改变目标位置的变换需谨慎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语义分割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几何变换（同步标签变换）、颜色变换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可能破坏像素级标签一致性的变换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医学影像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旋转、弹性形变、对比度调整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翻转（需考虑解剖方向）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OCR/文本识别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透视变换、模糊、噪声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水平翻转（会改变文字方向）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69080"/>
            <a:ext cx="2621280" cy="594360"/>
          </a:xfrm>
          <a:prstGeom prst="roundRect">
            <a:avLst>
              <a:gd name="adj" fmla="val 15385"/>
            </a:avLst>
          </a:prstGeom>
          <a:solidFill>
            <a:srgbClr val="97BC62">
              <a:alpha val="1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160520"/>
            <a:ext cx="216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数据稀缺时：优先使用 MixUp/CutMix + 重度几何变换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61360" y="4069080"/>
            <a:ext cx="2621280" cy="594360"/>
          </a:xfrm>
          <a:prstGeom prst="roundRect">
            <a:avLst>
              <a:gd name="adj" fmla="val 15385"/>
            </a:avLst>
          </a:prstGeom>
          <a:solidFill>
            <a:srgbClr val="97BC62">
              <a:alpha val="1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489960" y="4160520"/>
            <a:ext cx="216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数据充足时：基础增强 + 轻度颜色抖动即可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65520" y="4069080"/>
            <a:ext cx="2621280" cy="594360"/>
          </a:xfrm>
          <a:prstGeom prst="roundRect">
            <a:avLst>
              <a:gd name="adj" fmla="val 15385"/>
            </a:avLst>
          </a:prstGeom>
          <a:solidFill>
            <a:srgbClr val="97BC62">
              <a:alpha val="1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294120" y="4160520"/>
            <a:ext cx="216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关键原则：变换后的图像必须是现实世界中可能出现的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097280"/>
          <a:ext cx="4773168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经典实验结果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Accuracy Comparison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559552" y="1097280"/>
            <a:ext cx="3127248" cy="3474720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88152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实验洞察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88152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基础增强（裁剪+翻转）带来 +7.6% 提升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88152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颜色抖动额外增加 +0.7%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88152" y="2834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在基础之上再增 +0.9%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8815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CutMix 达到最佳 94.1%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88152" y="3931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AutoAugment 略优于 CutMix，但搜索成本极高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科学家故事：Alex Krizhevsky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of Alex Krizhevsky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194560" cy="2743200"/>
          </a:xfrm>
          <a:prstGeom prst="roundRect">
            <a:avLst>
              <a:gd name="adj" fmla="val 41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116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Krizhevsky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ImageNet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097280"/>
            <a:ext cx="5760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数据增强的胜利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54680" y="1691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2012年，Alex Krizhevsky 在导师 Geoffrey Hinton 指导下设计了 8 层深度卷积网络 AlexNet。面对 ImageNet 的 120 万张训练图像，他意识到过拟合仍是最大威胁。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54680" y="23774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他的方案简单而有效：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2651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256x256 图像中随机裁剪 224x224 区域（每张图约 1024 种裁剪）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3017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水平翻转使数据量翻倍至约 2048 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5468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配合 PCA 颜色增强，有效扩充超 2000 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3840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结果：AlexNet 以 top-5 错误率 15.3% 夺冠（第二名 26.2%），奠定了数据增强作为深度学习训练标配的地位。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4370832"/>
            <a:ext cx="73152" cy="365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43708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如果没有数据增强，AlexNet 可能会在训练集上过拟合得一塌糊涂。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实战建议与注意事项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Tips &amp; Warnings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005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40005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88720"/>
            <a:ext cx="35433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DO：合理增强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变换后的图像应符合真实世界分布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37944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优先使用随机裁剪 + 水平翻转作为基线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167128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验证集和测试集绝不应用增强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496312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监控训练/验证损失差距判断增强强度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86300" y="1051560"/>
            <a:ext cx="40005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6300" y="1051560"/>
            <a:ext cx="40005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4914900" y="1188720"/>
            <a:ext cx="35433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DON'T：过度增强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4900" y="1508760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避免极端模糊或遮挡导致语义丢失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4900" y="1837944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不要在医学影像中随意翻转（考虑解剖方向）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4900" y="2167128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OCR任务中避免水平翻转文字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4900" y="2496312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不要对已经充足的数据施加过强增强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40005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71800"/>
            <a:ext cx="40005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108960"/>
            <a:ext cx="35433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DO：组合策略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429000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几何变换 + 颜色变换是基础组合拳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758184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MixUp/CutMix 可与传统增强叠加使用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4087368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AutoAugment 策略可作为调参起点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416552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不同批次可应用不同随机变换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86300" y="2971800"/>
            <a:ext cx="40005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6300" y="2971800"/>
            <a:ext cx="40005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8" name="Text 26"/>
          <p:cNvSpPr/>
          <p:nvPr/>
        </p:nvSpPr>
        <p:spPr>
          <a:xfrm>
            <a:off x="4914900" y="3108960"/>
            <a:ext cx="35433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DON'T：忽视验证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4900" y="3429000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务必可视化增强后的样本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4900" y="3758184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检查标签是否仍与图像语义一致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4900" y="4087368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小数据集上先做消融实验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4900" y="4416552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不要盲目套用他人的增强参数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Questions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16152"/>
            <a:ext cx="347472" cy="34747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16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16128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和 CutMix 的主要区别是什么？为什么 CutMix 在目标检测任务中通常比 MixUp 表现更好？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65960"/>
            <a:ext cx="347472" cy="34747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65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91109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AutoAugment 使用强化学习搜索增强策略的代价是什么？RandAugment 是如何解决这一问题的？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51176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715768"/>
            <a:ext cx="347472" cy="34747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15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66090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在医学影像分析中，哪些数据增强方法需要特别谨慎？为什么水平翻转在某些医学任务中可能是危险的？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465576"/>
            <a:ext cx="347472" cy="34747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65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41071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如果你只有100张训练图像，你会如何设计数据增强策略？请列出优先级并说明理由。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50792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215384"/>
            <a:ext cx="347472" cy="34747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15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160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数据增强与正则化（如 Dropout、Weight Decay）有何异同？它们分别从什么角度缓解过拟合？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691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8691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F1A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感谢学习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spc="15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for Learning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468880"/>
            <a:ext cx="27432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2743200"/>
            <a:ext cx="4572000" cy="1645920"/>
          </a:xfrm>
          <a:prstGeom prst="roundRect">
            <a:avLst>
              <a:gd name="adj" fmla="val 8333"/>
            </a:avLst>
          </a:prstGeom>
          <a:solidFill>
            <a:srgbClr val="1A2F1A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2926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下节预告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3246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87: 半监督学习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0" y="3611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少量标注数据 + 大量未标注数据 = 高性能模型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5034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 |  Day 86  数据增强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86: 数据增强 (Data Augmentation)</dc:title>
  <dc:subject>计算机视觉100天</dc:subject>
  <dc:creator>CV100Days</dc:creator>
  <cp:lastModifiedBy>CV100Days</cp:lastModifiedBy>
  <cp:revision>1</cp:revision>
  <dcterms:created xsi:type="dcterms:W3CDTF">2026-08-19T05:32:18Z</dcterms:created>
  <dcterms:modified xsi:type="dcterms:W3CDTF">2026-08-19T05:32:18Z</dcterms:modified>
</cp:coreProperties>
</file>