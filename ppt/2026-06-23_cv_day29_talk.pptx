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cv_learning/cv_day029_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371600" y="1097280"/>
            <a:ext cx="6400800" cy="2926080"/>
          </a:xfrm>
          <a:prstGeom prst="roundRect">
            <a:avLst>
              <a:gd name="adj" fmla="val 6250"/>
            </a:avLst>
          </a:prstGeom>
          <a:solidFill>
            <a:srgbClr val="2C5F2D">
              <a:alpha val="85000"/>
            </a:srgbClr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371600" y="12801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17373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目标跟踪进阶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Object Tracking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CSRT | DaSiamRPN | 多目标跟踪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3611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Learning Series</a:t>
            </a:r>
            <a:endParaRPr lang="en-US" sz="12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90072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今日议程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 — 4 Key Modules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6459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916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CSRT跟踪器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通道与空间可靠性分析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46304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64592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6916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97480" y="24688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DaSiamRPN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97480" y="2926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干扰感知孪生网络跟踪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46304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0" y="1645920"/>
            <a:ext cx="640080" cy="6400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16916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46320" y="24688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多目标跟踪MOT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46320" y="2926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DeepSORT与数据关联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46304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43800" y="16459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0" y="16916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95160" y="24688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实验与应用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95160" y="2926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性能对比与实际场景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4617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90072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跟踪算法发展史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Correlation Filters to Transformers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148840"/>
            <a:ext cx="100584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71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468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788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相关滤波奠基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2148840"/>
            <a:ext cx="100584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1" name="Shape 9"/>
          <p:cNvSpPr/>
          <p:nvPr/>
        </p:nvSpPr>
        <p:spPr>
          <a:xfrm>
            <a:off x="2103120" y="1920240"/>
            <a:ext cx="457200" cy="45720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37360" y="1371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2468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2788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核化相关滤波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51960" y="2148840"/>
            <a:ext cx="100584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044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54680" y="1371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54680" y="2468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SiamFC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54680" y="2788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孪生网络引入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2148840"/>
            <a:ext cx="100584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1" name="Shape 19"/>
          <p:cNvSpPr/>
          <p:nvPr/>
        </p:nvSpPr>
        <p:spPr>
          <a:xfrm>
            <a:off x="4937760" y="1920240"/>
            <a:ext cx="457200" cy="45720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1371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2468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2788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空间可靠性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86600" y="2148840"/>
            <a:ext cx="100584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508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89320" y="1371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89320" y="2468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DaSiamRPN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9320" y="2788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干扰感知RPN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0" y="1920240"/>
            <a:ext cx="457200" cy="45720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06640" y="1371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06640" y="2468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06640" y="2788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注意力机制跟踪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383280"/>
            <a:ext cx="822960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4360" y="3429000"/>
            <a:ext cx="548640" cy="54864"/>
          </a:xfrm>
          <a:prstGeom prst="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6118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趋势总结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7240" y="41148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相关滤波 → 深度特征 → 端到端学习 → Transformer架构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精度持续提升，实时性仍是关键挑战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0" y="4617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41" name="Watermark"/>
          <p:cNvSpPr txBox="1"/>
          <p:nvPr/>
        </p:nvSpPr>
        <p:spPr>
          <a:xfrm rot="0">
            <a:off x="6836000" y="4690072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CSRT核心原理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and Spatial Reliability Tracking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17320"/>
            <a:ext cx="548640" cy="54864"/>
          </a:xfrm>
          <a:prstGeom prst="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通道可靠性 Channel Reliability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评估每个特征通道的判别力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抑制噪声通道，增强有效通道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自适应通道权重分配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417320"/>
            <a:ext cx="548640" cy="54864"/>
          </a:xfrm>
          <a:prstGeom prst="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00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空间可靠性 Spatial Reliability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构建目标的空间概率图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分离前景与背景区域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通过SRM掩码优化响应图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3886200"/>
            <a:ext cx="548640" cy="54864"/>
          </a:xfrm>
          <a:prstGeom prst="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690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572000"/>
            <a:ext cx="75895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OpenCV中精度最高的跟踪器 (cv.TrackerCSRT_create)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在OTB基准上AUC达0.693，领先传统方法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4617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90072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CSRT vs KCF vs MOSSE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经典相关滤波跟踪器对比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30552"/>
                <a:gridCol w="2130552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特性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MOSSE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KCF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CSRT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速度 (FPS)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灰度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HOG+Color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尺度估计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OTB 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适用场景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极速需求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平衡场景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高精度需求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精度与速度的权衡 — CSRT以速度换精度，适合离线或半实时场景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Shape 5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4617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90072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DaSiamRPN创新点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Distractor-aware Siamese Region Proposal Network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17320"/>
            <a:ext cx="548640" cy="54864"/>
          </a:xfrm>
          <a:prstGeom prst="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干扰感知训练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引入语义干扰样本增强训练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提升模型区分相似目标能力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解决孪生网络漂移问题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417320"/>
            <a:ext cx="548640" cy="54864"/>
          </a:xfrm>
          <a:prstGeom prst="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00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区域提议网络 (RPN)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端到端边界框回归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多尺度候选框生成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无需多尺度测试，速度更快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3886200"/>
            <a:ext cx="548640" cy="54864"/>
          </a:xfrm>
          <a:prstGeom prst="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690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关键指标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572000"/>
            <a:ext cx="7589520" cy="-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VOT2018 EAO: 0.384 | 速度: ~80 FPS | 实时性与精度兼顾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4617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90072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DaSiamRPN架构图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Siamese Network + RPN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63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模板帧 Template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127x127x3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0" y="146304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463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搜索帧 Search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255x255x3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2468880"/>
            <a:ext cx="36576" cy="4572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2468880"/>
            <a:ext cx="36576" cy="4572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9260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9260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3108960"/>
            <a:ext cx="329184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0320" y="2743200"/>
            <a:ext cx="36576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Shape 15"/>
          <p:cNvSpPr/>
          <p:nvPr/>
        </p:nvSpPr>
        <p:spPr>
          <a:xfrm>
            <a:off x="5852160" y="2743200"/>
            <a:ext cx="36576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Shape 16"/>
          <p:cNvSpPr/>
          <p:nvPr/>
        </p:nvSpPr>
        <p:spPr>
          <a:xfrm>
            <a:off x="2926080" y="256032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D4A843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26080" y="2560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Head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分类 + 回归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3657600"/>
            <a:ext cx="36576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Shape 19"/>
          <p:cNvSpPr/>
          <p:nvPr/>
        </p:nvSpPr>
        <p:spPr>
          <a:xfrm>
            <a:off x="3474720" y="411480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0" y="4114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输出: 边界框 + 置信度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4617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90072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多目标跟踪MOT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 Tracking — System Overview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17320"/>
            <a:ext cx="548640" cy="54864"/>
          </a:xfrm>
          <a:prstGeom prst="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MOT核心挑战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目标检测 → 数据关联 → 轨迹管理 → 身份保持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处理遮挡、交叉、新目标出现/消失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目标检测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31546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651760" y="30175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5176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特征提取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31546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846320" y="30175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D4A843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数据关联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31546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040880" y="30175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4088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轨迹管理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Mgmt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4617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90072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DeepSORT核心流程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→ Association → Update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2926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17320"/>
            <a:ext cx="548640" cy="54864"/>
          </a:xfrm>
          <a:prstGeom prst="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检测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使用目标检测器(YOLO等)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生成边界框与置信度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提取外观特征向量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417320"/>
            <a:ext cx="548640" cy="54864"/>
          </a:xfrm>
          <a:prstGeom prst="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600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关联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10312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马氏距离(运动信息)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余弦距离(外观信息)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级联匹配策略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560320" cy="2926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417320"/>
            <a:ext cx="548640" cy="54864"/>
          </a:xfrm>
          <a:prstGeom prst="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600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 更新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210312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卡尔曼滤波预测状态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匹配成功→更新轨迹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未匹配→标记丢失/删除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代价矩阵: C = λ·D_motion + (1-λ)·D_appearance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4617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90072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性能对比实验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OTB2015 &amp; VOT2018 Benchmark Results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算法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OTB2015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AUC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VOT2018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EAO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速度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(FPS)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类型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相关滤波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相关滤波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相关滤波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DaSiamRPN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孪生网络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SiamRPN++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孪生网络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DaSiamRPN在VOT2018的EAO指标上表现最优，兼顾速度与精度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Shape 5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4617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12" name="Watermark"/>
          <p:cNvSpPr txBox="1"/>
          <p:nvPr/>
        </p:nvSpPr>
        <p:spPr>
          <a:xfrm rot="0">
            <a:off x="6836000" y="4690072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实际应用场景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5" name="Image 0" descr="/workspace/cv_learning/cv_day029_applicati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5029200" cy="283464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760720" y="1371600"/>
            <a:ext cx="30175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自动驾驶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车辆/行人跟踪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2331720"/>
            <a:ext cx="30175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体育分析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0" y="2743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运动员轨迹分析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3291840"/>
            <a:ext cx="30175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0" y="3337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安防监控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0" y="3703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异常行为检测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0" y="4617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90072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关键文献推荐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Must-Read Papers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63040"/>
            <a:ext cx="347472" cy="34747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81328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38988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CSRT: Fast Visual Tracking via Dense Spatio-Temporal Context Learning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664208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ECCV 2018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103120"/>
            <a:ext cx="347472" cy="34747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21408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02996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DaSiamRPN: Finding Distractor-Aware Siamese Networks for VOT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304288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2018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743200"/>
            <a:ext cx="347472" cy="34747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61488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67004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SiamRPN++: Evolution of Siamese Visual Tracking with Very Deep Networks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944368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2019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383280"/>
            <a:ext cx="347472" cy="34747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401568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31012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Online and Realtime Tracking (SORT)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3584448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ICIP 2016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4023360"/>
            <a:ext cx="347472" cy="34747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041648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395020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DeepSORT: Simple Online and Realtime Tracking with a Deep Association Metric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4224528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ICIP 2017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0" y="4617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90072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核心术语速查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 Quick Reference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48840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空间正则化相关滤波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21408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214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21214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期望平均重叠率 (VOT指标)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779776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7977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277977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曲线下面积 (OTB指标)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438144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3814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48840" y="34381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行人重识别特征提取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05072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096512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965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48840" y="40965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交并比，衡量框重叠度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37160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146304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37960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卡尔曼滤波，状态预测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02996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2121408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1214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Alg.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37960" y="21214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匈牙利算法，最优匹配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2688336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37760" y="2779776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277977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Match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37960" y="277977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级联匹配，优先高置信度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3346704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37760" y="3438144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43814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Box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37960" y="34381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锚框，RPN预设框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46320" y="4005072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937760" y="4096512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40965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37960" y="40965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干扰物，相似但非目标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0" y="4617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48" name="Watermark"/>
          <p:cNvSpPr txBox="1"/>
          <p:nvPr/>
        </p:nvSpPr>
        <p:spPr>
          <a:xfrm rot="0">
            <a:off x="6836000" y="4690072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思考与讨论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73152" cy="685800"/>
          </a:xfrm>
          <a:prstGeom prst="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Q1: CSRT在哪些场景下会失效？如何改进？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提示：考虑快速运动、严重遮挡、形变等极端情况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06040"/>
            <a:ext cx="73152" cy="685800"/>
          </a:xfrm>
          <a:prstGeom prst="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60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Q2: DaSiamRPN的干扰感知训练策略能否迁移到其他任务？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提示：思考对比学习、难样本挖掘的关联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703320"/>
            <a:ext cx="73152" cy="685800"/>
          </a:xfrm>
          <a:prstGeom prst="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57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Q3: 多目标跟踪中，如何平衡精度与实时性？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069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提示：检测器选择、关联策略、Re-ID特征维度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4617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90072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课程进度与下节预告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Progress &amp; Next Session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7406640" cy="457200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 / 30  —  进度 90%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9319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240280"/>
            <a:ext cx="548640" cy="54864"/>
          </a:xfrm>
          <a:prstGeom prst="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23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已掌握内容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图像分类 → 目标检测 → 语义分割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单目标跟踪: CSRT, DaSiamRPN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多目标跟踪: DeepSORT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194560"/>
            <a:ext cx="39319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2240280"/>
            <a:ext cx="548640" cy="54864"/>
          </a:xfrm>
          <a:prstGeom prst="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423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30 预告: 目标检测进阶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74920" y="29260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YOLO系列演进 (v5 → v8 → v11)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实时检测优化策略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课程总结与项目实战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4617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90072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7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1828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2468880"/>
            <a:ext cx="27432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0" y="3474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参考资源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3794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Tracking API | PyTracking | GOT-10k Benchmark | MOT Challenge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4297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Learning Series — Day 29</a:t>
            </a:r>
            <a:endParaRPr lang="en-US" sz="10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90072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29: Advanced Object Tracking</dc:title>
  <dc:subject>PptxGenJS Presentation</dc:subject>
  <dc:creator>CV Learning Series</dc:creator>
  <cp:lastModifiedBy>CV Learning Series</cp:lastModifiedBy>
  <cp:revision>1</cp:revision>
  <dcterms:created xsi:type="dcterms:W3CDTF">2026-06-23T06:00:17Z</dcterms:created>
  <dcterms:modified xsi:type="dcterms:W3CDTF">2026-06-23T06:00:17Z</dcterms:modified>
</cp:coreProperties>
</file>