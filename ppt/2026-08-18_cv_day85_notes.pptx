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延迟 (ms)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2A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未融合</c:v>
                  </c:pt>
                  <c:pt idx="1">
                    <c:v>Conv+BN</c:v>
                  </c:pt>
                  <c:pt idx="2">
                    <c:v>Conv+BN+ReLU</c:v>
                  </c:pt>
                  <c:pt idx="3">
                    <c:v>INT8+融合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8.5</c:v>
                </c:pt>
                <c:pt idx="1">
                  <c:v>6.2</c:v>
                </c:pt>
                <c:pt idx="2">
                  <c:v>4.8</c:v>
                </c:pt>
                <c:pt idx="3">
                  <c:v>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A2A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标准 Attention</c:v>
                </c:pt>
              </c:strCache>
            </c:strRef>
          </c:tx>
          <c:spPr>
            <a:solidFill>
              <a:srgbClr val="2C5F2D"/>
            </a:solidFill>
            <a:ln w="31750" cap="flat">
              <a:solidFill>
                <a:srgbClr val="2C5F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512</c:v>
                  </c:pt>
                  <c:pt idx="1">
                    <c:v>1024</c:v>
                  </c:pt>
                  <c:pt idx="2">
                    <c:v>2048</c:v>
                  </c:pt>
                  <c:pt idx="3">
                    <c:v>4096</c:v>
                  </c:pt>
                  <c:pt idx="4">
                    <c:v>8192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</c:v>
                </c:pt>
                <c:pt idx="1">
                  <c:v>7.8</c:v>
                </c:pt>
                <c:pt idx="2">
                  <c:v>30.5</c:v>
                </c:pt>
                <c:pt idx="3">
                  <c:v>121.3</c:v>
                </c:pt>
                <c:pt idx="4">
                  <c:v>485.6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FlashAttention</c:v>
                </c:pt>
              </c:strCache>
            </c:strRef>
          </c:tx>
          <c:spPr>
            <a:solidFill>
              <a:srgbClr val="D4A843"/>
            </a:solidFill>
            <a:ln w="31750" cap="flat">
              <a:solidFill>
                <a:srgbClr val="D4A84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843"/>
              </a:solidFill>
              <a:ln w="9525" cap="flat">
                <a:solidFill>
                  <a:srgbClr val="D4A84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512</c:v>
                  </c:pt>
                  <c:pt idx="1">
                    <c:v>1024</c:v>
                  </c:pt>
                  <c:pt idx="2">
                    <c:v>2048</c:v>
                  </c:pt>
                  <c:pt idx="3">
                    <c:v>4096</c:v>
                  </c:pt>
                  <c:pt idx="4">
                    <c:v>8192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1.3</c:v>
                </c:pt>
                <c:pt idx="1">
                  <c:v>4.2</c:v>
                </c:pt>
                <c:pt idx="2">
                  <c:v>15.1</c:v>
                </c:pt>
                <c:pt idx="3">
                  <c:v>58.7</c:v>
                </c:pt>
                <c:pt idx="4">
                  <c:v>230.1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555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68580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291840" y="6858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85 · NOTES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85：计算机视觉性能优化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383280" y="2542032"/>
            <a:ext cx="2377440" cy="4114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算子融合 · 内存优化 · IO优化 · 推理加速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8229600" cy="10973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计算机视觉100天学习计划  |  2026-08-18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 Table of 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07008"/>
            <a:ext cx="54864" cy="42062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17043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历史背景</a:t>
            </a:r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Historical Background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80594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1915668"/>
            <a:ext cx="54864" cy="42062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187909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核心概念</a:t>
            </a:r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Core Concepts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2624328"/>
            <a:ext cx="54864" cy="42062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58775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科学家故事</a:t>
            </a:r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Scientists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22326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" y="3332988"/>
            <a:ext cx="54864" cy="42062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29641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重要文献</a:t>
            </a:r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Key Literature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4041648"/>
            <a:ext cx="54864" cy="42062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400507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经典实验</a:t>
            </a:r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Classic Experiments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28032" y="1207008"/>
            <a:ext cx="54864" cy="42062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5010912" y="117043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小故事</a:t>
            </a:r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Stories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180594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28032" y="1915668"/>
            <a:ext cx="54864" cy="42062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5010912" y="187909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思考题</a:t>
            </a:r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Thinking Questions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54880" y="251460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28032" y="2624328"/>
            <a:ext cx="54864" cy="42062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9" name="Text 27"/>
          <p:cNvSpPr/>
          <p:nvPr/>
        </p:nvSpPr>
        <p:spPr>
          <a:xfrm>
            <a:off x="5010912" y="258775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术语表</a:t>
            </a:r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Glossary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54880" y="322326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28032" y="3332988"/>
            <a:ext cx="54864" cy="42062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2" name="Text 30"/>
          <p:cNvSpPr/>
          <p:nvPr/>
        </p:nvSpPr>
        <p:spPr>
          <a:xfrm>
            <a:off x="5010912" y="329641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下节预告</a:t>
            </a:r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Next Preview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754880" y="393192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28032" y="4041648"/>
            <a:ext cx="54864" cy="42062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5" name="Text 33"/>
          <p:cNvSpPr/>
          <p:nvPr/>
        </p:nvSpPr>
        <p:spPr>
          <a:xfrm>
            <a:off x="5010912" y="400507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参考资源</a:t>
            </a:r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References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历史背景：性能优化演进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463040" cy="1737360"/>
          </a:xfrm>
          <a:prstGeom prst="roundRect">
            <a:avLst>
              <a:gd name="adj" fmla="val 75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" y="1901952"/>
            <a:ext cx="1389888" cy="1682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057400"/>
            <a:ext cx="1243584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2012-2015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深度学习兴起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关注精度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38528" y="2606040"/>
            <a:ext cx="1920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48840" y="1874520"/>
            <a:ext cx="1463040" cy="1737360"/>
          </a:xfrm>
          <a:prstGeom prst="roundRect">
            <a:avLst>
              <a:gd name="adj" fmla="val 7500"/>
            </a:avLst>
          </a:prstGeom>
          <a:solidFill>
            <a:srgbClr val="386B38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85416" y="1901952"/>
            <a:ext cx="1389888" cy="1682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58568" y="2057400"/>
            <a:ext cx="1243584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2015-2017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移动端部署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模型压缩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30168" y="2606040"/>
            <a:ext cx="1920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0480" y="1874520"/>
            <a:ext cx="1463040" cy="1737360"/>
          </a:xfrm>
          <a:prstGeom prst="roundRect">
            <a:avLst>
              <a:gd name="adj" fmla="val 7500"/>
            </a:avLst>
          </a:prstGeom>
          <a:solidFill>
            <a:srgbClr val="4A8041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77056" y="1901952"/>
            <a:ext cx="1389888" cy="1682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50208" y="2057400"/>
            <a:ext cx="1243584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2017-2019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TensorRT推出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算子融合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21808" y="2606040"/>
            <a:ext cx="1920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32120" y="1874520"/>
            <a:ext cx="1463040" cy="1737360"/>
          </a:xfrm>
          <a:prstGeom prst="roundRect">
            <a:avLst>
              <a:gd name="adj" fmla="val 7500"/>
            </a:avLst>
          </a:prstGeom>
          <a:solidFill>
            <a:srgbClr val="5C9650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68696" y="1901952"/>
            <a:ext cx="1389888" cy="1682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41848" y="2057400"/>
            <a:ext cx="1243584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2019-2021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量化/剪枝/蒸馏成熟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13448" y="2606040"/>
            <a:ext cx="1920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23760" y="1874520"/>
            <a:ext cx="1463040" cy="1737360"/>
          </a:xfrm>
          <a:prstGeom prst="roundRect">
            <a:avLst>
              <a:gd name="adj" fmla="val 7500"/>
            </a:avLst>
          </a:prstGeom>
          <a:solidFill>
            <a:srgbClr val="6DA85F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0336" y="1901952"/>
            <a:ext cx="1389888" cy="1682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33488" y="2057400"/>
            <a:ext cx="1243584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2021-至今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Flash/PagedAttention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从精度优先到部署优先，再到推理优先：性能优化趋势越来越贴近硬件与IO层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关键里程碑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435608"/>
            <a:ext cx="2432304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43560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0391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2532888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NVIDIA推出工业级推理引擎，开启算子融合时代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1435608"/>
            <a:ext cx="2432304" cy="457200"/>
          </a:xfrm>
          <a:prstGeom prst="roundRect">
            <a:avLst>
              <a:gd name="adj" fmla="val 20000"/>
            </a:avLst>
          </a:prstGeom>
          <a:solidFill>
            <a:srgbClr val="4A8041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43560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20391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TVM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29000" y="2532888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陈天奇提出自动编译器，推动 AI 民主化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435608"/>
            <a:ext cx="2432304" cy="457200"/>
          </a:xfrm>
          <a:prstGeom prst="roundRect">
            <a:avLst>
              <a:gd name="adj" fmla="val 20000"/>
            </a:avLst>
          </a:prstGeom>
          <a:solidFill>
            <a:srgbClr val="6DA85F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143560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20391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FlashAttention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17920" y="2532888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Dao 提出 IO 感知注意力算法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算子融合  Operator Fusion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776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307592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核心要点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1728216"/>
            <a:ext cx="3575304" cy="1819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将多个独立算子合并为复合算子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减少中间张量的内存读写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提高计算密度与并行度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 Kernel Launch 开销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22192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EAF1DE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391363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常见融合模式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4206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BN + ReLU    ·    MatMul + Add + GELU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11430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流程对比  Flow Comparison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16276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未融合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32120" y="1627632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68696" y="1655064"/>
            <a:ext cx="58521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99632" y="1655064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36792" y="1627632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73368" y="1655064"/>
            <a:ext cx="58521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04304" y="1655064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41464" y="1627632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78040" y="1655064"/>
            <a:ext cx="58521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08976" y="1655064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46136" y="1627632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82712" y="1655064"/>
            <a:ext cx="58521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32120" y="20848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次内存读写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2542032"/>
            <a:ext cx="4023360" cy="18288"/>
          </a:xfrm>
          <a:prstGeom prst="rect">
            <a:avLst/>
          </a:prstGeom>
          <a:solidFill>
            <a:srgbClr val="B9D089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2697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融合后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32120" y="269748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68696" y="2724912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ConvReLU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30568" y="2724912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95160" y="269748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031736" y="2724912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ConvReLU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32120" y="31638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次内存读写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3822192"/>
            <a:ext cx="4069080" cy="777240"/>
          </a:xfrm>
          <a:prstGeom prst="roundRect">
            <a:avLst>
              <a:gd name="adj" fmla="val 1176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391363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收益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41879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读写次数二分之一，计算密度显著提升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内存优化  Memory Optimization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3258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内存复用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60020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Reuse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80160" y="185623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静态分析计算图内存生命周期，复用中间张量空间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32588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0" y="13258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内存对齐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77840" y="160020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Alignment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185623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内存按 128B / 256B 对齐，提升访问效率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852928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035808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30358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低精度存储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3101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Low-Precision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80160" y="356616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(1/2)、INT8 (1/4)、BF16 压缩显存占用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852928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035808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77840" y="30358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PagedAttention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33101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KV-Cache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7840" y="356616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分页式管理 KV-Cache，减少碎片与浪费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 优化  IO Optimization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444752"/>
            <a:ext cx="2322576" cy="640080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447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1444752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数据加载优化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240280"/>
            <a:ext cx="2249424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异步预取 (Prefetch)、共享内存、LMDB / HDF5 随机访问存储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6517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0712" y="1444752"/>
            <a:ext cx="2322576" cy="640080"/>
          </a:xfrm>
          <a:prstGeom prst="roundRect">
            <a:avLst>
              <a:gd name="adj" fmla="val 14286"/>
            </a:avLst>
          </a:prstGeom>
          <a:solidFill>
            <a:srgbClr val="386B38"/>
          </a:solidFill>
          <a:ln/>
        </p:spPr>
      </p:sp>
      <p:sp>
        <p:nvSpPr>
          <p:cNvPr id="13" name="Text 11"/>
          <p:cNvSpPr/>
          <p:nvPr/>
        </p:nvSpPr>
        <p:spPr>
          <a:xfrm>
            <a:off x="3410712" y="14447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23360" y="1444752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图像解码加速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47288" y="2240280"/>
            <a:ext cx="2249424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DALI GPU 解码，预处理移至 GPU 执行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26517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1444752"/>
            <a:ext cx="2322576" cy="640080"/>
          </a:xfrm>
          <a:prstGeom prst="roundRect">
            <a:avLst>
              <a:gd name="adj" fmla="val 14286"/>
            </a:avLst>
          </a:prstGeom>
          <a:solidFill>
            <a:srgbClr val="4A8041"/>
          </a:solidFill>
          <a:ln/>
        </p:spPr>
      </p:sp>
      <p:sp>
        <p:nvSpPr>
          <p:cNvPr id="18" name="Text 16"/>
          <p:cNvSpPr/>
          <p:nvPr/>
        </p:nvSpPr>
        <p:spPr>
          <a:xfrm>
            <a:off x="6199632" y="14447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12280" y="1444752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模型加载优化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36208" y="2240280"/>
            <a:ext cx="2249424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单一二进制文件、Memory-Mapped I/O 内存映射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核心思想：让 GPU “不等待” 数据，将 IO 与计算重叠并行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推理加速综合策略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18872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F451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188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1887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多流并行、CUDA Graph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50392" y="1755648"/>
            <a:ext cx="7607808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17556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33472" y="1755648"/>
            <a:ext cx="559612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算子融合、常量折叠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14984" y="2322576"/>
            <a:ext cx="7443216" cy="457200"/>
          </a:xfrm>
          <a:prstGeom prst="roundRect">
            <a:avLst>
              <a:gd name="adj" fmla="val 16000"/>
            </a:avLst>
          </a:prstGeom>
          <a:solidFill>
            <a:srgbClr val="386B38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43584" y="232257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算子级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98064" y="2322576"/>
            <a:ext cx="54315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 Kernel、Tensor Core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179576" y="2889504"/>
            <a:ext cx="7278624" cy="457200"/>
          </a:xfrm>
          <a:prstGeom prst="roundRect">
            <a:avLst>
              <a:gd name="adj" fmla="val 16000"/>
            </a:avLst>
          </a:prstGeom>
          <a:solidFill>
            <a:srgbClr val="4A804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08176" y="288950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精度级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62656" y="2889504"/>
            <a:ext cx="526694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量化、混合精度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44168" y="3456432"/>
            <a:ext cx="7114032" cy="457200"/>
          </a:xfrm>
          <a:prstGeom prst="roundRect">
            <a:avLst>
              <a:gd name="adj" fmla="val 16000"/>
            </a:avLst>
          </a:prstGeom>
          <a:solidFill>
            <a:srgbClr val="5C965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72768" y="34564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模型级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27248" y="3456432"/>
            <a:ext cx="510235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剪枝、蒸馏、NAS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508760" y="4023360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6DA85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737360" y="4023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数据级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4023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异步 IO、GPU 解码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4572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从上到下越来越接近硬件与数据，各层可独立组合叠加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陈天奇与 TVM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307592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人物与贡献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1728216"/>
            <a:ext cx="3575304" cy="2688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博士，TVM 与 MXNet 核心开发者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年提出 TVM：端到端编译器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核心创新：自动算子融合 + AutoTVM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理念：“AI 民主化需让每人高效运模型”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TVM 成为 Apache 顶级项目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17720" y="11430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TVM 编译流程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92040" y="160020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28616" y="1627632"/>
            <a:ext cx="35387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1600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16002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IR 输入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8252" y="2061972"/>
            <a:ext cx="219456" cy="1554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92040" y="2221992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4A804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28616" y="2249424"/>
            <a:ext cx="35387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4920" y="22219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图优化 Graph Opt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22199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算子融合 / 常量折叠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8252" y="2683764"/>
            <a:ext cx="219456" cy="1554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92040" y="2843784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28616" y="2871216"/>
            <a:ext cx="35387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284378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算子调度 Schedule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284378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AutoTVM 参数搜索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8252" y="3305556"/>
            <a:ext cx="219456" cy="1554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92040" y="3465576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4A804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28616" y="3493008"/>
            <a:ext cx="35387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346557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代码生成 Codegen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346557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面向硬件后端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8252" y="3927348"/>
            <a:ext cx="219456" cy="1554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92040" y="4087368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28616" y="4114800"/>
            <a:ext cx="35387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4920" y="40873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硬件后端 Backend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40873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/ Vulkan / ARM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 Dao 与 FlashAttention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307592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人物与贡献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1728216"/>
            <a:ext cx="3575304" cy="2688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斯坦福大学博士生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年提出 FlashAttention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发现瓶颈在 HBM 与 SRAM 间数据搬运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分块计算 (Tiling) + 重计算 (Recompute)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内存读写 O(N²) → O(N²·M⁻¹)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已集成至 PyTorch / HuggingFace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17720" y="11430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分块计算原理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1600200"/>
            <a:ext cx="4069080" cy="914400"/>
          </a:xfrm>
          <a:prstGeom prst="roundRect">
            <a:avLst>
              <a:gd name="adj" fmla="val 10000"/>
            </a:avLst>
          </a:prstGeom>
          <a:solidFill>
            <a:srgbClr val="F2EFD9"/>
          </a:solidFill>
          <a:ln w="15240">
            <a:solidFill>
              <a:srgbClr val="D4A84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HBM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1938528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28616" y="1965960"/>
            <a:ext cx="978408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Q,K,V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938528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71616" y="1965960"/>
            <a:ext cx="978408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分块 Tiling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78040" y="1938528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14616" y="1965960"/>
            <a:ext cx="1298448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写回 HBM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924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2697480"/>
            <a:ext cx="4069080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27614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SRAM 局部计算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0632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分块加载至 SRAM，局部计算后写回 HBM，避免频繁读写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3794760"/>
            <a:ext cx="4069080" cy="777240"/>
          </a:xfrm>
          <a:prstGeom prst="roundRect">
            <a:avLst>
              <a:gd name="adj" fmla="val 11765"/>
            </a:avLst>
          </a:prstGeom>
          <a:solidFill>
            <a:srgbClr val="EAF1DE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18888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收益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18888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倍加速，长序列优势显著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重要文献：经典论文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4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9144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论文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核心贡献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Chen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自动编译器栈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Dao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 感知注意力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复合缩放法则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 量化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Jacob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全整数量化推理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PagedAttention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W. Kwon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分页 KV-Cache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 5 篇论文奠定了 CV 推理优化的理论与工程基础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技术报告与工具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98448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80160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TensorRT Best Practices Guide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159105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官方推理优化指南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2194560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176272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ONNX Runtime Performance Tuning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24871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跨平台推理调优实践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090672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72384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PyTorch Performance Tuning Guide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338328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TorchScript / FX 与 Inductor 加速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77056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986784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968496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MLPerf Inference Benchmark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7240" y="42793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行业标准推理性能基准套件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640080" y="1097280"/>
          <a:ext cx="78638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实验1：算子融合性能对比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4160520"/>
            <a:ext cx="7863840" cy="566928"/>
          </a:xfrm>
          <a:prstGeom prst="roundRect">
            <a:avLst>
              <a:gd name="adj" fmla="val 16129"/>
            </a:avLst>
          </a:prstGeom>
          <a:solidFill>
            <a:srgbClr val="EAF1DE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4160520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洞察：算子融合可实现 1.77x 加速，结合 INT8 可达 3.4x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实验2：内存优化效果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5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配置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显存 (MB)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延迟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吞吐量 (img/s)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FP32 基线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 + 内存复用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4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 + 内存复用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4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4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4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7947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AF1DE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3232" y="3794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洞察：INT8 + 内存复用可减少 80% 显存，3.9x 加速，吞吐量提升 3.9x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640080" y="1097280"/>
          <a:ext cx="78638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实验3：FlashAttention vs 标准 Attention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4160520"/>
            <a:ext cx="7863840" cy="566928"/>
          </a:xfrm>
          <a:prstGeom prst="roundRect">
            <a:avLst>
              <a:gd name="adj" fmla="val 16129"/>
            </a:avLst>
          </a:prstGeom>
          <a:solidFill>
            <a:srgbClr val="EAF1DE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4160520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洞察：序列越长，FlashAttention 优势越明显（约 2.1x 加速）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小故事：一行代码节省百万美元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2344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1783080" y="1325880"/>
            <a:ext cx="662940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年某互联网公司推荐系统 GPU 成本月增数十万美元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问题：图像预处理 CPU 串行 → cudaMemcpy → GPU 等待，利用率仅 35%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解决：CUDA Stream 异步传输 + 预取（约一行代码）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效果：GPU 利用率 35% → 78%，吐吐量翻倍，月省 20 万美元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启示：IO 优化往往比模型优化更有效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小故事：TensorRT 的诞生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17320" y="1325880"/>
            <a:ext cx="27432" cy="32461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472184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132588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团队发现推理性能远不如预期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371600" y="2039112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9280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发现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1892808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框架为灵活性保留大量不必要开销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71600" y="2606040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59736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决策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2459736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构建专用推理引擎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371600" y="3172968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26664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哲学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026664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“推理时不需要灵活性，需要极致性能”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371600" y="3739896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93592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593592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图优化 / 算子融合 / 精度校准 / Kernel Auto-Tuning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71600" y="4306824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16052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45920" y="416052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行业标准，NVIDIA / Google / Meta / Microsoft 使用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  Thinking Questions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AF1DE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252728"/>
            <a:ext cx="2432304" cy="502920"/>
          </a:xfrm>
          <a:prstGeom prst="roundRect">
            <a:avLst>
              <a:gd name="adj" fmla="val 18182"/>
            </a:avLst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25272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基础题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算子融合的本质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697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vs INT8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474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474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Memory-Mapped I/O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46120" y="11430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55848" y="1252728"/>
            <a:ext cx="2432304" cy="502920"/>
          </a:xfrm>
          <a:prstGeom prst="roundRect">
            <a:avLst>
              <a:gd name="adj" fmla="val 18182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125272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进阶题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19202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8620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原理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74720" y="2697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86200" y="2697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 机制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74720" y="3474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86200" y="3474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Graph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35040" y="11430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2EFD9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1252728"/>
            <a:ext cx="2432304" cy="502920"/>
          </a:xfrm>
          <a:prstGeom prst="roundRect">
            <a:avLst>
              <a:gd name="adj" fmla="val 18182"/>
            </a:avLst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6144768" y="125272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挑战题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19202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7512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优化策略叠加实验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63640" y="2697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75120" y="2697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部署到边缘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63640" y="3474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675120" y="3474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FlashAttention-2 改进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  Glossary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8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4206240"/>
              </a:tblGrid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术语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英文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释义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算子融合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Fusion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合并多个算子以减少内存读写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内存复用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Reuse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复用中间张量内存空间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高精度映射为低精度整数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混合精度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FP16+FP32 兼顾速度与精度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 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 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录制 GPU 操作减少启动开销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 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 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专用矩阵计算单元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PagedAttention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PagedAttention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分页式 KV-Cache 管理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FlashAttention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FlashAttention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 感知精确注意力算法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常量折叠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Folding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编译期计算常量表达式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ONNX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Neural Network Exchange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跨框架模型交换格式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 &amp; 总结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43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836676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310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今日要点  Today's Takeaways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64592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1645920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算子融合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084832"/>
            <a:ext cx="1600200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减少内存读写，1.77x 加速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42032" y="1481328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06624" y="1645920"/>
            <a:ext cx="365760" cy="365760"/>
          </a:xfrm>
          <a:prstGeom prst="ellipse">
            <a:avLst/>
          </a:prstGeom>
          <a:solidFill>
            <a:srgbClr val="4A8041"/>
          </a:solidFill>
          <a:ln/>
        </p:spPr>
      </p:sp>
      <p:sp>
        <p:nvSpPr>
          <p:cNvPr id="14" name="Text 12"/>
          <p:cNvSpPr/>
          <p:nvPr/>
        </p:nvSpPr>
        <p:spPr>
          <a:xfrm>
            <a:off x="2706624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1645920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内存优化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24912" y="2084832"/>
            <a:ext cx="1600200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+ 复用减少 80% 显存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26864" y="1481328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91456" y="1645920"/>
            <a:ext cx="365760" cy="365760"/>
          </a:xfrm>
          <a:prstGeom prst="ellipse">
            <a:avLst/>
          </a:prstGeom>
          <a:solidFill>
            <a:srgbClr val="6DA85F"/>
          </a:solidFill>
          <a:ln/>
        </p:spPr>
      </p:sp>
      <p:sp>
        <p:nvSpPr>
          <p:cNvPr id="19" name="Text 17"/>
          <p:cNvSpPr/>
          <p:nvPr/>
        </p:nvSpPr>
        <p:spPr>
          <a:xfrm>
            <a:off x="4791456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93792" y="1645920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 优化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9744" y="2084832"/>
            <a:ext cx="1600200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异步预取提升 GPU 利用率至 78%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11696" y="1481328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76288" y="164592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6876288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78624" y="1645920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FlashAttention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94576" y="2084832"/>
            <a:ext cx="1600200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 加速，长序列优势明显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3035808"/>
            <a:ext cx="64008" cy="78638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017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86 预告：数据增强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3346704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传统增强（Flip/Crop/Color Jitter） · MixUp / CutMix · AutoAugment 与 RandAugment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F451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计算机视觉100天  |  Day 85 Complete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85: 计算机视觉性能优化 - 笔记版</dc:title>
  <dc:subject>PptxGenJS Presentation</dc:subject>
  <dc:creator>CV Learning 100 Days</dc:creator>
  <cp:lastModifiedBy>CV Learning 100 Days</cp:lastModifiedBy>
  <cp:revision>1</cp:revision>
  <dcterms:created xsi:type="dcterms:W3CDTF">2026-08-18T05:32:39Z</dcterms:created>
  <dcterms:modified xsi:type="dcterms:W3CDTF">2026-08-18T05:32:39Z</dcterms:modified>
</cp:coreProperties>
</file>