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43: Swin Transformer 笔记版
本幻灯片为Swin Transformer深度学习笔记，涵盖：
- ViT的瓶颈与Swin的诞生背景
- 层级架构、窗口注意力、移位窗口等核心概念
- 关键实验结果与应用案例
- 重要文献与扩展阅读
Swin Transformer是2021年ICCV最佳论文，由微软亚洲研究院提出。
它通过层级式架构和移动窗口机制，解决了ViT在密集预测任务上的计算复杂度问题。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目录概览
本PPT共分11个板块，系统性地介绍Swin Transformer：
1. 历史背景：ViT的问题 -&gt; Swin的诞生
2. 核心概念：5个关键技术点
3. 人物与文献：研究者故事和论文列表
4. 实验结果：分类、检测、分割
5. 补充内容：术语表、思考题、预告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ViT的瓶颈详细说明
1. 计算复杂度问题：
   - ViT使用全局自注意力，每两个token之间都需要计算attention
   - 对于224x224图像，patch大小16x16，产生196个token
   - Attention矩阵大小为196x196，与token数量的平方成正比
   - 对于更高分辨率（如1024x1024的检测任务），token数量爆炸式增长
2. 特征层级问题：
   - CNN（如ResNet）自然产生多尺度特征：早期大分辨率浅特征，后期小分辨率深特征
   - ViT始终维持固定分辨率，所有层使用相同的feature map大小
   - 这对检测和分割等需要多尺度特征的任务非常不利
3. Swin Transformer的解决方案：
   - 引入窗口机制将计算限制在局部窗口内
   - 通过Patch Merge构建层级式特征
   - 使用移位窗口实现跨窗口信息传递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Swin Transformer诞生背景
1. 研究动机：
   - ViT证明了Transformer在图像分类上的潜力，但在下游任务表现不佳
   - 研究团队思考：能否设计一种既保留Transformer优势，又具备CNN层级特征的网络？
2. 技术创新点：
   - 受CNN启发，Swin引入了类似卷积的层级结构（4个Stage）
   - 窗口注意力的灵感来自局部窗口处理
   - 移位窗口设计巧妙地解决了窗口间的信息隔离问题
3. 论文影响力：
   - 谷歌学术引用量超过15,000次
   - 被广泛用于COCO检测、ADE20K分割等多个benchmark
   - 成为Detectron2、MMDetection等框架的标准backbone之一
   - Swin V2进一步扩展到30亿参数，展示了Transformer在视觉中的可扩展性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层级架构详解
1. Patch Partition:
   - 类似ViT，将输入图像分割为不重叠的4×4 Patch
   - 每个Patch展平后通过Linear Embedding层映射到C维特征
   - 对于224×224图像，产生56×56×96的特征图
2. 四个Stage的结构:
   - Stage 1: [Linear Embedding] → [W-MSA + SW-MSA] × 2
   - Stage 2: [Patch Merge] → [W-MSA + SW-MSA] × 2
   - Stage 3: [Patch Merge] → [W-MSA + SW-MSA] × 18
   - Stage 4: [Patch Merge] → [W-MSA + SW-MSA] × 2
3. 与CNN的对比:
   - Stage1对应ConvStem，Stage2-4对应ResNet的layer1-4
   - Patch Merge类似于stride=2的卷积下采样
   - 这种设计使得Swin可以作为通用的backbone用于检测和分割
4. Swin-Tiny配置:
   - 深度: [2, 2, 18, 2]，总深度22层
   - 通道: [96, 192, 384, 768]
   - 参数量: ~28M，FLOPs: ~4.5G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W-MSA详解
1. 窗口划分方法：
   - 将特征图均匀划分为(M/2 × M/2)个M×M窗口
   - 例如56×56特征图，M=7，划分8×8=64个窗口
   - 每个窗口有49个token，独立计算attention
2. 复杂度分析：
   - 全局注意力: 每层 FLOPs = 4 × HW × HW × C
   - 窗口注意力: 每层 FLOPs = 4 × HW × M² × C + 2 × 4M² × HW × C (MLP)
   - 当 HW &gt;&gt; M² 时，窗口注意力的计算量远小于全局注意力
3. 实现要点：
   - 使用reshape和view操作实现窗口划分，避免数据拷贝
   - torch.window_partition: (B, H, W, C) -&gt; (B*nW, M, M, C)
   - 注意力计算后通过torch.window_reverse还原
4. 与局部注意力（如Axial DeepNet）的区别：
   - W-MSA是二维窗口，而非一维轴向
   - 窗口内是全连接注意力，而非线性投影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SW-MSA详解
1. 循环移位(Cyclic Shift)的直觉：
   - 想象将整个特征图向左上移动(M/2, M/2)像素
   - 右下角溢出的像素循环回到左上角
   - 这样原来不在一起的像素现在被划分到同一窗口
2. 交替使用W-MSA和SW-MSA：
   - 偶数层（0,2,4...）: W-MSA，正常窗口划分
   - 奇数层（1,3,5...）: SW-MSA，移位后的窗口划分
   - 这样在两个连续层中，信息既可以窗口内流动，也可以跨窗口流动
3. Masked Attention实现细节：
   - 移位后，有些窗口只有M×M/4个真实token
   - 通过mask矩阵将这些位置标记为-100
   - softmax后这些位置的attention权重趋近于0
   - 代码中通过attn_mask参数传入，形状为(nW, M², M²)
4. 相对位置偏置的重要性：
   - SW-MSA改变了token间的相对位置关系
   - 因此相对位置偏置B在移位前后需要正确调整
   - 论文使用预计算的相对位置索引表来处理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相对位置偏置详解
1. 为什么不用绝对位置编码？
   - ViT使用learned absolute position embedding，形状为(n+1)×d
   - 这种编码依赖于输入token的数量n，改变分辨率需要插值
   - Swin的窗口大小M是固定的，使用相对位置更自然
2. 相对位置偏置的物理意义：
   - 告诉模型"query和key之间的空间关系"
   - 例如：query在key的正上方 vs 正右方
   - 这种先验对视觉任务特别重要
3. 代码实现要点：
   - self.relative_position_bias_table: nn.Parameter of shape (num_heads, (2*M-1)*(2*M-1))
   - self.relative_position_index: 预计算的索引矩阵，不参与训练
   - 通过gather操作获取对应的bias值
4. SW-MSA中的位置偏置处理：
   - 由于循环移位改变了token的空间排列
   - 相对位置索引需要在移位坐标系下重新计算
   - 但实际上使用同一张索引表，因为相对关系在移位后保持一致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Patch Merge详解
1. 代码实现：
   def patch_merge(x):
       B, H, W, C = x.shape
       # 按通道分割为4部分
       x0 = x[:, 0::2, 0::2, :]  # top-left
       x1 = x[:, 1::2, 0::2, :]  # bottom-left
       x2 = x[:, 0::2, 1::2, :]  # top-right
       x3 = x[:, 1::2, 1::2, :]  # bottom-right
       # 拼接
       x = cat([x0,x1,x2,x3], dim=-1)  # B, H/2, W/2, 4C
       # 线性降维
       x = linear(x)  # B, H/2, W/2, 2C
       return x
2. 与其他方法的对比：
   - 参数量: 4C×2C = 8C² (线性层)
   - 相比3×3 conv stride-2 (2C×C×9 = 18C²)，更轻量
   - 相比max pooling (0参数)，增加了可学习能力
3. LayerNorm的位置：
   - Patch Merge前有LayerNorm
   - 符合Pre-Norm设计范式
   - 稳定训练过程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科学家故事详解
1. 刘泽的学术轨迹：
   - 作为第一作者完成了Swin Transformer这一里程碑工作
   - 从硕士到博士的研究聚焦于视觉架构设计
   - Swin的层级设计灵感部分来自对CNN架构的深入理解
   - Swin V2进一步将规模扩展到30亿参数
2. 何恺明的影响力：
   - ResNet解决了深度网络的退化问题，使得训练100+层网络成为可能
   - ResNet的层级设计（4个stage，逐级下采样）直接影响了Swin
   - Swin Transformer的4-stage设计几乎是对ResNet的Transformer版本复刻
3. MSRA的研究文化：
   - 给予研究者充分的自由和资源
   - 注重基础研究，而非仅仅追求短期应用
   - 在深度学习早期（2012-2016）就投入大量资源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核心论文详解
[1] Swin Transformer (ICCV 2021 Best Paper)
    - 谷歌学术引用 &gt; 20,000次
    - 提出了W-MSA、SW-MSA、Patch Merge三大创新
    - 在COCO上超越所有现有检测模型
[2] Swin V2 (CVPR 2022)
    - 解决了大规模Transformer训练的稳定性问题
    - 引入post-norm替代pre-norm
    - 使用scaled cosine attention避免大数值问题
    - 在ImageNet和ADE20K上刷新SOTA
[3] ViT (ICLR 2021)
    - 证明了"无卷积也能做视觉"
    - 但需要大量预训练数据（JFT-300M, 300M images）
[4] ResNet (CVPR 2016)
    - 计算机视觉领域引用量最高的论文之一
    - 为Swin提供了架构设计的蓝图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扩展阅读详解
1. Swin系列扩展论文：
   - SwinUNETR将Swin用于医学图像分割，在BTCV挑战赛中获得第一名
   - SwinMIM探索了Swin架构的自监督预训练方式
   - 视频Swin扩展了时间维度，用于动作识别
2. 相关架构对比：
   - PVT和Swin类似，也引入了金字塔结构，但使用空间缩减注意力(SRA)
   - CvT在每个阶段使用卷积进行patch embedding
   - CoAtNet在前层使用CNN，后层使用Transformer
   - 这些工作反映了"CNN+Transformer融合"的研究趋势
3. 建议阅读顺序：
   先读ViT → 再读Swin → 最后读PVT、CvT等对比工作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ImageNet分类实验详解
1. 训练配置：
   - 300 epochs训练
   - AdamW optimizer, lr=1e-3, weight decay=0.05
   - Data augmentation: RandAugment, CutMix, Mixup
   - 正则化: stochastic depth (layer drop rate=0.2 for Tiny, 0.5 for Large)
2. 模型变体：
   - Swin-T: embed=96, depth=[2,2,18,2], heads=[3,6,12,24]
   - Swin-S: embed=96, depth=[2,2,18,2], heads=[3,6,12,24], wider MLP
   - Swin-B: embed=128, depth=[2,2,18,2], heads=[4,8,16,32]
   - Swin-L: embed=192, depth=[2,2,18,2], heads=[6,12,24,48]
3. 重要发现：
   - Swin-Tiny (28M) 在ImageNet-1K上达到81.3%
   - 对比ViT-B (86M) 只在ImageNet-1K上训练得到77.9%
   - 层级架构和窗口注意力的组合非常有效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检测与分割实验详解
1. 目标检测（COCO val 2017）：
   - 框架: Detectron2/MMDetection
   - 训练: 1x schedule (12 epochs) + 3x schedule (36 epochs)
   - Swin-L + HTC++: box AP 51.0, mask AP 45.7
   - 这是当时COCO上的SOTA结果
2. 语义分割（ADE20K val）：
   - 框架: mmsegmentation
   - 训练: 160K iterations
   - Swin-L: mIoU 50.1 (首次突破50%)
3. 为什么Swin在下游任务中表现更好？
   - 层级式特征图直接适配FPN
   - ViT需要特殊处理才能得到多尺度特征
   - 窗口注意力保留了局部细节信息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小故事详解
1. "Swin"命名的幕后：
   - 论文投稿时团队需要一个好的缩写
   - Shifted Window -&gt; Sw + in -&gt; Swin
   - 简洁好记，也方便口口相传
2. 工业部署的关键因素：
   - 相对固定的输入大小（224×224或更高）
   - 窗口机制适合GPU并行计算
   - 层级特征适配各种下游任务
   - 开源代码完善，易于集成
3. 与ResNet的类比：
   - ResNet用了6年才被广泛替代
   - Swin有可能成为"下一代ResNet"
   - 但目前EfficientNet、ConvNeXt等也在竞争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思考题参考答案要点
Q1: 窗口大小M的选择
  - M=3: 计算更快，但感受野小，可能丢失中距离信息
  - M=7: 论文验证的最优默认值，平衡效率和质量
  - M=15: 接近全局注意力，复杂度大幅增加，窗口数量减少
  - 建议通过grid search在验证集上选择
Q2: 层级设计作为归纳偏置
  - 层级结构引入了"多尺度"归纳偏置
  - 位置编码引入了"空间关系"归纳偏置
  - 这些偏置与任务特性高度匹配（检测/分割需要多尺度）
Q3: 全局感受野所需层数
  - 每次SW-MSA移位M/2像素
  - 理论上 log2(H/M) + log2(W/M) 层即可覆盖全局
  - 实际中，Swin-Tiny有22层，远超理论上限
Q4: Patch Merge vs Stride-2 Conv
  - Patch Merge保留所有4个位置的信息
  - Conv stride-2通过卷积核采样，可能丢失部分信息
  - 但Conv有平移不变性等归纳偏置
Q5: 架构vs数据
  - Swin证明了架构设计可以弥补数据规模的不足
  - 但大规模预训练+好架构 &gt; 任何一个单独因素
  - Swin V2进一步探索了大规模数据+架构的结合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术语表(1)详解
1. W-MSA (Window-based Multi-head Self-Attention):
   - 核心思想：局部窗口计算代替全局计算
   - 窗口大小M默认为7，即每个窗口49个token
   - 计算效率：复杂度与窗口大小的平方成正比，而非图像的平方
2. SW-MSA (Shifted Window MSA):
   - 解决W-MSA的窗口间隔离问题
   - 通过循环移位实现跨窗口交互
   - 偶数层W-MSA，奇数层SW-MSA交替
3. Patch Merging:
   - 功能等同CNN中的下采样
   - 使用拼接+线性层，不使用卷积
   - 保持纯Transformer架构的一致性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术语表(2)详解
6. Patch Partition:
   - ViT使用16×16 Patch，Swin使用4×4 Patch
   - 更小的Patch保留了更多空间细节
   - 代价是更大的计算量，但窗口注意力机制补偿了这一点
7. Hierarchical Feature:
   - Stage1: 56×56×96 (高分辨率浅特征)
   - Stage2: 28×28×192
   - Stage3: 14×14×384
   - Stage4: 7×7×768 (低分辨率深特征)
   - FPN可以直接使用这4个尺度的特征
8. Stochastic Depth:
   - 按线性递增的drop rate，深层更容易被跳过
   - 等效于训练一个集成模型（不同深度的子网络）
9. Pre-Norm vs Post-Norm:
   - Pre-Norm: x + Block(LayerNorm(x))
   - Post-Norm: LayerNorm(x + Block(x))
   - Swin V2发现Post-Norm在大规模训练时更稳定
10. STB (Swin Transformer Block):
    - W-MSA和SW-MSA交替使用
    - MLP统一使用GELU激活函数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44预告
语义分割基础是计算机视觉学习路线中的重要一环：
1. 任务定义：
   - 语义分割：为每个像素分配一个类别标签
   - 实例分割：区分同一类别的不同实例
   - 全景分割：语义+实例的统一框架
2. 学习路径：
   - FCN（2015）: 开创端到端分割
   - U-Net（2015）: 编码器-解码器结构
   - DeepLab系列: 空洞卷积+ASPP
   - SegFormer: 基于Transformer的现代分割
3. 预习建议：
   - 重点理解FCN的全卷积思想
   - 对比U-Net和FCN的跳跃连接设计
   - 思考为什么Transformer适合分割任务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参考链接说明
1. 必看资源：
   - 官方GitHub仓库包含完整代码和预训练模型
   - 论文是最权威的参考资料
2. 代码学习路径：
   先读官方代码 → 再看timm简化实现 → 最后看MMDetection集成
3. 视频资源：
   ICCV口头报告是作者亲自讲解的最佳资料
4. 实践建议：
   - 使用timm库加载预训练Swin模型
   - 在COCO或ADE20K上微调
   - 可视化不同Stage的特征图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914400"/>
            <a:ext cx="54864" cy="50292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0972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43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164592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Swin Transformer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097280" y="2743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层级式视觉Transformer的革命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097280" y="3566160"/>
            <a:ext cx="3657600" cy="27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3840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计算机视觉100天学习计划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4297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2026-07-07</a:t>
            </a:r>
            <a:endParaRPr lang="en-US" sz="1400" dirty="0"/>
          </a:p>
        </p:txBody>
      </p:sp>
      <p:pic>
        <p:nvPicPr>
          <p:cNvPr id="11" name="Image 0" descr="/workspace/cv_learning/cv_day043_cove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0" y="914400"/>
            <a:ext cx="3840480" cy="5029200"/>
          </a:xfrm>
          <a:prstGeom prst="rect">
            <a:avLst/>
          </a:prstGeom>
          <a:effectLst>
            <a:outerShdw sx="100000" sy="100000" kx="0" ky="0" algn="bl" rotWithShape="0" blurRad="76200" dist="25400" dir="16200000">
              <a:srgbClr val="000000">
                <a:alpha val="40000"/>
              </a:srgbClr>
            </a:outerShdw>
          </a:effectLst>
        </p:spPr>
      </p:pic>
      <p:sp>
        <p:nvSpPr>
          <p:cNvPr id="12" name="Shape 9"/>
          <p:cNvSpPr/>
          <p:nvPr/>
        </p:nvSpPr>
        <p:spPr>
          <a:xfrm>
            <a:off x="1097280" y="5303520"/>
            <a:ext cx="3200400" cy="365760"/>
          </a:xfrm>
          <a:prstGeom prst="roundRect">
            <a:avLst>
              <a:gd name="adj" fmla="val 20000"/>
            </a:avLst>
          </a:prstGeom>
          <a:solidFill>
            <a:srgbClr val="D4A843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5303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Vision Transformer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"/>
            <a:ext cx="45720" cy="658368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355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43: Swin Transformer | 计算机视觉100天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360152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目录  |  Table of Contents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85216" y="1133856"/>
            <a:ext cx="5303520" cy="5120640"/>
          </a:xfrm>
          <a:prstGeom prst="roundRect">
            <a:avLst>
              <a:gd name="adj" fmla="val 2679"/>
            </a:avLst>
          </a:prstGeom>
          <a:solidFill>
            <a:srgbClr val="CCCCCC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097280"/>
            <a:ext cx="5303520" cy="5120640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19050">
            <a:solidFill>
              <a:srgbClr val="97BC62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1280160"/>
            <a:ext cx="47548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历史背景 (1) — ViT的瓶颈与局限</a:t>
            </a:r>
            <a:pPr algn="l" indent="0" marL="0">
              <a:lnSpc>
                <a:spcPct val="15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历史背景 (2) — Swin Transformer的诞生</a:t>
            </a:r>
            <a:pPr algn="l" indent="0" marL="0">
              <a:lnSpc>
                <a:spcPct val="15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核心概念 (1) — 层级架构 Hierarchical Architecture</a:t>
            </a:r>
            <a:pPr algn="l" indent="0" marL="0">
              <a:lnSpc>
                <a:spcPct val="15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核心概念 (2) — 窗口多头自注意力 W-MSA</a:t>
            </a:r>
            <a:pPr algn="l" indent="0" marL="0">
              <a:lnSpc>
                <a:spcPct val="15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核心概念 (3) — 移位窗口自注意力 SW-MSA</a:t>
            </a:r>
            <a:pPr algn="l" indent="0" marL="0">
              <a:lnSpc>
                <a:spcPct val="15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核心概念 (4) — 相对位置编码 Relative Position Bias</a:t>
            </a:r>
            <a:pPr algn="l" indent="0" marL="0">
              <a:lnSpc>
                <a:spcPct val="15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核心概念 (5) — Patch Merge模块</a:t>
            </a:r>
            <a:pPr algn="l" indent="0" marL="0">
              <a:lnSpc>
                <a:spcPct val="15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科学家故事 — 刘泽与何恺明</a:t>
            </a:r>
            <a:pPr algn="l" indent="0" marL="0">
              <a:lnSpc>
                <a:spcPct val="15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重要文献 (1) — 核心论文列表</a:t>
            </a:r>
            <a:pPr algn="l" indent="0" marL="0">
              <a:lnSpc>
                <a:spcPct val="15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重要文献 (2) — 扩展论文与应用</a:t>
            </a:r>
            <a:pPr algn="l" indent="0" marL="0">
              <a:lnSpc>
                <a:spcPct val="15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经典实验 (1) — ImageNet-1K分类性能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54496" y="1133856"/>
            <a:ext cx="5303520" cy="5120640"/>
          </a:xfrm>
          <a:prstGeom prst="roundRect">
            <a:avLst>
              <a:gd name="adj" fmla="val 2679"/>
            </a:avLst>
          </a:prstGeom>
          <a:solidFill>
            <a:srgbClr val="CCCCCC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17920" y="1097280"/>
            <a:ext cx="5303520" cy="5120640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19050">
            <a:solidFill>
              <a:srgbClr val="97BC62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92240" y="1280160"/>
            <a:ext cx="47548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经典实验 (2) — 目标检测与语义分割</a:t>
            </a:r>
            <a:pPr algn="l" indent="0" marL="0">
              <a:lnSpc>
                <a:spcPct val="15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小故事 — Swin名字由来与工业化应用</a:t>
            </a:r>
            <a:pPr algn="l" indent="0" marL="0">
              <a:lnSpc>
                <a:spcPct val="15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思考题 — 5道深入思考题</a:t>
            </a:r>
            <a:pPr algn="l" indent="0" marL="0">
              <a:lnSpc>
                <a:spcPct val="15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 术语表 (1) — 前5个核心术语</a:t>
            </a:r>
            <a:pPr algn="l" indent="0" marL="0">
              <a:lnSpc>
                <a:spcPct val="15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 术语表 (2) — 后5个核心术语</a:t>
            </a:r>
            <a:pPr algn="l" indent="0" marL="0">
              <a:lnSpc>
                <a:spcPct val="15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 下节预告 — Day 44: 语义分割基础</a:t>
            </a:r>
            <a:pPr algn="l" indent="0" marL="0">
              <a:lnSpc>
                <a:spcPct val="15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 参考链接 — 外部资源汇总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"/>
            <a:ext cx="45720" cy="658368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7432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历史背景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6400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ViT的瓶颈与局限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6355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43: Swin Transformer | 计算机视觉100天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360152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20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85216" y="1316736"/>
            <a:ext cx="6949440" cy="4937760"/>
          </a:xfrm>
          <a:prstGeom prst="roundRect">
            <a:avLst>
              <a:gd name="adj" fmla="val 2778"/>
            </a:avLst>
          </a:prstGeom>
          <a:solidFill>
            <a:srgbClr val="CCCCCC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280160"/>
            <a:ext cx="6949440" cy="493776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9050">
            <a:solidFill>
              <a:srgbClr val="97BC62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1417320"/>
            <a:ext cx="64008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Transformer (ViT) 的突破与不足</a:t>
            </a:r>
            <a:pPr algn="l" indent="0" marL="0">
              <a:lnSpc>
                <a:spcPct val="135000"/>
              </a:lnSpc>
              <a:buNone/>
            </a:pPr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(Dosovitskiy et al., 2020) 首次将Transformer直接应用于图像分类，使用固定大小的Patch将图像转化为序列，证明了纯注意力机制在视觉任务中的潜力。</a:t>
            </a:r>
            <a:pPr algn="l" indent="0" marL="0">
              <a:lnSpc>
                <a:spcPct val="135000"/>
              </a:lnSpc>
              <a:buNone/>
            </a:pPr>
            <a:pPr algn="l"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ViT存在的关键瓶颈：</a:t>
            </a:r>
            <a:pPr algn="l">
              <a:lnSpc>
                <a:spcPct val="135000"/>
              </a:lnSpc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全局自注意力的计算复杂度为 O(n²)，n为Patch数量</a:t>
            </a:r>
            <a:pPr algn="l">
              <a:lnSpc>
                <a:spcPct val="135000"/>
              </a:lnSpc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高分辨率图像的Patch数量庞大，显存消耗极高</a:t>
            </a:r>
            <a:pPr algn="l">
              <a:lnSpc>
                <a:spcPct val="135000"/>
              </a:lnSpc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ViT采用单一尺度特征图，缺乏多层级特征表示</a:t>
            </a:r>
            <a:pPr algn="l">
              <a:lnSpc>
                <a:spcPct val="135000"/>
              </a:lnSpc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无法像CNN那样逐层降低分辨率并增加通道数</a:t>
            </a:r>
            <a:pPr algn="l">
              <a:lnSpc>
                <a:spcPct val="135000"/>
              </a:lnSpc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在密集预测任务（检测、分割）中表现不佳</a:t>
            </a:r>
            <a:pPr algn="l">
              <a:lnSpc>
                <a:spcPct val="135000"/>
              </a:lnSpc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固定分辨率的Patch分割导致细粒度信息丢失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808976" y="1316736"/>
            <a:ext cx="3931920" cy="4937760"/>
          </a:xfrm>
          <a:prstGeom prst="roundRect">
            <a:avLst>
              <a:gd name="adj" fmla="val 3488"/>
            </a:avLst>
          </a:prstGeom>
          <a:solidFill>
            <a:srgbClr val="CCCCCC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0" y="1280160"/>
            <a:ext cx="3931920" cy="493776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9050">
            <a:solidFill>
              <a:srgbClr val="97BC62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955280" y="1417320"/>
            <a:ext cx="356616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复杂度对比</a:t>
            </a:r>
            <a:pPr algn="l" indent="0" marL="0">
              <a:lnSpc>
                <a:spcPct val="135000"/>
              </a:lnSpc>
              <a:buNone/>
            </a:pPr>
            <a:pPr algn="l"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ViT全局注意力：</a:t>
            </a:r>
            <a:pPr algn="l"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 × d)</a:t>
            </a:r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HW/16² (224×224图像, n=196)</a:t>
            </a:r>
            <a:pPr algn="l" indent="0" marL="0">
              <a:lnSpc>
                <a:spcPct val="135000"/>
              </a:lnSpc>
              <a:buNone/>
            </a:pPr>
            <a:pPr algn="l"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Swin窗口注意力：</a:t>
            </a:r>
            <a:pPr algn="l"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× M² × d)</a:t>
            </a:r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窗口大小 (默认7×7)</a:t>
            </a:r>
            <a:pPr algn="l"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M² &lt;&lt; n，线性复杂度！</a:t>
            </a:r>
            <a:pPr algn="l" indent="0" marL="0">
              <a:lnSpc>
                <a:spcPct val="135000"/>
              </a:lnSpc>
              <a:buNone/>
            </a:pPr>
            <a:pPr algn="l"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实际例子：</a:t>
            </a:r>
            <a:pPr algn="l">
              <a:lnSpc>
                <a:spcPct val="135000"/>
              </a:lnSpc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ViT: 196² = 38,416 次计算</a:t>
            </a:r>
            <a:pPr algn="l">
              <a:lnSpc>
                <a:spcPct val="135000"/>
              </a:lnSpc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Swin: 49 × 196 = 9,604 次</a:t>
            </a:r>
            <a:pPr algn="l"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减少约 75% 的计算量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"/>
            <a:ext cx="45720" cy="658368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7432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历史背景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640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Swin Transformer的诞生 (ICCV 2021 最佳论文)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6355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43: Swin Transformer | 计算机视觉100天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360152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20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85216" y="1316736"/>
            <a:ext cx="11064240" cy="2926080"/>
          </a:xfrm>
          <a:prstGeom prst="roundRect">
            <a:avLst>
              <a:gd name="adj" fmla="val 4688"/>
            </a:avLst>
          </a:prstGeom>
          <a:solidFill>
            <a:srgbClr val="CCCCCC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280160"/>
            <a:ext cx="11064240" cy="292608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9050">
            <a:solidFill>
              <a:srgbClr val="97BC62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1417320"/>
            <a:ext cx="10515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论文信息</a:t>
            </a:r>
            <a:pPr algn="l" indent="0" marL="0">
              <a:lnSpc>
                <a:spcPct val="140000"/>
              </a:lnSpc>
              <a:buNone/>
            </a:pPr>
            <a:pPr algn="l"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"Swin Transformer: Hierarchical Vision Transformer using Shifted Windows" — Liu et al., ICCV 2021</a:t>
            </a:r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作者：Jie Liu (刘泽), Ze Liu, Yutong Lin, Yue Cao, Han Hu, Yixuan Wei, Zheng Zhang, Stephen Lin, Baining Guo</a:t>
            </a:r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机构：Microsoft Research Asia (MSRA) — 微软亚洲研究院</a:t>
            </a:r>
            <a:pPr algn="l"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荣誉：ICCV 2021 Best Paper Award（最佳论文奖）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85216" y="4517136"/>
            <a:ext cx="5303520" cy="2011680"/>
          </a:xfrm>
          <a:prstGeom prst="roundRect">
            <a:avLst>
              <a:gd name="adj" fmla="val 6818"/>
            </a:avLst>
          </a:prstGeom>
          <a:solidFill>
            <a:srgbClr val="CCCCCC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4480560"/>
            <a:ext cx="5303520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97BC62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4617720"/>
            <a:ext cx="4754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发展时间线</a:t>
            </a:r>
            <a:pPr algn="l">
              <a:lnSpc>
                <a:spcPct val="145000"/>
              </a:lnSpc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2020.10 — ViT论文发布 (ICLR 2021)</a:t>
            </a:r>
            <a:pPr algn="l">
              <a:lnSpc>
                <a:spcPct val="145000"/>
              </a:lnSpc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2021.01 — DeiT: 数据高效的ViT训练</a:t>
            </a:r>
            <a:pPr algn="l">
              <a:lnSpc>
                <a:spcPct val="145000"/>
              </a:lnSpc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2021.03 — Swin Transformer arXiv预印本</a:t>
            </a:r>
            <a:pPr algn="l">
              <a:lnSpc>
                <a:spcPct val="145000"/>
              </a:lnSpc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2021.10 — 正式发表于ICCV 2021，获最佳论文</a:t>
            </a:r>
            <a:pPr algn="l">
              <a:lnSpc>
                <a:spcPct val="145000"/>
              </a:lnSpc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2022.03 — Swin Transformer V2 (CVPR 2022)</a:t>
            </a:r>
            <a:pPr algn="l">
              <a:lnSpc>
                <a:spcPct val="145000"/>
              </a:lnSpc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2022+ — 广泛工业部署（Azure OpenAI服务等）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54496" y="4517136"/>
            <a:ext cx="5394960" cy="2011680"/>
          </a:xfrm>
          <a:prstGeom prst="roundRect">
            <a:avLst>
              <a:gd name="adj" fmla="val 6818"/>
            </a:avLst>
          </a:prstGeom>
          <a:solidFill>
            <a:srgbClr val="CCCCCC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4480560"/>
            <a:ext cx="5394960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97BC62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92240" y="4617720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核心贡献</a:t>
            </a:r>
            <a:pPr algn="l">
              <a:lnSpc>
                <a:spcPct val="145000"/>
              </a:lnSpc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提出层级式架构（类似CNN的FPN结构），实现多尺度特征</a:t>
            </a:r>
            <a:pPr algn="l">
              <a:lnSpc>
                <a:spcPct val="145000"/>
              </a:lnSpc>
            </a:pPr>
            <a:r>
              <a:rPr lang="en-US" sz="12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引入窗口注意力机制，将计算复杂度从O(n²)降至O(n)</a:t>
            </a:r>
            <a:pPr algn="l">
              <a:lnSpc>
                <a:spcPct val="145000"/>
              </a:lnSpc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设计移位窗口（Shifted Window）实现跨窗口信息交换</a:t>
            </a:r>
            <a:pPr algn="l">
              <a:lnSpc>
                <a:spcPct val="145000"/>
              </a:lnSpc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在COCO检测和ADE20K分割上超越所有先前模型</a:t>
            </a:r>
            <a:pPr algn="l">
              <a:lnSpc>
                <a:spcPct val="145000"/>
              </a:lnSpc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统一了视觉任务架构，成为通用视觉骨干网络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"/>
            <a:ext cx="45720" cy="658368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7432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核心概念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6400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层级架构  |  Hierarchical Architecture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6355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43: Swin Transformer | 计算机视觉100天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360152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20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85216" y="1316736"/>
            <a:ext cx="11064240" cy="2560320"/>
          </a:xfrm>
          <a:prstGeom prst="roundRect">
            <a:avLst>
              <a:gd name="adj" fmla="val 5357"/>
            </a:avLst>
          </a:prstGeom>
          <a:solidFill>
            <a:srgbClr val="CCCCCC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280160"/>
            <a:ext cx="11064240" cy="256032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9050">
            <a:solidFill>
              <a:srgbClr val="97BC62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1417320"/>
            <a:ext cx="10515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 Transformer的整体架构设计</a:t>
            </a:r>
            <a:pPr algn="l" indent="0" marL="0">
              <a:lnSpc>
                <a:spcPct val="135000"/>
              </a:lnSpc>
              <a:buNone/>
            </a:pPr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 Transformer采用类似ResNet的四级（4-stage）架构，每个Stage包含多个Swin Transformer Block（STB）。通过Patch Merge操作，逐级降低空间分辨率（H,W减半），同时增加通道维度（C翻倍），形成层级式特征金字塔。</a:t>
            </a:r>
            <a:pPr algn="l" indent="0" marL="0">
              <a:lnSpc>
                <a:spcPct val="135000"/>
              </a:lnSpc>
              <a:buNone/>
            </a:pPr>
            <a:pPr algn="l"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输入图像 → Patch Partition (4×4) → Linear Embedding → Stage1 → Stage2 → Stage3 → Stage4 → 输出特征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85216" y="4151376"/>
            <a:ext cx="2651760" cy="2377440"/>
          </a:xfrm>
          <a:prstGeom prst="roundRect">
            <a:avLst>
              <a:gd name="adj" fmla="val 5769"/>
            </a:avLst>
          </a:prstGeom>
          <a:solidFill>
            <a:srgbClr val="CCCCCC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4114800"/>
            <a:ext cx="2651760" cy="237744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9050">
            <a:solidFill>
              <a:srgbClr val="97BC62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4251960"/>
            <a:ext cx="23774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pPr algn="l">
              <a:lnSpc>
                <a:spcPct val="140000"/>
              </a:lnSpc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分辨率: H/4 × W/4</a:t>
            </a:r>
            <a:pPr algn="l">
              <a:lnSpc>
                <a:spcPct val="140000"/>
              </a:lnSpc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通道数: C=96</a:t>
            </a:r>
            <a:pPr algn="l">
              <a:lnSpc>
                <a:spcPct val="140000"/>
              </a:lnSpc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Block数: 2个STB</a:t>
            </a:r>
            <a:pPr algn="l" indent="0" marL="0">
              <a:lnSpc>
                <a:spcPct val="140000"/>
              </a:lnSpc>
              <a:buNone/>
            </a:pP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特征分辨率最高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包含最细粒度信息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465576" y="4151376"/>
            <a:ext cx="2651760" cy="2377440"/>
          </a:xfrm>
          <a:prstGeom prst="roundRect">
            <a:avLst>
              <a:gd name="adj" fmla="val 5769"/>
            </a:avLst>
          </a:prstGeom>
          <a:solidFill>
            <a:srgbClr val="CCCCCC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29000" y="4114800"/>
            <a:ext cx="2651760" cy="237744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9050">
            <a:solidFill>
              <a:srgbClr val="97BC62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566160" y="4251960"/>
            <a:ext cx="23774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pPr algn="l">
              <a:lnSpc>
                <a:spcPct val="140000"/>
              </a:lnSpc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分辨率: H/8 × W/8</a:t>
            </a:r>
            <a:pPr algn="l">
              <a:lnSpc>
                <a:spcPct val="140000"/>
              </a:lnSpc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通道数: C=192</a:t>
            </a:r>
            <a:pPr algn="l">
              <a:lnSpc>
                <a:spcPct val="140000"/>
              </a:lnSpc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Block数: 2个STB</a:t>
            </a:r>
            <a:pPr algn="l" indent="0" marL="0">
              <a:lnSpc>
                <a:spcPct val="140000"/>
              </a:lnSpc>
              <a:buNone/>
            </a:pP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首次Patch Merge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分辨率减半，通道翻倍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345936" y="4151376"/>
            <a:ext cx="2651760" cy="2377440"/>
          </a:xfrm>
          <a:prstGeom prst="roundRect">
            <a:avLst>
              <a:gd name="adj" fmla="val 5769"/>
            </a:avLst>
          </a:prstGeom>
          <a:solidFill>
            <a:srgbClr val="CCCCCC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09360" y="4114800"/>
            <a:ext cx="2651760" cy="237744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9050">
            <a:solidFill>
              <a:srgbClr val="97BC62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46520" y="4251960"/>
            <a:ext cx="23774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pPr algn="l">
              <a:lnSpc>
                <a:spcPct val="140000"/>
              </a:lnSpc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分辨率: H/16 × W/16</a:t>
            </a:r>
            <a:pPr algn="l">
              <a:lnSpc>
                <a:spcPct val="140000"/>
              </a:lnSpc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通道数: C=384</a:t>
            </a:r>
            <a:pPr algn="l">
              <a:lnSpc>
                <a:spcPct val="140000"/>
              </a:lnSpc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Block数: 18个STB</a:t>
            </a:r>
            <a:pPr algn="l" indent="0" marL="0">
              <a:lnSpc>
                <a:spcPct val="140000"/>
              </a:lnSpc>
              <a:buNone/>
            </a:pP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最深层级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捕获高级语义特征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226296" y="4151376"/>
            <a:ext cx="2651760" cy="2377440"/>
          </a:xfrm>
          <a:prstGeom prst="roundRect">
            <a:avLst>
              <a:gd name="adj" fmla="val 5769"/>
            </a:avLst>
          </a:prstGeom>
          <a:solidFill>
            <a:srgbClr val="CCCCCC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189720" y="4114800"/>
            <a:ext cx="2651760" cy="237744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9050">
            <a:solidFill>
              <a:srgbClr val="97BC62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326880" y="4251960"/>
            <a:ext cx="23774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pPr algn="l">
              <a:lnSpc>
                <a:spcPct val="140000"/>
              </a:lnSpc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分辨率: H/32 × W/32</a:t>
            </a:r>
            <a:pPr algn="l">
              <a:lnSpc>
                <a:spcPct val="140000"/>
              </a:lnSpc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通道数: C=768</a:t>
            </a:r>
            <a:pPr algn="l">
              <a:lnSpc>
                <a:spcPct val="140000"/>
              </a:lnSpc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Block数: 2个STB</a:t>
            </a:r>
            <a:pPr algn="l" indent="0" marL="0">
              <a:lnSpc>
                <a:spcPct val="140000"/>
              </a:lnSpc>
              <a:buNone/>
            </a:pP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最终输出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用于分类头或检测/分割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"/>
            <a:ext cx="45720" cy="658368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7432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核心概念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640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窗口多头自注意力  |  Window-based Multi-Head Self-Attention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6355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43: Swin Transformer | 计算机视觉100天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360152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20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85216" y="1316736"/>
            <a:ext cx="6583680" cy="5029200"/>
          </a:xfrm>
          <a:prstGeom prst="roundRect">
            <a:avLst>
              <a:gd name="adj" fmla="val 2727"/>
            </a:avLst>
          </a:prstGeom>
          <a:solidFill>
            <a:srgbClr val="CCCCCC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280160"/>
            <a:ext cx="6583680" cy="50292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9050">
            <a:solidFill>
              <a:srgbClr val="97BC62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1417320"/>
            <a:ext cx="6126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W-MSA 核心思想</a:t>
            </a:r>
            <a:pPr algn="l" indent="0" marL="0">
              <a:lnSpc>
                <a:spcPct val="135000"/>
              </a:lnSpc>
              <a:buNone/>
            </a:pPr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将特征图划分为多个不重叠的局部窗口（默认7×7），在每个窗口内独立计算多头自注意力。这样将全局注意力的O(n²)计算复杂度降低为O(n×M²)，其中M是窗口大小。</a:t>
            </a:r>
            <a:pPr algn="l" indent="0" marL="0">
              <a:lnSpc>
                <a:spcPct val="135000"/>
              </a:lnSpc>
              <a:buNone/>
            </a:pPr>
            <a:pPr algn="l"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关键设计要素：</a:t>
            </a:r>
            <a:pPr algn="l">
              <a:lnSpc>
                <a:spcPct val="135000"/>
              </a:lnSpc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窗口大小M: 默认7×7=49个token</a:t>
            </a:r>
            <a:pPr algn="l">
              <a:lnSpc>
                <a:spcPct val="135000"/>
              </a:lnSpc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窗口按行和列均匀划分，无需额外padding</a:t>
            </a:r>
            <a:pPr algn="l">
              <a:lnSpc>
                <a:spcPct val="135000"/>
              </a:lnSpc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每个窗口内独立计算attention，窗口间无信息交互</a:t>
            </a:r>
            <a:pPr algn="l">
              <a:lnSpc>
                <a:spcPct val="135000"/>
              </a:lnSpc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注意力头数: 根据通道数自动分配</a:t>
            </a:r>
            <a:pPr algn="l">
              <a:lnSpc>
                <a:spcPct val="135000"/>
              </a:lnSpc>
            </a:pPr>
            <a:r>
              <a:rPr lang="en-US" sz="12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计算效率: M²远小于n，线性复杂度</a:t>
            </a:r>
            <a:pPr algn="l" indent="0" marL="0">
              <a:lnSpc>
                <a:spcPct val="135000"/>
              </a:lnSpc>
              <a:buNone/>
            </a:pPr>
            <a:pPr algn="l"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为什么窗口内计算足够？</a:t>
            </a:r>
            <a:pPr algn="l">
              <a:lnSpc>
                <a:spcPct val="135000"/>
              </a:lnSpc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图像具有局部性（locality）——相邻像素高度相关</a:t>
            </a:r>
            <a:pPr algn="l">
              <a:lnSpc>
                <a:spcPct val="135000"/>
              </a:lnSpc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低层特征（边缘、纹理）主要在局部窗口内</a:t>
            </a:r>
            <a:pPr algn="l">
              <a:lnSpc>
                <a:spcPct val="135000"/>
              </a:lnSpc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通过后续的SW-MSA实现跨窗口信息传递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443216" y="1316736"/>
            <a:ext cx="4297680" cy="2560320"/>
          </a:xfrm>
          <a:prstGeom prst="roundRect">
            <a:avLst>
              <a:gd name="adj" fmla="val 5357"/>
            </a:avLst>
          </a:prstGeom>
          <a:solidFill>
            <a:srgbClr val="CCCCCC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406640" y="1280160"/>
            <a:ext cx="4297680" cy="256032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9050">
            <a:solidFill>
              <a:srgbClr val="97BC62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543800" y="141732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注意力公式</a:t>
            </a:r>
            <a:pPr algn="l" indent="0" marL="0">
              <a:lnSpc>
                <a:spcPct val="135000"/>
              </a:lnSpc>
              <a:buNone/>
            </a:pPr>
            <a:pPr algn="l"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Attention(Q,K,V) = softmax(QKᵀ/√d + B)V</a:t>
            </a:r>
            <a:pPr algn="l" indent="0" marL="0">
              <a:lnSpc>
                <a:spcPct val="135000"/>
              </a:lnSpc>
              <a:buNone/>
            </a:pPr>
            <a:pPr algn="l">
              <a:lnSpc>
                <a:spcPct val="135000"/>
              </a:lnSpc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Q,K,V 在每个窗口内计算</a:t>
            </a:r>
            <a:pPr algn="l">
              <a:lnSpc>
                <a:spcPct val="135000"/>
              </a:lnSpc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为相对位置偏置（下一节详述）</a:t>
            </a:r>
            <a:pPr algn="l">
              <a:lnSpc>
                <a:spcPct val="135000"/>
              </a:lnSpc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为每个注意力头的维度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443216" y="4151376"/>
            <a:ext cx="4297680" cy="2194560"/>
          </a:xfrm>
          <a:prstGeom prst="roundRect">
            <a:avLst>
              <a:gd name="adj" fmla="val 6250"/>
            </a:avLst>
          </a:prstGeom>
          <a:solidFill>
            <a:srgbClr val="CCCCCC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406640" y="4114800"/>
            <a:ext cx="4297680" cy="219456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97BC62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543800" y="4251960"/>
            <a:ext cx="39319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计算效率对比</a:t>
            </a:r>
            <a:pPr algn="l" indent="0" marL="0">
              <a:lnSpc>
                <a:spcPct val="140000"/>
              </a:lnSpc>
              <a:buNone/>
            </a:pPr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全局MSA (ViT-Base):</a:t>
            </a:r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FLOPs ∝ HW × HW × C = O(n²)</a:t>
            </a:r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W-MSA (Swin-T):</a:t>
            </a:r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FLOPs ∝ HW × M² × C = O(n)</a:t>
            </a:r>
            <a:pPr algn="l"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实际加速比约 4-40倍（视分辨率而定）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"/>
            <a:ext cx="45720" cy="658368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7432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核心概念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640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移位窗口自注意力  |  Shifted Window MSA (SW-MSA)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6355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43: Swin Transformer | 计算机视觉100天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360152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20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85216" y="1316736"/>
            <a:ext cx="11064240" cy="2194560"/>
          </a:xfrm>
          <a:prstGeom prst="roundRect">
            <a:avLst>
              <a:gd name="adj" fmla="val 6250"/>
            </a:avLst>
          </a:prstGeom>
          <a:solidFill>
            <a:srgbClr val="CCCCCC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280160"/>
            <a:ext cx="11064240" cy="219456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97BC62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1417320"/>
            <a:ext cx="105156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SW-MSA: 解决窗口间信息隔离的关键设计</a:t>
            </a:r>
            <a:pPr algn="l" indent="0" marL="0">
              <a:lnSpc>
                <a:spcPct val="135000"/>
              </a:lnSpc>
              <a:buNone/>
            </a:pPr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W-MSA虽然高效，但每个窗口内的token只能与同窗口的token交互，导致窗口间信息无法流动。SW-MSA通过将窗口划分进行循环移位（cyclic shift），使得不同区域的token出现在同一窗口中，从而实现跨窗口的信息交换。相邻层交替使用W-MSA和SW-MSA。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85216" y="3785616"/>
            <a:ext cx="5303520" cy="2560320"/>
          </a:xfrm>
          <a:prstGeom prst="roundRect">
            <a:avLst>
              <a:gd name="adj" fmla="val 5357"/>
            </a:avLst>
          </a:prstGeom>
          <a:solidFill>
            <a:srgbClr val="CCCCCC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749040"/>
            <a:ext cx="5303520" cy="256032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9050">
            <a:solidFill>
              <a:srgbClr val="97BC62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7240" y="3886200"/>
            <a:ext cx="48463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移位窗口操作流程</a:t>
            </a:r>
            <a:pPr algn="l" indent="0" marL="0">
              <a:lnSpc>
                <a:spcPct val="140000"/>
              </a:lnSpc>
              <a:buNone/>
            </a:pPr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将特征图循环移位 (M/2, M/2) 像素</a:t>
            </a:r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在移位后的特征图上重新划分窗口</a:t>
            </a:r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在新窗口内计算自注意力</a:t>
            </a:r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逆移位（reverse cyclic shift）恢复原位</a:t>
            </a:r>
            <a:pPr algn="l" indent="0" marL="0">
              <a:lnSpc>
                <a:spcPct val="140000"/>
              </a:lnSpc>
              <a:buNone/>
            </a:pPr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效果：原来的4个相邻窗口各取1/4拼成新窗口</a:t>
            </a:r>
            <a:pPr algn="l"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实现了跨窗口的信息传递，同时保持线性复杂度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54496" y="3785616"/>
            <a:ext cx="5394960" cy="2560320"/>
          </a:xfrm>
          <a:prstGeom prst="roundRect">
            <a:avLst>
              <a:gd name="adj" fmla="val 5357"/>
            </a:avLst>
          </a:prstGeom>
          <a:solidFill>
            <a:srgbClr val="CCCCCC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3749040"/>
            <a:ext cx="5394960" cy="256032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9050">
            <a:solidFill>
              <a:srgbClr val="97BC62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46520" y="3886200"/>
            <a:ext cx="4937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高效计算技巧</a:t>
            </a:r>
            <a:pPr algn="l" indent="0" marL="0">
              <a:lnSpc>
                <a:spcPct val="140000"/>
              </a:lnSpc>
              <a:buNone/>
            </a:pPr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问题：移位后产生不规则窗口（如左上角和右下角）</a:t>
            </a:r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需要padding到M×M才能进行batch attention</a:t>
            </a:r>
            <a:pPr algn="l" indent="0" marL="0">
              <a:lnSpc>
                <a:spcPct val="140000"/>
              </a:lnSpc>
              <a:buNone/>
            </a:pPr>
            <a:pPr algn="l"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解决方案：Masked Attention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将不规则窗口用padding填充到M×M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使用attention mask屏蔽padding位置的贡献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保证只有真实token参与注意力计算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反向传播时mask自动处理梯度</a:t>
            </a:r>
            <a:pPr algn="l" indent="0" marL="0">
              <a:lnSpc>
                <a:spcPct val="140000"/>
              </a:lnSpc>
              <a:buNone/>
            </a:pPr>
            <a:pPr algn="l"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这种方法避免了显式的数据重新排列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"/>
            <a:ext cx="45720" cy="658368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7432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核心概念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6400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相对位置编码  |  Relative Position Bias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6355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43: Swin Transformer | 计算机视觉100天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360152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20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85216" y="1316736"/>
            <a:ext cx="6858000" cy="4937760"/>
          </a:xfrm>
          <a:prstGeom prst="roundRect">
            <a:avLst>
              <a:gd name="adj" fmla="val 2778"/>
            </a:avLst>
          </a:prstGeom>
          <a:solidFill>
            <a:srgbClr val="CCCCCC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280160"/>
            <a:ext cx="6858000" cy="493776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9050">
            <a:solidFill>
              <a:srgbClr val="97BC62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1417320"/>
            <a:ext cx="64008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相对位置偏置 (Relative Position Bias)</a:t>
            </a:r>
            <a:pPr algn="l" indent="0" marL="0">
              <a:lnSpc>
                <a:spcPct val="135000"/>
              </a:lnSpc>
              <a:buNone/>
            </a:pPr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 Transformer没有使用ViT中的绝对位置编码（learnable position embedding），而是引入了相对位置偏置B，直接加在attention score上。</a:t>
            </a:r>
            <a:pPr algn="l" indent="0" marL="0">
              <a:lnSpc>
                <a:spcPct val="135000"/>
              </a:lnSpc>
              <a:buNone/>
            </a:pPr>
            <a:pPr algn="l"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Attention公式：</a:t>
            </a:r>
            <a:pPr algn="l"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softmax(QKᵀ/√d + B)</a:t>
            </a:r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其中 B ∈ ℝ^(M²×M²) 为可学习的位置偏置参数</a:t>
            </a:r>
            <a:pPr algn="l" indent="0" marL="0">
              <a:lnSpc>
                <a:spcPct val="135000"/>
              </a:lnSpc>
              <a:buNone/>
            </a:pPr>
            <a:pPr algn="l"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设计特点：</a:t>
            </a:r>
            <a:pPr algn="l">
              <a:lnSpc>
                <a:spcPct val="135000"/>
              </a:lnSpc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B的大小只与窗口大小M有关，与输入尺寸无关</a:t>
            </a:r>
            <a:pPr algn="l">
              <a:lnSpc>
                <a:spcPct val="135000"/>
              </a:lnSpc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使用相对位置索引（row/col offset）查表获取</a:t>
            </a:r>
            <a:pPr algn="l">
              <a:lnSpc>
                <a:spcPct val="135000"/>
              </a:lnSpc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参数量为 M²×M²（默认7×7→49×49=2401）</a:t>
            </a:r>
            <a:pPr algn="l">
              <a:lnSpc>
                <a:spcPct val="135000"/>
              </a:lnSpc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每个注意力头共享同一组位置偏置</a:t>
            </a:r>
            <a:pPr algn="l">
              <a:lnSpc>
                <a:spcPct val="135000"/>
              </a:lnSpc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在SW-MSA中，相对位置索引会相应调整</a:t>
            </a:r>
            <a:pPr algn="l" indent="0" marL="0">
              <a:lnSpc>
                <a:spcPct val="135000"/>
              </a:lnSpc>
              <a:buNone/>
            </a:pPr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优势：比绝对位置编码更好地捕获局部结构关系，</a:t>
            </a:r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且具有更好的分辨率泛化性。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717536" y="1316736"/>
            <a:ext cx="4023360" cy="4937760"/>
          </a:xfrm>
          <a:prstGeom prst="roundRect">
            <a:avLst>
              <a:gd name="adj" fmla="val 3409"/>
            </a:avLst>
          </a:prstGeom>
          <a:solidFill>
            <a:srgbClr val="CCCCCC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680960" y="1280160"/>
            <a:ext cx="4023360" cy="4937760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19050">
            <a:solidFill>
              <a:srgbClr val="97BC62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818120" y="1417320"/>
            <a:ext cx="36576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实现细节</a:t>
            </a:r>
            <a:pPr algn="l" indent="0" marL="0">
              <a:lnSpc>
                <a:spcPct val="135000"/>
              </a:lnSpc>
              <a:buNone/>
            </a:pPr>
            <a:pPr algn="l"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坐标系设定</a:t>
            </a:r>
            <a:pPr algn="l">
              <a:lnSpc>
                <a:spcPct val="135000"/>
              </a:lnSpc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窗口内每个token有(i,j)坐标</a:t>
            </a:r>
            <a:pPr algn="l">
              <a:lnSpc>
                <a:spcPct val="135000"/>
              </a:lnSpc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i,j ∈ {0, 1, ..., M-1}</a:t>
            </a:r>
            <a:pPr algn="l" indent="0" marL="0">
              <a:lnSpc>
                <a:spcPct val="135000"/>
              </a:lnSpc>
              <a:buNone/>
            </a:pPr>
            <a:pPr algn="l"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相对位置索引</a:t>
            </a:r>
            <a:pPr algn="l">
              <a:lnSpc>
                <a:spcPct val="135000"/>
              </a:lnSpc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行偏移: i_q - i_k + M - 1</a:t>
            </a:r>
            <a:pPr algn="l">
              <a:lnSpc>
                <a:spcPct val="135000"/>
              </a:lnSpc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列偏移: j_q - j_k + M - 1</a:t>
            </a:r>
            <a:pPr algn="l">
              <a:lnSpc>
                <a:spcPct val="135000"/>
              </a:lnSpc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索引 = 行偏移 × 2M + 列偏移</a:t>
            </a:r>
            <a:pPr algn="l" indent="0" marL="0">
              <a:lnSpc>
                <a:spcPct val="135000"/>
              </a:lnSpc>
              <a:buNone/>
            </a:pPr>
            <a:pPr algn="l"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参数形状</a:t>
            </a:r>
            <a:pPr algn="l">
              <a:lnSpc>
                <a:spcPct val="135000"/>
              </a:lnSpc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num_heads × (2M-1)²</a:t>
            </a:r>
            <a:pPr algn="l">
              <a:lnSpc>
                <a:spcPct val="135000"/>
              </a:lnSpc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Tiny: 3 × 13² = 507 params</a:t>
            </a:r>
            <a:pPr algn="l" indent="0" marL="0">
              <a:lnSpc>
                <a:spcPct val="135000"/>
              </a:lnSpc>
              <a:buNone/>
            </a:pPr>
            <a:pPr algn="l"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与ViT位置编码对比</a:t>
            </a:r>
            <a:pPr algn="l">
              <a:lnSpc>
                <a:spcPct val="135000"/>
              </a:lnSpc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ViT: 绝对位置, 依赖于输入尺寸</a:t>
            </a:r>
            <a:pPr algn="l">
              <a:lnSpc>
                <a:spcPct val="135000"/>
              </a:lnSpc>
            </a:pPr>
            <a:r>
              <a:rPr lang="en-US" sz="11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Swin: 相对位置, 与输入尺寸无关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"/>
            <a:ext cx="45720" cy="658368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7432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核心概念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6400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Patch Merge 模块  |  下采样与通道扩展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6355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43: Swin Transformer | 计算机视觉100天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360152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20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85216" y="1316736"/>
            <a:ext cx="6766560" cy="2743200"/>
          </a:xfrm>
          <a:prstGeom prst="roundRect">
            <a:avLst>
              <a:gd name="adj" fmla="val 5000"/>
            </a:avLst>
          </a:prstGeom>
          <a:solidFill>
            <a:srgbClr val="CCCCCC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280160"/>
            <a:ext cx="676656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97BC62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1417320"/>
            <a:ext cx="63093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Merge: Swin的"池化层"</a:t>
            </a:r>
            <a:pPr algn="l" indent="0" marL="0">
              <a:lnSpc>
                <a:spcPct val="140000"/>
              </a:lnSpc>
              <a:buNone/>
            </a:pPr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Merge是Swin Transformer中实现层级式特征的关键模块，功能类似CNN中的stride=2卷积或池化操作。它将相邻Stage之间的特征分辨率减半（H,W → H/2,W/2），同时将通道数翻倍（C → 2C）。</a:t>
            </a:r>
            <a:pPr algn="l" indent="0" marL="0">
              <a:lnSpc>
                <a:spcPct val="140000"/>
              </a:lnSpc>
              <a:buNone/>
            </a:pPr>
            <a:pPr algn="l"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操作步骤：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将特征图按2×2区域分割，产生4个子特征图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在通道维度拼接4个子特征图，C → 4C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通过线性层将4C降维到2C</a:t>
            </a:r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结果: (H/2, W/2, 4C) → (H/2, W/2, 2C)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6096" y="1316736"/>
            <a:ext cx="4114800" cy="2743200"/>
          </a:xfrm>
          <a:prstGeom prst="roundRect">
            <a:avLst>
              <a:gd name="adj" fmla="val 5000"/>
            </a:avLst>
          </a:prstGeom>
          <a:solidFill>
            <a:srgbClr val="CCCCCC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589520" y="1280160"/>
            <a:ext cx="411480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97BC62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26680" y="1417320"/>
            <a:ext cx="37490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各Stage维度变化</a:t>
            </a:r>
            <a:pPr algn="l" indent="0" marL="0">
              <a:lnSpc>
                <a:spcPct val="140000"/>
              </a:lnSpc>
              <a:buNone/>
            </a:pP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224×224×3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Partition: 56×56×96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→ 2: 56×56×96 → 28×28×192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→ 3: 28×28×192 → 14×14×384</a:t>
            </a:r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→ 4: 14×14×384 → 7×7×768</a:t>
            </a:r>
            <a:pPr algn="l" indent="0" marL="0">
              <a:lnSpc>
                <a:spcPct val="140000"/>
              </a:lnSpc>
              <a:buNone/>
            </a:pPr>
            <a:pPr algn="l"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每步空间维度减半，通道数翻倍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85216" y="4334256"/>
            <a:ext cx="11064240" cy="2103120"/>
          </a:xfrm>
          <a:prstGeom prst="roundRect">
            <a:avLst>
              <a:gd name="adj" fmla="val 6522"/>
            </a:avLst>
          </a:prstGeom>
          <a:solidFill>
            <a:srgbClr val="CCCCCC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4297680"/>
            <a:ext cx="1106424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9050">
            <a:solidFill>
              <a:srgbClr val="97BC62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7240" y="443484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Merge vs 其他下采样方式</a:t>
            </a:r>
            <a:pPr algn="l" indent="0" marL="0">
              <a:lnSpc>
                <a:spcPct val="135000"/>
              </a:lnSpc>
              <a:buNone/>
            </a:pPr>
            <a:pPr algn="l"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Merge (Swin)</a:t>
            </a:r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纯Transformer方式，通过拼接+线性层实现，无卷积操作。保留了位置信息的完整性，同时参数量仅为 4C×2C 的线性层。信息保留率高，计算开销小。</a:t>
            </a:r>
            <a:pPr algn="l"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Stride-2 Conv (CNN)</a:t>
            </a:r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使用卷积核为2×2、stride=2的卷积层。具有局部归纳偏置，但丢失了部分位置信息，且在纯Transformer架构中引入卷积不够优雅。</a:t>
            </a:r>
            <a:pPr algn="l"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Pooling (ViT)</a:t>
            </a:r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ViT通常不改变分辨率，所有层维持固定分辨率，导致缺乏多尺度特征表示。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"/>
            <a:ext cx="45720" cy="658368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7432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科学家故事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6400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刘泽（Jie Liu）与何恺明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6355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43: Swin Transformer | 计算机视觉100天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360152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85216" y="1316736"/>
            <a:ext cx="5394960" cy="5029200"/>
          </a:xfrm>
          <a:prstGeom prst="roundRect">
            <a:avLst>
              <a:gd name="adj" fmla="val 2727"/>
            </a:avLst>
          </a:prstGeom>
          <a:solidFill>
            <a:srgbClr val="CCCCCC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280160"/>
            <a:ext cx="5394960" cy="50292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9050">
            <a:solidFill>
              <a:srgbClr val="97BC62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1417320"/>
            <a:ext cx="49377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刘泽 (Jie Liu) — Swin Transformer第一作者</a:t>
            </a:r>
            <a:pPr algn="l" indent="0" marL="0">
              <a:lnSpc>
                <a:spcPct val="135000"/>
              </a:lnSpc>
              <a:buNone/>
            </a:pPr>
            <a:pPr algn="l"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教育背景：</a:t>
            </a:r>
            <a:pPr algn="l">
              <a:lnSpc>
                <a:spcPct val="135000"/>
              </a:lnSpc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硕士毕业于北京理工大学</a:t>
            </a:r>
            <a:pPr algn="l">
              <a:lnSpc>
                <a:spcPct val="135000"/>
              </a:lnSpc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博士阶段在MSRA从事视觉Transformer研究</a:t>
            </a:r>
            <a:pPr algn="l" indent="0" marL="0">
              <a:lnSpc>
                <a:spcPct val="135000"/>
              </a:lnSpc>
              <a:buNone/>
            </a:pPr>
            <a:pPr algn="l"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主要贡献：</a:t>
            </a:r>
            <a:pPr algn="l">
              <a:lnSpc>
                <a:spcPct val="135000"/>
              </a:lnSpc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 Transformer (ICCV 2021 Best Paper)</a:t>
            </a:r>
            <a:pPr algn="l">
              <a:lnSpc>
                <a:spcPct val="135000"/>
              </a:lnSpc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 Transformer V2 (CVPR 2022)</a:t>
            </a:r>
            <a:pPr algn="l">
              <a:lnSpc>
                <a:spcPct val="135000"/>
              </a:lnSpc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为视觉Transformer建立了新的架构范式</a:t>
            </a:r>
            <a:pPr algn="l" indent="0" marL="0">
              <a:lnSpc>
                <a:spcPct val="135000"/>
              </a:lnSpc>
              <a:buNone/>
            </a:pPr>
            <a:pPr algn="l"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研究风格：</a:t>
            </a:r>
            <a:pPr algn="l">
              <a:lnSpc>
                <a:spcPct val="135000"/>
              </a:lnSpc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善于从CNN的经典设计中汲取灵感</a:t>
            </a:r>
            <a:pPr algn="l">
              <a:lnSpc>
                <a:spcPct val="135000"/>
              </a:lnSpc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将层级结构、多尺度特征等概念引入Transformer</a:t>
            </a:r>
            <a:pPr algn="l">
              <a:lnSpc>
                <a:spcPct val="135000"/>
              </a:lnSpc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注重模型的实用性和效率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54496" y="1316736"/>
            <a:ext cx="5394960" cy="2743200"/>
          </a:xfrm>
          <a:prstGeom prst="roundRect">
            <a:avLst>
              <a:gd name="adj" fmla="val 5000"/>
            </a:avLst>
          </a:prstGeom>
          <a:solidFill>
            <a:srgbClr val="CCCCCC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280160"/>
            <a:ext cx="539496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97BC62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46520" y="1417320"/>
            <a:ext cx="49377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何恺明 (Kaiming He) — 深度学习先驱</a:t>
            </a:r>
            <a:pPr algn="l" indent="0" marL="0">
              <a:lnSpc>
                <a:spcPct val="135000"/>
              </a:lnSpc>
              <a:buNone/>
            </a:pPr>
            <a:pPr algn="l"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代表成就：</a:t>
            </a:r>
            <a:pPr algn="l">
              <a:lnSpc>
                <a:spcPct val="135000"/>
              </a:lnSpc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 (CVPR 2016) — 深度残差网络，改变深度学习</a:t>
            </a:r>
            <a:pPr algn="l">
              <a:lnSpc>
                <a:spcPct val="135000"/>
              </a:lnSpc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R-CNN (ICCV 2017) — 实例分割里程碑</a:t>
            </a:r>
            <a:pPr algn="l">
              <a:lnSpc>
                <a:spcPct val="135000"/>
              </a:lnSpc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MoCo系列 — 自监督学习先驱</a:t>
            </a:r>
            <a:pPr algn="l">
              <a:lnSpc>
                <a:spcPct val="135000"/>
              </a:lnSpc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目前就职于MIT，研究方向转向自监督学习</a:t>
            </a:r>
            <a:pPr algn="l" indent="0" marL="0">
              <a:lnSpc>
                <a:spcPct val="135000"/>
              </a:lnSpc>
              <a:buNone/>
            </a:pPr>
            <a:pPr algn="l"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与Swin的关联：</a:t>
            </a:r>
            <a:pPr algn="l">
              <a:lnSpc>
                <a:spcPct val="135000"/>
              </a:lnSpc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Swin的设计深受ResNet层级架构启发</a:t>
            </a:r>
            <a:pPr algn="l">
              <a:lnSpc>
                <a:spcPct val="135000"/>
              </a:lnSpc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MSRA的视觉研究传统为何恺明所开创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54496" y="4334256"/>
            <a:ext cx="5394960" cy="2011680"/>
          </a:xfrm>
          <a:prstGeom prst="roundRect">
            <a:avLst>
              <a:gd name="adj" fmla="val 6818"/>
            </a:avLst>
          </a:prstGeom>
          <a:solidFill>
            <a:srgbClr val="CCCCCC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4297680"/>
            <a:ext cx="5394960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97BC62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46520" y="4434840"/>
            <a:ext cx="49377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MSRA视觉研究传承</a:t>
            </a:r>
            <a:pPr algn="l" indent="0" marL="0">
              <a:lnSpc>
                <a:spcPct val="135000"/>
              </a:lnSpc>
              <a:buNone/>
            </a:pPr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微软亚洲研究院视觉计算组培养了众多顶尖研究者：何恺明、孙剑、刘泽、张正等。从ResNet到Swin Transformer，MSRA持续引领计算机视觉架构创新。</a:t>
            </a:r>
            <a:pPr algn="l" indent="0" marL="0">
              <a:lnSpc>
                <a:spcPct val="135000"/>
              </a:lnSpc>
              <a:buNone/>
            </a:pPr>
            <a:pPr algn="l"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"好的研究来自对问题的深刻理解" — MSRA研究理念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"/>
            <a:ext cx="45720" cy="658368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7432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重要文献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6400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核心论文列表  |  Key Publications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6355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43: Swin Transformer | 计算机视觉100天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360152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85216" y="1316736"/>
            <a:ext cx="11064240" cy="5029200"/>
          </a:xfrm>
          <a:prstGeom prst="roundRect">
            <a:avLst>
              <a:gd name="adj" fmla="val 2727"/>
            </a:avLst>
          </a:prstGeom>
          <a:solidFill>
            <a:srgbClr val="CCCCCC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280160"/>
            <a:ext cx="11064240" cy="50292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9050">
            <a:solidFill>
              <a:srgbClr val="97BC62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141732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Swin Transformer: Hierarchical Vision Transformer using Shifted Windows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J. Liu, Z. Liu, Y. Lin, et al. ICCV 2021. Best Paper Award.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核心贡献：层级架构 + 窗口注意力 + 移位窗口。奠定了Swin系列的基础。</a:t>
            </a:r>
            <a:pPr algn="l" indent="0" marL="0">
              <a:lnSpc>
                <a:spcPct val="125000"/>
              </a:lnSpc>
              <a:buNone/>
            </a:pPr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Swin Transformer V2: Scaling Up Capacity and Resolution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Z. Liu, H. Hu, Y. Lin, et al. CVPR 2022.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将Swin扩展到30亿参数，引入post-norm和scaled cosine attention，训练1024×1024分辨率。</a:t>
            </a:r>
            <a:pPr algn="l" indent="0" marL="0">
              <a:lnSpc>
                <a:spcPct val="125000"/>
              </a:lnSpc>
              <a:buNone/>
            </a:pPr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An Image is Worth 16x16 Words: Transformers for Image Recognition at Scale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A. Dosovitskiy et al. ICLR 2021.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ViT原始论文，Swin的直接前置工作。开创了纯Transformer视觉架构的先河。</a:t>
            </a:r>
            <a:pPr algn="l" indent="0" marL="0">
              <a:lnSpc>
                <a:spcPct val="125000"/>
              </a:lnSpc>
              <a:buNone/>
            </a:pPr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Deep Residual Learning for Image Recognition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K. He, X. Zhang, S. Ren, J. Sun. CVPR 2016.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ResNet论文。Swin的层级架构直接受ResNet启发，是其Transformer化版本。</a:t>
            </a:r>
            <a:pPr algn="l" indent="0" marL="0">
              <a:lnSpc>
                <a:spcPct val="125000"/>
              </a:lnSpc>
              <a:buNone/>
            </a:pPr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Attention Is All You Need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A. Vaswani et al. NeurIPS 2017.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Transformer原始论文。Swin中的多头自注意力机制直接源于此。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"/>
            <a:ext cx="45720" cy="658368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7432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重要文献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6400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扩展论文与应用  |  Extended Reading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6355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43: Swin Transformer | 计算机视觉100天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360152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85216" y="1316736"/>
            <a:ext cx="11064240" cy="5029200"/>
          </a:xfrm>
          <a:prstGeom prst="roundRect">
            <a:avLst>
              <a:gd name="adj" fmla="val 2727"/>
            </a:avLst>
          </a:prstGeom>
          <a:solidFill>
            <a:srgbClr val="CCCCCC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280160"/>
            <a:ext cx="11064240" cy="50292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9050">
            <a:solidFill>
              <a:srgbClr val="97BC62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141732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Swin系列扩展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SwinUNETR: Transformers for 3D Medical Image Segmentation (MICCAI 2021) — 将Swin用于3D医学图像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STFT: Spatio-Temporal Fusion Transformer — 将Swin扩展到视频理解任务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SwinMIM: Masked Image Modeling with Swin Transformer — 自监督预训练</a:t>
            </a:r>
            <a:pPr algn="l" indent="0" marL="0">
              <a:lnSpc>
                <a:spcPct val="125000"/>
              </a:lnSpc>
              <a:buNone/>
            </a:pPr>
            <a:pPr algn="l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相关架构对比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PVT: Pyramid Vision Transformer (ICCV 2021) — 另一种层级式ViT设计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CvT: Introducing Convolutions to Vision Transformers (ICML 2021) — 卷积+Transformer混合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 CoAtNet: Marrying Convolution and Attention (ICML 2021) — CNN+Transformer混合架构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[12] Focal Transformer (NeurIPS 2021) — 使用focal attention的层级Transformer</a:t>
            </a:r>
            <a:pPr algn="l" indent="0" marL="0">
              <a:lnSpc>
                <a:spcPct val="125000"/>
              </a:lnSpc>
              <a:buNone/>
            </a:pPr>
            <a:pPr algn="l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工业应用论文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[13] 使用Swin Transformer进行工业缺陷检测 (multiple works, 2022-2023)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[14] Swin Transformer在遥感图像分析中的应用 (IEEE TGRS, 2022)</a:t>
            </a:r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[15] DAFormer: Densely Connected Transformer for Semantic Segmentation (2022)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"/>
            <a:ext cx="45720" cy="658368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7432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经典实验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640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ImageNet-1K 分类性能  |  Classification Results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6355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43: Swin Transformer | 计算机视觉100天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360152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85216" y="1316736"/>
            <a:ext cx="7772400" cy="4114800"/>
          </a:xfrm>
          <a:prstGeom prst="roundRect">
            <a:avLst>
              <a:gd name="adj" fmla="val 3333"/>
            </a:avLst>
          </a:prstGeom>
          <a:solidFill>
            <a:srgbClr val="CCCCCC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280160"/>
            <a:ext cx="7772400" cy="41148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97BC62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5000"/>
              </a:srgbClr>
            </a:outerShdw>
          </a:effectLst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463040"/>
          <a:ext cx="72237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188720"/>
                <a:gridCol w="1188720"/>
                <a:gridCol w="137160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模型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参数量(M)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FLOPs(G)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Top-1 Acc(%)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Top-5 Acc(%)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Swin-T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28M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4.5G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7BC62"/>
                          </a:solidFill>
                        </a:rPr>
                        <a:t>81.3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95.6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Swin-S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50M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8.7G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7BC62"/>
                          </a:solidFill>
                        </a:rPr>
                        <a:t>83.5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96.5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Swin-B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88M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15.4G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7BC62"/>
                          </a:solidFill>
                        </a:rPr>
                        <a:t>83.5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96.5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Swin-L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197M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34.5G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4A843"/>
                          </a:solidFill>
                        </a:rPr>
                        <a:t>86.0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97.4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ViT-B/16*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86M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17.6G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77.9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94.0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DeiT-B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86M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17.6G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81.8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95.6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ResNet-101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44M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7.8G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78.8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94.3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8631936" y="1316736"/>
            <a:ext cx="3108960" cy="4114800"/>
          </a:xfrm>
          <a:prstGeom prst="roundRect">
            <a:avLst>
              <a:gd name="adj" fmla="val 4412"/>
            </a:avLst>
          </a:prstGeom>
          <a:solidFill>
            <a:srgbClr val="CCCCCC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595360" y="1280160"/>
            <a:ext cx="3108960" cy="411480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9050">
            <a:solidFill>
              <a:srgbClr val="97BC62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732520" y="1417320"/>
            <a:ext cx="28346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关键发现</a:t>
            </a:r>
            <a:pPr algn="l" indent="0" marL="0">
              <a:lnSpc>
                <a:spcPct val="135000"/>
              </a:lnSpc>
              <a:buNone/>
            </a:pPr>
            <a:pPr algn="l">
              <a:lnSpc>
                <a:spcPct val="135000"/>
              </a:lnSpc>
            </a:pPr>
            <a:r>
              <a:rPr lang="en-US" sz="11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Swin-T(28M)超越DeiT-B(86M)和ViT-B*</a:t>
            </a:r>
            <a:pPr algn="l" indent="0" marL="0">
              <a:lnSpc>
                <a:spcPct val="135000"/>
              </a:lnSpc>
              <a:buNone/>
            </a:pPr>
            <a:pPr algn="l"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同等参数量下：</a:t>
            </a:r>
            <a:pPr algn="l">
              <a:lnSpc>
                <a:spcPct val="135000"/>
              </a:lnSpc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Swin-B &gt; DeiT-B</a:t>
            </a:r>
            <a:pPr algn="l"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83.5 vs 81.8</a:t>
            </a:r>
            <a:pPr algn="l" indent="0" marL="0">
              <a:lnSpc>
                <a:spcPct val="135000"/>
              </a:lnSpc>
              <a:buNone/>
            </a:pPr>
            <a:pPr algn="l"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效率优势：</a:t>
            </a:r>
            <a:pPr algn="l">
              <a:lnSpc>
                <a:spcPct val="135000"/>
              </a:lnSpc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Swin-T参数量仅ViT的1/3</a:t>
            </a:r>
            <a:pPr algn="l">
              <a:lnSpc>
                <a:spcPct val="135000"/>
              </a:lnSpc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FLOPs显著降低</a:t>
            </a:r>
            <a:pPr algn="l" indent="0" marL="0">
              <a:lnSpc>
                <a:spcPct val="135000"/>
              </a:lnSpc>
              <a:buNone/>
            </a:pPr>
            <a:pPr algn="l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注: ViT-B*使用ImageNet-21K预训练</a:t>
            </a:r>
            <a:pPr algn="l"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Swin仅使用ImageNet-1K训练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5623560"/>
            <a:ext cx="11064240" cy="640080"/>
          </a:xfrm>
          <a:prstGeom prst="roundRect">
            <a:avLst>
              <a:gd name="adj" fmla="val 14286"/>
            </a:avLst>
          </a:prstGeom>
          <a:solidFill>
            <a:srgbClr val="E8F5E0"/>
          </a:solidFill>
          <a:ln w="9525">
            <a:solidFill>
              <a:srgbClr val="97BC6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5800" y="5696712"/>
            <a:ext cx="10789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结论: Swin Transformer在仅使用ImageNet-1K训练的情况下，以更少的参数量和计算量达到了与甚至超越使用大规模预训练的ViT模型的性能。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"/>
            <a:ext cx="45720" cy="658368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7432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经典实验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640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目标检测 (COCO) &amp; 语义分割 (ADE20K)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6355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43: Swin Transformer | 计算机视觉100天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360152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85216" y="1316736"/>
            <a:ext cx="5394960" cy="2743200"/>
          </a:xfrm>
          <a:prstGeom prst="roundRect">
            <a:avLst>
              <a:gd name="adj" fmla="val 5000"/>
            </a:avLst>
          </a:prstGeom>
          <a:solidFill>
            <a:srgbClr val="CCCCCC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280160"/>
            <a:ext cx="539496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97BC62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1417320"/>
            <a:ext cx="49377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 目标检测</a:t>
            </a:r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使用Mask R-CNN + Swin作为Backbone</a:t>
            </a:r>
            <a:pPr algn="l" indent="0" marL="0">
              <a:lnSpc>
                <a:spcPct val="135000"/>
              </a:lnSpc>
              <a:buNone/>
            </a:pPr>
            <a:pPr algn="l"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Swin-T + Cascade Mask R-CNN:</a:t>
            </a:r>
            <a:pPr algn="l"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mAP: 46.0  |  mask mAP: 41.8</a:t>
            </a:r>
            <a:pPr algn="l" indent="0" marL="0">
              <a:lnSpc>
                <a:spcPct val="135000"/>
              </a:lnSpc>
              <a:buNone/>
            </a:pPr>
            <a:pPr algn="l"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Swin-L + HTC++:</a:t>
            </a:r>
            <a:pPr algn="l"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mAP: 51.0  |  mask mAP: 45.7</a:t>
            </a:r>
            <a:pPr algn="l" indent="0" marL="0">
              <a:lnSpc>
                <a:spcPct val="135000"/>
              </a:lnSpc>
              <a:buNone/>
            </a:pPr>
            <a:pPr algn="l">
              <a:lnSpc>
                <a:spcPct val="135000"/>
              </a:lnSpc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对比: ResNet-101-FPN box mAP=44.1</a:t>
            </a:r>
            <a:pPr algn="l"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Swin-T超越ResNet-101约2个点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54496" y="1316736"/>
            <a:ext cx="5394960" cy="2743200"/>
          </a:xfrm>
          <a:prstGeom prst="roundRect">
            <a:avLst>
              <a:gd name="adj" fmla="val 5000"/>
            </a:avLst>
          </a:prstGeom>
          <a:solidFill>
            <a:srgbClr val="CCCCCC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280160"/>
            <a:ext cx="539496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97BC62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46520" y="1417320"/>
            <a:ext cx="49377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ADE20K 语义分割</a:t>
            </a:r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使用UperNet解码器 + Swin Backbone</a:t>
            </a:r>
            <a:pPr algn="l" indent="0" marL="0">
              <a:lnSpc>
                <a:spcPct val="135000"/>
              </a:lnSpc>
              <a:buNone/>
            </a:pPr>
            <a:pPr algn="l"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Swin-T + UperNet:</a:t>
            </a:r>
            <a:pPr algn="l"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mIoU: 44.5</a:t>
            </a:r>
            <a:pPr algn="l" indent="0" marL="0">
              <a:lnSpc>
                <a:spcPct val="135000"/>
              </a:lnSpc>
              <a:buNone/>
            </a:pPr>
            <a:pPr algn="l"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Swin-L + UperNet:</a:t>
            </a:r>
            <a:pPr algn="l"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mIoU: 50.1</a:t>
            </a:r>
            <a:pPr algn="l" indent="0" marL="0">
              <a:lnSpc>
                <a:spcPct val="135000"/>
              </a:lnSpc>
              <a:buNone/>
            </a:pPr>
            <a:pPr algn="l">
              <a:lnSpc>
                <a:spcPct val="135000"/>
              </a:lnSpc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对比: ResNet-101 mIoU=44.5</a:t>
            </a:r>
            <a:pPr algn="l"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Swin-L超越ResNet-101约5.6个点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85216" y="4334256"/>
            <a:ext cx="6766560" cy="2194560"/>
          </a:xfrm>
          <a:prstGeom prst="roundRect">
            <a:avLst>
              <a:gd name="adj" fmla="val 6250"/>
            </a:avLst>
          </a:prstGeom>
          <a:solidFill>
            <a:srgbClr val="CCCCCC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4297680"/>
            <a:ext cx="6766560" cy="219456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97BC62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7240" y="4434840"/>
            <a:ext cx="63093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下游任务架构</a:t>
            </a:r>
            <a:pPr algn="l" indent="0" marL="0">
              <a:lnSpc>
                <a:spcPct val="135000"/>
              </a:lnSpc>
              <a:buNone/>
            </a:pPr>
            <a:pPr algn="l">
              <a:lnSpc>
                <a:spcPct val="135000"/>
              </a:lnSpc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检测: Swin Backbone → FPN/FPN+ → RPN → Fast/Cascade/Mask R-CNN Head</a:t>
            </a:r>
            <a:pPr algn="l">
              <a:lnSpc>
                <a:spcPct val="135000"/>
              </a:lnSpc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分割: Swin Backbone → FPN → UperNet解码器 → 分割图输出</a:t>
            </a:r>
            <a:pPr algn="l">
              <a:lnSpc>
                <a:spcPct val="135000"/>
              </a:lnSpc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关键: Swin的4-stage特征天然适配FPN的多尺度输入需求</a:t>
            </a:r>
            <a:endParaRPr lang="en-US" sz="1400" dirty="0"/>
          </a:p>
        </p:txBody>
      </p:sp>
      <p:pic>
        <p:nvPicPr>
          <p:cNvPr id="19" name="Image 0" descr="/workspace/cv_learning/cv_day043_applications.jpg">    </p:cNvPr>
          <p:cNvPicPr>
            <a:picLocks noChangeAspect="1"/>
          </p:cNvPicPr>
          <p:nvPr/>
        </p:nvPicPr>
        <p:blipFill>
          <a:blip r:embed="rId1"/>
          <a:srcRect l="-2066" r="-2066" t="0" b="0"/>
          <a:stretch/>
        </p:blipFill>
        <p:spPr>
          <a:xfrm>
            <a:off x="7589520" y="4297680"/>
            <a:ext cx="3840480" cy="2011680"/>
          </a:xfrm>
          <a:prstGeom prst="rect">
            <a:avLst/>
          </a:prstGeom>
          <a:effectLst>
            <a:outerShdw sx="100000" sy="100000" kx="0" ky="0" algn="bl" rotWithShape="0" blurRad="38100" dist="12700" dir="16200000">
              <a:srgbClr val="000000">
                <a:alpha val="20000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"/>
            <a:ext cx="45720" cy="658368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7432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小故事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6400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"Swin"名字由来与工业化应用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6355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43: Swin Transformer | 计算机视觉100天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360152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85216" y="1316736"/>
            <a:ext cx="5394960" cy="2926080"/>
          </a:xfrm>
          <a:prstGeom prst="roundRect">
            <a:avLst>
              <a:gd name="adj" fmla="val 4688"/>
            </a:avLst>
          </a:prstGeom>
          <a:solidFill>
            <a:srgbClr val="CCCCCC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280160"/>
            <a:ext cx="5394960" cy="292608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9050">
            <a:solidFill>
              <a:srgbClr val="97BC62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141732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"Swin" 名字由来</a:t>
            </a:r>
            <a:pPr algn="l" indent="0" marL="0">
              <a:lnSpc>
                <a:spcPct val="140000"/>
              </a:lnSpc>
              <a:buNone/>
            </a:pPr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"Swin"是"Shifted Window"的缩写，取Shifted的前两个字母"Sw"和Window的前两个字母"in"组合而成。</a:t>
            </a:r>
            <a:pPr algn="l" indent="0" marL="0">
              <a:lnSpc>
                <a:spcPct val="140000"/>
              </a:lnSpc>
              <a:buNone/>
            </a:pPr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有趣巧合："Swin"在英语中发音类似"Swine"（猪），但这纯属巧合。论文作者更愿意将其解读为一个小巧灵活的缩写，体现了移位窗口这一核心创新。</a:t>
            </a:r>
            <a:pPr algn="l" indent="0" marL="0">
              <a:lnSpc>
                <a:spcPct val="140000"/>
              </a:lnSpc>
              <a:buNone/>
            </a:pPr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类似命名风格：BERT, GPT, CLIP, MAE...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54496" y="1316736"/>
            <a:ext cx="5394960" cy="2926080"/>
          </a:xfrm>
          <a:prstGeom prst="roundRect">
            <a:avLst>
              <a:gd name="adj" fmla="val 4688"/>
            </a:avLst>
          </a:prstGeom>
          <a:solidFill>
            <a:srgbClr val="CCCCCC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280160"/>
            <a:ext cx="5394960" cy="292608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9050">
            <a:solidFill>
              <a:srgbClr val="97BC62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46520" y="141732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工业化应用案例</a:t>
            </a:r>
            <a:pPr algn="l" indent="0" marL="0">
              <a:lnSpc>
                <a:spcPct val="140000"/>
              </a:lnSpc>
              <a:buNone/>
            </a:pP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Azure: Swin作为Azure AI的视觉服务backbone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工业质检: 表面缺陷检测、PCB焊接检测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遥感分析: 卫星图像中的建筑物提取与变化检测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医学影像: CT/MRI器官分割（SwinUNETR）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自动驾驶: 车道线检测与场景理解</a:t>
            </a:r>
            <a:pPr algn="l" indent="0" marL="0">
              <a:lnSpc>
                <a:spcPct val="140000"/>
              </a:lnSpc>
              <a:buNone/>
            </a:pPr>
            <a:pPr algn="l"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Swin已成为仅次于ResNet的视觉骨干网络选择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85216" y="4517136"/>
            <a:ext cx="11064240" cy="2011680"/>
          </a:xfrm>
          <a:prstGeom prst="roundRect">
            <a:avLst>
              <a:gd name="adj" fmla="val 6818"/>
            </a:avLst>
          </a:prstGeom>
          <a:solidFill>
            <a:srgbClr val="CCCCCC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4480560"/>
            <a:ext cx="11064240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97BC62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7240" y="461772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从学术到工业：Swin的快速普及</a:t>
            </a:r>
            <a:pPr algn="l" indent="0" marL="0">
              <a:lnSpc>
                <a:spcPct val="135000"/>
              </a:lnSpc>
              <a:buNone/>
            </a:pPr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 Transformer自2021年发布后迅速在工业界得到采用。Hugging Face Transformers库在2021年底就集成了Swin，使其成为最易获取的视觉Transformer模型之一。MMDetection、Detectron2等主流框架也快速适配Swin作为backbone。Swin的成功证明了好的架构设计（层级+窗口+移位）可以同时满足学术创新和工业部署的需求。</a:t>
            </a:r>
            <a:pPr algn="l" indent="0" marL="0">
              <a:lnSpc>
                <a:spcPct val="135000"/>
              </a:lnSpc>
              <a:buNone/>
            </a:pPr>
            <a:pPr algn="l"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"架构即基础设施" — 一个好的骨干网络可以支撑整个视觉AI生态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"/>
            <a:ext cx="45720" cy="658368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7432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思考题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6400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深入思考题  |  Discussion Questions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6355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43: Swin Transformer | 计算机视觉100天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360152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85216" y="1316736"/>
            <a:ext cx="11064240" cy="5029200"/>
          </a:xfrm>
          <a:prstGeom prst="roundRect">
            <a:avLst>
              <a:gd name="adj" fmla="val 2727"/>
            </a:avLst>
          </a:prstGeom>
          <a:solidFill>
            <a:srgbClr val="CCCCCC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280160"/>
            <a:ext cx="11064240" cy="50292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9050">
            <a:solidFill>
              <a:srgbClr val="97BC62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141732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Swin Transformer的窗口大小M=7是一个超参数。如果将M改为3或15，会对模型性能和计算效率产生什么影响？如何确定最优的M值？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提示: 考虑感受野、计算复杂度O(n×M²)、信息传递效率之间的权衡。</a:t>
            </a:r>
            <a:pPr algn="l" indent="0" marL="0">
              <a:lnSpc>
                <a:spcPct val="125000"/>
              </a:lnSpc>
              <a:buNone/>
            </a:pPr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Swin的层级架构（4-stage）受ResNet启发。但Transformer本质上是无归纳偏置的，为什么层级设计仍然有效？这是否说明位置编码和架构设计本身就是一种归纳偏置？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提示: 思考多尺度特征在视觉任务中的必要性，以及架构设计如何引入隐式的归纳偏置。</a:t>
            </a:r>
            <a:pPr algn="l" indent="0" marL="0">
              <a:lnSpc>
                <a:spcPct val="125000"/>
              </a:lnSpc>
              <a:buNone/>
            </a:pPr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SW-MSA通过移位窗口实现跨窗口信息传递。对比全局注意力（直接跨所有token交互）和移位窗口方式，两者的信息传递效率有何差异？SW-MSA需要多少层才能实现全局感受野？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提示: 计算理论上，log(分辨率/窗口大小)层即可实现全局感受野。</a:t>
            </a:r>
            <a:pPr algn="l" indent="0" marL="0">
              <a:lnSpc>
                <a:spcPct val="125000"/>
              </a:lnSpc>
              <a:buNone/>
            </a:pPr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Q4: Patch Merge使用拼接+线性层的方式实现下采样。与使用stride-2卷积相比，哪种方式更能保留空间信息？在什么场景下优势更明显？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提示: 对比信息保留率、参数量、计算量以及是否有归纳偏置的差异。</a:t>
            </a:r>
            <a:pPr algn="l" indent="0" marL="0">
              <a:lnSpc>
                <a:spcPct val="125000"/>
              </a:lnSpc>
              <a:buNone/>
            </a:pPr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Q5: ViT通过在大规模数据上预训练获得了强大的泛化能力。Swin主要在ImageNet-1K上训练，为什么在下游任务上仍然超越了ViT？这说明了什么关于架构设计vs预训练数据的重要性？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提示: 架构设计和数据规模是两条不同的提升路径，Swin证明了架构创新的重要性。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"/>
            <a:ext cx="45720" cy="658368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7432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术语表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6400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核心术语 (1/2)  |  Glossary Part 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6355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43: Swin Transformer | 计算机视觉100天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360152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85216" y="1225296"/>
            <a:ext cx="11064240" cy="914400"/>
          </a:xfrm>
          <a:prstGeom prst="roundRect">
            <a:avLst>
              <a:gd name="adj" fmla="val 15000"/>
            </a:avLst>
          </a:prstGeom>
          <a:solidFill>
            <a:srgbClr val="CCCCCC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188720"/>
            <a:ext cx="11064240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97BC62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1261872"/>
            <a:ext cx="1051560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W-MSA</a:t>
            </a:r>
            <a:pPr algn="l" indent="0" marL="0">
              <a:lnSpc>
                <a:spcPct val="120000"/>
              </a:lnSpc>
              <a:buNone/>
            </a:pPr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Window-based Multi-head Self-Attention。将特征图划分为不重叠的M×M窗口，在每个窗口内独立计算多头自注意力。复杂度O(n×M²)，相比全局注意力O(n²)大幅降低。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85216" y="2276856"/>
            <a:ext cx="11064240" cy="914400"/>
          </a:xfrm>
          <a:prstGeom prst="roundRect">
            <a:avLst>
              <a:gd name="adj" fmla="val 15000"/>
            </a:avLst>
          </a:prstGeom>
          <a:solidFill>
            <a:srgbClr val="CCCCCC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240280"/>
            <a:ext cx="11064240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97BC62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7240" y="2313432"/>
            <a:ext cx="1051560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SW-MSA</a:t>
            </a:r>
            <a:pPr algn="l" indent="0" marL="0">
              <a:lnSpc>
                <a:spcPct val="120000"/>
              </a:lnSpc>
              <a:buNone/>
            </a:pPr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Shifted Window Multi-head Self-Attention。通过循环移位特征图实现窗口划分的交替变化，使不同区域的token出现在同一窗口内，解决W-MSA的窗口间信息隔离问题。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85216" y="3328416"/>
            <a:ext cx="11064240" cy="914400"/>
          </a:xfrm>
          <a:prstGeom prst="roundRect">
            <a:avLst>
              <a:gd name="adj" fmla="val 15000"/>
            </a:avLst>
          </a:prstGeom>
          <a:solidFill>
            <a:srgbClr val="CCCCCC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291840"/>
            <a:ext cx="11064240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97BC62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7240" y="3364992"/>
            <a:ext cx="1051560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Merging</a:t>
            </a:r>
            <a:pPr algn="l" indent="0" marL="0">
              <a:lnSpc>
                <a:spcPct val="120000"/>
              </a:lnSpc>
              <a:buNone/>
            </a:pPr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 Transformer的下采样模块。将相邻Stage间的特征分辨率减半（H,W→H/2,W/2），通道数翻倍（C→2C）。通过2×2区域拼接+线性层实现，类似CNN中stride=2卷积。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85216" y="4379976"/>
            <a:ext cx="11064240" cy="914400"/>
          </a:xfrm>
          <a:prstGeom prst="roundRect">
            <a:avLst>
              <a:gd name="adj" fmla="val 15000"/>
            </a:avLst>
          </a:prstGeom>
          <a:solidFill>
            <a:srgbClr val="CCCCCC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4343400"/>
            <a:ext cx="11064240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97BC62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4416552"/>
            <a:ext cx="1051560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Cyclic Shift</a:t>
            </a:r>
            <a:pPr algn="l" indent="0" marL="0">
              <a:lnSpc>
                <a:spcPct val="120000"/>
              </a:lnSpc>
              <a:buNone/>
            </a:pPr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循环移位操作。将特征图向左上方移动(M/2, M/2)像素，溢出的边缘循环回到对侧。用于SW-MSA中实现窗口重新划分，是Swin的核心操作之一。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85216" y="5431536"/>
            <a:ext cx="11064240" cy="914400"/>
          </a:xfrm>
          <a:prstGeom prst="roundRect">
            <a:avLst>
              <a:gd name="adj" fmla="val 15000"/>
            </a:avLst>
          </a:prstGeom>
          <a:solidFill>
            <a:srgbClr val="CCCCCC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5394960"/>
            <a:ext cx="11064240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97BC62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77240" y="5468112"/>
            <a:ext cx="1051560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Position Bias</a:t>
            </a:r>
            <a:pPr algn="l" indent="0" marL="0">
              <a:lnSpc>
                <a:spcPct val="120000"/>
              </a:lnSpc>
              <a:buNone/>
            </a:pPr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相对位置偏置。Swin中使用的位置编码方式，作为可学习参数直接加在attention score上。基于query和key的相对坐标查表获取，与输入尺寸无关，参数量为(2M-1)²。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"/>
            <a:ext cx="45720" cy="658368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7432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术语表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6400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核心术语 (2/2)  |  Glossary Part 2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6355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43: Swin Transformer | 计算机视觉100天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360152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85216" y="1225296"/>
            <a:ext cx="11064240" cy="914400"/>
          </a:xfrm>
          <a:prstGeom prst="roundRect">
            <a:avLst>
              <a:gd name="adj" fmla="val 15000"/>
            </a:avLst>
          </a:prstGeom>
          <a:solidFill>
            <a:srgbClr val="CCCCCC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188720"/>
            <a:ext cx="11064240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97BC62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1261872"/>
            <a:ext cx="1051560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Partition</a:t>
            </a:r>
            <a:pPr algn="l" indent="0" marL="0">
              <a:lnSpc>
                <a:spcPct val="120000"/>
              </a:lnSpc>
              <a:buNone/>
            </a:pPr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将输入图像分割为不重叠的4×4小块（Patch），然后将每个Patch展平并通过线性层映射到C维特征空间。类似ViT的Patch Embedding，但使用更小的Patch（4×4 vs 16×16）。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85216" y="2276856"/>
            <a:ext cx="11064240" cy="914400"/>
          </a:xfrm>
          <a:prstGeom prst="roundRect">
            <a:avLst>
              <a:gd name="adj" fmla="val 15000"/>
            </a:avLst>
          </a:prstGeom>
          <a:solidFill>
            <a:srgbClr val="CCCCCC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240280"/>
            <a:ext cx="11064240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97BC62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7240" y="2313432"/>
            <a:ext cx="1051560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Feature</a:t>
            </a:r>
            <a:pPr algn="l" indent="0" marL="0">
              <a:lnSpc>
                <a:spcPct val="120000"/>
              </a:lnSpc>
              <a:buNone/>
            </a:pPr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层级式特征。Swin通过4个Stage逐级降低空间分辨率、增加通道数，产生多尺度特征表示。这种设计类似CNN的FPN结构，是Swin在下游任务中表现优异的关键。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85216" y="3328416"/>
            <a:ext cx="11064240" cy="914400"/>
          </a:xfrm>
          <a:prstGeom prst="roundRect">
            <a:avLst>
              <a:gd name="adj" fmla="val 15000"/>
            </a:avLst>
          </a:prstGeom>
          <a:solidFill>
            <a:srgbClr val="CCCCCC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291840"/>
            <a:ext cx="11064240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97BC62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7240" y="3364992"/>
            <a:ext cx="1051560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 Depth</a:t>
            </a:r>
            <a:pPr algn="l" indent="0" marL="0">
              <a:lnSpc>
                <a:spcPct val="120000"/>
              </a:lnSpc>
              <a:buNone/>
            </a:pPr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随机深度（或Layer Drop）。训练时按一定概率跳过某些Transformer Block，起到正则化作用。Swin-Tiny使用drop rate=0.2，Large使用0.5。推理时不跳过任何层。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85216" y="4379976"/>
            <a:ext cx="11064240" cy="914400"/>
          </a:xfrm>
          <a:prstGeom prst="roundRect">
            <a:avLst>
              <a:gd name="adj" fmla="val 15000"/>
            </a:avLst>
          </a:prstGeom>
          <a:solidFill>
            <a:srgbClr val="CCCCCC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4343400"/>
            <a:ext cx="11064240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97BC62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4416552"/>
            <a:ext cx="1051560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Pre-Norm / Post-Norm</a:t>
            </a:r>
            <a:pPr algn="l" indent="0" marL="0">
              <a:lnSpc>
                <a:spcPct val="120000"/>
              </a:lnSpc>
              <a:buNone/>
            </a:pPr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LayerNorm在子层（attention/MLP）前还是后执行。Swin V1使用Pre-Norm（更稳定），Swin V2在大规模训练时改用Post-Norm以避免深层特征退化。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85216" y="5431536"/>
            <a:ext cx="11064240" cy="914400"/>
          </a:xfrm>
          <a:prstGeom prst="roundRect">
            <a:avLst>
              <a:gd name="adj" fmla="val 15000"/>
            </a:avLst>
          </a:prstGeom>
          <a:solidFill>
            <a:srgbClr val="CCCCCC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5394960"/>
            <a:ext cx="11064240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97BC62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77240" y="5468112"/>
            <a:ext cx="1051560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 Transformer Block (STB)</a:t>
            </a:r>
            <a:pPr algn="l" indent="0" marL="0">
              <a:lnSpc>
                <a:spcPct val="120000"/>
              </a:lnSpc>
              <a:buNone/>
            </a:pPr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 Transformer的基本构建块。包含LayerNorm → W-MSA/SW-MSA → 残差连接 → LayerNorm → MLP → 残差连接。相邻的两个STB组成一对，分别使用W-MSA和SW-MSA。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"/>
            <a:ext cx="45720" cy="658368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7432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下节预告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6400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44: 语义分割基础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6355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43: Swin Transformer | 计算机视觉100天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360152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85216" y="1316736"/>
            <a:ext cx="6858000" cy="5029200"/>
          </a:xfrm>
          <a:prstGeom prst="roundRect">
            <a:avLst>
              <a:gd name="adj" fmla="val 2727"/>
            </a:avLst>
          </a:prstGeom>
          <a:solidFill>
            <a:srgbClr val="CCCCCC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280160"/>
            <a:ext cx="6858000" cy="50292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9050">
            <a:solidFill>
              <a:srgbClr val="97BC62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1417320"/>
            <a:ext cx="64008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预习要点</a:t>
            </a:r>
            <a:pPr algn="l" indent="0" marL="0">
              <a:lnSpc>
                <a:spcPct val="140000"/>
              </a:lnSpc>
              <a:buNone/>
            </a:pPr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语义分割是计算机视觉的核心任务之一，Day 44将从基础概念开始，逐步介绍语义分割的发展脉络。</a:t>
            </a:r>
            <a:pPr algn="l" indent="0" marL="0">
              <a:lnSpc>
                <a:spcPct val="140000"/>
              </a:lnSpc>
              <a:buNone/>
            </a:pPr>
            <a:pPr algn="l"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预计涵盖内容：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语义分割 vs 实例分割 vs 全景分割的区别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经典方法回顾：FCN、U-Net、DeepLab系列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现代方法：Transformer在分割中的应用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常用数据集：PASCAL VOC, Cityscapes, ADE20K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评估指标：mIoU, Pixel Accuracy, Dice系数</a:t>
            </a:r>
            <a:pPr algn="l" indent="0" marL="0">
              <a:lnSpc>
                <a:spcPct val="140000"/>
              </a:lnSpc>
              <a:buNone/>
            </a:pPr>
            <a:pPr algn="l"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与今日内容的联系：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 Transformer的层级特征图天然适配分割任务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ADE20K实验展示了Swin在分割中的优势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UperNet解码器如何使用多尺度Swin特征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717536" y="1316736"/>
            <a:ext cx="4023360" cy="2743200"/>
          </a:xfrm>
          <a:prstGeom prst="roundRect">
            <a:avLst>
              <a:gd name="adj" fmla="val 5000"/>
            </a:avLst>
          </a:prstGeom>
          <a:solidFill>
            <a:srgbClr val="CCCCCC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680960" y="1280160"/>
            <a:ext cx="402336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97BC62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818120" y="1417320"/>
            <a:ext cx="36576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推荐预习材料</a:t>
            </a:r>
            <a:pPr algn="l" indent="0" marL="0">
              <a:lnSpc>
                <a:spcPct val="130000"/>
              </a:lnSpc>
              <a:buNone/>
            </a:pPr>
            <a:pPr algn="l">
              <a:lnSpc>
                <a:spcPct val="130000"/>
              </a:lnSpc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[必读] FCN: Fully Convolutional Networks (Long et al., CVPR 2015)</a:t>
            </a:r>
            <a:pPr algn="l">
              <a:lnSpc>
                <a:spcPct val="130000"/>
              </a:lnSpc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[必读] U-Net: Convolutional Networks for Biomedical Image Segmentation (Ronneberger et al., MICCAI 2015)</a:t>
            </a:r>
            <a:pPr algn="l">
              <a:lnSpc>
                <a:spcPct val="130000"/>
              </a:lnSpc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[选读] DeepLab v3+ (Chen et al., 2018)</a:t>
            </a:r>
            <a:pPr algn="l">
              <a:lnSpc>
                <a:spcPct val="130000"/>
              </a:lnSpc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[选读] SegFormer (Xie et al., NeurIPS 2021)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717536" y="4334256"/>
            <a:ext cx="4023360" cy="2011680"/>
          </a:xfrm>
          <a:prstGeom prst="roundRect">
            <a:avLst>
              <a:gd name="adj" fmla="val 6818"/>
            </a:avLst>
          </a:prstGeom>
          <a:solidFill>
            <a:srgbClr val="CCCCCC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80960" y="4297680"/>
            <a:ext cx="4023360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97BC62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818120" y="4434840"/>
            <a:ext cx="3657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预习思考</a:t>
            </a:r>
            <a:pPr algn="l" indent="0" marL="0">
              <a:lnSpc>
                <a:spcPct val="140000"/>
              </a:lnSpc>
              <a:buNone/>
            </a:pP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为什么分割比分类更难？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FCN如何从分类网络改造？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U-Net的跳跃连接有什么作用？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Transformer如何处理像素级预测？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"/>
            <a:ext cx="45720" cy="658368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7432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参考链接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6400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外部资源汇总  |  Reference Links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6355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43: Swin Transformer | 计算机视觉100天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360152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20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85216" y="1316736"/>
            <a:ext cx="5394960" cy="5029200"/>
          </a:xfrm>
          <a:prstGeom prst="roundRect">
            <a:avLst>
              <a:gd name="adj" fmla="val 2727"/>
            </a:avLst>
          </a:prstGeom>
          <a:solidFill>
            <a:srgbClr val="CCCCCC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280160"/>
            <a:ext cx="5394960" cy="50292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9050">
            <a:solidFill>
              <a:srgbClr val="97BC62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1417320"/>
            <a:ext cx="49377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官方资源</a:t>
            </a:r>
            <a:pPr algn="l" indent="0" marL="0">
              <a:lnSpc>
                <a:spcPct val="130000"/>
              </a:lnSpc>
              <a:buNone/>
            </a:pPr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 Transformer GitHub:</a:t>
            </a:r>
            <a:pPr algn="l">
              <a:lnSpc>
                <a:spcPct val="130000"/>
              </a:lnSpc>
            </a:pPr>
            <a:r>
              <a:rPr lang="en-US" sz="1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github.com/microsoft/Swin-Transformer</a:t>
            </a:r>
            <a:pPr algn="l" indent="0" marL="0">
              <a:lnSpc>
                <a:spcPct val="130000"/>
              </a:lnSpc>
              <a:buNone/>
            </a:pPr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 Transformer V2:</a:t>
            </a:r>
            <a:pPr algn="l">
              <a:lnSpc>
                <a:spcPct val="130000"/>
              </a:lnSpc>
            </a:pPr>
            <a:r>
              <a:rPr lang="en-US" sz="1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github.com/microsoft/Swin-Transformer-V2</a:t>
            </a:r>
            <a:pPr algn="l" indent="0" marL="0">
              <a:lnSpc>
                <a:spcPct val="130000"/>
              </a:lnSpc>
              <a:buNone/>
            </a:pPr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论文链接 (arXiv):</a:t>
            </a:r>
            <a:pPr algn="l">
              <a:lnSpc>
                <a:spcPct val="130000"/>
              </a:lnSpc>
            </a:pPr>
            <a:r>
              <a:rPr lang="en-US" sz="1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arxiv.org/abs/2103.14030 (Swin V1)</a:t>
            </a:r>
            <a:pPr algn="l">
              <a:lnSpc>
                <a:spcPct val="130000"/>
              </a:lnSpc>
            </a:pPr>
            <a:r>
              <a:rPr lang="en-US" sz="1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arxiv.org/abs/2111.09883 (Swin V2)</a:t>
            </a:r>
            <a:pPr algn="l" indent="0" marL="0">
              <a:lnSpc>
                <a:spcPct val="130000"/>
              </a:lnSpc>
              <a:buNone/>
            </a:pPr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教程与博客</a:t>
            </a:r>
            <a:pPr algn="l" indent="0" marL="0">
              <a:lnSpc>
                <a:spcPct val="130000"/>
              </a:lnSpc>
              <a:buNone/>
            </a:pPr>
            <a:pPr algn="l">
              <a:lnSpc>
                <a:spcPct val="130000"/>
              </a:lnSpc>
            </a:pPr>
            <a:r>
              <a:rPr lang="en-US" sz="1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Face文档: huggingface.co/docs/transformers/model_doc/swin</a:t>
            </a:r>
            <a:pPr algn="l">
              <a:lnSpc>
                <a:spcPct val="130000"/>
              </a:lnSpc>
            </a:pPr>
            <a:r>
              <a:rPr lang="en-US" sz="1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Lil'Log (Lilian Weng): Attention? Attention!</a:t>
            </a:r>
            <a:pPr algn="l">
              <a:lnSpc>
                <a:spcPct val="130000"/>
              </a:lnSpc>
            </a:pPr>
            <a:r>
              <a:rPr lang="en-US" sz="1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MMDetection Swin文档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54496" y="1316736"/>
            <a:ext cx="5394960" cy="5029200"/>
          </a:xfrm>
          <a:prstGeom prst="roundRect">
            <a:avLst>
              <a:gd name="adj" fmla="val 2727"/>
            </a:avLst>
          </a:prstGeom>
          <a:solidFill>
            <a:srgbClr val="CCCCCC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280160"/>
            <a:ext cx="5394960" cy="50292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9050">
            <a:solidFill>
              <a:srgbClr val="97BC62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46520" y="1417320"/>
            <a:ext cx="49377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代码实现参考</a:t>
            </a:r>
            <a:pPr algn="l" indent="0" marL="0">
              <a:lnSpc>
                <a:spcPct val="130000"/>
              </a:lnSpc>
              <a:buNone/>
            </a:pPr>
            <a:pPr algn="l"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PyTorch官方Vision Transformer参考实现</a:t>
            </a:r>
            <a:pPr algn="l"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Timm库: Swin Transformer权重和实现</a:t>
            </a:r>
            <a:pPr algn="l"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Detectron2: Swin作为Detection Backbone</a:t>
            </a:r>
            <a:pPr algn="l"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mmsegmentation: Swin用于语义分割</a:t>
            </a:r>
            <a:pPr algn="l" indent="0" marL="0">
              <a:lnSpc>
                <a:spcPct val="130000"/>
              </a:lnSpc>
              <a:buNone/>
            </a:pPr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视频与讲座</a:t>
            </a:r>
            <a:pPr algn="l" indent="0" marL="0">
              <a:lnSpc>
                <a:spcPct val="130000"/>
              </a:lnSpc>
              <a:buNone/>
            </a:pPr>
            <a:pPr algn="l"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ICCV 2021 Best Paper口头报告 (YouTube)</a:t>
            </a:r>
            <a:pPr algn="l"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Yannic Killich论文解读视频</a:t>
            </a:r>
            <a:pPr algn="l"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CS231n: Vision Transformers (Stanford)</a:t>
            </a:r>
            <a:pPr algn="l" indent="0" marL="0">
              <a:lnSpc>
                <a:spcPct val="130000"/>
              </a:lnSpc>
              <a:buNone/>
            </a:pPr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相关数据集</a:t>
            </a:r>
            <a:pPr algn="l" indent="0" marL="0">
              <a:lnSpc>
                <a:spcPct val="130000"/>
              </a:lnSpc>
              <a:buNone/>
            </a:pPr>
            <a:pPr algn="l"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ImageNet-1K: image-net.org</a:t>
            </a:r>
            <a:pPr algn="l"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COCO: cocodataset.org</a:t>
            </a:r>
            <a:pPr algn="l"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ADE20K: groups.csail.mit.edu/vision/datasets/ADE20K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43: Swin Transformer - Hierarchical Vision Transformer</dc:title>
  <dc:subject>Day 43: Swin Transformer</dc:subject>
  <dc:creator>CV100Days</dc:creator>
  <cp:lastModifiedBy>CV100Days</cp:lastModifiedBy>
  <cp:revision>1</cp:revision>
  <dcterms:created xsi:type="dcterms:W3CDTF">2026-07-07T05:17:01Z</dcterms:created>
  <dcterms:modified xsi:type="dcterms:W3CDTF">2026-07-07T05:17:01Z</dcterms:modified>
</cp:coreProperties>
</file>