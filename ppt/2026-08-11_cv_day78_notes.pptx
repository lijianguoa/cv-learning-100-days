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医学图像处理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Processing: From DICOM to AI-Assisted Diagnosis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8288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计算机视觉100天学习计划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笔记版 (Notes Mode)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11个板块 · 20页详解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1371600"/>
            <a:ext cx="1371600" cy="13716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🔬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Table of Contents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本节学习路线图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777240"/>
          </a:xfrm>
          <a:prstGeom prst="rect">
            <a:avLst>
              <a:gd name="adj" fmla="val 588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170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481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从X射线到AI辅助诊断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931920" cy="777240"/>
          </a:xfrm>
          <a:prstGeom prst="rect">
            <a:avLst>
              <a:gd name="adj" fmla="val 588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084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医学图像类型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3957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X-ray, CT, MRI, 超声, PET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777240"/>
          </a:xfrm>
          <a:prstGeom prst="rect">
            <a:avLst>
              <a:gd name="adj" fmla="val 588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29992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DICOM标准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3101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医学影像数据格式与处理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931920" cy="777240"/>
          </a:xfrm>
          <a:prstGeom prst="rect">
            <a:avLst>
              <a:gd name="adj" fmla="val 588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31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9136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CT图像分析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224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Hounsfield单位与窗口技术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097280"/>
            <a:ext cx="3931920" cy="777240"/>
          </a:xfrm>
          <a:prstGeom prst="rect">
            <a:avLst>
              <a:gd name="adj" fmla="val 588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88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94960" y="1170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MRI图像分析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1481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脉冲序列与T1/T2加权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011680"/>
            <a:ext cx="3931920" cy="777240"/>
          </a:xfrm>
          <a:prstGeom prst="rect">
            <a:avLst>
              <a:gd name="adj" fmla="val 588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94960" y="2084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肺结节检测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23957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分类、AI检测流程与U-Net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3931920" cy="777240"/>
          </a:xfrm>
          <a:prstGeom prst="rect">
            <a:avLst>
              <a:gd name="adj" fmla="val 588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94960" y="29992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重要文献与数据集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3101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经典论文与公开数据集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840480"/>
            <a:ext cx="3931920" cy="777240"/>
          </a:xfrm>
          <a:prstGeom prst="rect">
            <a:avLst>
              <a:gd name="adj" fmla="val 588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31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394960" y="39136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思考与展望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94960" y="4224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思考题与下节预告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 (1): X射线的发现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1895年 — 医学影像学的诞生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182880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威廉·伦琴 (1845-1923)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1895年发现X射线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1901年首届诺贝尔物理学奖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首张X光片：妻子手掌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097280"/>
            <a:ext cx="4206240" cy="182880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技术影响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1554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首次无创观察人体内部结构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催生放射学学科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为后续CT、MRI奠定基础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关键事件时间线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1920240" cy="640080"/>
          </a:xfrm>
          <a:prstGeom prst="rect">
            <a:avLst>
              <a:gd name="adj" fmla="val 4286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20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1895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伦琴发现X射线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3474720"/>
            <a:ext cx="1920240" cy="640080"/>
          </a:xfrm>
          <a:prstGeom prst="rect">
            <a:avLst>
              <a:gd name="adj" fmla="val 4286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520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1896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5176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X射线首次临床应用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474720"/>
            <a:ext cx="1920240" cy="640080"/>
          </a:xfrm>
          <a:prstGeom prst="rect">
            <a:avLst>
              <a:gd name="adj" fmla="val 4286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520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伦琴获诺贝尔物理学奖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3474720"/>
            <a:ext cx="1920240" cy="640080"/>
          </a:xfrm>
          <a:prstGeom prst="rect">
            <a:avLst>
              <a:gd name="adj" fmla="val 4286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520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X射线管改进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 (2): CT与MRI革命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 — 三维医学成像时代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2286000"/>
          </a:xfrm>
          <a:prstGeom prst="rect">
            <a:avLst>
              <a:gd name="adj" fmla="val 20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Godfrey Hounsfield — CT发明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1971年首台CT扫描仪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EMI公司研发 (百代唱片)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1979年诺贝尔生理学医学奖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Hounsfield单位(HU)以其命名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首台原型机：9天获取一个断层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097280"/>
            <a:ext cx="4206240" cy="2286000"/>
          </a:xfrm>
          <a:prstGeom prst="rect">
            <a:avLst>
              <a:gd name="adj" fmla="val 20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Raymond Damadian — MRI先驱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1977年首次人体MRI扫描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利用氢原子核磁共振信号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对软组织对比度极高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无电离辐射，安全可靠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651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催生功能磁共振(fMRI)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548640"/>
          </a:xfrm>
          <a:prstGeom prst="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"CT扫描被誉为自X射线发现以来医学影像领域最伟大的进步"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 (3): 深度学习时代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2012-2020 — AI改变医学影像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594360"/>
          </a:xfrm>
          <a:prstGeom prst="rect">
            <a:avLst>
              <a:gd name="adj" fmla="val 4615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5943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AlexNet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143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ImageNet突破，深度学习进入医学影像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8229600" cy="594360"/>
          </a:xfrm>
          <a:prstGeom prst="rect">
            <a:avLst>
              <a:gd name="adj" fmla="val 4615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783080"/>
            <a:ext cx="73152" cy="5943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288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医学图像分割里程碑，编码器-解码器结构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594360"/>
          </a:xfrm>
          <a:prstGeom prst="rect">
            <a:avLst>
              <a:gd name="adj" fmla="val 4615"/>
            </a:avLst>
          </a:prstGeom>
          <a:solidFill>
            <a:srgbClr val="F0EDE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68880"/>
            <a:ext cx="73152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14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Google眼底AI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25146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JAMA发文，糖尿病视网膜病变检测达专家级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8229600" cy="594360"/>
          </a:xfrm>
          <a:prstGeom prst="rect">
            <a:avLst>
              <a:gd name="adj" fmla="val 4615"/>
            </a:avLst>
          </a:prstGeom>
          <a:solidFill>
            <a:srgbClr val="F0EDE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54680"/>
            <a:ext cx="73152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004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CheXNet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2004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斯坦福胸片14种疾病检测，超越放射科医生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594360"/>
          </a:xfrm>
          <a:prstGeom prst="rect">
            <a:avLst>
              <a:gd name="adj" fmla="val 4615"/>
            </a:avLst>
          </a:prstGeom>
          <a:solidFill>
            <a:srgbClr val="F0EDE3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40480"/>
            <a:ext cx="73152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862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 AI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3886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CT辅助诊断COVID-19，大流行中的AI应用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医学图像类型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五种主要成像模态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1645920"/>
          </a:xfrm>
          <a:prstGeom prst="rect">
            <a:avLst>
              <a:gd name="adj" fmla="val 2778"/>
            </a:avLst>
          </a:prstGeom>
          <a:solidFill>
            <a:srgbClr val="F0EDE3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2560320" cy="457200"/>
          </a:xfrm>
          <a:prstGeom prst="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155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X射线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原理: 电磁波穿透组织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应用: 骨折/胸部筛查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560320" cy="1645920"/>
          </a:xfrm>
          <a:prstGeom prst="rect">
            <a:avLst>
              <a:gd name="adj" fmla="val 2778"/>
            </a:avLst>
          </a:prstGeom>
          <a:solidFill>
            <a:srgbClr val="F0EDE3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97280"/>
            <a:ext cx="2560320" cy="457200"/>
          </a:xfrm>
          <a:prstGeom prst="rect">
            <a:avLst>
              <a:gd name="adj" fmla="val 10000"/>
            </a:avLst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1155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原理: 多角度X射线重建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应用: 三维解剖成像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560320" cy="1645920"/>
          </a:xfrm>
          <a:prstGeom prst="rect">
            <a:avLst>
              <a:gd name="adj" fmla="val 2778"/>
            </a:avLst>
          </a:prstGeom>
          <a:solidFill>
            <a:srgbClr val="F0EDE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097280"/>
            <a:ext cx="2560320" cy="457200"/>
          </a:xfrm>
          <a:prstGeom prst="rect">
            <a:avLst>
              <a:gd name="adj" fmla="val 10000"/>
            </a:avLst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1155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原理: 氢原子核磁共振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应用: 软组织高对比度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2560320" cy="1645920"/>
          </a:xfrm>
          <a:prstGeom prst="rect">
            <a:avLst>
              <a:gd name="adj" fmla="val 2778"/>
            </a:avLst>
          </a:prstGeom>
          <a:solidFill>
            <a:srgbClr val="F0EDE3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26080"/>
            <a:ext cx="2560320" cy="457200"/>
          </a:xfrm>
          <a:prstGeom prst="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44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超声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原理: 高频声波反射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应用: 产科/心脏检查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926080"/>
            <a:ext cx="2560320" cy="1645920"/>
          </a:xfrm>
          <a:prstGeom prst="rect">
            <a:avLst>
              <a:gd name="adj" fmla="val 2778"/>
            </a:avLst>
          </a:prstGeom>
          <a:solidFill>
            <a:srgbClr val="F0EDE3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926080"/>
            <a:ext cx="2560320" cy="457200"/>
          </a:xfrm>
          <a:prstGeom prst="rect">
            <a:avLst>
              <a:gd name="adj" fmla="val 10000"/>
            </a:avLst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2944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2900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原理: 正电子湮灭辐射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应用: 代谢活动成像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CT图像分析: Hounsfield单位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组织密度标准化量化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不同组织的典型HU值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114800" cy="438912"/>
          </a:xfrm>
          <a:prstGeom prst="rect">
            <a:avLst>
              <a:gd name="adj" fmla="val 6250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914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356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14356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-1000 HU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4114800" cy="438912"/>
          </a:xfrm>
          <a:prstGeom prst="rect">
            <a:avLst>
              <a:gd name="adj" fmla="val 6250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20240"/>
            <a:ext cx="91440" cy="43891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385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肺组织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19385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-500~-900 HU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4114800" cy="438912"/>
          </a:xfrm>
          <a:prstGeom prst="rect">
            <a:avLst>
              <a:gd name="adj" fmla="val 6250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23160"/>
            <a:ext cx="91440" cy="43891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44144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脂肪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244144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-100~-50 HU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4114800" cy="438912"/>
          </a:xfrm>
          <a:prstGeom prst="rect">
            <a:avLst>
              <a:gd name="adj" fmla="val 6250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26080"/>
            <a:ext cx="91440" cy="43891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443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294436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4114800" cy="438912"/>
          </a:xfrm>
          <a:prstGeom prst="rect">
            <a:avLst>
              <a:gd name="adj" fmla="val 6250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29000"/>
            <a:ext cx="91440" cy="43891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4728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软组织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03120" y="34472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+20~+80 HU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4114800" cy="438912"/>
          </a:xfrm>
          <a:prstGeom prst="rect">
            <a:avLst>
              <a:gd name="adj" fmla="val 6250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931920"/>
            <a:ext cx="9144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502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骨骼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03120" y="39502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+400~+1000 HU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CT窗口技术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46320" y="1417320"/>
            <a:ext cx="3840480" cy="731520"/>
          </a:xfrm>
          <a:prstGeom prst="rect">
            <a:avLst>
              <a:gd name="adj" fmla="val 3750"/>
            </a:avLst>
          </a:prstGeom>
          <a:solidFill>
            <a:srgbClr val="F0EDE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肺窗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W1500 / L-600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观察肺纹理和结节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2240280"/>
            <a:ext cx="3840480" cy="731520"/>
          </a:xfrm>
          <a:prstGeom prst="rect">
            <a:avLst>
              <a:gd name="adj" fmla="val 3750"/>
            </a:avLst>
          </a:prstGeom>
          <a:solidFill>
            <a:srgbClr val="F0EDE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软组织窗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83480" y="2587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W400 / L40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2286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观察脏器和软组织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063240"/>
            <a:ext cx="3840480" cy="731520"/>
          </a:xfrm>
          <a:prstGeom prst="rect">
            <a:avLst>
              <a:gd name="adj" fmla="val 3750"/>
            </a:avLst>
          </a:prstGeom>
          <a:solidFill>
            <a:srgbClr val="F0EDE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骨窗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83480" y="3410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W1500 / L400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0" y="31089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观察骨骼细节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MRI图像分析: 脉冲序列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T1/T2/FLAIR/DWI对比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82296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T1加权 (T1WI)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观察解剖结构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脂肪高信号(亮)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水低信号(暗)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82296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11680"/>
            <a:ext cx="73152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T2加权 (T2WI)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检测病变和水肿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水高信号(亮)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脂肪中等信号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82296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26080"/>
            <a:ext cx="73152" cy="8229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71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310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脑室周围病变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017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抑制脑脊液信号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3017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更清晰显示病变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82296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40480"/>
            <a:ext cx="73152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DWI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224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急性脑卒中诊断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水分子弥散受限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急性脑梗死高信号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DICOM标准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医学数字成像与通信标准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2286000"/>
          </a:xfrm>
          <a:prstGeom prst="rect">
            <a:avLst>
              <a:gd name="adj" fmla="val 20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什么是DICOM?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国际标准 (ISO 12052)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涵盖数据格式和通信协议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图像数据 + 患者元信息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医院PACS系统的基础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每个文件包含完整上下文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097280"/>
            <a:ext cx="4206240" cy="2286000"/>
          </a:xfrm>
          <a:prstGeom prst="rect">
            <a:avLst>
              <a:gd name="adj" fmla="val 20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Python处理工具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pydicom — DICOM读写标准库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SimpleITK — 医学图像分析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 — 深度学习医学框架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ITK-SNAP — 可视化分割工具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651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Slicer — 综合分析平台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548640"/>
          </a:xfrm>
          <a:prstGeom prst="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关键: DICOM文件 = 像素数据 + 患者信息 + 扫描参数 + 元数据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DICOM文件结构与pydicom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代码实战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3200400"/>
          </a:xfrm>
          <a:prstGeom prst="rect">
            <a:avLst>
              <a:gd name="adj" fmla="val 857"/>
            </a:avLst>
          </a:prstGeom>
          <a:solidFill>
            <a:srgbClr val="2D3B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pydicom
</a:t>
            </a:r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
</a:t>
            </a:r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读取DICOM文件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 = pydicom.dcmread('scan.dcm')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pixel_array = ds.pixel_array
</a:t>
            </a:r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获取元数据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print(f"患者: {ds.PatientName}")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print(f"模态: {ds.Modality}")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print(f"尺寸: {ds.Rows}x{ds.Columns}")
</a:t>
            </a:r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CT的HU值转换
</a:t>
            </a:r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hu_image = pixel_array * ds.RescaleSlope + ds.RescaleIntercept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肺结节分类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三种类型与恶性风险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2286000"/>
          </a:xfrm>
          <a:prstGeom prst="rect">
            <a:avLst>
              <a:gd name="adj" fmla="val 2000"/>
            </a:avLst>
          </a:prstGeom>
          <a:solidFill>
            <a:srgbClr val="F0EDE3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2560320" cy="457200"/>
          </a:xfrm>
          <a:prstGeom prst="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155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实性结节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密度均匀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完全遮盖肺实质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最常见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80160" y="2834640"/>
            <a:ext cx="9144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097280"/>
            <a:ext cx="2560320" cy="2286000"/>
          </a:xfrm>
          <a:prstGeom prst="rect">
            <a:avLst>
              <a:gd name="adj" fmla="val 2000"/>
            </a:avLst>
          </a:prstGeom>
          <a:solidFill>
            <a:srgbClr val="F0EDE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097280"/>
            <a:ext cx="2560320" cy="457200"/>
          </a:xfrm>
          <a:prstGeom prst="rect">
            <a:avLst>
              <a:gd name="adj" fmla="val 10000"/>
            </a:avLst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1155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部分实性结节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实性+磨玻璃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混合密度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恶性概率最高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2834640"/>
            <a:ext cx="91440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097280"/>
            <a:ext cx="2560320" cy="2286000"/>
          </a:xfrm>
          <a:prstGeom prst="rect">
            <a:avLst>
              <a:gd name="adj" fmla="val 2000"/>
            </a:avLst>
          </a:prstGeom>
          <a:solidFill>
            <a:srgbClr val="F0EDE3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097280"/>
            <a:ext cx="2560320" cy="457200"/>
          </a:xfrm>
          <a:prstGeom prst="rect">
            <a:avLst>
              <a:gd name="adj" fmla="val 10000"/>
            </a:avLst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1155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纯磨玻璃结节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密度轻度增高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不遮盖肺纹理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需定期随访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2834640"/>
            <a:ext cx="9144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定义: 肺部直径≤30mm的圆形或类圆形病灶，是早期肺癌的重要征象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AI肺结节检测流程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280160" cy="1097280"/>
          </a:xfrm>
          <a:prstGeom prst="rect">
            <a:avLst>
              <a:gd name="adj" fmla="val 4167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CT扫描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DICOM数据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3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737360" y="1371600"/>
            <a:ext cx="1280160" cy="1097280"/>
          </a:xfrm>
          <a:prstGeom prst="rect">
            <a:avLst>
              <a:gd name="adj" fmla="val 4167"/>
            </a:avLst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预处理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830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窗口化/归一化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7180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3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1280160" cy="1097280"/>
          </a:xfrm>
          <a:prstGeom prst="rect">
            <a:avLst>
              <a:gd name="adj" fmla="val 4167"/>
            </a:avLst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候选生成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3D候选框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3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1280160" cy="1097280"/>
          </a:xfrm>
          <a:prstGeom prst="rect">
            <a:avLst>
              <a:gd name="adj" fmla="val 4167"/>
            </a:avLst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特征提取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CNN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3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126480" y="1371600"/>
            <a:ext cx="1280160" cy="1097280"/>
          </a:xfrm>
          <a:prstGeom prst="rect">
            <a:avLst>
              <a:gd name="adj" fmla="val 4167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分类分割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恶性概率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6092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3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589520" y="1371600"/>
            <a:ext cx="1280160" cy="1097280"/>
          </a:xfrm>
          <a:prstGeom prst="rect">
            <a:avLst>
              <a:gd name="adj" fmla="val 4167"/>
            </a:avLst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结果输出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3524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标注/报告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834640"/>
            <a:ext cx="8229600" cy="1280160"/>
          </a:xfrm>
          <a:prstGeom prst="rect">
            <a:avLst>
              <a:gd name="adj" fmla="val 2143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关键技术要点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3200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3D卷积保留空间上下文信息，优于2D方案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False Positive Reduction是核心挑战 — 使用3D CNN进行假阳性筛选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评估指标: CPM曲线 (Competition Performance Metric)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LUNA16挑战赛: 888例CT扫描，标注1186个结节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U-Net: 医学图像分割里程碑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编码器-解码器 + 跳跃连接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编码器 (下采样)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解码器 (上采样)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0" cy="548640"/>
          </a:xfrm>
          <a:prstGeom prst="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1645920"/>
            <a:ext cx="731520" cy="548640"/>
          </a:xfrm>
          <a:prstGeom prst="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645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1920240"/>
            <a:ext cx="731520" cy="548640"/>
          </a:xfrm>
          <a:prstGeom prst="rect">
            <a:avLst>
              <a:gd name="adj" fmla="val 5000"/>
            </a:avLst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1920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194560"/>
            <a:ext cx="731520" cy="548640"/>
          </a:xfrm>
          <a:prstGeom prst="rect">
            <a:avLst>
              <a:gd name="adj" fmla="val 5000"/>
            </a:avLst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194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2194560"/>
            <a:ext cx="731520" cy="548640"/>
          </a:xfrm>
          <a:prstGeom prst="rect">
            <a:avLst>
              <a:gd name="adj" fmla="val 5000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2194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1920240"/>
            <a:ext cx="731520" cy="548640"/>
          </a:xfrm>
          <a:prstGeom prst="rect">
            <a:avLst>
              <a:gd name="adj" fmla="val 5000"/>
            </a:avLst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920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645920"/>
            <a:ext cx="731520" cy="548640"/>
          </a:xfrm>
          <a:prstGeom prst="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1645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371600"/>
            <a:ext cx="731520" cy="548640"/>
          </a:xfrm>
          <a:prstGeom prst="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2468880"/>
            <a:ext cx="822960" cy="548640"/>
          </a:xfrm>
          <a:prstGeom prst="rect">
            <a:avLst>
              <a:gd name="adj" fmla="val 5000"/>
            </a:avLst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2468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88720" y="1645920"/>
            <a:ext cx="566928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103120" y="1920240"/>
            <a:ext cx="384048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017520" y="2194560"/>
            <a:ext cx="201168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931920" y="2468880"/>
            <a:ext cx="18288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74320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跳跃连接 (Skip Connections)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566160"/>
            <a:ext cx="8229600" cy="548640"/>
          </a:xfrm>
          <a:prstGeom prst="rect">
            <a:avLst>
              <a:gd name="adj" fmla="val 5000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Ronneberger et al., MICCAI 2015 | 引用60000+ | 编码器提取特征，解码器恢复分辨率，跳跃连接保留细节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Dice损失与评估指标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医学分割的标准度量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2286000"/>
          </a:xfrm>
          <a:prstGeom prst="rect">
            <a:avLst>
              <a:gd name="adj" fmla="val 20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Dice系数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衡量分割重叠度 (0-1)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= 2|A∩B| / (|A|+|B|)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完美重叠, 0 = 无重叠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对小目标敏感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医学分割首选指标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097280"/>
            <a:ext cx="4206240" cy="2286000"/>
          </a:xfrm>
          <a:prstGeom prst="rect">
            <a:avLst>
              <a:gd name="adj" fmla="val 20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其他常用指标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(Jaccard) = |A∩B| / |A∪B|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(召回率) = TP/(TP+FN)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(特异度) = TN/(TN+FP)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Hausdorff Distance — 边界距离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651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ASSD — 平均对称表面距离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548640"/>
          </a:xfrm>
          <a:prstGeom prst="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Loss = 1 - Dice系数 | 适合类别不平衡的医学图像分割任务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重要公开数据集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医学影像AI研究资源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137160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LIDC-IDRI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肺结节CT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1018例, 243,000+切片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137160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LUNA16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肺结节检测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888例CT, 1186结节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137160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ChestX-ray14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胸部X光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112,000+图像, 14类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2560320" cy="137160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脑肿瘤分割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多模态MRI, 年度挑战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651760"/>
            <a:ext cx="2560320" cy="137160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癌症影像归档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多癌种综合数据库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651760"/>
            <a:ext cx="2560320" cy="137160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ISIC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皮肤病变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皮肤镜图像分类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重要文献回顾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医学图像分析经典论文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789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 (2015)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3441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Ronneberger et al.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107899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MICCAI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10789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编码器-解码器分割网络, 引用60000+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09928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709928"/>
            <a:ext cx="73152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皮肤癌分类 (2017)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00253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Esteva et al.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1737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1737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CNN达皮肤科医生水平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68296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68296"/>
            <a:ext cx="73152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395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眼底AI (2016)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266090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Gulshan et al.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23957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23957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糖尿病视网膜病变检测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26664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2C5F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026664"/>
            <a:ext cx="73152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054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LUNA16 (2017)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319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Setio et al.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305409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TMI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305409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肺结节检测算法对比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685032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85032"/>
            <a:ext cx="73152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7124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UNet++ (2018)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3977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0" y="371246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DLMIA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31920" y="37124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嵌套U-Net结构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343400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343400"/>
            <a:ext cx="73152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3708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医学AI综述 (2017)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46360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Litjens et al.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0" y="43708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931920" y="43708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深度学习医学影像权威综述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从雷达工程师到CT发明人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2286000"/>
          </a:xfrm>
          <a:prstGeom prst="rect">
            <a:avLst>
              <a:gd name="adj" fmla="val 20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Godfrey Hounsfield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二战皇家空军雷达工程师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战后加入EMI(百代唱片)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1967年构想CT重建方法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首台原型机：9天获取一个断层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1979年诺贝尔生理学医学奖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HU单位以其名字命名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1097280"/>
            <a:ext cx="4206240" cy="2286000"/>
          </a:xfrm>
          <a:prstGeom prst="rect">
            <a:avLst>
              <a:gd name="adj" fmla="val 20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披头士与CT的奇缘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1554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= 披头士乐队唱片公司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828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披头士全球成功带来巨额利润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部分利润资助了CT研发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377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"是披头士的歌声资助了CT"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651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基础研究投资的远见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926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摇滚乐拯救了无数患者生命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8229600" cy="548640"/>
          </a:xfrm>
          <a:prstGeom prst="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"AI不会取代放射科医生，但使用AI的放射科医生将取代不使用AI的放射科医生" — Hugh Harvey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深入探讨与反思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124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DICOM元数据隐私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如何确保DICOM文件中患者信息的脱敏和隐私保护？查阅HIPAA规定思考方案。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4300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124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CT与MRI互补性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508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脑卒中诊断为何先做CT再MRI？从成像原理、时间分辨率和成本分析。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393192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359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域偏移问题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A医院数据训练的模型在B医院性能下降，原因和缓解策略？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393192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37744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359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HU值变化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病灶HU从-600到+30暗示什么病理变化？考虑出血、钙化、积液。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393192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61188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593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vs 2D网络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3977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资源受限场景下如何权衡？2.5D方案是否可行？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520440"/>
            <a:ext cx="393192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61188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3593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伦理思考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977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AI与医生意见不一致时，如何建立有效的"人机协作"决策机制？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核心概念速查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560320" cy="658368"/>
          </a:xfrm>
          <a:prstGeom prst="rect">
            <a:avLst>
              <a:gd name="adj" fmla="val 4167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医学数字成像与通信标准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658368"/>
          </a:xfrm>
          <a:prstGeom prst="rect">
            <a:avLst>
              <a:gd name="adj" fmla="val 4167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78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CT组织密度标准化单位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560320" cy="658368"/>
          </a:xfrm>
          <a:prstGeom prst="rect">
            <a:avLst>
              <a:gd name="adj" fmla="val 4167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078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窗宽窗位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CT灰度映射范围和中心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28800"/>
            <a:ext cx="2560320" cy="658368"/>
          </a:xfrm>
          <a:prstGeom prst="rect">
            <a:avLst>
              <a:gd name="adj" fmla="val 4167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856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肺结节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肺部≤30mm圆形病灶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828800"/>
            <a:ext cx="2560320" cy="658368"/>
          </a:xfrm>
          <a:prstGeom prst="rect">
            <a:avLst>
              <a:gd name="adj" fmla="val 4167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856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GGO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磨玻璃结节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2560320" cy="658368"/>
          </a:xfrm>
          <a:prstGeom prst="rect">
            <a:avLst>
              <a:gd name="adj" fmla="val 4167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856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计算机辅助检测系统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606040"/>
            <a:ext cx="2560320" cy="658368"/>
          </a:xfrm>
          <a:prstGeom prst="rect">
            <a:avLst>
              <a:gd name="adj" fmla="val 4167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633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体素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三维体积元素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606040"/>
            <a:ext cx="2560320" cy="658368"/>
          </a:xfrm>
          <a:prstGeom prst="rect">
            <a:avLst>
              <a:gd name="adj" fmla="val 4167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633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T1/T2加权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MRI不同弛豫时间加权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606040"/>
            <a:ext cx="2560320" cy="658368"/>
          </a:xfrm>
          <a:prstGeom prst="rect">
            <a:avLst>
              <a:gd name="adj" fmla="val 4167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633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DWI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弥散加权成像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383280"/>
            <a:ext cx="2560320" cy="658368"/>
          </a:xfrm>
          <a:prstGeom prst="rect">
            <a:avLst>
              <a:gd name="adj" fmla="val 4167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4107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Dice系数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分割重叠度指标(0-1)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91840" y="3383280"/>
            <a:ext cx="2560320" cy="658368"/>
          </a:xfrm>
          <a:prstGeom prst="rect">
            <a:avLst>
              <a:gd name="adj" fmla="val 4167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34107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8328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编码器-解码器分割网络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3383280"/>
            <a:ext cx="2560320" cy="658368"/>
          </a:xfrm>
          <a:prstGeom prst="rect">
            <a:avLst>
              <a:gd name="adj" fmla="val 4167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4107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医学影像存档通信系统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医学图像处理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79: 遥感图像处理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 Image Processing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8288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预习要点: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遥感图像波段特性 (可见光、近红外、短波红外)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常见卫星数据源 (Landsat、Sentinel、高分系列)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遥感图像处理库: rasterio, GDAL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变化检测基本原理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感谢学习! Keep Learning, Keep Exploring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2026-08-11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78: 医学图像处理 — 笔记版</dc:title>
  <dc:subject>PptxGenJS Presentation</dc:subject>
  <dc:creator>CV Learning 100 Days</dc:creator>
  <cp:lastModifiedBy>CV Learning 100 Days</cp:lastModifiedBy>
  <cp:revision>1</cp:revision>
  <dcterms:created xsi:type="dcterms:W3CDTF">2026-08-11T05:11:06Z</dcterms:created>
  <dcterms:modified xsi:type="dcterms:W3CDTF">2026-08-11T05:11:06Z</dcterms:modified>
</cp:coreProperties>
</file>